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 migrates Java codebases file by file. An engineer drives it from the CLI or from a local chat, and both call forge/service.py, so there is one implementation of a run.</a:t>
            </a:r>
          </a:p>
          <a:p/>
          <a:p>
            <a:r>
              <a:t>1. Plan: discovery profiles the repository with no model and fires every pack's detect rules. Packs are markdown data files; an intent sentence can only narrow the plan, never widen it.</a:t>
            </a:r>
          </a:p>
          <a:p/>
          <a:p>
            <a:r>
              <a:t>2. Transform: a LangGraph state machine per file. A local secret scan runs before any network call; Claude Opus 4.8 transforms, Amazon Nova Pro reviews, and code checks the invariants.</a:t>
            </a:r>
          </a:p>
          <a:p/>
          <a:p>
            <a:r>
              <a:t>3. Verify and land: high-risk files are held for a human, acceptance checks run over the whole tree, tests are written for the new code, and nothing reaches git without a click.</a:t>
            </a:r>
          </a:p>
          <a:p/>
          <a:p>
            <a:r>
              <a:t>Underneath: a model is never asked a mechanical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file is its own LangGraph run, checkpointed in DynamoDB with the file path as thread id, and up to eight run at once.</a:t>
            </a:r>
          </a:p>
          <a:p/>
          <a:p>
            <a:r>
              <a:t>The happy path costs three model calls: Opus transforms, Nova Pro reviews, and an advisory check inside guardrails_post. Everything else is code. The secret scan runs first and locally, so a file carrying a credential is blocked with zero Bedrock calls. javac parses the output before a review is paid for.</a:t>
            </a:r>
          </a:p>
          <a:p/>
          <a:p>
            <a:r>
              <a:t>Routing reads numbers, never model prose: 80 or more continues, 50 to 79 retries with the reviewer's feedback, below 50 goes to a human. A parse error or a failed build uses the same retry loop and the same budget of two.</a:t>
            </a:r>
          </a:p>
          <a:p/>
          <a:p>
            <a:r>
              <a:t>Five ways out, all recorded by update_state. HELD is the risk gate: by default HIGH-risk files are staged, not written, until a human approves them on the review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2B"/>
                </a:solidFill>
                <a:latin typeface="Arial"/>
              </a:rPr>
              <a:t>ARCHITECTURE  ·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3F5F8"/>
                </a:solidFill>
                <a:latin typeface="Arial"/>
              </a:rPr>
              <a:t>FORGE,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B5C3"/>
                </a:solidFill>
                <a:latin typeface="Arial"/>
              </a:rPr>
              <a:t>A local engine on managed AWS services. Models transform and review; code decides everything else.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38191"/>
                </a:solidFill>
                <a:latin typeface="Arial"/>
              </a:rPr>
              <a:t>FORGE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484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38191"/>
                </a:solidFill>
                <a:latin typeface="Arial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20840" y="457200"/>
            <a:ext cx="146304" cy="146304"/>
          </a:xfrm>
          <a:prstGeom prst="ellipse">
            <a:avLst/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8583" y="411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AB5C3"/>
                </a:solidFill>
                <a:latin typeface="Arial"/>
              </a:rPr>
              <a:t>model call</a:t>
            </a:r>
          </a:p>
        </p:txBody>
      </p:sp>
      <p:sp>
        <p:nvSpPr>
          <p:cNvPr id="10" name="Oval 9"/>
          <p:cNvSpPr/>
          <p:nvPr/>
        </p:nvSpPr>
        <p:spPr>
          <a:xfrm>
            <a:off x="8366760" y="457200"/>
            <a:ext cx="146304" cy="146304"/>
          </a:xfrm>
          <a:prstGeom prst="ellipse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04504" y="411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AB5C3"/>
                </a:solidFill>
                <a:latin typeface="Arial"/>
              </a:rPr>
              <a:t>guardrail gate</a:t>
            </a:r>
          </a:p>
        </p:txBody>
      </p:sp>
      <p:sp>
        <p:nvSpPr>
          <p:cNvPr id="12" name="Oval 11"/>
          <p:cNvSpPr/>
          <p:nvPr/>
        </p:nvSpPr>
        <p:spPr>
          <a:xfrm>
            <a:off x="10012680" y="457200"/>
            <a:ext cx="146304" cy="146304"/>
          </a:xfrm>
          <a:prstGeom prst="ellipse">
            <a:avLst/>
          </a:prstGeom>
          <a:solidFill>
            <a:srgbClr val="5EB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50424" y="411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AB5C3"/>
                </a:solidFill>
                <a:latin typeface="Arial"/>
              </a:rPr>
              <a:t>local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1280160" cy="603504"/>
          </a:xfrm>
          <a:prstGeom prst="roundRect">
            <a:avLst>
              <a:gd name="adj" fmla="val 9090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3F5F8"/>
                </a:solidFill>
                <a:latin typeface="Arial"/>
              </a:rPr>
              <a:t>Engineer</a:t>
            </a:r>
          </a:p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own machine or CI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1993392"/>
            <a:ext cx="274320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03120" y="1691640"/>
            <a:ext cx="2240280" cy="603504"/>
          </a:xfrm>
          <a:prstGeom prst="roundRect">
            <a:avLst>
              <a:gd name="adj" fmla="val 909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3F5F8"/>
                </a:solidFill>
                <a:latin typeface="Arial"/>
              </a:rPr>
              <a:t>CLI  ·  migrate.py</a:t>
            </a:r>
          </a:p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--discover · --phase · --apply-decisions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745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38191"/>
                </a:solidFill>
                <a:latin typeface="Arial"/>
              </a:rPr>
              <a:t>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691640"/>
            <a:ext cx="3703320" cy="603504"/>
          </a:xfrm>
          <a:prstGeom prst="roundRect">
            <a:avLst>
              <a:gd name="adj" fmla="val 9090"/>
            </a:avLst>
          </a:prstGeom>
          <a:solidFill>
            <a:srgbClr val="FF6A2B">
              <a:alpha val="16000"/>
            </a:srgbClr>
          </a:solidFill>
          <a:ln w="9525">
            <a:solidFill>
              <a:srgbClr val="FF6A2B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3F5F8"/>
                </a:solidFill>
                <a:latin typeface="Arial"/>
              </a:rPr>
              <a:t>Chat UI  ·  leader agent</a:t>
            </a:r>
          </a:p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127.0.0.1 only. A model sequences 14 tools; spend, approvals and git wait for a click.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1691640"/>
            <a:ext cx="2907792" cy="603504"/>
          </a:xfrm>
          <a:prstGeom prst="roundRect">
            <a:avLst>
              <a:gd name="adj" fmla="val 9090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3F5F8"/>
                </a:solidFill>
                <a:latin typeface="Consolas"/>
              </a:rPr>
              <a:t>agents.yaml</a:t>
            </a:r>
          </a:p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generated from Terraform outputs: every ID, model and threshold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23260" y="2295144"/>
            <a:ext cx="0" cy="18288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606540" y="2295144"/>
            <a:ext cx="0" cy="18288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2478024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1E2835"/>
          </a:solidFill>
          <a:ln w="9525">
            <a:solidFill>
              <a:srgbClr val="5EB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200" b="1">
                <a:solidFill>
                  <a:srgbClr val="5EB1FF"/>
                </a:solidFill>
                <a:latin typeface="Consolas"/>
              </a:rPr>
              <a:t>forge/service.py</a:t>
            </a:r>
            <a:r>
              <a:rPr sz="1050" b="0">
                <a:solidFill>
                  <a:srgbClr val="AAB5C3"/>
                </a:solidFill>
                <a:latin typeface="Arial"/>
              </a:rPr>
              <a:t>    one implementation of every run, shared by CLI and chat:  discover · run_migration · acceptance · apply · generate_tests · build_project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999232"/>
            <a:ext cx="2880360" cy="2377440"/>
          </a:xfrm>
          <a:prstGeom prst="roundRect">
            <a:avLst>
              <a:gd name="adj" fmla="val 230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988819" y="2843784"/>
            <a:ext cx="0" cy="15544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630168" y="2999232"/>
            <a:ext cx="4928616" cy="2377440"/>
          </a:xfrm>
          <a:prstGeom prst="roundRect">
            <a:avLst>
              <a:gd name="adj" fmla="val 230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6094476" y="2843784"/>
            <a:ext cx="0" cy="15544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759952" y="2999232"/>
            <a:ext cx="2880360" cy="2377440"/>
          </a:xfrm>
          <a:prstGeom prst="roundRect">
            <a:avLst>
              <a:gd name="adj" fmla="val 230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0200132" y="2843784"/>
            <a:ext cx="0" cy="15544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76656" y="3127248"/>
            <a:ext cx="310896" cy="310896"/>
          </a:xfrm>
          <a:prstGeom prst="ellipse">
            <a:avLst/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3090672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3F5F8"/>
                </a:solidFill>
                <a:latin typeface="Arial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3337560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38191"/>
                </a:solidFill>
                <a:latin typeface="Arial"/>
              </a:rPr>
              <a:t>what runs, in what order</a:t>
            </a:r>
          </a:p>
        </p:txBody>
      </p:sp>
      <p:sp>
        <p:nvSpPr>
          <p:cNvPr id="32" name="Oval 31"/>
          <p:cNvSpPr/>
          <p:nvPr/>
        </p:nvSpPr>
        <p:spPr>
          <a:xfrm>
            <a:off x="3758184" y="3127248"/>
            <a:ext cx="310896" cy="310896"/>
          </a:xfrm>
          <a:prstGeom prst="ellipse">
            <a:avLst/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3090672"/>
            <a:ext cx="4288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3F5F8"/>
                </a:solidFill>
                <a:latin typeface="Arial"/>
              </a:rPr>
              <a:t>Transform: LangGraph, per 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337560"/>
            <a:ext cx="42885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38191"/>
                </a:solidFill>
                <a:latin typeface="Arial"/>
              </a:rPr>
              <a:t>up to 8 files at once · checkpointed in DynamoDB</a:t>
            </a:r>
          </a:p>
        </p:txBody>
      </p:sp>
      <p:sp>
        <p:nvSpPr>
          <p:cNvPr id="35" name="Oval 34"/>
          <p:cNvSpPr/>
          <p:nvPr/>
        </p:nvSpPr>
        <p:spPr>
          <a:xfrm>
            <a:off x="8887968" y="3127248"/>
            <a:ext cx="310896" cy="310896"/>
          </a:xfrm>
          <a:prstGeom prst="ellipse">
            <a:avLst/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3090672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3F5F8"/>
                </a:solidFill>
                <a:latin typeface="Arial"/>
              </a:rPr>
              <a:t>Verify and land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3337560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38191"/>
                </a:solidFill>
                <a:latin typeface="Arial"/>
              </a:rPr>
              <a:t>a human decides what ships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" y="3602736"/>
            <a:ext cx="2624328" cy="384048"/>
          </a:xfrm>
          <a:prstGeom prst="roundRect">
            <a:avLst>
              <a:gd name="adj" fmla="val 14285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Arial"/>
              </a:rPr>
              <a:t>Discovery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build, Java level, deps, imports → profile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" y="4050791"/>
            <a:ext cx="2624328" cy="384048"/>
          </a:xfrm>
          <a:prstGeom prst="roundRect">
            <a:avLst>
              <a:gd name="adj" fmla="val 14285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Arial"/>
              </a:rPr>
              <a:t>Pack library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prompts/packs/*.pack.md, validated at 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6656" y="4498848"/>
            <a:ext cx="2624328" cy="384048"/>
          </a:xfrm>
          <a:prstGeom prst="roundRect">
            <a:avLst>
              <a:gd name="adj" fmla="val 14285"/>
            </a:avLst>
          </a:prstGeom>
          <a:solidFill>
            <a:srgbClr val="FF6A2B">
              <a:alpha val="16000"/>
            </a:srgbClr>
          </a:solidFill>
          <a:ln w="9525">
            <a:solidFill>
              <a:srgbClr val="FF6A2B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Arial"/>
              </a:rPr>
              <a:t>Intent (optional)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one call narrows the plan; code reconciles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" y="4946904"/>
            <a:ext cx="2624328" cy="384048"/>
          </a:xfrm>
          <a:prstGeom prst="roundRect">
            <a:avLst>
              <a:gd name="adj" fmla="val 14285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Arial"/>
              </a:rPr>
              <a:t>Context extractors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web.xml and server descriptors, no model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7968" y="3602736"/>
            <a:ext cx="2624328" cy="384048"/>
          </a:xfrm>
          <a:prstGeom prst="roundRect">
            <a:avLst>
              <a:gd name="adj" fmla="val 14285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Arial"/>
              </a:rPr>
              <a:t>Human review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HIGH risk held; approve / reject / retry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87968" y="4050791"/>
            <a:ext cx="2624328" cy="384048"/>
          </a:xfrm>
          <a:prstGeom prst="roundRect">
            <a:avLst>
              <a:gd name="adj" fmla="val 14285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Arial"/>
              </a:rPr>
              <a:t>Acceptance + build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pack checks on merged tree; project build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87968" y="4498848"/>
            <a:ext cx="2624328" cy="384048"/>
          </a:xfrm>
          <a:prstGeom prst="roundRect">
            <a:avLst>
              <a:gd name="adj" fmla="val 14285"/>
            </a:avLst>
          </a:prstGeom>
          <a:solidFill>
            <a:srgbClr val="FF6A2B">
              <a:alpha val="16000"/>
            </a:srgbClr>
          </a:solidFill>
          <a:ln w="9525">
            <a:solidFill>
              <a:srgbClr val="FF6A2B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Arial"/>
              </a:rPr>
              <a:t>Test generation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JUnit 5 + Mockito for migrated classes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87968" y="4946904"/>
            <a:ext cx="2624328" cy="384048"/>
          </a:xfrm>
          <a:prstGeom prst="roundRect">
            <a:avLst>
              <a:gd name="adj" fmla="val 14285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Arial"/>
              </a:rPr>
              <a:t>Land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git branch, then pull request, on a click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3767328"/>
            <a:ext cx="978408" cy="548640"/>
          </a:xfrm>
          <a:prstGeom prst="roundRect">
            <a:avLst>
              <a:gd name="adj" fmla="val 10000"/>
            </a:avLst>
          </a:prstGeom>
          <a:solidFill>
            <a:srgbClr val="FFB547">
              <a:alpha val="16000"/>
            </a:srgbClr>
          </a:solidFill>
          <a:ln w="9525">
            <a:solidFill>
              <a:srgbClr val="FFB547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3F5F8"/>
                </a:solidFill>
                <a:latin typeface="Consolas"/>
              </a:rPr>
              <a:t>guardrails_pre</a:t>
            </a:r>
          </a:p>
          <a:p>
            <a:pPr algn="ctr"/>
            <a:r>
              <a:rPr sz="850" b="0">
                <a:solidFill>
                  <a:srgbClr val="AAB5C3"/>
                </a:solidFill>
                <a:latin typeface="Arial"/>
              </a:rPr>
              <a:t>secret scan · risk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92624" y="3767328"/>
            <a:ext cx="978408" cy="548640"/>
          </a:xfrm>
          <a:prstGeom prst="roundRect">
            <a:avLst>
              <a:gd name="adj" fmla="val 10000"/>
            </a:avLst>
          </a:prstGeom>
          <a:solidFill>
            <a:srgbClr val="FF6A2B">
              <a:alpha val="16000"/>
            </a:srgbClr>
          </a:solidFill>
          <a:ln w="9525">
            <a:solidFill>
              <a:srgbClr val="FF6A2B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3F5F8"/>
                </a:solidFill>
                <a:latin typeface="Consolas"/>
              </a:rPr>
              <a:t>java_upgrade</a:t>
            </a:r>
          </a:p>
          <a:p>
            <a:pPr algn="ctr"/>
            <a:r>
              <a:rPr sz="850" b="0">
                <a:solidFill>
                  <a:srgbClr val="AAB5C3"/>
                </a:solidFill>
                <a:latin typeface="Arial"/>
              </a:rPr>
              <a:t>Claude Opus 4.8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0488" y="3767328"/>
            <a:ext cx="978408" cy="548640"/>
          </a:xfrm>
          <a:prstGeom prst="roundRect">
            <a:avLst>
              <a:gd name="adj" fmla="val 1000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3F5F8"/>
                </a:solidFill>
                <a:latin typeface="Consolas"/>
              </a:rPr>
              <a:t>syntax_check</a:t>
            </a:r>
          </a:p>
          <a:p>
            <a:pPr algn="ctr"/>
            <a:r>
              <a:rPr sz="850" b="0">
                <a:solidFill>
                  <a:srgbClr val="AAB5C3"/>
                </a:solidFill>
                <a:latin typeface="Arial"/>
              </a:rPr>
              <a:t>javac parse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88352" y="3767328"/>
            <a:ext cx="978408" cy="548640"/>
          </a:xfrm>
          <a:prstGeom prst="roundRect">
            <a:avLst>
              <a:gd name="adj" fmla="val 10000"/>
            </a:avLst>
          </a:prstGeom>
          <a:solidFill>
            <a:srgbClr val="FF6A2B">
              <a:alpha val="16000"/>
            </a:srgbClr>
          </a:solidFill>
          <a:ln w="9525">
            <a:solidFill>
              <a:srgbClr val="FF6A2B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3F5F8"/>
                </a:solidFill>
                <a:latin typeface="Consolas"/>
              </a:rPr>
              <a:t>java_reviewer</a:t>
            </a:r>
          </a:p>
          <a:p>
            <a:pPr algn="ctr"/>
            <a:r>
              <a:rPr sz="850" b="0">
                <a:solidFill>
                  <a:srgbClr val="AAB5C3"/>
                </a:solidFill>
                <a:latin typeface="Arial"/>
              </a:rPr>
              <a:t>Amazon Nova Pro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94760" y="4517136"/>
            <a:ext cx="978408" cy="548640"/>
          </a:xfrm>
          <a:prstGeom prst="roundRect">
            <a:avLst>
              <a:gd name="adj" fmla="val 1000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3F5F8"/>
                </a:solidFill>
                <a:latin typeface="Consolas"/>
              </a:rPr>
              <a:t>update_state</a:t>
            </a:r>
          </a:p>
          <a:p>
            <a:pPr algn="ctr"/>
            <a:r>
              <a:rPr sz="850" b="0">
                <a:solidFill>
                  <a:srgbClr val="AAB5C3"/>
                </a:solidFill>
                <a:latin typeface="Arial"/>
              </a:rPr>
              <a:t>DynamoDB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992624" y="4517136"/>
            <a:ext cx="978408" cy="548640"/>
          </a:xfrm>
          <a:prstGeom prst="roundRect">
            <a:avLst>
              <a:gd name="adj" fmla="val 1000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3F5F8"/>
                </a:solidFill>
                <a:latin typeface="Consolas"/>
              </a:rPr>
              <a:t>verify_build</a:t>
            </a:r>
          </a:p>
          <a:p>
            <a:pPr algn="ctr"/>
            <a:r>
              <a:rPr sz="850" b="0">
                <a:solidFill>
                  <a:srgbClr val="AAB5C3"/>
                </a:solidFill>
                <a:latin typeface="Arial"/>
              </a:rPr>
              <a:t>Maven / javac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90488" y="4517136"/>
            <a:ext cx="978408" cy="548640"/>
          </a:xfrm>
          <a:prstGeom prst="roundRect">
            <a:avLst>
              <a:gd name="adj" fmla="val 1000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3F5F8"/>
                </a:solidFill>
                <a:latin typeface="Consolas"/>
              </a:rPr>
              <a:t>write_file</a:t>
            </a:r>
          </a:p>
          <a:p>
            <a:pPr algn="ctr"/>
            <a:r>
              <a:rPr sz="850" b="0">
                <a:solidFill>
                  <a:srgbClr val="AAB5C3"/>
                </a:solidFill>
                <a:latin typeface="Arial"/>
              </a:rPr>
              <a:t>output tree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88352" y="4517136"/>
            <a:ext cx="978408" cy="548640"/>
          </a:xfrm>
          <a:prstGeom prst="roundRect">
            <a:avLst>
              <a:gd name="adj" fmla="val 10000"/>
            </a:avLst>
          </a:prstGeom>
          <a:solidFill>
            <a:srgbClr val="FFB547">
              <a:alpha val="16000"/>
            </a:srgbClr>
          </a:solidFill>
          <a:ln w="9525">
            <a:solidFill>
              <a:srgbClr val="FFB547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3F5F8"/>
                </a:solidFill>
                <a:latin typeface="Consolas"/>
              </a:rPr>
              <a:t>guardrails_post</a:t>
            </a:r>
          </a:p>
          <a:p>
            <a:pPr algn="ctr"/>
            <a:r>
              <a:rPr sz="850" b="0">
                <a:solidFill>
                  <a:srgbClr val="AAB5C3"/>
                </a:solidFill>
                <a:latin typeface="Arial"/>
              </a:rPr>
              <a:t>javax.* sweep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773168" y="4041648"/>
            <a:ext cx="219456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4773168" y="4791455"/>
            <a:ext cx="219456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71032" y="4041648"/>
            <a:ext cx="219456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5971032" y="4791455"/>
            <a:ext cx="219456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168896" y="4041648"/>
            <a:ext cx="219456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7168896" y="4791455"/>
            <a:ext cx="219456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877556" y="4315968"/>
            <a:ext cx="0" cy="20116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877556" y="3648456"/>
            <a:ext cx="0" cy="118872"/>
          </a:xfrm>
          <a:prstGeom prst="line">
            <a:avLst/>
          </a:prstGeom>
          <a:ln w="15875">
            <a:solidFill>
              <a:srgbClr val="FFB5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5481828" y="3648456"/>
            <a:ext cx="2395728" cy="0"/>
          </a:xfrm>
          <a:prstGeom prst="line">
            <a:avLst/>
          </a:prstGeom>
          <a:ln w="15875">
            <a:solidFill>
              <a:srgbClr val="FFB5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481828" y="3648456"/>
            <a:ext cx="0" cy="118872"/>
          </a:xfrm>
          <a:prstGeom prst="line">
            <a:avLst/>
          </a:prstGeom>
          <a:ln w="15875">
            <a:solidFill>
              <a:srgbClr val="FFB54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794760" y="5175503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FFB547"/>
                </a:solidFill>
                <a:latin typeface="Arial"/>
              </a:rPr>
              <a:t>retry with feedback, at most twice: </a:t>
            </a:r>
            <a:r>
              <a:rPr sz="850" b="0">
                <a:solidFill>
                  <a:srgbClr val="AAB5C3"/>
                </a:solidFill>
                <a:latin typeface="Arial"/>
              </a:rPr>
              <a:t>review score 50–79, parse error, failed build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877556" y="5376672"/>
            <a:ext cx="0" cy="15544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48640" y="5532120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232" y="571500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38191"/>
                </a:solidFill>
                <a:latin typeface="Arial"/>
              </a:rPr>
              <a:t>AWS  ·  us-east-1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" y="5934456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38191"/>
                </a:solidFill>
                <a:latin typeface="Arial"/>
              </a:rPr>
              <a:t>one terraform apply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40280" y="5632704"/>
            <a:ext cx="1755648" cy="548640"/>
          </a:xfrm>
          <a:prstGeom prst="roundRect">
            <a:avLst>
              <a:gd name="adj" fmla="val 10000"/>
            </a:avLst>
          </a:prstGeom>
          <a:solidFill>
            <a:srgbClr val="151D28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350008" y="5751576"/>
            <a:ext cx="118872" cy="118872"/>
          </a:xfrm>
          <a:prstGeom prst="ellipse">
            <a:avLst/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42032" y="5687568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3F5F8"/>
                </a:solidFill>
                <a:latin typeface="Arial"/>
              </a:rPr>
              <a:t>Amazon Bedrock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42032" y="59253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Opus · Nova Pro · Haiku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23944" y="5632704"/>
            <a:ext cx="1755648" cy="548640"/>
          </a:xfrm>
          <a:prstGeom prst="roundRect">
            <a:avLst>
              <a:gd name="adj" fmla="val 10000"/>
            </a:avLst>
          </a:prstGeom>
          <a:solidFill>
            <a:srgbClr val="151D28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233672" y="5751576"/>
            <a:ext cx="118872" cy="118872"/>
          </a:xfrm>
          <a:prstGeom prst="ellipse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25696" y="5687568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3F5F8"/>
                </a:solidFill>
                <a:latin typeface="Arial"/>
              </a:rPr>
              <a:t>Bedrock Guardrails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25696" y="59253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ApplyGuardrail, no model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07608" y="5632704"/>
            <a:ext cx="1755648" cy="548640"/>
          </a:xfrm>
          <a:prstGeom prst="roundRect">
            <a:avLst>
              <a:gd name="adj" fmla="val 10000"/>
            </a:avLst>
          </a:prstGeom>
          <a:solidFill>
            <a:srgbClr val="151D28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117336" y="5751576"/>
            <a:ext cx="118872" cy="118872"/>
          </a:xfrm>
          <a:prstGeom prst="ellipse">
            <a:avLst/>
          </a:prstGeom>
          <a:solidFill>
            <a:srgbClr val="5EB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09360" y="5687568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3F5F8"/>
                </a:solidFill>
                <a:latin typeface="Arial"/>
              </a:rPr>
              <a:t>DynamoDB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59253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file status + checkpoints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91271" y="5632704"/>
            <a:ext cx="1755648" cy="548640"/>
          </a:xfrm>
          <a:prstGeom prst="roundRect">
            <a:avLst>
              <a:gd name="adj" fmla="val 10000"/>
            </a:avLst>
          </a:prstGeom>
          <a:solidFill>
            <a:srgbClr val="151D28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000999" y="5751576"/>
            <a:ext cx="118872" cy="118872"/>
          </a:xfrm>
          <a:prstGeom prst="ellipse">
            <a:avLst/>
          </a:prstGeom>
          <a:solidFill>
            <a:srgbClr val="5EB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93023" y="5687568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3F5F8"/>
                </a:solidFill>
                <a:latin typeface="Arial"/>
              </a:rPr>
              <a:t>CloudWatch + SNS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93023" y="59253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metrics · 4 alarms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774936" y="5632704"/>
            <a:ext cx="1755648" cy="548640"/>
          </a:xfrm>
          <a:prstGeom prst="roundRect">
            <a:avLst>
              <a:gd name="adj" fmla="val 10000"/>
            </a:avLst>
          </a:prstGeom>
          <a:solidFill>
            <a:srgbClr val="151D28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884664" y="5751576"/>
            <a:ext cx="118872" cy="118872"/>
          </a:xfrm>
          <a:prstGeom prst="ellipse">
            <a:avLst/>
          </a:prstGeom>
          <a:solidFill>
            <a:srgbClr val="738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76688" y="5687568"/>
            <a:ext cx="13898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3F5F8"/>
                </a:solidFill>
                <a:latin typeface="Arial"/>
              </a:rPr>
              <a:t>SQS  ·  opt-in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76688" y="5925312"/>
            <a:ext cx="13898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AB5C3"/>
                </a:solidFill>
                <a:latin typeface="Arial"/>
              </a:rPr>
              <a:t>review queue + DLQ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A2B"/>
                </a:solidFill>
                <a:latin typeface="Arial"/>
              </a:rPr>
              <a:t>ARCHITECTURE  ·  PER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3F5F8"/>
                </a:solidFill>
                <a:latin typeface="Arial"/>
              </a:rPr>
              <a:t>Inside the per-file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B5C3"/>
                </a:solidFill>
                <a:latin typeface="Arial"/>
              </a:rPr>
              <a:t>forge/graph.py: one LangGraph StateGraph per file. Models work inside three nodes; plain functions pick every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38191"/>
                </a:solidFill>
                <a:latin typeface="Arial"/>
              </a:rPr>
              <a:t>FORGE  · 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4846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38191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42032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B547">
              <a:alpha val="16000"/>
            </a:srgbClr>
          </a:solidFill>
          <a:ln w="9525">
            <a:solidFill>
              <a:srgbClr val="FFB547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Consolas"/>
              </a:rPr>
              <a:t>guardrails_pre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secret scan, size, risk score, ApplyGuardrail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3347" y="2542032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6A2B">
              <a:alpha val="16000"/>
            </a:srgbClr>
          </a:solidFill>
          <a:ln w="9525">
            <a:solidFill>
              <a:srgbClr val="FF6A2B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Consolas"/>
              </a:rPr>
              <a:t>java_upgrade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Claude Opus 4.8 rewrites the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8054" y="2542032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Consolas"/>
              </a:rPr>
              <a:t>syntax_check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javac parse, XML well-formed; no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2762" y="2542032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6A2B">
              <a:alpha val="16000"/>
            </a:srgbClr>
          </a:solidFill>
          <a:ln w="9525">
            <a:solidFill>
              <a:srgbClr val="FF6A2B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Consolas"/>
              </a:rPr>
              <a:t>java_reviewer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Amazon Nova Pro scores 0–100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7469" y="2542032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B547">
              <a:alpha val="16000"/>
            </a:srgbClr>
          </a:solidFill>
          <a:ln w="9525">
            <a:solidFill>
              <a:srgbClr val="FFB547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Consolas"/>
              </a:rPr>
              <a:t>guardrails_post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javax.* sweep, ApplyGuardrail, advisory model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2177" y="2542032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Consolas"/>
              </a:rPr>
              <a:t>write_file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into the output tree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6884" y="2542032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Consolas"/>
              </a:rPr>
              <a:t>verify_build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Maven or javac, when enabled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51592" y="2542032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5EB1FF">
              <a:alpha val="16000"/>
            </a:srgbClr>
          </a:solidFill>
          <a:ln w="9525">
            <a:solidFill>
              <a:srgbClr val="5EB1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3F5F8"/>
                </a:solidFill>
                <a:latin typeface="Consolas"/>
              </a:rPr>
              <a:t>update_state</a:t>
            </a:r>
          </a:p>
          <a:p>
            <a:pPr algn="l"/>
            <a:r>
              <a:rPr sz="850" b="0">
                <a:solidFill>
                  <a:srgbClr val="AAB5C3"/>
                </a:solidFill>
                <a:latin typeface="Arial"/>
              </a:rPr>
              <a:t>DynamoDB audit trail + CloudWatch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2907791"/>
            <a:ext cx="225987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52067" y="2907791"/>
            <a:ext cx="225987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66774" y="2907791"/>
            <a:ext cx="225988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981482" y="2907791"/>
            <a:ext cx="225987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96189" y="2907791"/>
            <a:ext cx="225988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10897" y="2907791"/>
            <a:ext cx="225987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225604" y="2907791"/>
            <a:ext cx="225988" cy="0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963347" y="1737360"/>
            <a:ext cx="1188720" cy="384048"/>
          </a:xfrm>
          <a:prstGeom prst="roundRect">
            <a:avLst>
              <a:gd name="adj" fmla="val 14285"/>
            </a:avLst>
          </a:prstGeom>
          <a:solidFill>
            <a:srgbClr val="FFB547">
              <a:alpha val="16000"/>
            </a:srgbClr>
          </a:solidFill>
          <a:ln w="9525">
            <a:solidFill>
              <a:srgbClr val="FFB547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50" b="1">
                <a:solidFill>
                  <a:srgbClr val="F3F5F8"/>
                </a:solidFill>
                <a:latin typeface="Consolas"/>
              </a:rPr>
              <a:t>increment_retry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57707" y="2121408"/>
            <a:ext cx="0" cy="420624"/>
          </a:xfrm>
          <a:prstGeom prst="line">
            <a:avLst/>
          </a:prstGeom>
          <a:ln w="15875">
            <a:solidFill>
              <a:srgbClr val="FFB5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72414" y="1929384"/>
            <a:ext cx="0" cy="612648"/>
          </a:xfrm>
          <a:prstGeom prst="line">
            <a:avLst/>
          </a:prstGeom>
          <a:ln w="15875">
            <a:solidFill>
              <a:srgbClr val="FFB5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387122" y="1929384"/>
            <a:ext cx="0" cy="612648"/>
          </a:xfrm>
          <a:prstGeom prst="line">
            <a:avLst/>
          </a:prstGeom>
          <a:ln w="15875">
            <a:solidFill>
              <a:srgbClr val="FFB5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631244" y="1929384"/>
            <a:ext cx="0" cy="612648"/>
          </a:xfrm>
          <a:prstGeom prst="line">
            <a:avLst/>
          </a:prstGeom>
          <a:ln w="15875">
            <a:solidFill>
              <a:srgbClr val="FFB54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152067" y="1929384"/>
            <a:ext cx="6479177" cy="0"/>
          </a:xfrm>
          <a:prstGeom prst="line">
            <a:avLst/>
          </a:prstGeom>
          <a:ln w="15875">
            <a:solidFill>
              <a:srgbClr val="FFB54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082142" y="1655063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B547"/>
                </a:solidFill>
                <a:latin typeface="Arial"/>
              </a:rPr>
              <a:t>retry with the feedback, at most 2:  </a:t>
            </a:r>
            <a:r>
              <a:rPr sz="1000" b="0">
                <a:solidFill>
                  <a:srgbClr val="AAB5C3"/>
                </a:solidFill>
                <a:latin typeface="Arial"/>
              </a:rPr>
              <a:t>a parse error, a review score of 50–79, or a failed build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43000" y="3273552"/>
            <a:ext cx="0" cy="20116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3503" y="34747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FF4D5E">
              <a:alpha val="16000"/>
            </a:srgbClr>
          </a:solidFill>
          <a:ln w="9525">
            <a:solidFill>
              <a:srgbClr val="FF4D5E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FF4D5E"/>
                </a:solidFill>
                <a:latin typeface="Consolas"/>
              </a:rPr>
              <a:t>BLOCKED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972414" y="3273552"/>
            <a:ext cx="0" cy="20116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432918" y="34747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AAB5C3">
              <a:alpha val="16000"/>
            </a:srgbClr>
          </a:solidFill>
          <a:ln w="9525">
            <a:solidFill>
              <a:srgbClr val="AAB5C3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AAB5C3"/>
                </a:solidFill>
                <a:latin typeface="Consolas"/>
              </a:rPr>
              <a:t>unchanged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32918" y="3813048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B89CFF">
              <a:alpha val="16000"/>
            </a:srgbClr>
          </a:solidFill>
          <a:ln w="9525">
            <a:solidFill>
              <a:srgbClr val="B89C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B89CFF"/>
                </a:solidFill>
                <a:latin typeface="Consolas"/>
              </a:rPr>
              <a:t>MANUAL_REVIEW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87122" y="3273552"/>
            <a:ext cx="0" cy="20116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847626" y="34747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B89CFF">
              <a:alpha val="16000"/>
            </a:srgbClr>
          </a:solidFill>
          <a:ln w="9525">
            <a:solidFill>
              <a:srgbClr val="B89C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B89CFF"/>
                </a:solidFill>
                <a:latin typeface="Consolas"/>
              </a:rPr>
              <a:t>MANUAL_REVIEW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01829" y="3273552"/>
            <a:ext cx="0" cy="20116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62333" y="34747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FFB547">
              <a:alpha val="16000"/>
            </a:srgbClr>
          </a:solidFill>
          <a:ln w="9525">
            <a:solidFill>
              <a:srgbClr val="FFB547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FFB547"/>
                </a:solidFill>
                <a:latin typeface="Consolas"/>
              </a:rPr>
              <a:t>HELD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2333" y="3813048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B89CFF">
              <a:alpha val="16000"/>
            </a:srgbClr>
          </a:solidFill>
          <a:ln w="9525">
            <a:solidFill>
              <a:srgbClr val="B89C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B89CFF"/>
                </a:solidFill>
                <a:latin typeface="Consolas"/>
              </a:rPr>
              <a:t>MANUAL_REVIEW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31244" y="3273552"/>
            <a:ext cx="0" cy="20116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91748" y="34747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B89CFF">
              <a:alpha val="16000"/>
            </a:srgbClr>
          </a:solidFill>
          <a:ln w="9525">
            <a:solidFill>
              <a:srgbClr val="B89CF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B89CFF"/>
                </a:solidFill>
                <a:latin typeface="Consolas"/>
              </a:rPr>
              <a:t>MANUAL_REVIEW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045952" y="3273552"/>
            <a:ext cx="0" cy="201168"/>
          </a:xfrm>
          <a:prstGeom prst="line">
            <a:avLst/>
          </a:prstGeom>
          <a:ln w="15875">
            <a:solidFill>
              <a:srgbClr val="73819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0506456" y="3474720"/>
            <a:ext cx="1078992" cy="274320"/>
          </a:xfrm>
          <a:prstGeom prst="roundRect">
            <a:avLst>
              <a:gd name="adj" fmla="val 20000"/>
            </a:avLst>
          </a:prstGeom>
          <a:solidFill>
            <a:srgbClr val="35D07F">
              <a:alpha val="16000"/>
            </a:srgbClr>
          </a:solidFill>
          <a:ln w="9525">
            <a:solidFill>
              <a:srgbClr val="35D07F">
                <a:alpha val="6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50" b="1">
                <a:solidFill>
                  <a:srgbClr val="35D07F"/>
                </a:solidFill>
                <a:latin typeface="Consolas"/>
              </a:rPr>
              <a:t>DONE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77272" y="3822192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738191"/>
                </a:solidFill>
                <a:latin typeface="Arial"/>
              </a:rPr>
              <a:t>every exit ends in update_state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572000"/>
            <a:ext cx="2072030" cy="1024128"/>
          </a:xfrm>
          <a:prstGeom prst="roundRect">
            <a:avLst>
              <a:gd name="adj" fmla="val 535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4944" y="4754880"/>
            <a:ext cx="128016" cy="128016"/>
          </a:xfrm>
          <a:prstGeom prst="ellipse">
            <a:avLst/>
          </a:prstGeom>
          <a:solidFill>
            <a:srgbClr val="35D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700016"/>
            <a:ext cx="1614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3F5F8"/>
                </a:solidFill>
                <a:latin typeface="Consolas"/>
              </a:rPr>
              <a:t>DONE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4992624"/>
            <a:ext cx="17977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AB5C3"/>
                </a:solidFill>
                <a:latin typeface="Arial"/>
              </a:rPr>
              <a:t>Scored 80 or more, post-checks clean, written, and built when the build gate is 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03550" y="4572000"/>
            <a:ext cx="2072030" cy="1024128"/>
          </a:xfrm>
          <a:prstGeom prst="roundRect">
            <a:avLst>
              <a:gd name="adj" fmla="val 535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49854" y="4754880"/>
            <a:ext cx="128016" cy="128016"/>
          </a:xfrm>
          <a:prstGeom prst="ellipse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69310" y="4700016"/>
            <a:ext cx="1614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3F5F8"/>
                </a:solidFill>
                <a:latin typeface="Consolas"/>
              </a:rPr>
              <a:t>HELD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9854" y="4992624"/>
            <a:ext cx="17977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AB5C3"/>
                </a:solidFill>
                <a:latin typeface="Arial"/>
              </a:rPr>
              <a:t>risk_ceiling says hold (by default, HIGH risk). Staged in .forge-staging for a human.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58460" y="4572000"/>
            <a:ext cx="2072030" cy="1024128"/>
          </a:xfrm>
          <a:prstGeom prst="roundRect">
            <a:avLst>
              <a:gd name="adj" fmla="val 535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04764" y="4754880"/>
            <a:ext cx="128016" cy="128016"/>
          </a:xfrm>
          <a:prstGeom prst="ellipse">
            <a:avLst/>
          </a:prstGeom>
          <a:solidFill>
            <a:srgbClr val="B8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24220" y="4700016"/>
            <a:ext cx="1614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3F5F8"/>
                </a:solidFill>
                <a:latin typeface="Consolas"/>
              </a:rPr>
              <a:t>MANUAL_REVIEW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04764" y="4992624"/>
            <a:ext cx="17977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AB5C3"/>
                </a:solidFill>
                <a:latin typeface="Arial"/>
              </a:rPr>
              <a:t>Score under 50, retries spent, a javax.* import left, or the build still fails.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13371" y="4572000"/>
            <a:ext cx="2072030" cy="1024128"/>
          </a:xfrm>
          <a:prstGeom prst="roundRect">
            <a:avLst>
              <a:gd name="adj" fmla="val 535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59675" y="4754880"/>
            <a:ext cx="128016" cy="128016"/>
          </a:xfrm>
          <a:prstGeom prst="ellipse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79131" y="4700016"/>
            <a:ext cx="1614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3F5F8"/>
                </a:solidFill>
                <a:latin typeface="Consolas"/>
              </a:rPr>
              <a:t>BLOCKED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59675" y="4992624"/>
            <a:ext cx="17977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AB5C3"/>
                </a:solidFill>
                <a:latin typeface="Arial"/>
              </a:rPr>
              <a:t>A secret, an oversized file or a guardrail hit, caught before any model call.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68281" y="4572000"/>
            <a:ext cx="2072030" cy="1024128"/>
          </a:xfrm>
          <a:prstGeom prst="roundRect">
            <a:avLst>
              <a:gd name="adj" fmla="val 5357"/>
            </a:avLst>
          </a:prstGeom>
          <a:solidFill>
            <a:srgbClr val="1E2835"/>
          </a:solidFill>
          <a:ln w="9525">
            <a:solidFill>
              <a:srgbClr val="2632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14585" y="4754880"/>
            <a:ext cx="128016" cy="128016"/>
          </a:xfrm>
          <a:prstGeom prst="ellipse">
            <a:avLst/>
          </a:prstGeom>
          <a:solidFill>
            <a:srgbClr val="AAB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34041" y="4700016"/>
            <a:ext cx="161483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3F5F8"/>
                </a:solidFill>
                <a:latin typeface="Consolas"/>
              </a:rPr>
              <a:t>unchanged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14585" y="4992624"/>
            <a:ext cx="179771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AAB5C3"/>
                </a:solidFill>
                <a:latin typeface="Arial"/>
              </a:rPr>
              <a:t>Nothing to change: counted as DONE, with no review call and nothing written.</a:t>
            </a:r>
          </a:p>
        </p:txBody>
      </p:sp>
      <p:sp>
        <p:nvSpPr>
          <p:cNvPr id="65" name="Oval 64"/>
          <p:cNvSpPr/>
          <p:nvPr/>
        </p:nvSpPr>
        <p:spPr>
          <a:xfrm>
            <a:off x="548640" y="5897880"/>
            <a:ext cx="146304" cy="146304"/>
          </a:xfrm>
          <a:prstGeom prst="ellipse">
            <a:avLst/>
          </a:prstGeom>
          <a:solidFill>
            <a:srgbClr val="FF6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6384" y="5852160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AB5C3"/>
                </a:solidFill>
                <a:latin typeface="Arial"/>
              </a:rPr>
              <a:t>model call</a:t>
            </a:r>
          </a:p>
        </p:txBody>
      </p:sp>
      <p:sp>
        <p:nvSpPr>
          <p:cNvPr id="67" name="Oval 66"/>
          <p:cNvSpPr/>
          <p:nvPr/>
        </p:nvSpPr>
        <p:spPr>
          <a:xfrm>
            <a:off x="2148840" y="5897880"/>
            <a:ext cx="146304" cy="146304"/>
          </a:xfrm>
          <a:prstGeom prst="ellipse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386584" y="5852160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AB5C3"/>
                </a:solidFill>
                <a:latin typeface="Arial"/>
              </a:rPr>
              <a:t>guardrail gate</a:t>
            </a:r>
          </a:p>
        </p:txBody>
      </p:sp>
      <p:sp>
        <p:nvSpPr>
          <p:cNvPr id="69" name="Oval 68"/>
          <p:cNvSpPr/>
          <p:nvPr/>
        </p:nvSpPr>
        <p:spPr>
          <a:xfrm>
            <a:off x="3749039" y="5897880"/>
            <a:ext cx="146304" cy="146304"/>
          </a:xfrm>
          <a:prstGeom prst="ellipse">
            <a:avLst/>
          </a:prstGeom>
          <a:solidFill>
            <a:srgbClr val="5EB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86783" y="5852160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AAB5C3"/>
                </a:solidFill>
                <a:latin typeface="Arial"/>
              </a:rPr>
              <a:t>local code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0" y="5852160"/>
            <a:ext cx="59710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738191"/>
                </a:solidFill>
                <a:latin typeface="Arial"/>
              </a:rPr>
              <a:t>from agents.yaml:  </a:t>
            </a:r>
            <a:r>
              <a:rPr sz="1050" b="0">
                <a:solidFill>
                  <a:srgbClr val="AAB5C3"/>
                </a:solidFill>
                <a:latin typeface="Consolas"/>
              </a:rPr>
              <a:t>pass_threshold 80 · retry_threshold 50 · max_retries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