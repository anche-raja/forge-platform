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1.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charts/chart2.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Share of per-file time</c:v>
                </c:pt>
              </c:strCache>
            </c:strRef>
          </c:tx>
          <c:spPr>
            <a:solidFill>
              <a:srgbClr val="FF6A2B"/>
            </a:solidFill>
            <a:effectLst/>
          </c:spPr>
          <c:invertIfNegative val="0"/>
          <c:dLbls>
            <c:numFmt formatCode="0&quot;%&quot;" sourceLinked="0"/>
            <c:txPr>
              <a:bodyPr/>
              <a:lstStyle/>
              <a:p>
                <a:pPr>
                  <a:defRPr b="1" i="0" strike="noStrike" sz="1400" u="none">
                    <a:solidFill>
                      <a:srgbClr val="F3F5F8"/>
                    </a:solidFill>
                    <a:latin typeface="Arial"/>
                  </a:defRPr>
                </a:pPr>
              </a:p>
            </c:txPr>
            <c:showLegendKey val="0"/>
            <c:showVal val="1"/>
            <c:showCatName val="0"/>
            <c:showSerName val="0"/>
            <c:showPercent val="0"/>
            <c:showBubbleSize val="0"/>
            <c:showLeaderLines val="0"/>
          </c:dLbls>
          <c:cat>
            <c:multiLvlStrRef>
              <c:f>Sheet1!$A$2:$A$5</c:f>
              <c:multiLvlStrCache>
                <c:ptCount val="4"/>
                <c:lvl>
                  <c:pt idx="0">
                    <c:v>Transform</c:v>
                  </c:pt>
                  <c:pt idx="1">
                    <c:v>Advisory post-check</c:v>
                  </c:pt>
                  <c:pt idx="2">
                    <c:v>Review (Nova Pro)</c:v>
                  </c:pt>
                  <c:pt idx="3">
                    <c:v>Checks before transform</c:v>
                  </c:pt>
                </c:lvl>
              </c:multiLvlStrCache>
            </c:multiLvlStrRef>
          </c:cat>
          <c:val>
            <c:numRef>
              <c:f>Sheet1!$B$2:$B$5</c:f>
              <c:numCache>
                <c:formatCode>General</c:formatCode>
                <c:ptCount val="4"/>
                <c:pt idx="0">
                  <c:v>55</c:v>
                </c:pt>
                <c:pt idx="1">
                  <c:v>36</c:v>
                </c:pt>
                <c:pt idx="2">
                  <c:v>6</c:v>
                </c:pt>
                <c:pt idx="3">
                  <c:v>3</c:v>
                </c:pt>
              </c:numCache>
            </c:numRef>
          </c:val>
        </c:ser>
        <c:dLbls>
          <c:numFmt formatCode="0&quot;%&quot;" sourceLinked="0"/>
          <c:txPr>
            <a:bodyPr/>
            <a:lstStyle/>
            <a:p>
              <a:pPr>
                <a:defRPr b="1" i="0" strike="noStrike" sz="1400" u="none">
                  <a:solidFill>
                    <a:srgbClr val="F3F5F8"/>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50" b="0" i="0" u="none" strike="noStrike">
                <a:solidFill>
                  <a:srgbClr val="AAB5C3"/>
                </a:solidFill>
                <a:latin typeface="Arial"/>
              </a:defRPr>
            </a:pPr>
            <a:endParaRPr lang="en-US"/>
          </a:p>
        </c:txPr>
        <c:crossAx val="2094734552"/>
        <c:crosses val="autoZero"/>
        <c:auto val="1"/>
        <c:lblAlgn val="ctr"/>
        <c:noMultiLvlLbl val="1"/>
      </c:catAx>
      <c:valAx>
        <c:axId val="2094734552"/>
        <c:scaling>
          <c:orientation val="minMax"/>
          <c:max val="65"/>
          <c:min val="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Model calls per file</c:v>
                </c:pt>
              </c:strCache>
            </c:strRef>
          </c:tx>
          <c:spPr>
            <a:solidFill>
              <a:srgbClr val="FF6A2B"/>
            </a:solidFill>
            <a:effectLst/>
          </c:spPr>
          <c:invertIfNegative val="0"/>
          <c:dLbls>
            <c:numFmt formatCode="#,##0" sourceLinked="0"/>
            <c:txPr>
              <a:bodyPr/>
              <a:lstStyle/>
              <a:p>
                <a:pPr>
                  <a:defRPr b="1" i="0" strike="noStrike" sz="1400" u="none">
                    <a:solidFill>
                      <a:srgbClr val="F3F5F8"/>
                    </a:solidFill>
                    <a:latin typeface="Arial"/>
                  </a:defRPr>
                </a:pPr>
              </a:p>
            </c:txPr>
            <c:showLegendKey val="0"/>
            <c:showVal val="1"/>
            <c:showCatName val="0"/>
            <c:showSerName val="0"/>
            <c:showPercent val="0"/>
            <c:showBubbleSize val="0"/>
            <c:showLeaderLines val="0"/>
          </c:dLbls>
          <c:cat>
            <c:multiLvlStrRef>
              <c:f>Sheet1!$A$2:$A$7</c:f>
              <c:multiLvlStrCache>
                <c:ptCount val="6"/>
                <c:lvl>
                  <c:pt idx="0">
                    <c:v>Out of scope</c:v>
                  </c:pt>
                  <c:pt idx="1">
                    <c:v>Secret found locally</c:v>
                  </c:pt>
                  <c:pt idx="2">
                    <c:v>Nothing to change</c:v>
                  </c:pt>
                  <c:pt idx="3">
                    <c:v>Happy path</c:v>
                  </c:pt>
                  <c:pt idx="4">
                    <c:v>One retry</c:v>
                  </c:pt>
                  <c:pt idx="5">
                    <c:v>Two retries</c:v>
                  </c:pt>
                </c:lvl>
              </c:multiLvlStrCache>
            </c:multiLvlStrRef>
          </c:cat>
          <c:val>
            <c:numRef>
              <c:f>Sheet1!$B$2:$B$7</c:f>
              <c:numCache>
                <c:formatCode>General</c:formatCode>
                <c:ptCount val="6"/>
                <c:pt idx="0">
                  <c:v>0</c:v>
                </c:pt>
                <c:pt idx="1">
                  <c:v>0</c:v>
                </c:pt>
                <c:pt idx="2">
                  <c:v>1</c:v>
                </c:pt>
                <c:pt idx="3">
                  <c:v>3</c:v>
                </c:pt>
                <c:pt idx="4">
                  <c:v>5</c:v>
                </c:pt>
                <c:pt idx="5">
                  <c:v>7</c:v>
                </c:pt>
              </c:numCache>
            </c:numRef>
          </c:val>
        </c:ser>
        <c:dLbls>
          <c:numFmt formatCode="#,##0" sourceLinked="0"/>
          <c:txPr>
            <a:bodyPr/>
            <a:lstStyle/>
            <a:p>
              <a:pPr>
                <a:defRPr b="1" i="0" strike="noStrike" sz="1400" u="none">
                  <a:solidFill>
                    <a:srgbClr val="F3F5F8"/>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AAB5C3"/>
                </a:solidFill>
                <a:latin typeface="Arial"/>
              </a:defRPr>
            </a:pPr>
            <a:endParaRPr lang="en-US"/>
          </a:p>
        </c:txPr>
        <c:crossAx val="2094734552"/>
        <c:crosses val="autoZero"/>
        <c:auto val="1"/>
        <c:lblAlgn val="ctr"/>
        <c:noMultiLvlLbl val="1"/>
      </c:catAx>
      <c:valAx>
        <c:axId val="2094734552"/>
        <c:scaling>
          <c:orientation val="minMax"/>
          <c:max val="8"/>
          <c:min val="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Good morning, everyone. I'm Raja Anche, and this is FORGE: the Framework Orchestrated Rewrite and Generation Engine.
FORGE modernizes legacy Java with generative AI. The chips on the right are the actual payload: Java 8 to 21, javax to jakarta, Spring 5 to 6, Spring Security, Struts 6 to 7, and JUnit 4 to 5.
But the interesting part of this talk isn't that a model can rewrite Java. You all know it can. It's where we let the model decide, and where we deliberately don't. That line runs through every design decision you'll see.
We'll end with a demo of FORGE modernizing a real legacy application from a chat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Six parts. First, why this problem is hard and why the obvious approach fails. Then the one principle behind FORGE. Then the engine: the pipeline, cross-model review, the six checks and packs. Then what it's like to use, with humans in the loop. Then proof, landing a pull request, speed, cost and infrastructure. Finally, lessons learned and the demo.
Timing guide: the full deck runs about 45 minutes plus the demo. For a 30-minute slot, hide the optional deep dives: slide 13 (secret gate), 16 (intent), 18 (trust boundary) and 24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Meet AMS, the Asset Management System. It's our test bed: a replica of a real production J2EE application, rebuilt with the same stack, the same library versions and the same architecture, so we can run FORGE against something realistic without touching production code.
The numbers come straight from the repository: 376 Java files, about 33,600 lines, 61 JSPs carrying 485 Struts tags, and 49 Struts action classes across 10 Maven modules.
Look at the last tile. There are 40 javax imports, and nine of them, javax.sql and javax.xml.parsers, belong to the JDK and must not move. That one detail is a good preview of why this is hard.
On the right is the target: Java 21, Jakarta EE 10, Spring 6.2, Spring Security 6.3, Struts 7 and JUnit 5, still a WAR on Liberty. No Spring Boot; that's a platform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Modernizing this isn't one change. It's ten technology transitions, and the order matters. The build moves first, then Java 21, then the namespace, then Spring, Security, Struts, the views, the tests, and finally the deployment descriptors and the Liberty config.
FORGE computes this order itself: it's a topological sort over each pack's declared dependencies, not something a model decides.
Three traps. First, javax isn't one thing: javax.xml.bind is Jakarta and must move, while javax.xml.parsers is the JDK and must stay. Second, a rename isn't a migration: getRealPath is gone and JAXB left the JDK, so a pure rename compiles and then fails at runtime. Third, order is load-bearing. If pack two reads the original source instead of pack one's output, it silently undoes pack one. FORGE chains packs so each builds on the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So why not paste the files into a chat model and ask it to upgrade them? Four things break.
One: to ask a model whether a file contains secrets, you have to send it the file. The check is the leak.
Two: a model grading its own output shares the blind spots that produced the mistake.
Three: a plan chosen by a model changes from run to run, and an audit trail needs the same answer twice.
Four happened to us. Early on we asked the model a simple yes-or-no question: is this file in scope? Both early live runs sent files to manual review, the second one at a passing score of 80. The model was fine at Java and bad at being a string comparison.
That led to the rule at the bottom, which you'll see enforced all over FORGE: a model can never be the control that decides what a model may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If you remember one line from this talk, make it this one: models propose, code disposes.
The forge metaphor helps. Metal is shaped while it's hot; that's the creative, generative part. Then it's quenched, and quenching is what makes it hold its shape. In FORGE the model does the hot work: rewriting and reviewing code. Deterministic code does the quenching: scope, routing, secrets, risk, order and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Here's FORGE in one picture. A legacy J2EE application goes in on the left. A reviewed, modern application comes out on the right, on a git branch.
In between, every file goes through the same steps: discover, plan, rewrite, parse with javac, review, guard, hold if it's risky, then build the project, land it on a branch, and open a pull request when you click.
Four numbers to anchor it. There are 18 technology packs; 10 migrate today, and the other 8 are detected and reported. The happy path is three model calls per file. Eight files are in flight at once. And the codebase has 975 tests, all fully mocked, so the whole suite runs without an AWS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Let's make the principle concrete. On the left is everything a model decides in FORGE. Claude Opus 4.8 rewrites files within a pack's rules. Amazon Nova Pro scores the result from 0 to 100. In the chat, a model picks the next tool, explains results, and proposes decisions from your sentence.
On the right is everything code decides, always. Which packs apply comes from evidence. Which files a pack takes comes from what's in them, and from scope. What a score means is decided by a routing function. Whether the output even parses is javac's call, and after the last pack the project's own build. Secrets are caught by a local scanner that runs first. And landing code or opening a pull request always takes a human click.
The key point is the last line: these limits live in code and are pinned by tests. They're not instructions in a prompt that a clever input could talk its way around.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The architecture is deliberately simple. The engine runs on the engineer's machine or in CI. There's a chat UI bound to loopback only, and a CLI for CI gates. Both call the same service layer, so there's exactly one implementation of a run, and underneath it a LangGraph state machine per file.
On AWS we use managed services only. Bedrock hosts three models: Opus 4.8 to transform, Nova Pro to review, and Haiku 4.5 for intent. It also hosts the Guardrail, which we call through ApplyGuardrail: a managed policy engine with no model behind it, billed per text unit.
DynamoDB holds the per-file audit trail and the LangGraph checkpoints, so an interrupted run resumes where it stopped. CloudWatch holds metrics, a dashboard and four alarms that e-mail through SNS.
All of it is one terraform apply and costs about five dollars a month idle. And note the lock icon on the left: the secret gate runs locally, before a single byte leaves the machine. So do javac and the project's own build. The only other outside call is GitHub, and only when you click to open a pull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min] This is the heart of FORGE: one LangGraph state machine per file, and since today, up to eight files at once. The colors tell you who's acting: orange is a model call, amber is a guardrail gate, blue is local code.
A file enters guardrails_pre. If the local secret scan, the size check or the AWS guardrail objects, it's BLOCKED right there, at zero model cost.
Otherwise Claude transforms it. If the model finds nothing to change, the file is done: no review, nothing written. Otherwise javac parses what it wrote, in about a fifth of a second, before any review is paid for. A parse error, or a review score between 50 and 79, goes back to the transform as feedback, at most twice. Below 50, or with the budget spent, the file goes to manual review, and it always carries a reason.
A passing file goes through guardrails_post: the guardrail on the output, a mechanical check for leftover javax imports, and an advisory post-check. If its risk tier is above the ceiling, it's HELD: staged for a human and never written. Otherwise it's written, optionally compiled, and a compile failure feeds the errors back into the same loop.
Every outcome is recorded in DynamoDB and emitted as a CloudWatch metric.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Why two models? Claude Opus 4.8 writes the transform, and Amazon Nova Pro, from a different model family, grades it. Different training means different blind spots, so a mistake one makes, the other has a fair chance of catching.
But look at who decides. This is the real routing function from forge/graph.py. It reads an integer score and three thresholds from config: 80 or above passes, 50 to 79 retries, below 50 goes to a human. That's all.
The reviewer also returns its own verdict string, PASS or RETRY. We record it and never route on it. A model's opinion of its own verdict isn't a control.
Each pack's rubric is weighted to total exactly 100, and the loader refuses a pack whose weights don't add up. Otherwise the threshold of 80 would mean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Every file passes six checks, ordered by how far its bytes have to travel, from the cheapest and most private to the most exposed.
Three checks are local, with no network at all: the secret scan, a file-size ceiling, and after the transform, a regex that guarantees zero Jakarta-era javax imports remain. That's a mechanical invariant, so a regex decides it, never a model.
Two are the AWS Guardrail, on input and on output. ApplyGuardrail is a managed policy engine; no model is invoked.
Between the transform and the review sits javac. It parses every Java file the model wrote, with no classpath, and checks XML for well-formedness, in about a fifth of a second. A file that doesn't parse goes straight back to the model with javac's errors, and never costs a review call. We added it after a reviewer passed three AMS files that didn't compile.
Only one check is a model: after the transform, Opus reads the output for regressions or lost logic. It's advisory by default, because the reviewer is already the judge of correctness.
The consequence is the bottom line. Nothing is asked of a model before the transform, and a file that trips check one or two costs zero Bedrock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 optional deep dive] The secret gate gets its own slide because it's the control everything else depends on.
We weighted it for recall over precision, on purpose. Look at the asymmetry. A false positive costs one file: it's blocked, named in the report, and a human clears it with an allow-list entry. A false negative sends your credential to a third party, and there's no undo.
It catches key material, vendor-prefixed tokens, credentials in URLs and connection strings, credential-named assignments across Java, Spring XML, properties and YAML, and high-entropy literals.
Each of the four rules on the bottom right started as a real false positive. monkeyCount isn't a key. sortKey isn't a credential. A dollar-brace placeholder is a reference, not a secret. And UUIDs and checksums are dense but not secret.
One more detail: findings record a kind and a line number, never the matched bytes, because findings travel to DynamoDB, CloudWatch and the review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FORGE isn't a Java-8-to-21 script; it's a platform, and the unit of extension is a pack. A pack is one markdown file: YAML front matter plus the prompt text.
This is the real javax-to-jakarta pack. detect says what activates it: an import or a dependency, which is evidence, not a guess. applies_to says which files it takes, and it now selects by content: any javax reference that isn't the JDK's, written as a complement so an unknown package can't slip past. On AMS that's 16 of 376 Java files, tests included, instead of all of them. depends_on is an ordering edge. acceptance is the mechanical proof, and I love the count_unchanged check: the number of JDK javax imports must not change, so over-migration gets caught mechanically after the fact.
Below the front matter, the transform section holds six rules sent to the model verbatim, and the review section holds five weighted checks for Nova. A check that doesn't apply to a file now earns its full points; scored as failures, those checks had sent seven AMS child POMs below 50. The loader validates all of it at startup.
There are 18 packs today. Ten migrate; eight, including Ant, Hibernate, EJB and JSF, are detected and reported but not migrated yet. Adding a transition means writing a file, not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Now the experience. It starts with discovery, and discovery is free: no model, no AWS.
FORGE walks the repository, builds a stack profile, and resolves real dependency versions through Maven properties, dependencyManagement and imported BOMs. That's how it knows AMS's spring-core is 5.3.39 even though the version comes from the Spring BOM. Then it evaluates every pack's detect rules against that profile.
This is the actual profile it generated for AMS. Every pack cites its evidence: a property, an import, or a dependency with its version. Ten packs activated, zero model calls, zero dollars.
One subtle rule: a decision can gate a pack, for example turning off the Liberty config if you target Tomcat, but a decision can never activate a pack on its own. Only evidence does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 optional deep dive] Discovery tells you what's in the repo. It can't tell you what you want. That's intent.
You type a sentence like this one. One cheap model call, Claude Haiku 4.5 at about half a cent, turns it into a proposal: decisions, a scope exclusion and a subset of packs. The model sees the stack profile, never source code.
Then the proposal goes through reconcile, which is pure deterministic code with eight rules. The most important is the first: the model can only select packs discovery already activated. Ask for Hibernate in a repo without Hibernate and you get an 'unsupported' line, not an activation. The order still comes from the topological sort, and every decision carries provenance: prompt, config or default.
If the model's answer won't parse, FORGE doesn't retry; it falls back to the plain discovery plan. A guess is worse than a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You drive FORGE from a chat window. A leader model reads your sentence, calls one of fourteen tools, explains what came back, and stops to ask before anything irreversible. Every tool is a thin wrapper over the same service layer the CLI uses.
The key design choice: the leader picks which run happens, never what happens inside one. Four locks enforce that in code.
First, the set of packs discovery selected is a hard bound. If the model names anything else, it never reaches the service. Second, the graph is untouched: routing, retries and the hold gate are the same code as the CLI's. Third, applying review decisions, landing a branch and opening a pull request always need a click, and so does spend above your confirm limit: one dollar in the code, and zero, meaning never ask, in the generated config, by choice. Fourth, the risk ceiling never comes from a prompt. Without that lock, a sentence like 'don't bother reviewing' could have switched off the hold gate.
One more change worth knowing: the leader's step cap no longer interrupts a plan. A ten-pack plan used to stop after seven packs and wait for 'continue'; now each pack of the plan runs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 optional deep dive] Here's the sharpest edge in the design: what the leader model is allowed to see.
The same run data is reduced two ways. The model gets facts: counts, pack names, statuses, risk tiers, scores, costs and file paths. Your browser gets the code: diffs, reviewer feedback and full evidence.
The reducer in the middle is deliberately paranoid. Diffs are dropped. Build output becomes a verdict, because javac echoes source lines. Guardrail findings become counts and kinds, because a sensitive-information finding embeds the matched secret verbatim. And a test plants a marker in every field that carries file bytes and asserts none of them reach the model.
On the right is my favorite bug we never shipped. Partial-JSON parsing repairs truncated tool arguments, so if you press Stop mid-stream, a dry run can be repaired into a real run with the dry_run flag gone. So the admission gate is an allow-list: tool calls execute only if the stream finished cleanly with a tool-use or end-turn stop reason, and nobody pressed cancel.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Humans stay in the loop exactly where they matter.
Every file gets a deterministic risk score: LOW, MEDIUM or HIGH. Security configuration is HIGH by rule. The risk ceiling decides what that means: at review-high, the code default, HIGH-risk files are held, so the transform is staged, not written. The generated config sets it to auto, by choice, which holds nothing.
Every file that needs a human appears in the chat as a review card with the diff, the score and the reason; every manual-review or blocked file now carries one. You approve, reject, or retry with a note. Cards stay valid across the whole plan, because the review queue builds up pack by pack.
Approval is final. If the file later fails to compile, FORGE reports it but never reverses your decision; an approval is a human's signature on someone else's code. Retry takes your note as a prompt block, and 'you dropped the null check' is enough.
Then the loop closes. Notes roll up by pack and rule into a feedback report, so a correction you keep making becomes a fix to the pack itself, and everyone benefits.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How do we know a migration worked? Three layers, and none of them is a model's opinion.
Compiler checks come first. A reviewer reads for meaning, and on AMS it passed three java8-to-java21 files that didn't compile: a stray brace, some characters pasted after one. So javac now parses every file before any review is paid for, and a file that doesn't parse goes back to the model with javac's errors. Before each chained pack, FORGE parses everything earlier packs wrote; a damaged file is moved aside, never deleted, and the pack that wrote it is named. After the last pack, FORGE builds the whole project with its own Maven reactors, in dependency order.
Acceptance: each pack declares mechanical checks, such as no remaining matches, unchanged counts, test parity, authorization parity and a build. They run over the merged tree. Anything skipped keeps the verdict at INCOMPLETE, never PASS, and the exit code gates CI.
Test generation: legacy code rarely has tests, so FORGE writes JUnit 5 and Mockito tests for the classes it migrated. It never overwrites a human's test, and a failing test is staged rather than written, because a broken test breaks every build after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The last mile used to end at a local branch. Now it ends at a pull request, and every step that touches your repository is a click.
First, the build. After the last pack, FORGE compiles your source with the migrated files laid over it, using the project's own build: each Maven reactor in dependency order, into an isolated local repository, on the JDK your target Java version names. The verdict is passed, failed, not run, or stale, meaning the files changed after the build. It shows on the landing card, and a failed build never blocks landing: the decision is yours.
Second, landing. 'Put it on a branch' creates one branch and one commit, with only the files a run recorded or a human approved; anything else in the output folder is named and left behind. It refuses a dirty tree or an existing branch rather than stashing or forcing. FORGE's own .migrated folder is excluded locally and never committed.
Third, the pull request, only when you click. FORGE pushes that one branch, never forced, and opens the PR with the GitHub CLI into the branch you started from. The description is built from FORGE's own records: the packs that ran, the totals, the files still waiting on a human, and the build verdict, said plainly when it failed. It never contains source, diffs or compiler output. That's the only way FORGE ever pushes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Speed, measured. This morning a run over AMS processed 151 files in 56 minutes, strictly one at a time: about 22 seconds a file on Sonnet 4.5. The LangGraph checkpoints record when every node finished, so we know exactly where the time went. 55 percent was the transform, 36 percent the advisory post-check, 6 percent Nova's review, and 3 percent the checks before the transform.
Two changes landed today. Packs now select by content: javax-to-jakarta takes the 16 files that actually mention a Jakarta javax package instead of every Java file, and across the ten packs AMS went from 1,480 files to 422. And files run in parallel, eight at a time in the generated config; this account's Bedrock quotas leave plenty of headroom for that.
Put together, the full ten-pack plan projects to roughly 20 to 40 minutes instead of about nine hours. That's a projection, not a measurement yet.
The chart also points at the next win. Transform time grows about three seconds per kilobyte, because the model writes the whole file back, even when only an import line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What does it cost? The chart shows model calls per file. Out-of-scope files and files the secret gate stops cost zero. A file the model finds nothing to change in costs one. The happy path is three calls: transform, review and post-check. Each retry adds up to two, and a file javac can't parse retries without paying for a review.
FORGE plans with seven cents per file: three model calls with Opus 4.8 doing the transform. For all ten packs across AMS, now 422 units because packs select by content, that's a quote of about thirty dollars before retries. It's deliberately conservative; what a run actually spends is accrued per call from real token counts. A CloudWatch alarm fires if spend passes 50 dollars in an hour, and the idle AWS infrastructure costs about five dollars a month.
If asked for a measured figure: when Sonnet 4.5 did the transform, a real AMS file measured about 2.4 cents, and all of AMS, 1,480 units back then, about 45 dollars (forge-mvp/USING-FORGE.md). Opus 4.8 costs more per token, which is why the planning number is higher.
And none of it has to happen by surprise. Profiling, planning and estimating are free, and if you set a confirm limit, spend above it waits for your click. The code's default limit is one dollar; the generated config sets zero, meaning never ask, by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 optional deep dive] The infrastructure is four Terraform modules. Foundation and observability are on by default: two DynamoDB tables, the Bedrock Guardrail with a published version, the IAM execution role, logs, a dashboard, four alarms and SNS. The SQS review queue and a SageMaker endpoint are opt-in behind flags; SageMaker would add about eleven hundred dollars a month, so it stays off until there's a trained model to host.
Three lessons the Terraform taught us. Cross-region inference profiles need IAM on the profile and on the foundation model in every region the profile can route to; otherwise you get AccessDenied on the first call. A guardrail tuned for chat blocks code. The conversational filters are gone: MISCONDUCT, at HIGH, blocked two ordinary Struts actions on AMS, OrderSubmitAction and UserAction, so they silently never migrated. Now it's secrets and prompt attacks only, and still no EMAIL or IP_ADDRESS, because @author tags and IP literals look like PII. And metric names are a contract between Python and Terraform: the pipeline emits exactly what the alarms watch, and telemetry can never fail a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Five lessons, if you're building something similar.
One: never hand a model a mechanical question. Our scope bug turned a string comparison into manual reviews. And a reviewer reading for meaning passed three files that didn't even compile; javac catches those now, in a fifth of a second.
Two: a model can't be the control that decides what a model may see, so secret detection is local and runs first.
Three: let models propose and code dispose. reconcile and route_reviewer are small, boring functions, and they're what make the system trustworthy.
Four: a skipped check is not a pass. It's tempting to go green when a check can't run. Don't.
Five: publish the numbers, even the bad ones. Our 975 tests prove the orchestration works, but they mock the model, so they say nothing about migration quality. Measuring that honestly is our next milestone.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Where we are. Shipped: the guarded pipeline with cross-model review and a javac parse, ten runnable packs that select files by content, up to eight files in parallel, discovery, intent and the chat leader, risk holds with in-chat review, acceptance, the project build, test generation, landing on a branch with a pull request on your click, and the Terraform.
Next: measure output quality on a real AMS module end to end, covering pass rate, score distribution, real cost per file and how long human review takes, and publish it even if it's bad. Then context extractors: four packs currently run without the cross-file context they declare, and the Spring bean graph comes first. After that, routing parity for Struts, and running a whole plan straight from the discovery profile.
Later: integration tests with a coverage gate, a module-level build gate, a startup probe for model access, and more packs.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Three things to take home, whatever you're building with LLMs.
Put the model where judgment lives, and keep scope, secrets, routing and money in code.
Cross-check with a different model family, and let an integer, not the model's opinion of itself, drive the branch.
Make the human's click the gate for spending money, for approval, and for anything that lands in a repository.
Now let me show you what that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Here's what to watch for in the demo. I type one sentence, 'migrate the app at ~/forge/ams', and discovery finds ten packs, each with its evidence, at no cost. The leader lays out the plan, ten packs and 422 files, with the cost quoted up front. The run streams eight files at a time, each one transformed, parsed by javac, reviewed and guarded. Files that need a human show up as review cards with the diff, the score and the reason, and I approve, reject, or retry with a note. After the last pack FORGE builds the project and shows the verdict; 'put it on a branch' lands one commit on a new branch, and one more click opens the pull request.
(Adjust these five beats to match your recording. With the generated config, confirm_above_usd is 0 and risk_ceiling is auto, so runs start without a cost card and nothing is held; files that score low still come back as review 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video] To embed your recording: in Normal view, click the video icon inside the frame (or use Insert &gt; Video), choose the file, and it fills the 16:9 frame. On the Playback tab, set Start to 'When Clicked On' or 'Automatically', and consider 'Play Full Screen'.
Narrate the five beats from the previous slide as they happen. If the video fails on the day, the previous slide is your fallback: walk through the five beats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Happy to take questions.
Likely questions, with short answers:
• "How good is the output?" That's the honest open question. The tests prove the orchestration; a published pass rate from a real AMS module run is the next milestone.
• "Why not Spring Boot?" It's a platform decision fixed in the requirements: a WAR on Liberty, Jakarta EE 10, Spring 6.2.
• "Why Struts 7 and not Spring MVC?" Modernizing in place is the only supported route. The Spring MVC route was removed because it needed a context extractor that doesn't exist yet.
• "Does our code leave the building?" Only after the local secret gate clears it, and only to Bedrock in our own AWS account.
• "Will it push to our repositories?" Only through open_pull_request, only when you click: it pushes the one branch it landed, never forced, and opens the PR with gh. The PR description holds no source, diffs or compiler output.
• "Can it do X?" If there's a pack for it. Adding a pack is one markdown file, and eight more technologies are already detected.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FORGE-Demo-Video-image-1.jpe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FORGE-Title-image-1.jpe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FORGE-Content-image-1.jpe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FORGE-Statement-image-1.jpe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FORGE-Demo-image-1.jpe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FORGE-Closing-image-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ORGE Demo Video">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media" hasCustomPrompt="1"/>
          </p:nvPr>
        </p:nvSpPr>
        <p:spPr>
          <a:xfrm>
            <a:off x="1252728" y="658368"/>
            <a:ext cx="9692640" cy="5452110"/>
          </a:xfrm>
          <a:prstGeom prst="rect">
            <a:avLst/>
          </a:prstGeom>
          <a:noFill/>
          <a:ln/>
        </p:spPr>
        <p:txBody>
          <a:bodyPr wrap="square" rtlCol="0"/>
          <a:lstStyle>
            <a:lvl1pPr algn="ctr" indent="0" marL="0">
              <a:buNone/>
              <a:defRPr lang="en-US" sz="1600" dirty="0">
                <a:solidFill>
                  <a:srgbClr val="AAB5C3"/>
                </a:solidFill>
                <a:latin typeface="Arial" pitchFamily="34" charset="0"/>
                <a:ea typeface="Arial" pitchFamily="34" charset="-122"/>
                <a:cs typeface="Arial" pitchFamily="34" charset="-120"/>
              </a:defRPr>
            </a:lvl1pPr>
          </a:lstStyle>
          <a:p>
            <a:pPr algn="ctr" indent="0" marL="0">
              <a:buNone/>
            </a:pPr>
            <a:r>
              <a:rPr lang="en-US" sz="1600" dirty="0">
                <a:solidFill>
                  <a:srgbClr val="AAB5C3"/>
                </a:solidFill>
                <a:latin typeface="Arial" pitchFamily="34" charset="0"/>
                <a:ea typeface="Arial" pitchFamily="34" charset="-122"/>
                <a:cs typeface="Arial" pitchFamily="34" charset="-120"/>
              </a:rPr>
              <a:t>Click the video icon to insert the demo recording</a:t>
            </a: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FORGE 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FORGE 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FORGE Statem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FORGE Demo">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FORGE Closing">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4.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4.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4.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4.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4.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4.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1.png"/><Relationship Id="rId3" Type="http://schemas.openxmlformats.org/officeDocument/2006/relationships/image" Target="../media/image-17-1.png"/><Relationship Id="rId4" Type="http://schemas.openxmlformats.org/officeDocument/2006/relationships/image" Target="../media/image-17-1.png"/><Relationship Id="rId5" Type="http://schemas.openxmlformats.org/officeDocument/2006/relationships/slideLayout" Target="../slideLayouts/slideLayout4.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4.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4.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4.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22-1.png"/><Relationship Id="rId3" Type="http://schemas.openxmlformats.org/officeDocument/2006/relationships/image" Target="../media/image-22-2.png"/><Relationship Id="rId4" Type="http://schemas.openxmlformats.org/officeDocument/2006/relationships/slideLayout" Target="../slideLayouts/slideLayout4.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23-1.png"/><Relationship Id="rId3" Type="http://schemas.openxmlformats.org/officeDocument/2006/relationships/slideLayout" Target="../slideLayouts/slideLayout4.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slideLayout" Target="../slideLayouts/slideLayout4.xml"/><Relationship Id="rId9"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4.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4.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685800"/>
            <a:ext cx="6858000" cy="274320"/>
          </a:xfrm>
          <a:prstGeom prst="rect">
            <a:avLst/>
          </a:prstGeom>
          <a:noFill/>
          <a:ln/>
        </p:spPr>
        <p:txBody>
          <a:bodyPr wrap="square" lIns="0" tIns="0" rIns="0" bIns="0" rtlCol="0" anchor="t"/>
          <a:lstStyle/>
          <a:p>
            <a:pPr indent="0" marL="0">
              <a:buNone/>
            </a:pPr>
            <a:r>
              <a:rPr lang="en-US" sz="1200" b="1" spc="400" kern="0" dirty="0">
                <a:solidFill>
                  <a:srgbClr val="AAB5C3"/>
                </a:solidFill>
                <a:latin typeface="Arial" pitchFamily="34" charset="0"/>
                <a:ea typeface="Arial" pitchFamily="34" charset="-122"/>
                <a:cs typeface="Arial" pitchFamily="34" charset="-120"/>
              </a:rPr>
              <a:t>SOFTWARE DEVELOPMENT CONFERENCE  ·  2026</a:t>
            </a:r>
            <a:endParaRPr lang="en-US" sz="1200" dirty="0"/>
          </a:p>
        </p:txBody>
      </p:sp>
      <p:sp>
        <p:nvSpPr>
          <p:cNvPr id="3" name="Text 1"/>
          <p:cNvSpPr txBox="1"/>
          <p:nvPr/>
        </p:nvSpPr>
        <p:spPr>
          <a:xfrm>
            <a:off x="658368" y="1280160"/>
            <a:ext cx="6949440" cy="1645920"/>
          </a:xfrm>
          <a:prstGeom prst="rect">
            <a:avLst/>
          </a:prstGeom>
          <a:noFill/>
          <a:ln/>
        </p:spPr>
        <p:txBody>
          <a:bodyPr wrap="square" lIns="0" tIns="0" rIns="0" bIns="0" rtlCol="0" anchor="t"/>
          <a:lstStyle/>
          <a:p>
            <a:pPr indent="0" marL="0">
              <a:buNone/>
            </a:pPr>
            <a:r>
              <a:rPr lang="en-US" sz="11800" b="1" spc="800" kern="0" dirty="0">
                <a:solidFill>
                  <a:srgbClr val="F3F5F8"/>
                </a:solidFill>
                <a:effectLst>
                  <a:glow rad="152400">
                    <a:srgbClr val="FF6A2B">
                      <a:alpha val="22000"/>
                    </a:srgbClr>
                  </a:glow>
                </a:effectLst>
                <a:latin typeface="Arial" pitchFamily="34" charset="0"/>
                <a:ea typeface="Arial" pitchFamily="34" charset="-122"/>
                <a:cs typeface="Arial" pitchFamily="34" charset="-120"/>
              </a:rPr>
              <a:t>FORGE</a:t>
            </a:r>
            <a:endParaRPr lang="en-US" sz="11800" dirty="0"/>
          </a:p>
        </p:txBody>
      </p:sp>
      <p:sp>
        <p:nvSpPr>
          <p:cNvPr id="4" name="Text 2"/>
          <p:cNvSpPr txBox="1"/>
          <p:nvPr/>
        </p:nvSpPr>
        <p:spPr>
          <a:xfrm>
            <a:off x="731520" y="2944368"/>
            <a:ext cx="6949440" cy="365760"/>
          </a:xfrm>
          <a:prstGeom prst="rect">
            <a:avLst/>
          </a:prstGeom>
          <a:noFill/>
          <a:ln/>
        </p:spPr>
        <p:txBody>
          <a:bodyPr wrap="square" lIns="0" tIns="0" rIns="0" bIns="0" rtlCol="0" anchor="t"/>
          <a:lstStyle/>
          <a:p>
            <a:pPr indent="0" marL="0">
              <a:buNone/>
            </a:pPr>
            <a:r>
              <a:rPr lang="en-US" sz="1700" b="1" spc="100" kern="0" dirty="0">
                <a:solidFill>
                  <a:srgbClr val="FF6A2B"/>
                </a:solidFill>
                <a:latin typeface="Arial" pitchFamily="34" charset="0"/>
                <a:ea typeface="Arial" pitchFamily="34" charset="-122"/>
                <a:cs typeface="Arial" pitchFamily="34" charset="-120"/>
              </a:rPr>
              <a:t>Framework Orchestrated Rewrite &amp; Generation Engine</a:t>
            </a:r>
            <a:endParaRPr lang="en-US" sz="1700" dirty="0"/>
          </a:p>
        </p:txBody>
      </p:sp>
      <p:sp>
        <p:nvSpPr>
          <p:cNvPr id="5" name="Text 3"/>
          <p:cNvSpPr txBox="1"/>
          <p:nvPr/>
        </p:nvSpPr>
        <p:spPr>
          <a:xfrm>
            <a:off x="731520" y="3611880"/>
            <a:ext cx="7132320" cy="1005840"/>
          </a:xfrm>
          <a:prstGeom prst="rect">
            <a:avLst/>
          </a:prstGeom>
          <a:noFill/>
          <a:ln/>
        </p:spPr>
        <p:txBody>
          <a:bodyPr wrap="square" lIns="0" tIns="0" rIns="0" bIns="0" rtlCol="0" anchor="t"/>
          <a:lstStyle/>
          <a:p>
            <a:pPr indent="0" marL="0">
              <a:lnSpc>
                <a:spcPct val="110000"/>
              </a:lnSpc>
              <a:buNone/>
            </a:pPr>
            <a:r>
              <a:rPr lang="en-US" sz="2400" dirty="0">
                <a:solidFill>
                  <a:srgbClr val="F3F5F8"/>
                </a:solidFill>
                <a:latin typeface="Arial" pitchFamily="34" charset="0"/>
                <a:ea typeface="Arial" pitchFamily="34" charset="-122"/>
                <a:cs typeface="Arial" pitchFamily="34" charset="-120"/>
              </a:rPr>
              <a:t>Modernizing legacy Java with generative AI,</a:t>
            </a:r>
            <a:endParaRPr lang="en-US" sz="2400" dirty="0"/>
          </a:p>
          <a:p>
            <a:pPr indent="0" marL="0">
              <a:lnSpc>
                <a:spcPct val="110000"/>
              </a:lnSpc>
              <a:buNone/>
            </a:pPr>
            <a:r>
              <a:rPr lang="en-US" sz="2400" dirty="0">
                <a:solidFill>
                  <a:srgbClr val="F3F5F8"/>
                </a:solidFill>
                <a:latin typeface="Arial" pitchFamily="34" charset="0"/>
                <a:ea typeface="Arial" pitchFamily="34" charset="-122"/>
                <a:cs typeface="Arial" pitchFamily="34" charset="-120"/>
              </a:rPr>
              <a:t>where the model proposes and code decides.</a:t>
            </a:r>
            <a:endParaRPr lang="en-US" sz="2400" dirty="0"/>
          </a:p>
        </p:txBody>
      </p:sp>
      <p:sp>
        <p:nvSpPr>
          <p:cNvPr id="6" name="Text 4"/>
          <p:cNvSpPr txBox="1"/>
          <p:nvPr/>
        </p:nvSpPr>
        <p:spPr>
          <a:xfrm>
            <a:off x="731520" y="5230368"/>
            <a:ext cx="5486400" cy="365760"/>
          </a:xfrm>
          <a:prstGeom prst="rect">
            <a:avLst/>
          </a:prstGeom>
          <a:noFill/>
          <a:ln/>
        </p:spPr>
        <p:txBody>
          <a:bodyPr wrap="square" lIns="0" tIns="0" rIns="0" bIns="0" rtlCol="0" anchor="t"/>
          <a:lstStyle/>
          <a:p>
            <a:pPr indent="0" marL="0">
              <a:buNone/>
            </a:pPr>
            <a:r>
              <a:rPr lang="en-US" sz="1800" b="1" dirty="0">
                <a:solidFill>
                  <a:srgbClr val="F3F5F8"/>
                </a:solidFill>
                <a:latin typeface="Arial" pitchFamily="34" charset="0"/>
                <a:ea typeface="Arial" pitchFamily="34" charset="-122"/>
                <a:cs typeface="Arial" pitchFamily="34" charset="-120"/>
              </a:rPr>
              <a:t>Raja Anche</a:t>
            </a:r>
            <a:endParaRPr lang="en-US" sz="1800" dirty="0"/>
          </a:p>
        </p:txBody>
      </p:sp>
      <p:sp>
        <p:nvSpPr>
          <p:cNvPr id="7" name="Text 5"/>
          <p:cNvSpPr txBox="1"/>
          <p:nvPr/>
        </p:nvSpPr>
        <p:spPr>
          <a:xfrm>
            <a:off x="731520" y="5596128"/>
            <a:ext cx="6400800" cy="274320"/>
          </a:xfrm>
          <a:prstGeom prst="rect">
            <a:avLst/>
          </a:prstGeom>
          <a:noFill/>
          <a:ln/>
        </p:spPr>
        <p:txBody>
          <a:bodyPr wrap="square" lIns="0" tIns="0" rIns="0" bIns="0" rtlCol="0" anchor="t"/>
          <a:lstStyle/>
          <a:p>
            <a:pPr indent="0" marL="0">
              <a:buNone/>
            </a:pPr>
            <a:r>
              <a:rPr lang="en-US" sz="1200" dirty="0">
                <a:solidFill>
                  <a:srgbClr val="AAB5C3"/>
                </a:solidFill>
                <a:latin typeface="Arial" pitchFamily="34" charset="0"/>
                <a:ea typeface="Arial" pitchFamily="34" charset="-122"/>
                <a:cs typeface="Arial" pitchFamily="34" charset="-120"/>
              </a:rPr>
              <a:t>Amazon Bedrock  ·  LangGraph  ·  Terraform</a:t>
            </a:r>
            <a:endParaRPr lang="en-US" sz="1200" dirty="0"/>
          </a:p>
        </p:txBody>
      </p:sp>
      <p:sp>
        <p:nvSpPr>
          <p:cNvPr id="8" name="Text 6"/>
          <p:cNvSpPr txBox="1"/>
          <p:nvPr/>
        </p:nvSpPr>
        <p:spPr>
          <a:xfrm>
            <a:off x="8001000" y="1371600"/>
            <a:ext cx="3611880" cy="566928"/>
          </a:xfrm>
          <a:prstGeom prst="roundRect">
            <a:avLst>
              <a:gd name="adj" fmla="val 50000"/>
            </a:avLst>
          </a:prstGeom>
          <a:solidFill>
            <a:srgbClr val="0E141C">
              <a:alpha val="85000"/>
            </a:srgbClr>
          </a:solidFill>
          <a:ln w="12700">
            <a:solidFill>
              <a:srgbClr val="4A3226"/>
            </a:solidFill>
          </a:ln>
        </p:spPr>
        <p:txBody>
          <a:bodyPr wrap="square" lIns="0" tIns="0" rIns="0" bIns="0" rtlCol="0" anchor="ctr"/>
          <a:lstStyle/>
          <a:p>
            <a:pPr algn="ctr" indent="0" marL="0">
              <a:buNone/>
            </a:pPr>
            <a:r>
              <a:rPr lang="en-US" sz="1500" dirty="0">
                <a:solidFill>
                  <a:srgbClr val="AAB5C3"/>
                </a:solidFill>
                <a:latin typeface="Arial" pitchFamily="34" charset="0"/>
                <a:ea typeface="Arial" pitchFamily="34" charset="-122"/>
                <a:cs typeface="Arial" pitchFamily="34" charset="-120"/>
              </a:rPr>
              <a:t>Java 8</a:t>
            </a:r>
            <a:pPr algn="ctr" indent="0" marL="0">
              <a:buNone/>
            </a:pPr>
            <a:r>
              <a:rPr lang="en-US" sz="1900" b="1" dirty="0">
                <a:solidFill>
                  <a:srgbClr val="FF6A2B"/>
                </a:solidFill>
                <a:latin typeface="Arial" pitchFamily="34" charset="0"/>
                <a:ea typeface="Arial" pitchFamily="34" charset="-122"/>
                <a:cs typeface="Arial" pitchFamily="34" charset="-120"/>
              </a:rPr>
              <a:t>   →   </a:t>
            </a:r>
            <a:pPr algn="ctr" indent="0" marL="0">
              <a:buNone/>
            </a:pPr>
            <a:r>
              <a:rPr lang="en-US" sz="1500" b="1" dirty="0">
                <a:solidFill>
                  <a:srgbClr val="F3F5F8"/>
                </a:solidFill>
                <a:latin typeface="Arial" pitchFamily="34" charset="0"/>
                <a:ea typeface="Arial" pitchFamily="34" charset="-122"/>
                <a:cs typeface="Arial" pitchFamily="34" charset="-120"/>
              </a:rPr>
              <a:t>Java 21</a:t>
            </a:r>
            <a:endParaRPr lang="en-US" sz="1500" dirty="0"/>
          </a:p>
        </p:txBody>
      </p:sp>
      <p:sp>
        <p:nvSpPr>
          <p:cNvPr id="9" name="Text 7"/>
          <p:cNvSpPr txBox="1"/>
          <p:nvPr/>
        </p:nvSpPr>
        <p:spPr>
          <a:xfrm>
            <a:off x="8001000" y="2103120"/>
            <a:ext cx="3611880" cy="566928"/>
          </a:xfrm>
          <a:prstGeom prst="roundRect">
            <a:avLst>
              <a:gd name="adj" fmla="val 50000"/>
            </a:avLst>
          </a:prstGeom>
          <a:solidFill>
            <a:srgbClr val="0E141C">
              <a:alpha val="85000"/>
            </a:srgbClr>
          </a:solidFill>
          <a:ln w="12700">
            <a:solidFill>
              <a:srgbClr val="4A3226"/>
            </a:solidFill>
          </a:ln>
        </p:spPr>
        <p:txBody>
          <a:bodyPr wrap="square" lIns="0" tIns="0" rIns="0" bIns="0" rtlCol="0" anchor="ctr"/>
          <a:lstStyle/>
          <a:p>
            <a:pPr algn="ctr" indent="0" marL="0">
              <a:buNone/>
            </a:pPr>
            <a:r>
              <a:rPr lang="en-US" sz="1500" dirty="0">
                <a:solidFill>
                  <a:srgbClr val="AAB5C3"/>
                </a:solidFill>
                <a:latin typeface="Arial" pitchFamily="34" charset="0"/>
                <a:ea typeface="Arial" pitchFamily="34" charset="-122"/>
                <a:cs typeface="Arial" pitchFamily="34" charset="-120"/>
              </a:rPr>
              <a:t>javax.*</a:t>
            </a:r>
            <a:pPr algn="ctr" indent="0" marL="0">
              <a:buNone/>
            </a:pPr>
            <a:r>
              <a:rPr lang="en-US" sz="1900" b="1" dirty="0">
                <a:solidFill>
                  <a:srgbClr val="FF6A2B"/>
                </a:solidFill>
                <a:latin typeface="Arial" pitchFamily="34" charset="0"/>
                <a:ea typeface="Arial" pitchFamily="34" charset="-122"/>
                <a:cs typeface="Arial" pitchFamily="34" charset="-120"/>
              </a:rPr>
              <a:t>   →   </a:t>
            </a:r>
            <a:pPr algn="ctr" indent="0" marL="0">
              <a:buNone/>
            </a:pPr>
            <a:r>
              <a:rPr lang="en-US" sz="1500" b="1" dirty="0">
                <a:solidFill>
                  <a:srgbClr val="F3F5F8"/>
                </a:solidFill>
                <a:latin typeface="Arial" pitchFamily="34" charset="0"/>
                <a:ea typeface="Arial" pitchFamily="34" charset="-122"/>
                <a:cs typeface="Arial" pitchFamily="34" charset="-120"/>
              </a:rPr>
              <a:t>jakarta.*</a:t>
            </a:r>
            <a:endParaRPr lang="en-US" sz="1500" dirty="0"/>
          </a:p>
        </p:txBody>
      </p:sp>
      <p:sp>
        <p:nvSpPr>
          <p:cNvPr id="10" name="Text 8"/>
          <p:cNvSpPr txBox="1"/>
          <p:nvPr/>
        </p:nvSpPr>
        <p:spPr>
          <a:xfrm>
            <a:off x="8001000" y="2834640"/>
            <a:ext cx="3611880" cy="566928"/>
          </a:xfrm>
          <a:prstGeom prst="roundRect">
            <a:avLst>
              <a:gd name="adj" fmla="val 50000"/>
            </a:avLst>
          </a:prstGeom>
          <a:solidFill>
            <a:srgbClr val="0E141C">
              <a:alpha val="85000"/>
            </a:srgbClr>
          </a:solidFill>
          <a:ln w="12700">
            <a:solidFill>
              <a:srgbClr val="4A3226"/>
            </a:solidFill>
          </a:ln>
        </p:spPr>
        <p:txBody>
          <a:bodyPr wrap="square" lIns="0" tIns="0" rIns="0" bIns="0" rtlCol="0" anchor="ctr"/>
          <a:lstStyle/>
          <a:p>
            <a:pPr algn="ctr" indent="0" marL="0">
              <a:buNone/>
            </a:pPr>
            <a:r>
              <a:rPr lang="en-US" sz="1500" dirty="0">
                <a:solidFill>
                  <a:srgbClr val="AAB5C3"/>
                </a:solidFill>
                <a:latin typeface="Arial" pitchFamily="34" charset="0"/>
                <a:ea typeface="Arial" pitchFamily="34" charset="-122"/>
                <a:cs typeface="Arial" pitchFamily="34" charset="-120"/>
              </a:rPr>
              <a:t>Spring 5.3</a:t>
            </a:r>
            <a:pPr algn="ctr" indent="0" marL="0">
              <a:buNone/>
            </a:pPr>
            <a:r>
              <a:rPr lang="en-US" sz="1900" b="1" dirty="0">
                <a:solidFill>
                  <a:srgbClr val="FF6A2B"/>
                </a:solidFill>
                <a:latin typeface="Arial" pitchFamily="34" charset="0"/>
                <a:ea typeface="Arial" pitchFamily="34" charset="-122"/>
                <a:cs typeface="Arial" pitchFamily="34" charset="-120"/>
              </a:rPr>
              <a:t>   →   </a:t>
            </a:r>
            <a:pPr algn="ctr" indent="0" marL="0">
              <a:buNone/>
            </a:pPr>
            <a:r>
              <a:rPr lang="en-US" sz="1500" b="1" dirty="0">
                <a:solidFill>
                  <a:srgbClr val="F3F5F8"/>
                </a:solidFill>
                <a:latin typeface="Arial" pitchFamily="34" charset="0"/>
                <a:ea typeface="Arial" pitchFamily="34" charset="-122"/>
                <a:cs typeface="Arial" pitchFamily="34" charset="-120"/>
              </a:rPr>
              <a:t>Spring 6.2</a:t>
            </a:r>
            <a:endParaRPr lang="en-US" sz="1500" dirty="0"/>
          </a:p>
        </p:txBody>
      </p:sp>
      <p:sp>
        <p:nvSpPr>
          <p:cNvPr id="11" name="Text 9"/>
          <p:cNvSpPr txBox="1"/>
          <p:nvPr/>
        </p:nvSpPr>
        <p:spPr>
          <a:xfrm>
            <a:off x="8001000" y="3566160"/>
            <a:ext cx="3611880" cy="566928"/>
          </a:xfrm>
          <a:prstGeom prst="roundRect">
            <a:avLst>
              <a:gd name="adj" fmla="val 50000"/>
            </a:avLst>
          </a:prstGeom>
          <a:solidFill>
            <a:srgbClr val="0E141C">
              <a:alpha val="85000"/>
            </a:srgbClr>
          </a:solidFill>
          <a:ln w="12700">
            <a:solidFill>
              <a:srgbClr val="4A3226"/>
            </a:solidFill>
          </a:ln>
        </p:spPr>
        <p:txBody>
          <a:bodyPr wrap="square" lIns="0" tIns="0" rIns="0" bIns="0" rtlCol="0" anchor="ctr"/>
          <a:lstStyle/>
          <a:p>
            <a:pPr algn="ctr" indent="0" marL="0">
              <a:buNone/>
            </a:pPr>
            <a:r>
              <a:rPr lang="en-US" sz="1500" dirty="0">
                <a:solidFill>
                  <a:srgbClr val="AAB5C3"/>
                </a:solidFill>
                <a:latin typeface="Arial" pitchFamily="34" charset="0"/>
                <a:ea typeface="Arial" pitchFamily="34" charset="-122"/>
                <a:cs typeface="Arial" pitchFamily="34" charset="-120"/>
              </a:rPr>
              <a:t>Spring Security 5.3</a:t>
            </a:r>
            <a:pPr algn="ctr" indent="0" marL="0">
              <a:buNone/>
            </a:pPr>
            <a:r>
              <a:rPr lang="en-US" sz="1900" b="1" dirty="0">
                <a:solidFill>
                  <a:srgbClr val="FF6A2B"/>
                </a:solidFill>
                <a:latin typeface="Arial" pitchFamily="34" charset="0"/>
                <a:ea typeface="Arial" pitchFamily="34" charset="-122"/>
                <a:cs typeface="Arial" pitchFamily="34" charset="-120"/>
              </a:rPr>
              <a:t>   →   </a:t>
            </a:r>
            <a:pPr algn="ctr" indent="0" marL="0">
              <a:buNone/>
            </a:pPr>
            <a:r>
              <a:rPr lang="en-US" sz="1500" b="1" dirty="0">
                <a:solidFill>
                  <a:srgbClr val="F3F5F8"/>
                </a:solidFill>
                <a:latin typeface="Arial" pitchFamily="34" charset="0"/>
                <a:ea typeface="Arial" pitchFamily="34" charset="-122"/>
                <a:cs typeface="Arial" pitchFamily="34" charset="-120"/>
              </a:rPr>
              <a:t>6.3</a:t>
            </a:r>
            <a:endParaRPr lang="en-US" sz="1500" dirty="0"/>
          </a:p>
        </p:txBody>
      </p:sp>
      <p:sp>
        <p:nvSpPr>
          <p:cNvPr id="12" name="Text 10"/>
          <p:cNvSpPr txBox="1"/>
          <p:nvPr/>
        </p:nvSpPr>
        <p:spPr>
          <a:xfrm>
            <a:off x="8001000" y="4297680"/>
            <a:ext cx="3611880" cy="566928"/>
          </a:xfrm>
          <a:prstGeom prst="roundRect">
            <a:avLst>
              <a:gd name="adj" fmla="val 50000"/>
            </a:avLst>
          </a:prstGeom>
          <a:solidFill>
            <a:srgbClr val="0E141C">
              <a:alpha val="85000"/>
            </a:srgbClr>
          </a:solidFill>
          <a:ln w="12700">
            <a:solidFill>
              <a:srgbClr val="4A3226"/>
            </a:solidFill>
          </a:ln>
        </p:spPr>
        <p:txBody>
          <a:bodyPr wrap="square" lIns="0" tIns="0" rIns="0" bIns="0" rtlCol="0" anchor="ctr"/>
          <a:lstStyle/>
          <a:p>
            <a:pPr algn="ctr" indent="0" marL="0">
              <a:buNone/>
            </a:pPr>
            <a:r>
              <a:rPr lang="en-US" sz="1500" dirty="0">
                <a:solidFill>
                  <a:srgbClr val="AAB5C3"/>
                </a:solidFill>
                <a:latin typeface="Arial" pitchFamily="34" charset="0"/>
                <a:ea typeface="Arial" pitchFamily="34" charset="-122"/>
                <a:cs typeface="Arial" pitchFamily="34" charset="-120"/>
              </a:rPr>
              <a:t>Struts 6.8</a:t>
            </a:r>
            <a:pPr algn="ctr" indent="0" marL="0">
              <a:buNone/>
            </a:pPr>
            <a:r>
              <a:rPr lang="en-US" sz="1900" b="1" dirty="0">
                <a:solidFill>
                  <a:srgbClr val="FF6A2B"/>
                </a:solidFill>
                <a:latin typeface="Arial" pitchFamily="34" charset="0"/>
                <a:ea typeface="Arial" pitchFamily="34" charset="-122"/>
                <a:cs typeface="Arial" pitchFamily="34" charset="-120"/>
              </a:rPr>
              <a:t>   →   </a:t>
            </a:r>
            <a:pPr algn="ctr" indent="0" marL="0">
              <a:buNone/>
            </a:pPr>
            <a:r>
              <a:rPr lang="en-US" sz="1500" b="1" dirty="0">
                <a:solidFill>
                  <a:srgbClr val="F3F5F8"/>
                </a:solidFill>
                <a:latin typeface="Arial" pitchFamily="34" charset="0"/>
                <a:ea typeface="Arial" pitchFamily="34" charset="-122"/>
                <a:cs typeface="Arial" pitchFamily="34" charset="-120"/>
              </a:rPr>
              <a:t>Struts 7</a:t>
            </a:r>
            <a:endParaRPr lang="en-US" sz="1500" dirty="0"/>
          </a:p>
        </p:txBody>
      </p:sp>
      <p:sp>
        <p:nvSpPr>
          <p:cNvPr id="13" name="Text 11"/>
          <p:cNvSpPr txBox="1"/>
          <p:nvPr/>
        </p:nvSpPr>
        <p:spPr>
          <a:xfrm>
            <a:off x="8001000" y="5029200"/>
            <a:ext cx="3611880" cy="566928"/>
          </a:xfrm>
          <a:prstGeom prst="roundRect">
            <a:avLst>
              <a:gd name="adj" fmla="val 50000"/>
            </a:avLst>
          </a:prstGeom>
          <a:solidFill>
            <a:srgbClr val="0E141C">
              <a:alpha val="85000"/>
            </a:srgbClr>
          </a:solidFill>
          <a:ln w="12700">
            <a:solidFill>
              <a:srgbClr val="4A3226"/>
            </a:solidFill>
          </a:ln>
        </p:spPr>
        <p:txBody>
          <a:bodyPr wrap="square" lIns="0" tIns="0" rIns="0" bIns="0" rtlCol="0" anchor="ctr"/>
          <a:lstStyle/>
          <a:p>
            <a:pPr algn="ctr" indent="0" marL="0">
              <a:buNone/>
            </a:pPr>
            <a:r>
              <a:rPr lang="en-US" sz="1500" dirty="0">
                <a:solidFill>
                  <a:srgbClr val="AAB5C3"/>
                </a:solidFill>
                <a:latin typeface="Arial" pitchFamily="34" charset="0"/>
                <a:ea typeface="Arial" pitchFamily="34" charset="-122"/>
                <a:cs typeface="Arial" pitchFamily="34" charset="-120"/>
              </a:rPr>
              <a:t>JUnit 4</a:t>
            </a:r>
            <a:pPr algn="ctr" indent="0" marL="0">
              <a:buNone/>
            </a:pPr>
            <a:r>
              <a:rPr lang="en-US" sz="1900" b="1" dirty="0">
                <a:solidFill>
                  <a:srgbClr val="FF6A2B"/>
                </a:solidFill>
                <a:latin typeface="Arial" pitchFamily="34" charset="0"/>
                <a:ea typeface="Arial" pitchFamily="34" charset="-122"/>
                <a:cs typeface="Arial" pitchFamily="34" charset="-120"/>
              </a:rPr>
              <a:t>   →   </a:t>
            </a:r>
            <a:pPr algn="ctr" indent="0" marL="0">
              <a:buNone/>
            </a:pPr>
            <a:r>
              <a:rPr lang="en-US" sz="1500" b="1" dirty="0">
                <a:solidFill>
                  <a:srgbClr val="F3F5F8"/>
                </a:solidFill>
                <a:latin typeface="Arial" pitchFamily="34" charset="0"/>
                <a:ea typeface="Arial" pitchFamily="34" charset="-122"/>
                <a:cs typeface="Arial" pitchFamily="34" charset="-120"/>
              </a:rPr>
              <a:t>JUnit 5</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t"/>
          <a:lstStyle/>
          <a:p>
            <a:pPr indent="0" marL="0">
              <a:buNone/>
            </a:pPr>
            <a:r>
              <a:rPr lang="en-US" sz="1100" b="1" spc="300" kern="0" dirty="0">
                <a:solidFill>
                  <a:srgbClr val="FF6A2B"/>
                </a:solidFill>
                <a:latin typeface="Arial" pitchFamily="34" charset="0"/>
                <a:ea typeface="Arial" pitchFamily="34" charset="-122"/>
                <a:cs typeface="Arial" pitchFamily="34" charset="-120"/>
              </a:rPr>
              <a:t>AGENDA</a:t>
            </a:r>
            <a:endParaRPr lang="en-US" sz="1100" dirty="0"/>
          </a:p>
        </p:txBody>
      </p:sp>
      <p:sp>
        <p:nvSpPr>
          <p:cNvPr id="3" name="Text 1"/>
          <p:cNvSpPr txBox="1"/>
          <p:nvPr/>
        </p:nvSpPr>
        <p:spPr>
          <a:xfrm>
            <a:off x="548640" y="676656"/>
            <a:ext cx="11094415" cy="658368"/>
          </a:xfrm>
          <a:prstGeom prst="rect">
            <a:avLst/>
          </a:prstGeom>
          <a:noFill/>
          <a:ln/>
        </p:spPr>
        <p:txBody>
          <a:bodyPr wrap="square" lIns="0" tIns="0" rIns="0" bIns="0" rtlCol="0" anchor="t"/>
          <a:lstStyle/>
          <a:p>
            <a:pPr indent="0" marL="0">
              <a:buNone/>
            </a:pPr>
            <a:r>
              <a:rPr lang="en-US" sz="3200" b="1" dirty="0">
                <a:solidFill>
                  <a:srgbClr val="F3F5F8"/>
                </a:solidFill>
                <a:latin typeface="Arial" pitchFamily="34" charset="0"/>
                <a:ea typeface="Arial" pitchFamily="34" charset="-122"/>
                <a:cs typeface="Arial" pitchFamily="34" charset="-120"/>
              </a:rPr>
              <a:t>What we’ll cover</a:t>
            </a:r>
            <a:endParaRPr lang="en-US" sz="3200" dirty="0"/>
          </a:p>
        </p:txBody>
      </p:sp>
      <p:sp>
        <p:nvSpPr>
          <p:cNvPr id="4" name="Shape 2"/>
          <p:cNvSpPr/>
          <p:nvPr/>
        </p:nvSpPr>
        <p:spPr>
          <a:xfrm>
            <a:off x="548640" y="1828800"/>
            <a:ext cx="3515258" cy="1874520"/>
          </a:xfrm>
          <a:prstGeom prst="roundRect">
            <a:avLst>
              <a:gd name="adj" fmla="val 5854"/>
            </a:avLst>
          </a:prstGeom>
          <a:solidFill>
            <a:srgbClr val="121821">
              <a:alpha val="92000"/>
            </a:srgbClr>
          </a:solidFill>
          <a:ln w="9525">
            <a:solidFill>
              <a:srgbClr val="1E2835"/>
            </a:solidFill>
            <a:prstDash val="solid"/>
          </a:ln>
        </p:spPr>
      </p:sp>
      <p:sp>
        <p:nvSpPr>
          <p:cNvPr id="5" name="Text 3"/>
          <p:cNvSpPr txBox="1"/>
          <p:nvPr/>
        </p:nvSpPr>
        <p:spPr>
          <a:xfrm>
            <a:off x="868680" y="2103120"/>
            <a:ext cx="1097280" cy="502920"/>
          </a:xfrm>
          <a:prstGeom prst="rect">
            <a:avLst/>
          </a:prstGeom>
          <a:noFill/>
          <a:ln/>
        </p:spPr>
        <p:txBody>
          <a:bodyPr wrap="square" lIns="0" tIns="0" rIns="0" bIns="0" rtlCol="0" anchor="t"/>
          <a:lstStyle/>
          <a:p>
            <a:pPr indent="0" marL="0">
              <a:buNone/>
            </a:pPr>
            <a:r>
              <a:rPr lang="en-US" sz="3000" b="1" dirty="0">
                <a:solidFill>
                  <a:srgbClr val="FF6A2B"/>
                </a:solidFill>
                <a:latin typeface="Arial" pitchFamily="34" charset="0"/>
                <a:ea typeface="Arial" pitchFamily="34" charset="-122"/>
                <a:cs typeface="Arial" pitchFamily="34" charset="-120"/>
              </a:rPr>
              <a:t>01</a:t>
            </a:r>
            <a:endParaRPr lang="en-US" sz="3000" dirty="0"/>
          </a:p>
        </p:txBody>
      </p:sp>
      <p:sp>
        <p:nvSpPr>
          <p:cNvPr id="6" name="Shape 4"/>
          <p:cNvSpPr/>
          <p:nvPr/>
        </p:nvSpPr>
        <p:spPr>
          <a:xfrm>
            <a:off x="3195218" y="2103120"/>
            <a:ext cx="548640" cy="548640"/>
          </a:xfrm>
          <a:prstGeom prst="ellipse">
            <a:avLst/>
          </a:prstGeom>
          <a:solidFill>
            <a:srgbClr val="5EB1FF">
              <a:alpha val="16000"/>
            </a:srgbClr>
          </a:solidFill>
          <a:ln w="9525">
            <a:solidFill>
              <a:srgbClr val="5EB1FF">
                <a:alpha val="50000"/>
              </a:srgbClr>
            </a:solidFill>
            <a:prstDash val="solid"/>
          </a:ln>
        </p:spPr>
      </p:sp>
      <p:pic>
        <p:nvPicPr>
          <p:cNvPr id="7" name="Image 0" descr="/private/tmp/claude-501/-Users-raja-forge/826f4f3b-77e1-484d-8167-0e3b60d97c63/scratchpad/deck/assets/icons/LuMountain-5EB1FF.png">    </p:cNvPr>
          <p:cNvPicPr>
            <a:picLocks noChangeAspect="1"/>
          </p:cNvPicPr>
          <p:nvPr/>
        </p:nvPicPr>
        <p:blipFill>
          <a:blip r:embed="rId1"/>
          <a:stretch>
            <a:fillRect/>
          </a:stretch>
        </p:blipFill>
        <p:spPr>
          <a:xfrm>
            <a:off x="3332378" y="2240280"/>
            <a:ext cx="274320" cy="274320"/>
          </a:xfrm>
          <a:prstGeom prst="rect">
            <a:avLst/>
          </a:prstGeom>
        </p:spPr>
      </p:pic>
      <p:sp>
        <p:nvSpPr>
          <p:cNvPr id="8" name="Text 5"/>
          <p:cNvSpPr txBox="1"/>
          <p:nvPr/>
        </p:nvSpPr>
        <p:spPr>
          <a:xfrm>
            <a:off x="868680" y="2724912"/>
            <a:ext cx="2875178" cy="365760"/>
          </a:xfrm>
          <a:prstGeom prst="rect">
            <a:avLst/>
          </a:prstGeom>
          <a:noFill/>
          <a:ln/>
        </p:spPr>
        <p:txBody>
          <a:bodyPr wrap="square" lIns="0" tIns="0" rIns="0" bIns="0" rtlCol="0" anchor="t"/>
          <a:lstStyle/>
          <a:p>
            <a:pPr indent="0" marL="0">
              <a:buNone/>
            </a:pPr>
            <a:r>
              <a:rPr lang="en-US" sz="1900" b="1" dirty="0">
                <a:solidFill>
                  <a:srgbClr val="F3F5F8"/>
                </a:solidFill>
                <a:latin typeface="Arial" pitchFamily="34" charset="0"/>
                <a:ea typeface="Arial" pitchFamily="34" charset="-122"/>
                <a:cs typeface="Arial" pitchFamily="34" charset="-120"/>
              </a:rPr>
              <a:t>The problem</a:t>
            </a:r>
            <a:endParaRPr lang="en-US" sz="1900" dirty="0"/>
          </a:p>
        </p:txBody>
      </p:sp>
      <p:sp>
        <p:nvSpPr>
          <p:cNvPr id="9" name="Text 6"/>
          <p:cNvSpPr txBox="1"/>
          <p:nvPr/>
        </p:nvSpPr>
        <p:spPr>
          <a:xfrm>
            <a:off x="868680" y="3108960"/>
            <a:ext cx="2875178" cy="502920"/>
          </a:xfrm>
          <a:prstGeom prst="rect">
            <a:avLst/>
          </a:prstGeom>
          <a:noFill/>
          <a:ln/>
        </p:spPr>
        <p:txBody>
          <a:bodyPr wrap="square" lIns="0" tIns="0" rIns="0" bIns="0" rtlCol="0" anchor="t"/>
          <a:lstStyle/>
          <a:p>
            <a:pPr indent="0" marL="0">
              <a:buNone/>
            </a:pPr>
            <a:r>
              <a:rPr lang="en-US" sz="1300" dirty="0">
                <a:solidFill>
                  <a:srgbClr val="AAB5C3"/>
                </a:solidFill>
                <a:latin typeface="Arial" pitchFamily="34" charset="0"/>
                <a:ea typeface="Arial" pitchFamily="34" charset="-122"/>
                <a:cs typeface="Arial" pitchFamily="34" charset="-120"/>
              </a:rPr>
              <a:t>Why legacy Java stays legacy, and why “just ask an LLM” fails.</a:t>
            </a:r>
            <a:endParaRPr lang="en-US" sz="1300" dirty="0"/>
          </a:p>
        </p:txBody>
      </p:sp>
      <p:sp>
        <p:nvSpPr>
          <p:cNvPr id="10" name="Shape 7"/>
          <p:cNvSpPr/>
          <p:nvPr/>
        </p:nvSpPr>
        <p:spPr>
          <a:xfrm>
            <a:off x="4338218" y="1828800"/>
            <a:ext cx="3515258" cy="1874520"/>
          </a:xfrm>
          <a:prstGeom prst="roundRect">
            <a:avLst>
              <a:gd name="adj" fmla="val 5854"/>
            </a:avLst>
          </a:prstGeom>
          <a:solidFill>
            <a:srgbClr val="121821">
              <a:alpha val="92000"/>
            </a:srgbClr>
          </a:solidFill>
          <a:ln w="9525">
            <a:solidFill>
              <a:srgbClr val="1E2835"/>
            </a:solidFill>
            <a:prstDash val="solid"/>
          </a:ln>
        </p:spPr>
      </p:sp>
      <p:sp>
        <p:nvSpPr>
          <p:cNvPr id="11" name="Text 8"/>
          <p:cNvSpPr txBox="1"/>
          <p:nvPr/>
        </p:nvSpPr>
        <p:spPr>
          <a:xfrm>
            <a:off x="4658258" y="2103120"/>
            <a:ext cx="1097280" cy="502920"/>
          </a:xfrm>
          <a:prstGeom prst="rect">
            <a:avLst/>
          </a:prstGeom>
          <a:noFill/>
          <a:ln/>
        </p:spPr>
        <p:txBody>
          <a:bodyPr wrap="square" lIns="0" tIns="0" rIns="0" bIns="0" rtlCol="0" anchor="t"/>
          <a:lstStyle/>
          <a:p>
            <a:pPr indent="0" marL="0">
              <a:buNone/>
            </a:pPr>
            <a:r>
              <a:rPr lang="en-US" sz="3000" b="1" dirty="0">
                <a:solidFill>
                  <a:srgbClr val="FF6A2B"/>
                </a:solidFill>
                <a:latin typeface="Arial" pitchFamily="34" charset="0"/>
                <a:ea typeface="Arial" pitchFamily="34" charset="-122"/>
                <a:cs typeface="Arial" pitchFamily="34" charset="-120"/>
              </a:rPr>
              <a:t>02</a:t>
            </a:r>
            <a:endParaRPr lang="en-US" sz="3000" dirty="0"/>
          </a:p>
        </p:txBody>
      </p:sp>
      <p:sp>
        <p:nvSpPr>
          <p:cNvPr id="12" name="Shape 9"/>
          <p:cNvSpPr/>
          <p:nvPr/>
        </p:nvSpPr>
        <p:spPr>
          <a:xfrm>
            <a:off x="6984797" y="2103120"/>
            <a:ext cx="548640" cy="548640"/>
          </a:xfrm>
          <a:prstGeom prst="ellipse">
            <a:avLst/>
          </a:prstGeom>
          <a:solidFill>
            <a:srgbClr val="5EB1FF">
              <a:alpha val="16000"/>
            </a:srgbClr>
          </a:solidFill>
          <a:ln w="9525">
            <a:solidFill>
              <a:srgbClr val="5EB1FF">
                <a:alpha val="50000"/>
              </a:srgbClr>
            </a:solidFill>
            <a:prstDash val="solid"/>
          </a:ln>
        </p:spPr>
      </p:sp>
      <p:pic>
        <p:nvPicPr>
          <p:cNvPr id="13" name="Image 1" descr="/private/tmp/claude-501/-Users-raja-forge/826f4f3b-77e1-484d-8167-0e3b60d97c63/scratchpad/deck/assets/icons/LuScale-5EB1FF.png">    </p:cNvPr>
          <p:cNvPicPr>
            <a:picLocks noChangeAspect="1"/>
          </p:cNvPicPr>
          <p:nvPr/>
        </p:nvPicPr>
        <p:blipFill>
          <a:blip r:embed="rId2"/>
          <a:stretch>
            <a:fillRect/>
          </a:stretch>
        </p:blipFill>
        <p:spPr>
          <a:xfrm>
            <a:off x="7121957" y="2240280"/>
            <a:ext cx="274320" cy="274320"/>
          </a:xfrm>
          <a:prstGeom prst="rect">
            <a:avLst/>
          </a:prstGeom>
        </p:spPr>
      </p:pic>
      <p:sp>
        <p:nvSpPr>
          <p:cNvPr id="14" name="Text 10"/>
          <p:cNvSpPr txBox="1"/>
          <p:nvPr/>
        </p:nvSpPr>
        <p:spPr>
          <a:xfrm>
            <a:off x="4658258" y="2724912"/>
            <a:ext cx="2875178" cy="365760"/>
          </a:xfrm>
          <a:prstGeom prst="rect">
            <a:avLst/>
          </a:prstGeom>
          <a:noFill/>
          <a:ln/>
        </p:spPr>
        <p:txBody>
          <a:bodyPr wrap="square" lIns="0" tIns="0" rIns="0" bIns="0" rtlCol="0" anchor="t"/>
          <a:lstStyle/>
          <a:p>
            <a:pPr indent="0" marL="0">
              <a:buNone/>
            </a:pPr>
            <a:r>
              <a:rPr lang="en-US" sz="1900" b="1" dirty="0">
                <a:solidFill>
                  <a:srgbClr val="F3F5F8"/>
                </a:solidFill>
                <a:latin typeface="Arial" pitchFamily="34" charset="0"/>
                <a:ea typeface="Arial" pitchFamily="34" charset="-122"/>
                <a:cs typeface="Arial" pitchFamily="34" charset="-120"/>
              </a:rPr>
              <a:t>The principle</a:t>
            </a:r>
            <a:endParaRPr lang="en-US" sz="1900" dirty="0"/>
          </a:p>
        </p:txBody>
      </p:sp>
      <p:sp>
        <p:nvSpPr>
          <p:cNvPr id="15" name="Text 11"/>
          <p:cNvSpPr txBox="1"/>
          <p:nvPr/>
        </p:nvSpPr>
        <p:spPr>
          <a:xfrm>
            <a:off x="4658258" y="3108960"/>
            <a:ext cx="2875178" cy="502920"/>
          </a:xfrm>
          <a:prstGeom prst="rect">
            <a:avLst/>
          </a:prstGeom>
          <a:noFill/>
          <a:ln/>
        </p:spPr>
        <p:txBody>
          <a:bodyPr wrap="square" lIns="0" tIns="0" rIns="0" bIns="0" rtlCol="0" anchor="t"/>
          <a:lstStyle/>
          <a:p>
            <a:pPr indent="0" marL="0">
              <a:buNone/>
            </a:pPr>
            <a:r>
              <a:rPr lang="en-US" sz="1300" dirty="0">
                <a:solidFill>
                  <a:srgbClr val="AAB5C3"/>
                </a:solidFill>
                <a:latin typeface="Arial" pitchFamily="34" charset="0"/>
                <a:ea typeface="Arial" pitchFamily="34" charset="-122"/>
                <a:cs typeface="Arial" pitchFamily="34" charset="-120"/>
              </a:rPr>
              <a:t>Models propose. Code disposes.</a:t>
            </a:r>
            <a:endParaRPr lang="en-US" sz="1300" dirty="0"/>
          </a:p>
        </p:txBody>
      </p:sp>
      <p:sp>
        <p:nvSpPr>
          <p:cNvPr id="16" name="Shape 12"/>
          <p:cNvSpPr/>
          <p:nvPr/>
        </p:nvSpPr>
        <p:spPr>
          <a:xfrm>
            <a:off x="8127797" y="1828800"/>
            <a:ext cx="3515258" cy="1874520"/>
          </a:xfrm>
          <a:prstGeom prst="roundRect">
            <a:avLst>
              <a:gd name="adj" fmla="val 5854"/>
            </a:avLst>
          </a:prstGeom>
          <a:solidFill>
            <a:srgbClr val="121821">
              <a:alpha val="92000"/>
            </a:srgbClr>
          </a:solidFill>
          <a:ln w="9525">
            <a:solidFill>
              <a:srgbClr val="1E2835"/>
            </a:solidFill>
            <a:prstDash val="solid"/>
          </a:ln>
        </p:spPr>
      </p:sp>
      <p:sp>
        <p:nvSpPr>
          <p:cNvPr id="17" name="Text 13"/>
          <p:cNvSpPr txBox="1"/>
          <p:nvPr/>
        </p:nvSpPr>
        <p:spPr>
          <a:xfrm>
            <a:off x="8447837" y="2103120"/>
            <a:ext cx="1097280" cy="502920"/>
          </a:xfrm>
          <a:prstGeom prst="rect">
            <a:avLst/>
          </a:prstGeom>
          <a:noFill/>
          <a:ln/>
        </p:spPr>
        <p:txBody>
          <a:bodyPr wrap="square" lIns="0" tIns="0" rIns="0" bIns="0" rtlCol="0" anchor="t"/>
          <a:lstStyle/>
          <a:p>
            <a:pPr indent="0" marL="0">
              <a:buNone/>
            </a:pPr>
            <a:r>
              <a:rPr lang="en-US" sz="3000" b="1" dirty="0">
                <a:solidFill>
                  <a:srgbClr val="FF6A2B"/>
                </a:solidFill>
                <a:latin typeface="Arial" pitchFamily="34" charset="0"/>
                <a:ea typeface="Arial" pitchFamily="34" charset="-122"/>
                <a:cs typeface="Arial" pitchFamily="34" charset="-120"/>
              </a:rPr>
              <a:t>03</a:t>
            </a:r>
            <a:endParaRPr lang="en-US" sz="3000" dirty="0"/>
          </a:p>
        </p:txBody>
      </p:sp>
      <p:sp>
        <p:nvSpPr>
          <p:cNvPr id="18" name="Shape 14"/>
          <p:cNvSpPr/>
          <p:nvPr/>
        </p:nvSpPr>
        <p:spPr>
          <a:xfrm>
            <a:off x="10774375" y="2103120"/>
            <a:ext cx="548640" cy="548640"/>
          </a:xfrm>
          <a:prstGeom prst="ellipse">
            <a:avLst/>
          </a:prstGeom>
          <a:solidFill>
            <a:srgbClr val="5EB1FF">
              <a:alpha val="16000"/>
            </a:srgbClr>
          </a:solidFill>
          <a:ln w="9525">
            <a:solidFill>
              <a:srgbClr val="5EB1FF">
                <a:alpha val="50000"/>
              </a:srgbClr>
            </a:solidFill>
            <a:prstDash val="solid"/>
          </a:ln>
        </p:spPr>
      </p:sp>
      <p:pic>
        <p:nvPicPr>
          <p:cNvPr id="19" name="Image 2" descr="/private/tmp/claude-501/-Users-raja-forge/826f4f3b-77e1-484d-8167-0e3b60d97c63/scratchpad/deck/assets/icons/LuWorkflow-5EB1FF.png">    </p:cNvPr>
          <p:cNvPicPr>
            <a:picLocks noChangeAspect="1"/>
          </p:cNvPicPr>
          <p:nvPr/>
        </p:nvPicPr>
        <p:blipFill>
          <a:blip r:embed="rId3"/>
          <a:stretch>
            <a:fillRect/>
          </a:stretch>
        </p:blipFill>
        <p:spPr>
          <a:xfrm>
            <a:off x="10911535" y="2240280"/>
            <a:ext cx="274320" cy="274320"/>
          </a:xfrm>
          <a:prstGeom prst="rect">
            <a:avLst/>
          </a:prstGeom>
        </p:spPr>
      </p:pic>
      <p:sp>
        <p:nvSpPr>
          <p:cNvPr id="20" name="Text 15"/>
          <p:cNvSpPr txBox="1"/>
          <p:nvPr/>
        </p:nvSpPr>
        <p:spPr>
          <a:xfrm>
            <a:off x="8447837" y="2724912"/>
            <a:ext cx="2875178" cy="365760"/>
          </a:xfrm>
          <a:prstGeom prst="rect">
            <a:avLst/>
          </a:prstGeom>
          <a:noFill/>
          <a:ln/>
        </p:spPr>
        <p:txBody>
          <a:bodyPr wrap="square" lIns="0" tIns="0" rIns="0" bIns="0" rtlCol="0" anchor="t"/>
          <a:lstStyle/>
          <a:p>
            <a:pPr indent="0" marL="0">
              <a:buNone/>
            </a:pPr>
            <a:r>
              <a:rPr lang="en-US" sz="1900" b="1" dirty="0">
                <a:solidFill>
                  <a:srgbClr val="F3F5F8"/>
                </a:solidFill>
                <a:latin typeface="Arial" pitchFamily="34" charset="0"/>
                <a:ea typeface="Arial" pitchFamily="34" charset="-122"/>
                <a:cs typeface="Arial" pitchFamily="34" charset="-120"/>
              </a:rPr>
              <a:t>The engine</a:t>
            </a:r>
            <a:endParaRPr lang="en-US" sz="1900" dirty="0"/>
          </a:p>
        </p:txBody>
      </p:sp>
      <p:sp>
        <p:nvSpPr>
          <p:cNvPr id="21" name="Text 16"/>
          <p:cNvSpPr txBox="1"/>
          <p:nvPr/>
        </p:nvSpPr>
        <p:spPr>
          <a:xfrm>
            <a:off x="8447837" y="3108960"/>
            <a:ext cx="2875178" cy="502920"/>
          </a:xfrm>
          <a:prstGeom prst="rect">
            <a:avLst/>
          </a:prstGeom>
          <a:noFill/>
          <a:ln/>
        </p:spPr>
        <p:txBody>
          <a:bodyPr wrap="square" lIns="0" tIns="0" rIns="0" bIns="0" rtlCol="0" anchor="t"/>
          <a:lstStyle/>
          <a:p>
            <a:pPr indent="0" marL="0">
              <a:buNone/>
            </a:pPr>
            <a:r>
              <a:rPr lang="en-US" sz="1300" dirty="0">
                <a:solidFill>
                  <a:srgbClr val="AAB5C3"/>
                </a:solidFill>
                <a:latin typeface="Arial" pitchFamily="34" charset="0"/>
                <a:ea typeface="Arial" pitchFamily="34" charset="-122"/>
                <a:cs typeface="Arial" pitchFamily="34" charset="-120"/>
              </a:rPr>
              <a:t>Pipeline, cross-model review, six checks, and packs.</a:t>
            </a:r>
            <a:endParaRPr lang="en-US" sz="1300" dirty="0"/>
          </a:p>
        </p:txBody>
      </p:sp>
      <p:sp>
        <p:nvSpPr>
          <p:cNvPr id="22" name="Shape 17"/>
          <p:cNvSpPr/>
          <p:nvPr/>
        </p:nvSpPr>
        <p:spPr>
          <a:xfrm>
            <a:off x="548640" y="3977640"/>
            <a:ext cx="3515258" cy="1874520"/>
          </a:xfrm>
          <a:prstGeom prst="roundRect">
            <a:avLst>
              <a:gd name="adj" fmla="val 5854"/>
            </a:avLst>
          </a:prstGeom>
          <a:solidFill>
            <a:srgbClr val="121821">
              <a:alpha val="92000"/>
            </a:srgbClr>
          </a:solidFill>
          <a:ln w="9525">
            <a:solidFill>
              <a:srgbClr val="1E2835"/>
            </a:solidFill>
            <a:prstDash val="solid"/>
          </a:ln>
        </p:spPr>
      </p:sp>
      <p:sp>
        <p:nvSpPr>
          <p:cNvPr id="23" name="Text 18"/>
          <p:cNvSpPr txBox="1"/>
          <p:nvPr/>
        </p:nvSpPr>
        <p:spPr>
          <a:xfrm>
            <a:off x="868680" y="4251960"/>
            <a:ext cx="1097280" cy="502920"/>
          </a:xfrm>
          <a:prstGeom prst="rect">
            <a:avLst/>
          </a:prstGeom>
          <a:noFill/>
          <a:ln/>
        </p:spPr>
        <p:txBody>
          <a:bodyPr wrap="square" lIns="0" tIns="0" rIns="0" bIns="0" rtlCol="0" anchor="t"/>
          <a:lstStyle/>
          <a:p>
            <a:pPr indent="0" marL="0">
              <a:buNone/>
            </a:pPr>
            <a:r>
              <a:rPr lang="en-US" sz="3000" b="1" dirty="0">
                <a:solidFill>
                  <a:srgbClr val="FF6A2B"/>
                </a:solidFill>
                <a:latin typeface="Arial" pitchFamily="34" charset="0"/>
                <a:ea typeface="Arial" pitchFamily="34" charset="-122"/>
                <a:cs typeface="Arial" pitchFamily="34" charset="-120"/>
              </a:rPr>
              <a:t>04</a:t>
            </a:r>
            <a:endParaRPr lang="en-US" sz="3000" dirty="0"/>
          </a:p>
        </p:txBody>
      </p:sp>
      <p:sp>
        <p:nvSpPr>
          <p:cNvPr id="24" name="Shape 19"/>
          <p:cNvSpPr/>
          <p:nvPr/>
        </p:nvSpPr>
        <p:spPr>
          <a:xfrm>
            <a:off x="3195218" y="4251960"/>
            <a:ext cx="548640" cy="548640"/>
          </a:xfrm>
          <a:prstGeom prst="ellipse">
            <a:avLst/>
          </a:prstGeom>
          <a:solidFill>
            <a:srgbClr val="5EB1FF">
              <a:alpha val="16000"/>
            </a:srgbClr>
          </a:solidFill>
          <a:ln w="9525">
            <a:solidFill>
              <a:srgbClr val="5EB1FF">
                <a:alpha val="50000"/>
              </a:srgbClr>
            </a:solidFill>
            <a:prstDash val="solid"/>
          </a:ln>
        </p:spPr>
      </p:sp>
      <p:pic>
        <p:nvPicPr>
          <p:cNvPr id="25" name="Image 3" descr="/private/tmp/claude-501/-Users-raja-forge/826f4f3b-77e1-484d-8167-0e3b60d97c63/scratchpad/deck/assets/icons/LuMessagesSquare-5EB1FF.png">    </p:cNvPr>
          <p:cNvPicPr>
            <a:picLocks noChangeAspect="1"/>
          </p:cNvPicPr>
          <p:nvPr/>
        </p:nvPicPr>
        <p:blipFill>
          <a:blip r:embed="rId4"/>
          <a:stretch>
            <a:fillRect/>
          </a:stretch>
        </p:blipFill>
        <p:spPr>
          <a:xfrm>
            <a:off x="3332378" y="4389120"/>
            <a:ext cx="274320" cy="274320"/>
          </a:xfrm>
          <a:prstGeom prst="rect">
            <a:avLst/>
          </a:prstGeom>
        </p:spPr>
      </p:pic>
      <p:sp>
        <p:nvSpPr>
          <p:cNvPr id="26" name="Text 20"/>
          <p:cNvSpPr txBox="1"/>
          <p:nvPr/>
        </p:nvSpPr>
        <p:spPr>
          <a:xfrm>
            <a:off x="868680" y="4873752"/>
            <a:ext cx="2875178" cy="365760"/>
          </a:xfrm>
          <a:prstGeom prst="rect">
            <a:avLst/>
          </a:prstGeom>
          <a:noFill/>
          <a:ln/>
        </p:spPr>
        <p:txBody>
          <a:bodyPr wrap="square" lIns="0" tIns="0" rIns="0" bIns="0" rtlCol="0" anchor="t"/>
          <a:lstStyle/>
          <a:p>
            <a:pPr indent="0" marL="0">
              <a:buNone/>
            </a:pPr>
            <a:r>
              <a:rPr lang="en-US" sz="1900" b="1" dirty="0">
                <a:solidFill>
                  <a:srgbClr val="F3F5F8"/>
                </a:solidFill>
                <a:latin typeface="Arial" pitchFamily="34" charset="0"/>
                <a:ea typeface="Arial" pitchFamily="34" charset="-122"/>
                <a:cs typeface="Arial" pitchFamily="34" charset="-120"/>
              </a:rPr>
              <a:t>The experience</a:t>
            </a:r>
            <a:endParaRPr lang="en-US" sz="1900" dirty="0"/>
          </a:p>
        </p:txBody>
      </p:sp>
      <p:sp>
        <p:nvSpPr>
          <p:cNvPr id="27" name="Text 21"/>
          <p:cNvSpPr txBox="1"/>
          <p:nvPr/>
        </p:nvSpPr>
        <p:spPr>
          <a:xfrm>
            <a:off x="868680" y="5257800"/>
            <a:ext cx="2875178" cy="502920"/>
          </a:xfrm>
          <a:prstGeom prst="rect">
            <a:avLst/>
          </a:prstGeom>
          <a:noFill/>
          <a:ln/>
        </p:spPr>
        <p:txBody>
          <a:bodyPr wrap="square" lIns="0" tIns="0" rIns="0" bIns="0" rtlCol="0" anchor="t"/>
          <a:lstStyle/>
          <a:p>
            <a:pPr indent="0" marL="0">
              <a:buNone/>
            </a:pPr>
            <a:r>
              <a:rPr lang="en-US" sz="1300" dirty="0">
                <a:solidFill>
                  <a:srgbClr val="AAB5C3"/>
                </a:solidFill>
                <a:latin typeface="Arial" pitchFamily="34" charset="0"/>
                <a:ea typeface="Arial" pitchFamily="34" charset="-122"/>
                <a:cs typeface="Arial" pitchFamily="34" charset="-120"/>
              </a:rPr>
              <a:t>Discovery, intent, a chat leader, and humans in the loop.</a:t>
            </a:r>
            <a:endParaRPr lang="en-US" sz="1300" dirty="0"/>
          </a:p>
        </p:txBody>
      </p:sp>
      <p:sp>
        <p:nvSpPr>
          <p:cNvPr id="28" name="Shape 22"/>
          <p:cNvSpPr/>
          <p:nvPr/>
        </p:nvSpPr>
        <p:spPr>
          <a:xfrm>
            <a:off x="4338218" y="3977640"/>
            <a:ext cx="3515258" cy="1874520"/>
          </a:xfrm>
          <a:prstGeom prst="roundRect">
            <a:avLst>
              <a:gd name="adj" fmla="val 5854"/>
            </a:avLst>
          </a:prstGeom>
          <a:solidFill>
            <a:srgbClr val="121821">
              <a:alpha val="92000"/>
            </a:srgbClr>
          </a:solidFill>
          <a:ln w="9525">
            <a:solidFill>
              <a:srgbClr val="1E2835"/>
            </a:solidFill>
            <a:prstDash val="solid"/>
          </a:ln>
        </p:spPr>
      </p:sp>
      <p:sp>
        <p:nvSpPr>
          <p:cNvPr id="29" name="Text 23"/>
          <p:cNvSpPr txBox="1"/>
          <p:nvPr/>
        </p:nvSpPr>
        <p:spPr>
          <a:xfrm>
            <a:off x="4658258" y="4251960"/>
            <a:ext cx="1097280" cy="502920"/>
          </a:xfrm>
          <a:prstGeom prst="rect">
            <a:avLst/>
          </a:prstGeom>
          <a:noFill/>
          <a:ln/>
        </p:spPr>
        <p:txBody>
          <a:bodyPr wrap="square" lIns="0" tIns="0" rIns="0" bIns="0" rtlCol="0" anchor="t"/>
          <a:lstStyle/>
          <a:p>
            <a:pPr indent="0" marL="0">
              <a:buNone/>
            </a:pPr>
            <a:r>
              <a:rPr lang="en-US" sz="3000" b="1" dirty="0">
                <a:solidFill>
                  <a:srgbClr val="FF6A2B"/>
                </a:solidFill>
                <a:latin typeface="Arial" pitchFamily="34" charset="0"/>
                <a:ea typeface="Arial" pitchFamily="34" charset="-122"/>
                <a:cs typeface="Arial" pitchFamily="34" charset="-120"/>
              </a:rPr>
              <a:t>05</a:t>
            </a:r>
            <a:endParaRPr lang="en-US" sz="3000" dirty="0"/>
          </a:p>
        </p:txBody>
      </p:sp>
      <p:sp>
        <p:nvSpPr>
          <p:cNvPr id="30" name="Shape 24"/>
          <p:cNvSpPr/>
          <p:nvPr/>
        </p:nvSpPr>
        <p:spPr>
          <a:xfrm>
            <a:off x="6984797" y="4251960"/>
            <a:ext cx="548640" cy="548640"/>
          </a:xfrm>
          <a:prstGeom prst="ellipse">
            <a:avLst/>
          </a:prstGeom>
          <a:solidFill>
            <a:srgbClr val="5EB1FF">
              <a:alpha val="16000"/>
            </a:srgbClr>
          </a:solidFill>
          <a:ln w="9525">
            <a:solidFill>
              <a:srgbClr val="5EB1FF">
                <a:alpha val="50000"/>
              </a:srgbClr>
            </a:solidFill>
            <a:prstDash val="solid"/>
          </a:ln>
        </p:spPr>
      </p:sp>
      <p:pic>
        <p:nvPicPr>
          <p:cNvPr id="31" name="Image 4" descr="/private/tmp/claude-501/-Users-raja-forge/826f4f3b-77e1-484d-8167-0e3b60d97c63/scratchpad/deck/assets/icons/LuShieldCheck-5EB1FF.png">    </p:cNvPr>
          <p:cNvPicPr>
            <a:picLocks noChangeAspect="1"/>
          </p:cNvPicPr>
          <p:nvPr/>
        </p:nvPicPr>
        <p:blipFill>
          <a:blip r:embed="rId5"/>
          <a:stretch>
            <a:fillRect/>
          </a:stretch>
        </p:blipFill>
        <p:spPr>
          <a:xfrm>
            <a:off x="7121957" y="4389120"/>
            <a:ext cx="274320" cy="274320"/>
          </a:xfrm>
          <a:prstGeom prst="rect">
            <a:avLst/>
          </a:prstGeom>
        </p:spPr>
      </p:pic>
      <p:sp>
        <p:nvSpPr>
          <p:cNvPr id="32" name="Text 25"/>
          <p:cNvSpPr txBox="1"/>
          <p:nvPr/>
        </p:nvSpPr>
        <p:spPr>
          <a:xfrm>
            <a:off x="4658258" y="4873752"/>
            <a:ext cx="2875178" cy="365760"/>
          </a:xfrm>
          <a:prstGeom prst="rect">
            <a:avLst/>
          </a:prstGeom>
          <a:noFill/>
          <a:ln/>
        </p:spPr>
        <p:txBody>
          <a:bodyPr wrap="square" lIns="0" tIns="0" rIns="0" bIns="0" rtlCol="0" anchor="t"/>
          <a:lstStyle/>
          <a:p>
            <a:pPr indent="0" marL="0">
              <a:buNone/>
            </a:pPr>
            <a:r>
              <a:rPr lang="en-US" sz="1900" b="1" dirty="0">
                <a:solidFill>
                  <a:srgbClr val="F3F5F8"/>
                </a:solidFill>
                <a:latin typeface="Arial" pitchFamily="34" charset="0"/>
                <a:ea typeface="Arial" pitchFamily="34" charset="-122"/>
                <a:cs typeface="Arial" pitchFamily="34" charset="-120"/>
              </a:rPr>
              <a:t>Proof &amp; operations</a:t>
            </a:r>
            <a:endParaRPr lang="en-US" sz="1900" dirty="0"/>
          </a:p>
        </p:txBody>
      </p:sp>
      <p:sp>
        <p:nvSpPr>
          <p:cNvPr id="33" name="Text 26"/>
          <p:cNvSpPr txBox="1"/>
          <p:nvPr/>
        </p:nvSpPr>
        <p:spPr>
          <a:xfrm>
            <a:off x="4658258" y="5257800"/>
            <a:ext cx="2875178" cy="502920"/>
          </a:xfrm>
          <a:prstGeom prst="rect">
            <a:avLst/>
          </a:prstGeom>
          <a:noFill/>
          <a:ln/>
        </p:spPr>
        <p:txBody>
          <a:bodyPr wrap="square" lIns="0" tIns="0" rIns="0" bIns="0" rtlCol="0" anchor="t"/>
          <a:lstStyle/>
          <a:p>
            <a:pPr indent="0" marL="0">
              <a:buNone/>
            </a:pPr>
            <a:r>
              <a:rPr lang="en-US" sz="1300" dirty="0">
                <a:solidFill>
                  <a:srgbClr val="AAB5C3"/>
                </a:solidFill>
                <a:latin typeface="Arial" pitchFamily="34" charset="0"/>
                <a:ea typeface="Arial" pitchFamily="34" charset="-122"/>
                <a:cs typeface="Arial" pitchFamily="34" charset="-120"/>
              </a:rPr>
              <a:t>Build checks, landing a pull request, speed, cost, Terraform.</a:t>
            </a:r>
            <a:endParaRPr lang="en-US" sz="1300" dirty="0"/>
          </a:p>
        </p:txBody>
      </p:sp>
      <p:sp>
        <p:nvSpPr>
          <p:cNvPr id="34" name="Shape 27"/>
          <p:cNvSpPr/>
          <p:nvPr/>
        </p:nvSpPr>
        <p:spPr>
          <a:xfrm>
            <a:off x="8127797" y="3977640"/>
            <a:ext cx="3515258" cy="1874520"/>
          </a:xfrm>
          <a:prstGeom prst="roundRect">
            <a:avLst>
              <a:gd name="adj" fmla="val 5854"/>
            </a:avLst>
          </a:prstGeom>
          <a:solidFill>
            <a:srgbClr val="121821">
              <a:alpha val="92000"/>
            </a:srgbClr>
          </a:solidFill>
          <a:ln w="9525">
            <a:solidFill>
              <a:srgbClr val="1E2835"/>
            </a:solidFill>
            <a:prstDash val="solid"/>
          </a:ln>
        </p:spPr>
      </p:sp>
      <p:sp>
        <p:nvSpPr>
          <p:cNvPr id="35" name="Text 28"/>
          <p:cNvSpPr txBox="1"/>
          <p:nvPr/>
        </p:nvSpPr>
        <p:spPr>
          <a:xfrm>
            <a:off x="8447837" y="4251960"/>
            <a:ext cx="1097280" cy="502920"/>
          </a:xfrm>
          <a:prstGeom prst="rect">
            <a:avLst/>
          </a:prstGeom>
          <a:noFill/>
          <a:ln/>
        </p:spPr>
        <p:txBody>
          <a:bodyPr wrap="square" lIns="0" tIns="0" rIns="0" bIns="0" rtlCol="0" anchor="t"/>
          <a:lstStyle/>
          <a:p>
            <a:pPr indent="0" marL="0">
              <a:buNone/>
            </a:pPr>
            <a:r>
              <a:rPr lang="en-US" sz="3000" b="1" dirty="0">
                <a:solidFill>
                  <a:srgbClr val="FF6A2B"/>
                </a:solidFill>
                <a:latin typeface="Arial" pitchFamily="34" charset="0"/>
                <a:ea typeface="Arial" pitchFamily="34" charset="-122"/>
                <a:cs typeface="Arial" pitchFamily="34" charset="-120"/>
              </a:rPr>
              <a:t>06</a:t>
            </a:r>
            <a:endParaRPr lang="en-US" sz="3000" dirty="0"/>
          </a:p>
        </p:txBody>
      </p:sp>
      <p:sp>
        <p:nvSpPr>
          <p:cNvPr id="36" name="Shape 29"/>
          <p:cNvSpPr/>
          <p:nvPr/>
        </p:nvSpPr>
        <p:spPr>
          <a:xfrm>
            <a:off x="10774375" y="4251960"/>
            <a:ext cx="548640" cy="548640"/>
          </a:xfrm>
          <a:prstGeom prst="ellipse">
            <a:avLst/>
          </a:prstGeom>
          <a:solidFill>
            <a:srgbClr val="5EB1FF">
              <a:alpha val="16000"/>
            </a:srgbClr>
          </a:solidFill>
          <a:ln w="9525">
            <a:solidFill>
              <a:srgbClr val="5EB1FF">
                <a:alpha val="50000"/>
              </a:srgbClr>
            </a:solidFill>
            <a:prstDash val="solid"/>
          </a:ln>
        </p:spPr>
      </p:sp>
      <p:pic>
        <p:nvPicPr>
          <p:cNvPr id="37" name="Image 5" descr="/private/tmp/claude-501/-Users-raja-forge/826f4f3b-77e1-484d-8167-0e3b60d97c63/scratchpad/deck/assets/icons/LuCirclePlay-5EB1FF.png">    </p:cNvPr>
          <p:cNvPicPr>
            <a:picLocks noChangeAspect="1"/>
          </p:cNvPicPr>
          <p:nvPr/>
        </p:nvPicPr>
        <p:blipFill>
          <a:blip r:embed="rId6"/>
          <a:stretch>
            <a:fillRect/>
          </a:stretch>
        </p:blipFill>
        <p:spPr>
          <a:xfrm>
            <a:off x="10911535" y="4389120"/>
            <a:ext cx="274320" cy="274320"/>
          </a:xfrm>
          <a:prstGeom prst="rect">
            <a:avLst/>
          </a:prstGeom>
        </p:spPr>
      </p:pic>
      <p:sp>
        <p:nvSpPr>
          <p:cNvPr id="38" name="Text 30"/>
          <p:cNvSpPr txBox="1"/>
          <p:nvPr/>
        </p:nvSpPr>
        <p:spPr>
          <a:xfrm>
            <a:off x="8447837" y="4873752"/>
            <a:ext cx="2875178" cy="365760"/>
          </a:xfrm>
          <a:prstGeom prst="rect">
            <a:avLst/>
          </a:prstGeom>
          <a:noFill/>
          <a:ln/>
        </p:spPr>
        <p:txBody>
          <a:bodyPr wrap="square" lIns="0" tIns="0" rIns="0" bIns="0" rtlCol="0" anchor="t"/>
          <a:lstStyle/>
          <a:p>
            <a:pPr indent="0" marL="0">
              <a:buNone/>
            </a:pPr>
            <a:r>
              <a:rPr lang="en-US" sz="1900" b="1" dirty="0">
                <a:solidFill>
                  <a:srgbClr val="F3F5F8"/>
                </a:solidFill>
                <a:latin typeface="Arial" pitchFamily="34" charset="0"/>
                <a:ea typeface="Arial" pitchFamily="34" charset="-122"/>
                <a:cs typeface="Arial" pitchFamily="34" charset="-120"/>
              </a:rPr>
              <a:t>Lessons &amp; demo</a:t>
            </a:r>
            <a:endParaRPr lang="en-US" sz="1900" dirty="0"/>
          </a:p>
        </p:txBody>
      </p:sp>
      <p:sp>
        <p:nvSpPr>
          <p:cNvPr id="39" name="Text 31"/>
          <p:cNvSpPr txBox="1"/>
          <p:nvPr/>
        </p:nvSpPr>
        <p:spPr>
          <a:xfrm>
            <a:off x="8447837" y="5257800"/>
            <a:ext cx="2875178" cy="502920"/>
          </a:xfrm>
          <a:prstGeom prst="rect">
            <a:avLst/>
          </a:prstGeom>
          <a:noFill/>
          <a:ln/>
        </p:spPr>
        <p:txBody>
          <a:bodyPr wrap="square" lIns="0" tIns="0" rIns="0" bIns="0" rtlCol="0" anchor="t"/>
          <a:lstStyle/>
          <a:p>
            <a:pPr indent="0" marL="0">
              <a:buNone/>
            </a:pPr>
            <a:r>
              <a:rPr lang="en-US" sz="1300" dirty="0">
                <a:solidFill>
                  <a:srgbClr val="AAB5C3"/>
                </a:solidFill>
                <a:latin typeface="Arial" pitchFamily="34" charset="0"/>
                <a:ea typeface="Arial" pitchFamily="34" charset="-122"/>
                <a:cs typeface="Arial" pitchFamily="34" charset="-120"/>
              </a:rPr>
              <a:t>What we learned, what’s next, and FORGE end to end.</a:t>
            </a:r>
            <a:endParaRPr lang="en-US" sz="1300" dirty="0"/>
          </a:p>
        </p:txBody>
      </p:sp>
      <p:sp>
        <p:nvSpPr>
          <p:cNvPr id="40" name="Text 32"/>
          <p:cNvSpPr txBox="1"/>
          <p:nvPr/>
        </p:nvSpPr>
        <p:spPr>
          <a:xfrm>
            <a:off x="548640" y="6455664"/>
            <a:ext cx="5486400" cy="219456"/>
          </a:xfrm>
          <a:prstGeom prst="rect">
            <a:avLst/>
          </a:prstGeom>
          <a:noFill/>
          <a:ln/>
        </p:spPr>
        <p:txBody>
          <a:bodyPr wrap="square" lIns="0" tIns="0" rIns="0" bIns="0" rtlCol="0" anchor="t"/>
          <a:lstStyle/>
          <a:p>
            <a:pPr indent="0" marL="0">
              <a:buNone/>
            </a:pPr>
            <a:r>
              <a:rPr lang="en-US" sz="900" dirty="0">
                <a:solidFill>
                  <a:srgbClr val="738191"/>
                </a:solidFill>
                <a:latin typeface="Arial" pitchFamily="34" charset="0"/>
                <a:ea typeface="Arial" pitchFamily="34" charset="-122"/>
                <a:cs typeface="Arial" pitchFamily="34" charset="-120"/>
              </a:rPr>
              <a:t>FORGE  ·  Software Development Conference 2026</a:t>
            </a:r>
            <a:endParaRPr lang="en-US" sz="900" dirty="0"/>
          </a:p>
        </p:txBody>
      </p:sp>
      <p:sp>
        <p:nvSpPr>
          <p:cNvPr id="41" name="Text 33"/>
          <p:cNvSpPr txBox="1"/>
          <p:nvPr/>
        </p:nvSpPr>
        <p:spPr>
          <a:xfrm>
            <a:off x="11094415" y="6455664"/>
            <a:ext cx="548640" cy="219456"/>
          </a:xfrm>
          <a:prstGeom prst="rect">
            <a:avLst/>
          </a:prstGeom>
          <a:noFill/>
          <a:ln/>
        </p:spPr>
        <p:txBody>
          <a:bodyPr wrap="square" lIns="0" tIns="0" rIns="0" bIns="0" rtlCol="0" anchor="t"/>
          <a:lstStyle/>
          <a:p>
            <a:pPr algn="r" indent="0" marL="0">
              <a:buNone/>
            </a:pPr>
            <a:r>
              <a:rPr lang="en-US" sz="900" dirty="0">
                <a:solidFill>
                  <a:srgbClr val="738191"/>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t"/>
          <a:lstStyle/>
          <a:p>
            <a:pPr indent="0" marL="0">
              <a:buNone/>
            </a:pPr>
            <a:r>
              <a:rPr lang="en-US" sz="1100" b="1" spc="300" kern="0" dirty="0">
                <a:solidFill>
                  <a:srgbClr val="FF6A2B"/>
                </a:solidFill>
                <a:latin typeface="Arial" pitchFamily="34" charset="0"/>
                <a:ea typeface="Arial" pitchFamily="34" charset="-122"/>
                <a:cs typeface="Arial" pitchFamily="34" charset="-120"/>
              </a:rPr>
              <a:t>01  ·  THE PROBLEM</a:t>
            </a:r>
            <a:endParaRPr lang="en-US" sz="1100" dirty="0"/>
          </a:p>
        </p:txBody>
      </p:sp>
      <p:sp>
        <p:nvSpPr>
          <p:cNvPr id="3" name="Text 1"/>
          <p:cNvSpPr txBox="1"/>
          <p:nvPr/>
        </p:nvSpPr>
        <p:spPr>
          <a:xfrm>
            <a:off x="548640" y="676656"/>
            <a:ext cx="11094415" cy="658368"/>
          </a:xfrm>
          <a:prstGeom prst="rect">
            <a:avLst/>
          </a:prstGeom>
          <a:noFill/>
          <a:ln/>
        </p:spPr>
        <p:txBody>
          <a:bodyPr wrap="square" lIns="0" tIns="0" rIns="0" bIns="0" rtlCol="0" anchor="t"/>
          <a:lstStyle/>
          <a:p>
            <a:pPr indent="0" marL="0">
              <a:buNone/>
            </a:pPr>
            <a:r>
              <a:rPr lang="en-US" sz="3200" b="1" dirty="0">
                <a:solidFill>
                  <a:srgbClr val="F3F5F8"/>
                </a:solidFill>
                <a:latin typeface="Arial" pitchFamily="34" charset="0"/>
                <a:ea typeface="Arial" pitchFamily="34" charset="-122"/>
                <a:cs typeface="Arial" pitchFamily="34" charset="-120"/>
              </a:rPr>
              <a:t>Every enterprise has an AMS</a:t>
            </a:r>
            <a:endParaRPr lang="en-US" sz="3200" dirty="0"/>
          </a:p>
        </p:txBody>
      </p:sp>
      <p:sp>
        <p:nvSpPr>
          <p:cNvPr id="4" name="Text 2"/>
          <p:cNvSpPr txBox="1"/>
          <p:nvPr/>
        </p:nvSpPr>
        <p:spPr>
          <a:xfrm>
            <a:off x="548640" y="1316736"/>
            <a:ext cx="10607040" cy="512064"/>
          </a:xfrm>
          <a:prstGeom prst="rect">
            <a:avLst/>
          </a:prstGeom>
          <a:noFill/>
          <a:ln/>
        </p:spPr>
        <p:txBody>
          <a:bodyPr wrap="square" lIns="0" tIns="0" rIns="0" bIns="0" rtlCol="0" anchor="t"/>
          <a:lstStyle/>
          <a:p>
            <a:pPr indent="0" marL="0">
              <a:lnSpc>
                <a:spcPct val="105000"/>
              </a:lnSpc>
              <a:buNone/>
            </a:pPr>
            <a:r>
              <a:rPr lang="en-US" sz="1500" dirty="0">
                <a:solidFill>
                  <a:srgbClr val="AAB5C3"/>
                </a:solidFill>
                <a:latin typeface="Arial" pitchFamily="34" charset="0"/>
                <a:ea typeface="Arial" pitchFamily="34" charset="-122"/>
                <a:cs typeface="Arial" pitchFamily="34" charset="-120"/>
              </a:rPr>
              <a:t>Our test bed: a replica of a production J2EE system, with the same stack, library versions and architecture.</a:t>
            </a:r>
            <a:endParaRPr lang="en-US" sz="1500" dirty="0"/>
          </a:p>
        </p:txBody>
      </p:sp>
      <p:sp>
        <p:nvSpPr>
          <p:cNvPr id="5" name="Shape 3"/>
          <p:cNvSpPr/>
          <p:nvPr/>
        </p:nvSpPr>
        <p:spPr>
          <a:xfrm>
            <a:off x="548640" y="2103120"/>
            <a:ext cx="2542032" cy="1234440"/>
          </a:xfrm>
          <a:prstGeom prst="roundRect">
            <a:avLst>
              <a:gd name="adj" fmla="val 8889"/>
            </a:avLst>
          </a:prstGeom>
          <a:solidFill>
            <a:srgbClr val="121821">
              <a:alpha val="92000"/>
            </a:srgbClr>
          </a:solidFill>
          <a:ln w="9525">
            <a:solidFill>
              <a:srgbClr val="1E2835"/>
            </a:solidFill>
            <a:prstDash val="solid"/>
          </a:ln>
        </p:spPr>
      </p:sp>
      <p:sp>
        <p:nvSpPr>
          <p:cNvPr id="6" name="Text 4"/>
          <p:cNvSpPr txBox="1"/>
          <p:nvPr/>
        </p:nvSpPr>
        <p:spPr>
          <a:xfrm>
            <a:off x="804672" y="2258568"/>
            <a:ext cx="2084832" cy="566928"/>
          </a:xfrm>
          <a:prstGeom prst="rect">
            <a:avLst/>
          </a:prstGeom>
          <a:noFill/>
          <a:ln/>
        </p:spPr>
        <p:txBody>
          <a:bodyPr wrap="square" lIns="0" tIns="0" rIns="0" bIns="0" rtlCol="0" anchor="t"/>
          <a:lstStyle/>
          <a:p>
            <a:pPr indent="0" marL="0">
              <a:buNone/>
            </a:pPr>
            <a:r>
              <a:rPr lang="en-US" sz="3600" b="1" dirty="0">
                <a:solidFill>
                  <a:srgbClr val="F3F5F8"/>
                </a:solidFill>
                <a:latin typeface="Arial" pitchFamily="34" charset="0"/>
                <a:ea typeface="Arial" pitchFamily="34" charset="-122"/>
                <a:cs typeface="Arial" pitchFamily="34" charset="-120"/>
              </a:rPr>
              <a:t>376</a:t>
            </a:r>
            <a:endParaRPr lang="en-US" sz="3600" dirty="0"/>
          </a:p>
        </p:txBody>
      </p:sp>
      <p:sp>
        <p:nvSpPr>
          <p:cNvPr id="7" name="Text 5"/>
          <p:cNvSpPr txBox="1"/>
          <p:nvPr/>
        </p:nvSpPr>
        <p:spPr>
          <a:xfrm>
            <a:off x="804672" y="2852928"/>
            <a:ext cx="2130552" cy="411480"/>
          </a:xfrm>
          <a:prstGeom prst="rect">
            <a:avLst/>
          </a:prstGeom>
          <a:noFill/>
          <a:ln/>
        </p:spPr>
        <p:txBody>
          <a:bodyPr wrap="square" lIns="0" tIns="0" rIns="0" bIns="0" rtlCol="0" anchor="t"/>
          <a:lstStyle/>
          <a:p>
            <a:pPr indent="0" marL="0">
              <a:buNone/>
            </a:pPr>
            <a:r>
              <a:rPr lang="en-US" sz="1200" dirty="0">
                <a:solidFill>
                  <a:srgbClr val="AAB5C3"/>
                </a:solidFill>
                <a:latin typeface="Arial" pitchFamily="34" charset="0"/>
                <a:ea typeface="Arial" pitchFamily="34" charset="-122"/>
                <a:cs typeface="Arial" pitchFamily="34" charset="-120"/>
              </a:rPr>
              <a:t>Java source files</a:t>
            </a:r>
            <a:endParaRPr lang="en-US" sz="1200" dirty="0"/>
          </a:p>
        </p:txBody>
      </p:sp>
      <p:sp>
        <p:nvSpPr>
          <p:cNvPr id="8" name="Shape 6"/>
          <p:cNvSpPr/>
          <p:nvPr/>
        </p:nvSpPr>
        <p:spPr>
          <a:xfrm>
            <a:off x="3273552" y="2103120"/>
            <a:ext cx="2542032" cy="1234440"/>
          </a:xfrm>
          <a:prstGeom prst="roundRect">
            <a:avLst>
              <a:gd name="adj" fmla="val 8889"/>
            </a:avLst>
          </a:prstGeom>
          <a:solidFill>
            <a:srgbClr val="121821">
              <a:alpha val="92000"/>
            </a:srgbClr>
          </a:solidFill>
          <a:ln w="9525">
            <a:solidFill>
              <a:srgbClr val="1E2835"/>
            </a:solidFill>
            <a:prstDash val="solid"/>
          </a:ln>
        </p:spPr>
      </p:sp>
      <p:sp>
        <p:nvSpPr>
          <p:cNvPr id="9" name="Text 7"/>
          <p:cNvSpPr txBox="1"/>
          <p:nvPr/>
        </p:nvSpPr>
        <p:spPr>
          <a:xfrm>
            <a:off x="3529584" y="2258568"/>
            <a:ext cx="2084832" cy="566928"/>
          </a:xfrm>
          <a:prstGeom prst="rect">
            <a:avLst/>
          </a:prstGeom>
          <a:noFill/>
          <a:ln/>
        </p:spPr>
        <p:txBody>
          <a:bodyPr wrap="square" lIns="0" tIns="0" rIns="0" bIns="0" rtlCol="0" anchor="t"/>
          <a:lstStyle/>
          <a:p>
            <a:pPr indent="0" marL="0">
              <a:buNone/>
            </a:pPr>
            <a:r>
              <a:rPr lang="en-US" sz="3600" b="1" dirty="0">
                <a:solidFill>
                  <a:srgbClr val="F3F5F8"/>
                </a:solidFill>
                <a:latin typeface="Arial" pitchFamily="34" charset="0"/>
                <a:ea typeface="Arial" pitchFamily="34" charset="-122"/>
                <a:cs typeface="Arial" pitchFamily="34" charset="-120"/>
              </a:rPr>
              <a:t>33.6K</a:t>
            </a:r>
            <a:endParaRPr lang="en-US" sz="3600" dirty="0"/>
          </a:p>
        </p:txBody>
      </p:sp>
      <p:sp>
        <p:nvSpPr>
          <p:cNvPr id="10" name="Text 8"/>
          <p:cNvSpPr txBox="1"/>
          <p:nvPr/>
        </p:nvSpPr>
        <p:spPr>
          <a:xfrm>
            <a:off x="3529584" y="2852928"/>
            <a:ext cx="2130552" cy="411480"/>
          </a:xfrm>
          <a:prstGeom prst="rect">
            <a:avLst/>
          </a:prstGeom>
          <a:noFill/>
          <a:ln/>
        </p:spPr>
        <p:txBody>
          <a:bodyPr wrap="square" lIns="0" tIns="0" rIns="0" bIns="0" rtlCol="0" anchor="t"/>
          <a:lstStyle/>
          <a:p>
            <a:pPr indent="0" marL="0">
              <a:buNone/>
            </a:pPr>
            <a:r>
              <a:rPr lang="en-US" sz="1200" dirty="0">
                <a:solidFill>
                  <a:srgbClr val="AAB5C3"/>
                </a:solidFill>
                <a:latin typeface="Arial" pitchFamily="34" charset="0"/>
                <a:ea typeface="Arial" pitchFamily="34" charset="-122"/>
                <a:cs typeface="Arial" pitchFamily="34" charset="-120"/>
              </a:rPr>
              <a:t>lines of Java</a:t>
            </a:r>
            <a:endParaRPr lang="en-US" sz="1200" dirty="0"/>
          </a:p>
        </p:txBody>
      </p:sp>
      <p:sp>
        <p:nvSpPr>
          <p:cNvPr id="11" name="Shape 9"/>
          <p:cNvSpPr/>
          <p:nvPr/>
        </p:nvSpPr>
        <p:spPr>
          <a:xfrm>
            <a:off x="548640" y="3493008"/>
            <a:ext cx="2542032" cy="1234440"/>
          </a:xfrm>
          <a:prstGeom prst="roundRect">
            <a:avLst>
              <a:gd name="adj" fmla="val 8889"/>
            </a:avLst>
          </a:prstGeom>
          <a:solidFill>
            <a:srgbClr val="121821">
              <a:alpha val="92000"/>
            </a:srgbClr>
          </a:solidFill>
          <a:ln w="9525">
            <a:solidFill>
              <a:srgbClr val="1E2835"/>
            </a:solidFill>
            <a:prstDash val="solid"/>
          </a:ln>
        </p:spPr>
      </p:sp>
      <p:sp>
        <p:nvSpPr>
          <p:cNvPr id="12" name="Text 10"/>
          <p:cNvSpPr txBox="1"/>
          <p:nvPr/>
        </p:nvSpPr>
        <p:spPr>
          <a:xfrm>
            <a:off x="804672" y="3648456"/>
            <a:ext cx="2084832" cy="566928"/>
          </a:xfrm>
          <a:prstGeom prst="rect">
            <a:avLst/>
          </a:prstGeom>
          <a:noFill/>
          <a:ln/>
        </p:spPr>
        <p:txBody>
          <a:bodyPr wrap="square" lIns="0" tIns="0" rIns="0" bIns="0" rtlCol="0" anchor="t"/>
          <a:lstStyle/>
          <a:p>
            <a:pPr indent="0" marL="0">
              <a:buNone/>
            </a:pPr>
            <a:r>
              <a:rPr lang="en-US" sz="3600" b="1" dirty="0">
                <a:solidFill>
                  <a:srgbClr val="F3F5F8"/>
                </a:solidFill>
                <a:latin typeface="Arial" pitchFamily="34" charset="0"/>
                <a:ea typeface="Arial" pitchFamily="34" charset="-122"/>
                <a:cs typeface="Arial" pitchFamily="34" charset="-120"/>
              </a:rPr>
              <a:t>61</a:t>
            </a:r>
            <a:endParaRPr lang="en-US" sz="3600" dirty="0"/>
          </a:p>
        </p:txBody>
      </p:sp>
      <p:sp>
        <p:nvSpPr>
          <p:cNvPr id="13" name="Text 11"/>
          <p:cNvSpPr txBox="1"/>
          <p:nvPr/>
        </p:nvSpPr>
        <p:spPr>
          <a:xfrm>
            <a:off x="804672" y="4242816"/>
            <a:ext cx="2130552" cy="411480"/>
          </a:xfrm>
          <a:prstGeom prst="rect">
            <a:avLst/>
          </a:prstGeom>
          <a:noFill/>
          <a:ln/>
        </p:spPr>
        <p:txBody>
          <a:bodyPr wrap="square" lIns="0" tIns="0" rIns="0" bIns="0" rtlCol="0" anchor="t"/>
          <a:lstStyle/>
          <a:p>
            <a:pPr indent="0" marL="0">
              <a:buNone/>
            </a:pPr>
            <a:r>
              <a:rPr lang="en-US" sz="1200" dirty="0">
                <a:solidFill>
                  <a:srgbClr val="AAB5C3"/>
                </a:solidFill>
                <a:latin typeface="Arial" pitchFamily="34" charset="0"/>
                <a:ea typeface="Arial" pitchFamily="34" charset="-122"/>
                <a:cs typeface="Arial" pitchFamily="34" charset="-120"/>
              </a:rPr>
              <a:t>JSPs, carrying 485 Struts &lt;s:&gt; tags</a:t>
            </a:r>
            <a:endParaRPr lang="en-US" sz="1200" dirty="0"/>
          </a:p>
        </p:txBody>
      </p:sp>
      <p:sp>
        <p:nvSpPr>
          <p:cNvPr id="14" name="Shape 12"/>
          <p:cNvSpPr/>
          <p:nvPr/>
        </p:nvSpPr>
        <p:spPr>
          <a:xfrm>
            <a:off x="3273552" y="3493008"/>
            <a:ext cx="2542032" cy="1234440"/>
          </a:xfrm>
          <a:prstGeom prst="roundRect">
            <a:avLst>
              <a:gd name="adj" fmla="val 8889"/>
            </a:avLst>
          </a:prstGeom>
          <a:solidFill>
            <a:srgbClr val="121821">
              <a:alpha val="92000"/>
            </a:srgbClr>
          </a:solidFill>
          <a:ln w="9525">
            <a:solidFill>
              <a:srgbClr val="1E2835"/>
            </a:solidFill>
            <a:prstDash val="solid"/>
          </a:ln>
        </p:spPr>
      </p:sp>
      <p:sp>
        <p:nvSpPr>
          <p:cNvPr id="15" name="Text 13"/>
          <p:cNvSpPr txBox="1"/>
          <p:nvPr/>
        </p:nvSpPr>
        <p:spPr>
          <a:xfrm>
            <a:off x="3529584" y="3648456"/>
            <a:ext cx="2084832" cy="566928"/>
          </a:xfrm>
          <a:prstGeom prst="rect">
            <a:avLst/>
          </a:prstGeom>
          <a:noFill/>
          <a:ln/>
        </p:spPr>
        <p:txBody>
          <a:bodyPr wrap="square" lIns="0" tIns="0" rIns="0" bIns="0" rtlCol="0" anchor="t"/>
          <a:lstStyle/>
          <a:p>
            <a:pPr indent="0" marL="0">
              <a:buNone/>
            </a:pPr>
            <a:r>
              <a:rPr lang="en-US" sz="3600" b="1" dirty="0">
                <a:solidFill>
                  <a:srgbClr val="F3F5F8"/>
                </a:solidFill>
                <a:latin typeface="Arial" pitchFamily="34" charset="0"/>
                <a:ea typeface="Arial" pitchFamily="34" charset="-122"/>
                <a:cs typeface="Arial" pitchFamily="34" charset="-120"/>
              </a:rPr>
              <a:t>49</a:t>
            </a:r>
            <a:endParaRPr lang="en-US" sz="3600" dirty="0"/>
          </a:p>
        </p:txBody>
      </p:sp>
      <p:sp>
        <p:nvSpPr>
          <p:cNvPr id="16" name="Text 14"/>
          <p:cNvSpPr txBox="1"/>
          <p:nvPr/>
        </p:nvSpPr>
        <p:spPr>
          <a:xfrm>
            <a:off x="3529584" y="4242816"/>
            <a:ext cx="2130552" cy="411480"/>
          </a:xfrm>
          <a:prstGeom prst="rect">
            <a:avLst/>
          </a:prstGeom>
          <a:noFill/>
          <a:ln/>
        </p:spPr>
        <p:txBody>
          <a:bodyPr wrap="square" lIns="0" tIns="0" rIns="0" bIns="0" rtlCol="0" anchor="t"/>
          <a:lstStyle/>
          <a:p>
            <a:pPr indent="0" marL="0">
              <a:buNone/>
            </a:pPr>
            <a:r>
              <a:rPr lang="en-US" sz="1200" dirty="0">
                <a:solidFill>
                  <a:srgbClr val="AAB5C3"/>
                </a:solidFill>
                <a:latin typeface="Arial" pitchFamily="34" charset="0"/>
                <a:ea typeface="Arial" pitchFamily="34" charset="-122"/>
                <a:cs typeface="Arial" pitchFamily="34" charset="-120"/>
              </a:rPr>
              <a:t>Struts 2 action classes</a:t>
            </a:r>
            <a:endParaRPr lang="en-US" sz="1200" dirty="0"/>
          </a:p>
        </p:txBody>
      </p:sp>
      <p:sp>
        <p:nvSpPr>
          <p:cNvPr id="17" name="Shape 15"/>
          <p:cNvSpPr/>
          <p:nvPr/>
        </p:nvSpPr>
        <p:spPr>
          <a:xfrm>
            <a:off x="548640" y="4882896"/>
            <a:ext cx="2542032" cy="1234440"/>
          </a:xfrm>
          <a:prstGeom prst="roundRect">
            <a:avLst>
              <a:gd name="adj" fmla="val 8889"/>
            </a:avLst>
          </a:prstGeom>
          <a:solidFill>
            <a:srgbClr val="121821">
              <a:alpha val="92000"/>
            </a:srgbClr>
          </a:solidFill>
          <a:ln w="9525">
            <a:solidFill>
              <a:srgbClr val="1E2835"/>
            </a:solidFill>
            <a:prstDash val="solid"/>
          </a:ln>
        </p:spPr>
      </p:sp>
      <p:sp>
        <p:nvSpPr>
          <p:cNvPr id="18" name="Text 16"/>
          <p:cNvSpPr txBox="1"/>
          <p:nvPr/>
        </p:nvSpPr>
        <p:spPr>
          <a:xfrm>
            <a:off x="804672" y="5038344"/>
            <a:ext cx="2084832" cy="566928"/>
          </a:xfrm>
          <a:prstGeom prst="rect">
            <a:avLst/>
          </a:prstGeom>
          <a:noFill/>
          <a:ln/>
        </p:spPr>
        <p:txBody>
          <a:bodyPr wrap="square" lIns="0" tIns="0" rIns="0" bIns="0" rtlCol="0" anchor="t"/>
          <a:lstStyle/>
          <a:p>
            <a:pPr indent="0" marL="0">
              <a:buNone/>
            </a:pPr>
            <a:r>
              <a:rPr lang="en-US" sz="3600" b="1" dirty="0">
                <a:solidFill>
                  <a:srgbClr val="F3F5F8"/>
                </a:solidFill>
                <a:latin typeface="Arial" pitchFamily="34" charset="0"/>
                <a:ea typeface="Arial" pitchFamily="34" charset="-122"/>
                <a:cs typeface="Arial" pitchFamily="34" charset="-120"/>
              </a:rPr>
              <a:t>10</a:t>
            </a:r>
            <a:endParaRPr lang="en-US" sz="3600" dirty="0"/>
          </a:p>
        </p:txBody>
      </p:sp>
      <p:sp>
        <p:nvSpPr>
          <p:cNvPr id="19" name="Text 17"/>
          <p:cNvSpPr txBox="1"/>
          <p:nvPr/>
        </p:nvSpPr>
        <p:spPr>
          <a:xfrm>
            <a:off x="804672" y="5632704"/>
            <a:ext cx="2130552" cy="411480"/>
          </a:xfrm>
          <a:prstGeom prst="rect">
            <a:avLst/>
          </a:prstGeom>
          <a:noFill/>
          <a:ln/>
        </p:spPr>
        <p:txBody>
          <a:bodyPr wrap="square" lIns="0" tIns="0" rIns="0" bIns="0" rtlCol="0" anchor="t"/>
          <a:lstStyle/>
          <a:p>
            <a:pPr indent="0" marL="0">
              <a:buNone/>
            </a:pPr>
            <a:r>
              <a:rPr lang="en-US" sz="1200" dirty="0">
                <a:solidFill>
                  <a:srgbClr val="AAB5C3"/>
                </a:solidFill>
                <a:latin typeface="Arial" pitchFamily="34" charset="0"/>
                <a:ea typeface="Arial" pitchFamily="34" charset="-122"/>
                <a:cs typeface="Arial" pitchFamily="34" charset="-120"/>
              </a:rPr>
              <a:t>Maven modules</a:t>
            </a:r>
            <a:endParaRPr lang="en-US" sz="1200" dirty="0"/>
          </a:p>
        </p:txBody>
      </p:sp>
      <p:sp>
        <p:nvSpPr>
          <p:cNvPr id="20" name="Shape 18"/>
          <p:cNvSpPr/>
          <p:nvPr/>
        </p:nvSpPr>
        <p:spPr>
          <a:xfrm>
            <a:off x="3273552" y="4882896"/>
            <a:ext cx="2542032" cy="1234440"/>
          </a:xfrm>
          <a:prstGeom prst="roundRect">
            <a:avLst>
              <a:gd name="adj" fmla="val 8889"/>
            </a:avLst>
          </a:prstGeom>
          <a:solidFill>
            <a:srgbClr val="121821">
              <a:alpha val="92000"/>
            </a:srgbClr>
          </a:solidFill>
          <a:ln w="9525">
            <a:solidFill>
              <a:srgbClr val="1E2835"/>
            </a:solidFill>
            <a:prstDash val="solid"/>
          </a:ln>
        </p:spPr>
      </p:sp>
      <p:sp>
        <p:nvSpPr>
          <p:cNvPr id="21" name="Text 19"/>
          <p:cNvSpPr txBox="1"/>
          <p:nvPr/>
        </p:nvSpPr>
        <p:spPr>
          <a:xfrm>
            <a:off x="3529584" y="5038344"/>
            <a:ext cx="2084832" cy="566928"/>
          </a:xfrm>
          <a:prstGeom prst="rect">
            <a:avLst/>
          </a:prstGeom>
          <a:noFill/>
          <a:ln/>
        </p:spPr>
        <p:txBody>
          <a:bodyPr wrap="square" lIns="0" tIns="0" rIns="0" bIns="0" rtlCol="0" anchor="t"/>
          <a:lstStyle/>
          <a:p>
            <a:pPr indent="0" marL="0">
              <a:buNone/>
            </a:pPr>
            <a:r>
              <a:rPr lang="en-US" sz="3600" b="1" dirty="0">
                <a:solidFill>
                  <a:srgbClr val="FFB547"/>
                </a:solidFill>
                <a:latin typeface="Arial" pitchFamily="34" charset="0"/>
                <a:ea typeface="Arial" pitchFamily="34" charset="-122"/>
                <a:cs typeface="Arial" pitchFamily="34" charset="-120"/>
              </a:rPr>
              <a:t>40</a:t>
            </a:r>
            <a:endParaRPr lang="en-US" sz="3600" dirty="0"/>
          </a:p>
        </p:txBody>
      </p:sp>
      <p:sp>
        <p:nvSpPr>
          <p:cNvPr id="22" name="Text 20"/>
          <p:cNvSpPr txBox="1"/>
          <p:nvPr/>
        </p:nvSpPr>
        <p:spPr>
          <a:xfrm>
            <a:off x="3529584" y="5632704"/>
            <a:ext cx="2130552" cy="411480"/>
          </a:xfrm>
          <a:prstGeom prst="rect">
            <a:avLst/>
          </a:prstGeom>
          <a:noFill/>
          <a:ln/>
        </p:spPr>
        <p:txBody>
          <a:bodyPr wrap="square" lIns="0" tIns="0" rIns="0" bIns="0" rtlCol="0" anchor="t"/>
          <a:lstStyle/>
          <a:p>
            <a:pPr indent="0" marL="0">
              <a:buNone/>
            </a:pPr>
            <a:r>
              <a:rPr lang="en-US" sz="1200" dirty="0">
                <a:solidFill>
                  <a:srgbClr val="AAB5C3"/>
                </a:solidFill>
                <a:latin typeface="Arial" pitchFamily="34" charset="0"/>
                <a:ea typeface="Arial" pitchFamily="34" charset="-122"/>
                <a:cs typeface="Arial" pitchFamily="34" charset="-120"/>
              </a:rPr>
              <a:t>javax.* imports, and 9 must not move</a:t>
            </a:r>
            <a:endParaRPr lang="en-US" sz="1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989320" y="2103120"/>
          <a:ext cx="5650992" cy="914400"/>
        </p:xfrm>
        <a:graphic>
          <a:graphicData uri="http://schemas.openxmlformats.org/drawingml/2006/table">
            <a:tbl>
              <a:tblPr/>
              <a:tblGrid>
                <a:gridCol w="1783080"/>
                <a:gridCol w="1645920"/>
                <a:gridCol w="2221992"/>
              </a:tblGrid>
              <a:tr h="457200">
                <a:tc>
                  <a:txBody>
                    <a:bodyPr/>
                    <a:lstStyle/>
                    <a:p>
                      <a:pPr indent="0" marL="0">
                        <a:buNone/>
                      </a:pPr>
                      <a:r>
                        <a:rPr lang="en-US" sz="1050" b="1" spc="200" kern="0" dirty="0">
                          <a:solidFill>
                            <a:srgbClr val="738191"/>
                          </a:solidFill>
                          <a:latin typeface="Arial" pitchFamily="34" charset="0"/>
                          <a:ea typeface="Arial" pitchFamily="34" charset="-122"/>
                          <a:cs typeface="Arial" pitchFamily="34" charset="-120"/>
                        </a:rPr>
                        <a:t>LAYER</a:t>
                      </a:r>
                      <a:endParaRPr lang="en-US" sz="1050" dirty="0">
                        <a:latin typeface="Arial" charset="0"/>
                        <a:ea typeface="Arial" charset="0"/>
                        <a:cs typeface="Arial" charset="0"/>
                      </a:endParaRPr>
                    </a:p>
                  </a:txBody>
                  <a:tcPr marL="127000" marR="127000" marT="38100" marB="38100" anchor="ctr">
                    <a:lnL w="0" cap="flat" cmpd="sng" algn="ctr">
                      <a:noFill/>
                    </a:lnL>
                    <a:lnR w="0" cap="flat" cmpd="sng" algn="ctr">
                      <a:noFill/>
                    </a:lnR>
                    <a:lnT w="0" cap="flat" cmpd="sng" algn="ctr">
                      <a:noFill/>
                    </a:lnT>
                    <a:lnB w="9525" cap="flat" cmpd="sng" algn="ctr">
                      <a:solidFill>
                        <a:srgbClr val="263244"/>
                      </a:solidFill>
                      <a:prstDash val="solid"/>
                      <a:round/>
                      <a:headEnd type="none" w="med" len="med"/>
                      <a:tailEnd type="none" w="med" len="med"/>
                    </a:lnB>
                    <a:solidFill>
                      <a:srgbClr val="18212D"/>
                    </a:solidFill>
                  </a:tcPr>
                </a:tc>
                <a:tc>
                  <a:txBody>
                    <a:bodyPr/>
                    <a:lstStyle/>
                    <a:p>
                      <a:pPr indent="0" marL="0">
                        <a:buNone/>
                      </a:pPr>
                      <a:r>
                        <a:rPr lang="en-US" sz="1050" b="1" spc="200" kern="0" dirty="0">
                          <a:solidFill>
                            <a:srgbClr val="738191"/>
                          </a:solidFill>
                          <a:latin typeface="Arial" pitchFamily="34" charset="0"/>
                          <a:ea typeface="Arial" pitchFamily="34" charset="-122"/>
                          <a:cs typeface="Arial" pitchFamily="34" charset="-120"/>
                        </a:rPr>
                        <a:t>TODAY</a:t>
                      </a:r>
                      <a:endParaRPr lang="en-US" sz="1050" dirty="0">
                        <a:latin typeface="Arial" charset="0"/>
                        <a:ea typeface="Arial" charset="0"/>
                        <a:cs typeface="Arial" charset="0"/>
                      </a:endParaRPr>
                    </a:p>
                  </a:txBody>
                  <a:tcPr marL="127000" marR="127000" marT="38100" marB="38100" anchor="ctr">
                    <a:lnL w="0" cap="flat" cmpd="sng" algn="ctr">
                      <a:noFill/>
                    </a:lnL>
                    <a:lnR w="0" cap="flat" cmpd="sng" algn="ctr">
                      <a:noFill/>
                    </a:lnR>
                    <a:lnT w="0" cap="flat" cmpd="sng" algn="ctr">
                      <a:noFill/>
                    </a:lnT>
                    <a:lnB w="9525" cap="flat" cmpd="sng" algn="ctr">
                      <a:solidFill>
                        <a:srgbClr val="263244"/>
                      </a:solidFill>
                      <a:prstDash val="solid"/>
                      <a:round/>
                      <a:headEnd type="none" w="med" len="med"/>
                      <a:tailEnd type="none" w="med" len="med"/>
                    </a:lnB>
                    <a:solidFill>
                      <a:srgbClr val="18212D"/>
                    </a:solidFill>
                  </a:tcPr>
                </a:tc>
                <a:tc>
                  <a:txBody>
                    <a:bodyPr/>
                    <a:lstStyle/>
                    <a:p>
                      <a:pPr indent="0" marL="0">
                        <a:buNone/>
                      </a:pPr>
                      <a:r>
                        <a:rPr lang="en-US" sz="1050" b="1" spc="200" kern="0" dirty="0">
                          <a:solidFill>
                            <a:srgbClr val="738191"/>
                          </a:solidFill>
                          <a:latin typeface="Arial" pitchFamily="34" charset="0"/>
                          <a:ea typeface="Arial" pitchFamily="34" charset="-122"/>
                          <a:cs typeface="Arial" pitchFamily="34" charset="-120"/>
                        </a:rPr>
                        <a:t>TARGET</a:t>
                      </a:r>
                      <a:endParaRPr lang="en-US" sz="1050" dirty="0">
                        <a:latin typeface="Arial" charset="0"/>
                        <a:ea typeface="Arial" charset="0"/>
                        <a:cs typeface="Arial" charset="0"/>
                      </a:endParaRPr>
                    </a:p>
                  </a:txBody>
                  <a:tcPr marL="127000" marR="127000" marT="38100" marB="38100" anchor="ctr">
                    <a:lnL w="0" cap="flat" cmpd="sng" algn="ctr">
                      <a:noFill/>
                    </a:lnL>
                    <a:lnR w="0" cap="flat" cmpd="sng" algn="ctr">
                      <a:noFill/>
                    </a:lnR>
                    <a:lnT w="0" cap="flat" cmpd="sng" algn="ctr">
                      <a:noFill/>
                    </a:lnT>
                    <a:lnB w="9525" cap="flat" cmpd="sng" algn="ctr">
                      <a:solidFill>
                        <a:srgbClr val="263244"/>
                      </a:solidFill>
                      <a:prstDash val="solid"/>
                      <a:round/>
                      <a:headEnd type="none" w="med" len="med"/>
                      <a:tailEnd type="none" w="med" len="med"/>
                    </a:lnB>
                    <a:solidFill>
                      <a:srgbClr val="18212D"/>
                    </a:solidFill>
                  </a:tcPr>
                </a:tc>
              </a:tr>
              <a:tr h="457200">
                <a:tc>
                  <a:txBody>
                    <a:bodyPr/>
                    <a:lstStyle/>
                    <a:p>
                      <a:pPr indent="0" marL="0">
                        <a:buNone/>
                      </a:pPr>
                      <a:r>
                        <a:rPr lang="en-US" sz="1350" dirty="0">
                          <a:solidFill>
                            <a:srgbClr val="AAB5C3"/>
                          </a:solidFill>
                          <a:latin typeface="Arial" pitchFamily="34" charset="0"/>
                          <a:ea typeface="Arial" pitchFamily="34" charset="-122"/>
                          <a:cs typeface="Arial" pitchFamily="34" charset="-120"/>
                        </a:rPr>
                        <a:t>Java</a:t>
                      </a:r>
                      <a:endParaRPr lang="en-US" sz="1350" dirty="0">
                        <a:latin typeface="Arial" charset="0"/>
                        <a:ea typeface="Arial" charset="0"/>
                        <a:cs typeface="Arial" charset="0"/>
                      </a:endParaRPr>
                    </a:p>
                  </a:txBody>
                  <a:tcPr marL="127000" marR="127000" marT="38100" marB="38100" anchor="ctr">
                    <a:lnL w="0" cap="flat" cmpd="sng" algn="ctr">
                      <a:noFill/>
                    </a:lnL>
                    <a:lnR w="0" cap="flat" cmpd="sng" algn="ctr">
                      <a:noFill/>
                    </a:lnR>
                    <a:lnT w="0" cap="flat" cmpd="sng" algn="ctr">
                      <a:noFill/>
                    </a:lnT>
                    <a:lnB w="9525" cap="flat" cmpd="sng" algn="ctr">
                      <a:solidFill>
                        <a:srgbClr val="263244"/>
                      </a:solidFill>
                      <a:prstDash val="solid"/>
                      <a:round/>
                      <a:headEnd type="none" w="med" len="med"/>
                      <a:tailEnd type="none" w="med" len="med"/>
                    </a:lnB>
                  </a:tcPr>
                </a:tc>
                <a:tc>
                  <a:txBody>
                    <a:bodyPr/>
                    <a:lstStyle/>
                    <a:p>
                      <a:pPr indent="0" marL="0">
                        <a:buNone/>
                      </a:pPr>
                      <a:r>
                        <a:rPr lang="en-US" sz="1350" dirty="0">
                          <a:solidFill>
                            <a:srgbClr val="AAB5C3"/>
                          </a:solidFill>
                          <a:latin typeface="Consolas" pitchFamily="34" charset="0"/>
                          <a:ea typeface="Consolas" pitchFamily="34" charset="-122"/>
                          <a:cs typeface="Consolas" pitchFamily="34" charset="-120"/>
                        </a:rPr>
                        <a:t>8</a:t>
                      </a:r>
                      <a:endParaRPr lang="en-US" sz="1350" dirty="0">
                        <a:latin typeface="Consolas" charset="0"/>
                        <a:ea typeface="Consolas" charset="0"/>
                        <a:cs typeface="Consolas" charset="0"/>
                      </a:endParaRPr>
                    </a:p>
                  </a:txBody>
                  <a:tcPr marL="127000" marR="127000" marT="38100" marB="38100" anchor="ctr">
                    <a:lnL w="0" cap="flat" cmpd="sng" algn="ctr">
                      <a:noFill/>
                    </a:lnL>
                    <a:lnR w="0" cap="flat" cmpd="sng" algn="ctr">
                      <a:noFill/>
                    </a:lnR>
                    <a:lnT w="0" cap="flat" cmpd="sng" algn="ctr">
                      <a:noFill/>
                    </a:lnT>
                    <a:lnB w="9525" cap="flat" cmpd="sng" algn="ctr">
                      <a:solidFill>
                        <a:srgbClr val="263244"/>
                      </a:solidFill>
                      <a:prstDash val="solid"/>
                      <a:round/>
                      <a:headEnd type="none" w="med" len="med"/>
                      <a:tailEnd type="none" w="med" len="med"/>
                    </a:lnB>
                  </a:tcPr>
                </a:tc>
                <a:tc>
                  <a:txBody>
                    <a:bodyPr/>
                    <a:lstStyle/>
                    <a:p>
                      <a:pPr indent="0" marL="0">
                        <a:buNone/>
                      </a:pPr>
                      <a:r>
                        <a:rPr lang="en-US" sz="1350" b="1" dirty="0">
                          <a:solidFill>
                            <a:srgbClr val="F3F5F8"/>
                          </a:solidFill>
                          <a:latin typeface="Arial" pitchFamily="34" charset="0"/>
                          <a:ea typeface="Arial" pitchFamily="34" charset="-122"/>
                          <a:cs typeface="Arial" pitchFamily="34" charset="-120"/>
                        </a:rPr>
                        <a:t>21 LTS</a:t>
                      </a:r>
                      <a:endParaRPr lang="en-US" sz="1350" dirty="0">
                        <a:latin typeface="Arial" charset="0"/>
                        <a:ea typeface="Arial" charset="0"/>
                        <a:cs typeface="Arial" charset="0"/>
                      </a:endParaRPr>
                    </a:p>
                  </a:txBody>
                  <a:tcPr marL="127000" marR="127000" marT="38100" marB="38100" anchor="ctr">
                    <a:lnL w="0" cap="flat" cmpd="sng" algn="ctr">
                      <a:noFill/>
                    </a:lnL>
                    <a:lnR w="0" cap="flat" cmpd="sng" algn="ctr">
                      <a:noFill/>
                    </a:lnR>
                    <a:lnT w="0" cap="flat" cmpd="sng" algn="ctr">
                      <a:noFill/>
                    </a:lnT>
                    <a:lnB w="9525" cap="flat" cmpd="sng" algn="ctr">
                      <a:solidFill>
                        <a:srgbClr val="263244"/>
                      </a:solidFill>
                      <a:prstDash val="solid"/>
                      <a:round/>
                      <a:headEnd type="none" w="med" len="med"/>
                      <a:tailEnd type="none" w="med" len="med"/>
                    </a:lnB>
                  </a:tcPr>
                </a:tc>
              </a:tr>
              <a:tr h="457200">
                <a:tc>
                  <a:txBody>
                    <a:bodyPr/>
                    <a:lstStyle/>
                    <a:p>
                      <a:pPr indent="0" marL="0">
                        <a:buNone/>
                      </a:pPr>
                      <a:r>
                        <a:rPr lang="en-US" sz="1350" dirty="0">
                          <a:solidFill>
                            <a:srgbClr val="AAB5C3"/>
                          </a:solidFill>
                          <a:latin typeface="Arial" pitchFamily="34" charset="0"/>
                          <a:ea typeface="Arial" pitchFamily="34" charset="-122"/>
                          <a:cs typeface="Arial" pitchFamily="34" charset="-120"/>
                        </a:rPr>
                        <a:t>Namespace</a:t>
                      </a:r>
                      <a:endParaRPr lang="en-US" sz="1350" dirty="0">
                        <a:latin typeface="Arial" charset="0"/>
                        <a:ea typeface="Arial" charset="0"/>
                        <a:cs typeface="Arial" charset="0"/>
                      </a:endParaRPr>
                    </a:p>
                  </a:txBody>
                  <a:tcPr marL="127000" marR="127000" marT="38100" marB="38100" anchor="ctr">
                    <a:lnL w="0" cap="flat" cmpd="sng" algn="ctr">
                      <a:noFill/>
                    </a:lnL>
                    <a:lnR w="0" cap="flat" cmpd="sng" algn="ctr">
                      <a:noFill/>
                    </a:lnR>
                    <a:lnT w="0" cap="flat" cmpd="sng" algn="ctr">
                      <a:noFill/>
                    </a:lnT>
                    <a:lnB w="9525" cap="flat" cmpd="sng" algn="ctr">
                      <a:solidFill>
                        <a:srgbClr val="263244"/>
                      </a:solidFill>
                      <a:prstDash val="solid"/>
                      <a:round/>
                      <a:headEnd type="none" w="med" len="med"/>
                      <a:tailEnd type="none" w="med" len="med"/>
                    </a:lnB>
                  </a:tcPr>
                </a:tc>
                <a:tc>
                  <a:txBody>
                    <a:bodyPr/>
                    <a:lstStyle/>
                    <a:p>
                      <a:pPr indent="0" marL="0">
                        <a:buNone/>
                      </a:pPr>
                      <a:r>
                        <a:rPr lang="en-US" sz="1350" dirty="0">
                          <a:solidFill>
                            <a:srgbClr val="AAB5C3"/>
                          </a:solidFill>
                          <a:latin typeface="Consolas" pitchFamily="34" charset="0"/>
                          <a:ea typeface="Consolas" pitchFamily="34" charset="-122"/>
                          <a:cs typeface="Consolas" pitchFamily="34" charset="-120"/>
                        </a:rPr>
                        <a:t>javax.*</a:t>
                      </a:r>
                      <a:endParaRPr lang="en-US" sz="1350" dirty="0">
                        <a:latin typeface="Consolas" charset="0"/>
                        <a:ea typeface="Consolas" charset="0"/>
                        <a:cs typeface="Consolas" charset="0"/>
                      </a:endParaRPr>
                    </a:p>
                  </a:txBody>
                  <a:tcPr marL="127000" marR="127000" marT="38100" marB="38100" anchor="ctr">
                    <a:lnL w="0" cap="flat" cmpd="sng" algn="ctr">
                      <a:noFill/>
                    </a:lnL>
                    <a:lnR w="0" cap="flat" cmpd="sng" algn="ctr">
                      <a:noFill/>
                    </a:lnR>
                    <a:lnT w="0" cap="flat" cmpd="sng" algn="ctr">
                      <a:noFill/>
                    </a:lnT>
                    <a:lnB w="9525" cap="flat" cmpd="sng" algn="ctr">
                      <a:solidFill>
                        <a:srgbClr val="263244"/>
                      </a:solidFill>
                      <a:prstDash val="solid"/>
                      <a:round/>
                      <a:headEnd type="none" w="med" len="med"/>
                      <a:tailEnd type="none" w="med" len="med"/>
                    </a:lnB>
                  </a:tcPr>
                </a:tc>
                <a:tc>
                  <a:txBody>
                    <a:bodyPr/>
                    <a:lstStyle/>
                    <a:p>
                      <a:pPr indent="0" marL="0">
                        <a:buNone/>
                      </a:pPr>
                      <a:r>
                        <a:rPr lang="en-US" sz="1350" b="1" dirty="0">
                          <a:solidFill>
                            <a:srgbClr val="F3F5F8"/>
                          </a:solidFill>
                          <a:latin typeface="Arial" pitchFamily="34" charset="0"/>
                          <a:ea typeface="Arial" pitchFamily="34" charset="-122"/>
                          <a:cs typeface="Arial" pitchFamily="34" charset="-120"/>
                        </a:rPr>
                        <a:t>jakarta.* (EE 10)</a:t>
                      </a:r>
                      <a:endParaRPr lang="en-US" sz="1350" dirty="0">
                        <a:latin typeface="Arial" charset="0"/>
                        <a:ea typeface="Arial" charset="0"/>
                        <a:cs typeface="Arial" charset="0"/>
                      </a:endParaRPr>
                    </a:p>
                  </a:txBody>
                  <a:tcPr marL="127000" marR="127000" marT="38100" marB="38100" anchor="ctr">
                    <a:lnL w="0" cap="flat" cmpd="sng" algn="ctr">
                      <a:noFill/>
                    </a:lnL>
                    <a:lnR w="0" cap="flat" cmpd="sng" algn="ctr">
                      <a:noFill/>
                    </a:lnR>
                    <a:lnT w="0" cap="flat" cmpd="sng" algn="ctr">
                      <a:noFill/>
                    </a:lnT>
                    <a:lnB w="9525" cap="flat" cmpd="sng" algn="ctr">
                      <a:solidFill>
                        <a:srgbClr val="263244"/>
                      </a:solidFill>
                      <a:prstDash val="solid"/>
                      <a:round/>
                      <a:headEnd type="none" w="med" len="med"/>
                      <a:tailEnd type="none" w="med" len="med"/>
                    </a:lnB>
                  </a:tcPr>
                </a:tc>
              </a:tr>
              <a:tr h="457200">
                <a:tc>
                  <a:txBody>
                    <a:bodyPr/>
                    <a:lstStyle/>
                    <a:p>
                      <a:pPr indent="0" marL="0">
                        <a:buNone/>
                      </a:pPr>
                      <a:r>
                        <a:rPr lang="en-US" sz="1350" dirty="0">
                          <a:solidFill>
                            <a:srgbClr val="AAB5C3"/>
                          </a:solidFill>
                          <a:latin typeface="Arial" pitchFamily="34" charset="0"/>
                          <a:ea typeface="Arial" pitchFamily="34" charset="-122"/>
                          <a:cs typeface="Arial" pitchFamily="34" charset="-120"/>
                        </a:rPr>
                        <a:t>Spring Framework</a:t>
                      </a:r>
                      <a:endParaRPr lang="en-US" sz="1350" dirty="0">
                        <a:latin typeface="Arial" charset="0"/>
                        <a:ea typeface="Arial" charset="0"/>
                        <a:cs typeface="Arial" charset="0"/>
                      </a:endParaRPr>
                    </a:p>
                  </a:txBody>
                  <a:tcPr marL="127000" marR="127000" marT="38100" marB="38100" anchor="ctr">
                    <a:lnL w="0" cap="flat" cmpd="sng" algn="ctr">
                      <a:noFill/>
                    </a:lnL>
                    <a:lnR w="0" cap="flat" cmpd="sng" algn="ctr">
                      <a:noFill/>
                    </a:lnR>
                    <a:lnT w="0" cap="flat" cmpd="sng" algn="ctr">
                      <a:noFill/>
                    </a:lnT>
                    <a:lnB w="9525" cap="flat" cmpd="sng" algn="ctr">
                      <a:solidFill>
                        <a:srgbClr val="263244"/>
                      </a:solidFill>
                      <a:prstDash val="solid"/>
                      <a:round/>
                      <a:headEnd type="none" w="med" len="med"/>
                      <a:tailEnd type="none" w="med" len="med"/>
                    </a:lnB>
                  </a:tcPr>
                </a:tc>
                <a:tc>
                  <a:txBody>
                    <a:bodyPr/>
                    <a:lstStyle/>
                    <a:p>
                      <a:pPr indent="0" marL="0">
                        <a:buNone/>
                      </a:pPr>
                      <a:r>
                        <a:rPr lang="en-US" sz="1350" dirty="0">
                          <a:solidFill>
                            <a:srgbClr val="AAB5C3"/>
                          </a:solidFill>
                          <a:latin typeface="Consolas" pitchFamily="34" charset="0"/>
                          <a:ea typeface="Consolas" pitchFamily="34" charset="-122"/>
                          <a:cs typeface="Consolas" pitchFamily="34" charset="-120"/>
                        </a:rPr>
                        <a:t>5.3.39</a:t>
                      </a:r>
                      <a:endParaRPr lang="en-US" sz="1350" dirty="0">
                        <a:latin typeface="Consolas" charset="0"/>
                        <a:ea typeface="Consolas" charset="0"/>
                        <a:cs typeface="Consolas" charset="0"/>
                      </a:endParaRPr>
                    </a:p>
                  </a:txBody>
                  <a:tcPr marL="127000" marR="127000" marT="38100" marB="38100" anchor="ctr">
                    <a:lnL w="0" cap="flat" cmpd="sng" algn="ctr">
                      <a:noFill/>
                    </a:lnL>
                    <a:lnR w="0" cap="flat" cmpd="sng" algn="ctr">
                      <a:noFill/>
                    </a:lnR>
                    <a:lnT w="0" cap="flat" cmpd="sng" algn="ctr">
                      <a:noFill/>
                    </a:lnT>
                    <a:lnB w="9525" cap="flat" cmpd="sng" algn="ctr">
                      <a:solidFill>
                        <a:srgbClr val="263244"/>
                      </a:solidFill>
                      <a:prstDash val="solid"/>
                      <a:round/>
                      <a:headEnd type="none" w="med" len="med"/>
                      <a:tailEnd type="none" w="med" len="med"/>
                    </a:lnB>
                  </a:tcPr>
                </a:tc>
                <a:tc>
                  <a:txBody>
                    <a:bodyPr/>
                    <a:lstStyle/>
                    <a:p>
                      <a:pPr indent="0" marL="0">
                        <a:buNone/>
                      </a:pPr>
                      <a:r>
                        <a:rPr lang="en-US" sz="1350" b="1" dirty="0">
                          <a:solidFill>
                            <a:srgbClr val="F3F5F8"/>
                          </a:solidFill>
                          <a:latin typeface="Arial" pitchFamily="34" charset="0"/>
                          <a:ea typeface="Arial" pitchFamily="34" charset="-122"/>
                          <a:cs typeface="Arial" pitchFamily="34" charset="-120"/>
                        </a:rPr>
                        <a:t>6.2</a:t>
                      </a:r>
                      <a:endParaRPr lang="en-US" sz="1350" dirty="0">
                        <a:latin typeface="Arial" charset="0"/>
                        <a:ea typeface="Arial" charset="0"/>
                        <a:cs typeface="Arial" charset="0"/>
                      </a:endParaRPr>
                    </a:p>
                  </a:txBody>
                  <a:tcPr marL="127000" marR="127000" marT="38100" marB="38100" anchor="ctr">
                    <a:lnL w="0" cap="flat" cmpd="sng" algn="ctr">
                      <a:noFill/>
                    </a:lnL>
                    <a:lnR w="0" cap="flat" cmpd="sng" algn="ctr">
                      <a:noFill/>
                    </a:lnR>
                    <a:lnT w="0" cap="flat" cmpd="sng" algn="ctr">
                      <a:noFill/>
                    </a:lnT>
                    <a:lnB w="9525" cap="flat" cmpd="sng" algn="ctr">
                      <a:solidFill>
                        <a:srgbClr val="263244"/>
                      </a:solidFill>
                      <a:prstDash val="solid"/>
                      <a:round/>
                      <a:headEnd type="none" w="med" len="med"/>
                      <a:tailEnd type="none" w="med" len="med"/>
                    </a:lnB>
                  </a:tcPr>
                </a:tc>
              </a:tr>
              <a:tr h="457200">
                <a:tc>
                  <a:txBody>
                    <a:bodyPr/>
                    <a:lstStyle/>
                    <a:p>
                      <a:pPr indent="0" marL="0">
                        <a:buNone/>
                      </a:pPr>
                      <a:r>
                        <a:rPr lang="en-US" sz="1350" dirty="0">
                          <a:solidFill>
                            <a:srgbClr val="AAB5C3"/>
                          </a:solidFill>
                          <a:latin typeface="Arial" pitchFamily="34" charset="0"/>
                          <a:ea typeface="Arial" pitchFamily="34" charset="-122"/>
                          <a:cs typeface="Arial" pitchFamily="34" charset="-120"/>
                        </a:rPr>
                        <a:t>Spring Security</a:t>
                      </a:r>
                      <a:endParaRPr lang="en-US" sz="1350" dirty="0">
                        <a:latin typeface="Arial" charset="0"/>
                        <a:ea typeface="Arial" charset="0"/>
                        <a:cs typeface="Arial" charset="0"/>
                      </a:endParaRPr>
                    </a:p>
                  </a:txBody>
                  <a:tcPr marL="127000" marR="127000" marT="38100" marB="38100" anchor="ctr">
                    <a:lnL w="0" cap="flat" cmpd="sng" algn="ctr">
                      <a:noFill/>
                    </a:lnL>
                    <a:lnR w="0" cap="flat" cmpd="sng" algn="ctr">
                      <a:noFill/>
                    </a:lnR>
                    <a:lnT w="0" cap="flat" cmpd="sng" algn="ctr">
                      <a:noFill/>
                    </a:lnT>
                    <a:lnB w="9525" cap="flat" cmpd="sng" algn="ctr">
                      <a:solidFill>
                        <a:srgbClr val="263244"/>
                      </a:solidFill>
                      <a:prstDash val="solid"/>
                      <a:round/>
                      <a:headEnd type="none" w="med" len="med"/>
                      <a:tailEnd type="none" w="med" len="med"/>
                    </a:lnB>
                  </a:tcPr>
                </a:tc>
                <a:tc>
                  <a:txBody>
                    <a:bodyPr/>
                    <a:lstStyle/>
                    <a:p>
                      <a:pPr indent="0" marL="0">
                        <a:buNone/>
                      </a:pPr>
                      <a:r>
                        <a:rPr lang="en-US" sz="1350" dirty="0">
                          <a:solidFill>
                            <a:srgbClr val="AAB5C3"/>
                          </a:solidFill>
                          <a:latin typeface="Consolas" pitchFamily="34" charset="0"/>
                          <a:ea typeface="Consolas" pitchFamily="34" charset="-122"/>
                          <a:cs typeface="Consolas" pitchFamily="34" charset="-120"/>
                        </a:rPr>
                        <a:t>5.3.13</a:t>
                      </a:r>
                      <a:endParaRPr lang="en-US" sz="1350" dirty="0">
                        <a:latin typeface="Consolas" charset="0"/>
                        <a:ea typeface="Consolas" charset="0"/>
                        <a:cs typeface="Consolas" charset="0"/>
                      </a:endParaRPr>
                    </a:p>
                  </a:txBody>
                  <a:tcPr marL="127000" marR="127000" marT="38100" marB="38100" anchor="ctr">
                    <a:lnL w="0" cap="flat" cmpd="sng" algn="ctr">
                      <a:noFill/>
                    </a:lnL>
                    <a:lnR w="0" cap="flat" cmpd="sng" algn="ctr">
                      <a:noFill/>
                    </a:lnR>
                    <a:lnT w="0" cap="flat" cmpd="sng" algn="ctr">
                      <a:noFill/>
                    </a:lnT>
                    <a:lnB w="9525" cap="flat" cmpd="sng" algn="ctr">
                      <a:solidFill>
                        <a:srgbClr val="263244"/>
                      </a:solidFill>
                      <a:prstDash val="solid"/>
                      <a:round/>
                      <a:headEnd type="none" w="med" len="med"/>
                      <a:tailEnd type="none" w="med" len="med"/>
                    </a:lnB>
                  </a:tcPr>
                </a:tc>
                <a:tc>
                  <a:txBody>
                    <a:bodyPr/>
                    <a:lstStyle/>
                    <a:p>
                      <a:pPr indent="0" marL="0">
                        <a:buNone/>
                      </a:pPr>
                      <a:r>
                        <a:rPr lang="en-US" sz="1350" b="1" dirty="0">
                          <a:solidFill>
                            <a:srgbClr val="F3F5F8"/>
                          </a:solidFill>
                          <a:latin typeface="Arial" pitchFamily="34" charset="0"/>
                          <a:ea typeface="Arial" pitchFamily="34" charset="-122"/>
                          <a:cs typeface="Arial" pitchFamily="34" charset="-120"/>
                        </a:rPr>
                        <a:t>6.3</a:t>
                      </a:r>
                      <a:endParaRPr lang="en-US" sz="1350" dirty="0">
                        <a:latin typeface="Arial" charset="0"/>
                        <a:ea typeface="Arial" charset="0"/>
                        <a:cs typeface="Arial" charset="0"/>
                      </a:endParaRPr>
                    </a:p>
                  </a:txBody>
                  <a:tcPr marL="127000" marR="127000" marT="38100" marB="38100" anchor="ctr">
                    <a:lnL w="0" cap="flat" cmpd="sng" algn="ctr">
                      <a:noFill/>
                    </a:lnL>
                    <a:lnR w="0" cap="flat" cmpd="sng" algn="ctr">
                      <a:noFill/>
                    </a:lnR>
                    <a:lnT w="0" cap="flat" cmpd="sng" algn="ctr">
                      <a:noFill/>
                    </a:lnT>
                    <a:lnB w="9525" cap="flat" cmpd="sng" algn="ctr">
                      <a:solidFill>
                        <a:srgbClr val="263244"/>
                      </a:solidFill>
                      <a:prstDash val="solid"/>
                      <a:round/>
                      <a:headEnd type="none" w="med" len="med"/>
                      <a:tailEnd type="none" w="med" len="med"/>
                    </a:lnB>
                  </a:tcPr>
                </a:tc>
              </a:tr>
              <a:tr h="457200">
                <a:tc>
                  <a:txBody>
                    <a:bodyPr/>
                    <a:lstStyle/>
                    <a:p>
                      <a:pPr indent="0" marL="0">
                        <a:buNone/>
                      </a:pPr>
                      <a:r>
                        <a:rPr lang="en-US" sz="1350" dirty="0">
                          <a:solidFill>
                            <a:srgbClr val="AAB5C3"/>
                          </a:solidFill>
                          <a:latin typeface="Arial" pitchFamily="34" charset="0"/>
                          <a:ea typeface="Arial" pitchFamily="34" charset="-122"/>
                          <a:cs typeface="Arial" pitchFamily="34" charset="-120"/>
                        </a:rPr>
                        <a:t>Struts 2</a:t>
                      </a:r>
                      <a:endParaRPr lang="en-US" sz="1350" dirty="0">
                        <a:latin typeface="Arial" charset="0"/>
                        <a:ea typeface="Arial" charset="0"/>
                        <a:cs typeface="Arial" charset="0"/>
                      </a:endParaRPr>
                    </a:p>
                  </a:txBody>
                  <a:tcPr marL="127000" marR="127000" marT="38100" marB="38100" anchor="ctr">
                    <a:lnL w="0" cap="flat" cmpd="sng" algn="ctr">
                      <a:noFill/>
                    </a:lnL>
                    <a:lnR w="0" cap="flat" cmpd="sng" algn="ctr">
                      <a:noFill/>
                    </a:lnR>
                    <a:lnT w="0" cap="flat" cmpd="sng" algn="ctr">
                      <a:noFill/>
                    </a:lnT>
                    <a:lnB w="9525" cap="flat" cmpd="sng" algn="ctr">
                      <a:solidFill>
                        <a:srgbClr val="263244"/>
                      </a:solidFill>
                      <a:prstDash val="solid"/>
                      <a:round/>
                      <a:headEnd type="none" w="med" len="med"/>
                      <a:tailEnd type="none" w="med" len="med"/>
                    </a:lnB>
                  </a:tcPr>
                </a:tc>
                <a:tc>
                  <a:txBody>
                    <a:bodyPr/>
                    <a:lstStyle/>
                    <a:p>
                      <a:pPr indent="0" marL="0">
                        <a:buNone/>
                      </a:pPr>
                      <a:r>
                        <a:rPr lang="en-US" sz="1350" dirty="0">
                          <a:solidFill>
                            <a:srgbClr val="AAB5C3"/>
                          </a:solidFill>
                          <a:latin typeface="Consolas" pitchFamily="34" charset="0"/>
                          <a:ea typeface="Consolas" pitchFamily="34" charset="-122"/>
                          <a:cs typeface="Consolas" pitchFamily="34" charset="-120"/>
                        </a:rPr>
                        <a:t>6.8.0</a:t>
                      </a:r>
                      <a:endParaRPr lang="en-US" sz="1350" dirty="0">
                        <a:latin typeface="Consolas" charset="0"/>
                        <a:ea typeface="Consolas" charset="0"/>
                        <a:cs typeface="Consolas" charset="0"/>
                      </a:endParaRPr>
                    </a:p>
                  </a:txBody>
                  <a:tcPr marL="127000" marR="127000" marT="38100" marB="38100" anchor="ctr">
                    <a:lnL w="0" cap="flat" cmpd="sng" algn="ctr">
                      <a:noFill/>
                    </a:lnL>
                    <a:lnR w="0" cap="flat" cmpd="sng" algn="ctr">
                      <a:noFill/>
                    </a:lnR>
                    <a:lnT w="0" cap="flat" cmpd="sng" algn="ctr">
                      <a:noFill/>
                    </a:lnT>
                    <a:lnB w="9525" cap="flat" cmpd="sng" algn="ctr">
                      <a:solidFill>
                        <a:srgbClr val="263244"/>
                      </a:solidFill>
                      <a:prstDash val="solid"/>
                      <a:round/>
                      <a:headEnd type="none" w="med" len="med"/>
                      <a:tailEnd type="none" w="med" len="med"/>
                    </a:lnB>
                  </a:tcPr>
                </a:tc>
                <a:tc>
                  <a:txBody>
                    <a:bodyPr/>
                    <a:lstStyle/>
                    <a:p>
                      <a:pPr indent="0" marL="0">
                        <a:buNone/>
                      </a:pPr>
                      <a:r>
                        <a:rPr lang="en-US" sz="1350" b="1" dirty="0">
                          <a:solidFill>
                            <a:srgbClr val="F3F5F8"/>
                          </a:solidFill>
                          <a:latin typeface="Arial" pitchFamily="34" charset="0"/>
                          <a:ea typeface="Arial" pitchFamily="34" charset="-122"/>
                          <a:cs typeface="Arial" pitchFamily="34" charset="-120"/>
                        </a:rPr>
                        <a:t>7</a:t>
                      </a:r>
                      <a:endParaRPr lang="en-US" sz="1350" dirty="0">
                        <a:latin typeface="Arial" charset="0"/>
                        <a:ea typeface="Arial" charset="0"/>
                        <a:cs typeface="Arial" charset="0"/>
                      </a:endParaRPr>
                    </a:p>
                  </a:txBody>
                  <a:tcPr marL="127000" marR="127000" marT="38100" marB="38100" anchor="ctr">
                    <a:lnL w="0" cap="flat" cmpd="sng" algn="ctr">
                      <a:noFill/>
                    </a:lnL>
                    <a:lnR w="0" cap="flat" cmpd="sng" algn="ctr">
                      <a:noFill/>
                    </a:lnR>
                    <a:lnT w="0" cap="flat" cmpd="sng" algn="ctr">
                      <a:noFill/>
                    </a:lnT>
                    <a:lnB w="9525" cap="flat" cmpd="sng" algn="ctr">
                      <a:solidFill>
                        <a:srgbClr val="263244"/>
                      </a:solidFill>
                      <a:prstDash val="solid"/>
                      <a:round/>
                      <a:headEnd type="none" w="med" len="med"/>
                      <a:tailEnd type="none" w="med" len="med"/>
                    </a:lnB>
                  </a:tcPr>
                </a:tc>
              </a:tr>
              <a:tr h="457200">
                <a:tc>
                  <a:txBody>
                    <a:bodyPr/>
                    <a:lstStyle/>
                    <a:p>
                      <a:pPr indent="0" marL="0">
                        <a:buNone/>
                      </a:pPr>
                      <a:r>
                        <a:rPr lang="en-US" sz="1350" dirty="0">
                          <a:solidFill>
                            <a:srgbClr val="AAB5C3"/>
                          </a:solidFill>
                          <a:latin typeface="Arial" pitchFamily="34" charset="0"/>
                          <a:ea typeface="Arial" pitchFamily="34" charset="-122"/>
                          <a:cs typeface="Arial" pitchFamily="34" charset="-120"/>
                        </a:rPr>
                        <a:t>Tests</a:t>
                      </a:r>
                      <a:endParaRPr lang="en-US" sz="1350" dirty="0">
                        <a:latin typeface="Arial" charset="0"/>
                        <a:ea typeface="Arial" charset="0"/>
                        <a:cs typeface="Arial" charset="0"/>
                      </a:endParaRPr>
                    </a:p>
                  </a:txBody>
                  <a:tcPr marL="127000" marR="127000" marT="38100" marB="38100" anchor="ctr">
                    <a:lnL w="0" cap="flat" cmpd="sng" algn="ctr">
                      <a:noFill/>
                    </a:lnL>
                    <a:lnR w="0" cap="flat" cmpd="sng" algn="ctr">
                      <a:noFill/>
                    </a:lnR>
                    <a:lnT w="0" cap="flat" cmpd="sng" algn="ctr">
                      <a:noFill/>
                    </a:lnT>
                    <a:lnB w="9525" cap="flat" cmpd="sng" algn="ctr">
                      <a:solidFill>
                        <a:srgbClr val="263244"/>
                      </a:solidFill>
                      <a:prstDash val="solid"/>
                      <a:round/>
                      <a:headEnd type="none" w="med" len="med"/>
                      <a:tailEnd type="none" w="med" len="med"/>
                    </a:lnB>
                  </a:tcPr>
                </a:tc>
                <a:tc>
                  <a:txBody>
                    <a:bodyPr/>
                    <a:lstStyle/>
                    <a:p>
                      <a:pPr indent="0" marL="0">
                        <a:buNone/>
                      </a:pPr>
                      <a:r>
                        <a:rPr lang="en-US" sz="1350" dirty="0">
                          <a:solidFill>
                            <a:srgbClr val="AAB5C3"/>
                          </a:solidFill>
                          <a:latin typeface="Consolas" pitchFamily="34" charset="0"/>
                          <a:ea typeface="Consolas" pitchFamily="34" charset="-122"/>
                          <a:cs typeface="Consolas" pitchFamily="34" charset="-120"/>
                        </a:rPr>
                        <a:t>JUnit 4.12</a:t>
                      </a:r>
                      <a:endParaRPr lang="en-US" sz="1350" dirty="0">
                        <a:latin typeface="Consolas" charset="0"/>
                        <a:ea typeface="Consolas" charset="0"/>
                        <a:cs typeface="Consolas" charset="0"/>
                      </a:endParaRPr>
                    </a:p>
                  </a:txBody>
                  <a:tcPr marL="127000" marR="127000" marT="38100" marB="38100" anchor="ctr">
                    <a:lnL w="0" cap="flat" cmpd="sng" algn="ctr">
                      <a:noFill/>
                    </a:lnL>
                    <a:lnR w="0" cap="flat" cmpd="sng" algn="ctr">
                      <a:noFill/>
                    </a:lnR>
                    <a:lnT w="0" cap="flat" cmpd="sng" algn="ctr">
                      <a:noFill/>
                    </a:lnT>
                    <a:lnB w="9525" cap="flat" cmpd="sng" algn="ctr">
                      <a:solidFill>
                        <a:srgbClr val="263244"/>
                      </a:solidFill>
                      <a:prstDash val="solid"/>
                      <a:round/>
                      <a:headEnd type="none" w="med" len="med"/>
                      <a:tailEnd type="none" w="med" len="med"/>
                    </a:lnB>
                  </a:tcPr>
                </a:tc>
                <a:tc>
                  <a:txBody>
                    <a:bodyPr/>
                    <a:lstStyle/>
                    <a:p>
                      <a:pPr indent="0" marL="0">
                        <a:buNone/>
                      </a:pPr>
                      <a:r>
                        <a:rPr lang="en-US" sz="1350" b="1" dirty="0">
                          <a:solidFill>
                            <a:srgbClr val="F3F5F8"/>
                          </a:solidFill>
                          <a:latin typeface="Arial" pitchFamily="34" charset="0"/>
                          <a:ea typeface="Arial" pitchFamily="34" charset="-122"/>
                          <a:cs typeface="Arial" pitchFamily="34" charset="-120"/>
                        </a:rPr>
                        <a:t>JUnit 5 + Mockito 5</a:t>
                      </a:r>
                      <a:endParaRPr lang="en-US" sz="1350" dirty="0">
                        <a:latin typeface="Arial" charset="0"/>
                        <a:ea typeface="Arial" charset="0"/>
                        <a:cs typeface="Arial" charset="0"/>
                      </a:endParaRPr>
                    </a:p>
                  </a:txBody>
                  <a:tcPr marL="127000" marR="127000" marT="38100" marB="38100" anchor="ctr">
                    <a:lnL w="0" cap="flat" cmpd="sng" algn="ctr">
                      <a:noFill/>
                    </a:lnL>
                    <a:lnR w="0" cap="flat" cmpd="sng" algn="ctr">
                      <a:noFill/>
                    </a:lnR>
                    <a:lnT w="0" cap="flat" cmpd="sng" algn="ctr">
                      <a:noFill/>
                    </a:lnT>
                    <a:lnB w="9525" cap="flat" cmpd="sng" algn="ctr">
                      <a:solidFill>
                        <a:srgbClr val="263244"/>
                      </a:solidFill>
                      <a:prstDash val="solid"/>
                      <a:round/>
                      <a:headEnd type="none" w="med" len="med"/>
                      <a:tailEnd type="none" w="med" len="med"/>
                    </a:lnB>
                  </a:tcPr>
                </a:tc>
              </a:tr>
              <a:tr h="457200">
                <a:tc>
                  <a:txBody>
                    <a:bodyPr/>
                    <a:lstStyle/>
                    <a:p>
                      <a:pPr indent="0" marL="0">
                        <a:buNone/>
                      </a:pPr>
                      <a:r>
                        <a:rPr lang="en-US" sz="1350" dirty="0">
                          <a:solidFill>
                            <a:srgbClr val="AAB5C3"/>
                          </a:solidFill>
                          <a:latin typeface="Arial" pitchFamily="34" charset="0"/>
                          <a:ea typeface="Arial" pitchFamily="34" charset="-122"/>
                          <a:cs typeface="Arial" pitchFamily="34" charset="-120"/>
                        </a:rPr>
                        <a:t>Runtime</a:t>
                      </a:r>
                      <a:endParaRPr lang="en-US" sz="1350" dirty="0">
                        <a:latin typeface="Arial" charset="0"/>
                        <a:ea typeface="Arial" charset="0"/>
                        <a:cs typeface="Arial" charset="0"/>
                      </a:endParaRPr>
                    </a:p>
                  </a:txBody>
                  <a:tcPr marL="127000" marR="127000" marT="38100" marB="38100" anchor="ctr">
                    <a:lnL w="0" cap="flat" cmpd="sng" algn="ctr">
                      <a:noFill/>
                    </a:lnL>
                    <a:lnR w="0" cap="flat" cmpd="sng" algn="ctr">
                      <a:noFill/>
                    </a:lnR>
                    <a:lnT w="0" cap="flat" cmpd="sng" algn="ctr">
                      <a:noFill/>
                    </a:lnT>
                    <a:lnB w="9525" cap="flat" cmpd="sng" algn="ctr">
                      <a:solidFill>
                        <a:srgbClr val="263244"/>
                      </a:solidFill>
                      <a:prstDash val="solid"/>
                      <a:round/>
                      <a:headEnd type="none" w="med" len="med"/>
                      <a:tailEnd type="none" w="med" len="med"/>
                    </a:lnB>
                  </a:tcPr>
                </a:tc>
                <a:tc>
                  <a:txBody>
                    <a:bodyPr/>
                    <a:lstStyle/>
                    <a:p>
                      <a:pPr indent="0" marL="0">
                        <a:buNone/>
                      </a:pPr>
                      <a:r>
                        <a:rPr lang="en-US" sz="1350" dirty="0">
                          <a:solidFill>
                            <a:srgbClr val="AAB5C3"/>
                          </a:solidFill>
                          <a:latin typeface="Consolas" pitchFamily="34" charset="0"/>
                          <a:ea typeface="Consolas" pitchFamily="34" charset="-122"/>
                          <a:cs typeface="Consolas" pitchFamily="34" charset="-120"/>
                        </a:rPr>
                        <a:t>Liberty · Java 8</a:t>
                      </a:r>
                      <a:endParaRPr lang="en-US" sz="1350" dirty="0">
                        <a:latin typeface="Consolas" charset="0"/>
                        <a:ea typeface="Consolas" charset="0"/>
                        <a:cs typeface="Consolas" charset="0"/>
                      </a:endParaRPr>
                    </a:p>
                  </a:txBody>
                  <a:tcPr marL="127000" marR="127000" marT="38100" marB="38100" anchor="ctr">
                    <a:lnL w="0" cap="flat" cmpd="sng" algn="ctr">
                      <a:noFill/>
                    </a:lnL>
                    <a:lnR w="0" cap="flat" cmpd="sng" algn="ctr">
                      <a:noFill/>
                    </a:lnR>
                    <a:lnT w="0" cap="flat" cmpd="sng" algn="ctr">
                      <a:noFill/>
                    </a:lnT>
                    <a:lnB w="9525" cap="flat" cmpd="sng" algn="ctr">
                      <a:solidFill>
                        <a:srgbClr val="263244"/>
                      </a:solidFill>
                      <a:prstDash val="solid"/>
                      <a:round/>
                      <a:headEnd type="none" w="med" len="med"/>
                      <a:tailEnd type="none" w="med" len="med"/>
                    </a:lnB>
                  </a:tcPr>
                </a:tc>
                <a:tc>
                  <a:txBody>
                    <a:bodyPr/>
                    <a:lstStyle/>
                    <a:p>
                      <a:pPr indent="0" marL="0">
                        <a:buNone/>
                      </a:pPr>
                      <a:r>
                        <a:rPr lang="en-US" sz="1350" b="1" dirty="0">
                          <a:solidFill>
                            <a:srgbClr val="F3F5F8"/>
                          </a:solidFill>
                          <a:latin typeface="Arial" pitchFamily="34" charset="0"/>
                          <a:ea typeface="Arial" pitchFamily="34" charset="-122"/>
                          <a:cs typeface="Arial" pitchFamily="34" charset="-120"/>
                        </a:rPr>
                        <a:t>Liberty · Jakarta EE 10</a:t>
                      </a:r>
                      <a:endParaRPr lang="en-US" sz="1350" dirty="0">
                        <a:latin typeface="Arial" charset="0"/>
                        <a:ea typeface="Arial" charset="0"/>
                        <a:cs typeface="Arial" charset="0"/>
                      </a:endParaRPr>
                    </a:p>
                  </a:txBody>
                  <a:tcPr marL="127000" marR="127000" marT="38100" marB="38100" anchor="ctr">
                    <a:lnL w="0" cap="flat" cmpd="sng" algn="ctr">
                      <a:noFill/>
                    </a:lnL>
                    <a:lnR w="0" cap="flat" cmpd="sng" algn="ctr">
                      <a:noFill/>
                    </a:lnR>
                    <a:lnT w="0" cap="flat" cmpd="sng" algn="ctr">
                      <a:noFill/>
                    </a:lnT>
                    <a:lnB w="9525" cap="flat" cmpd="sng" algn="ctr">
                      <a:solidFill>
                        <a:srgbClr val="263244"/>
                      </a:solidFill>
                      <a:prstDash val="solid"/>
                      <a:round/>
                      <a:headEnd type="none" w="med" len="med"/>
                      <a:tailEnd type="none" w="med" len="med"/>
                    </a:lnB>
                  </a:tcPr>
                </a:tc>
              </a:tr>
            </a:tbl>
          </a:graphicData>
        </a:graphic>
      </p:graphicFrame>
      <p:sp>
        <p:nvSpPr>
          <p:cNvPr id="24" name="Text 21"/>
          <p:cNvSpPr txBox="1"/>
          <p:nvPr/>
        </p:nvSpPr>
        <p:spPr>
          <a:xfrm>
            <a:off x="548640" y="6455664"/>
            <a:ext cx="5486400" cy="219456"/>
          </a:xfrm>
          <a:prstGeom prst="rect">
            <a:avLst/>
          </a:prstGeom>
          <a:noFill/>
          <a:ln/>
        </p:spPr>
        <p:txBody>
          <a:bodyPr wrap="square" lIns="0" tIns="0" rIns="0" bIns="0" rtlCol="0" anchor="t"/>
          <a:lstStyle/>
          <a:p>
            <a:pPr indent="0" marL="0">
              <a:buNone/>
            </a:pPr>
            <a:r>
              <a:rPr lang="en-US" sz="900" dirty="0">
                <a:solidFill>
                  <a:srgbClr val="738191"/>
                </a:solidFill>
                <a:latin typeface="Arial" pitchFamily="34" charset="0"/>
                <a:ea typeface="Arial" pitchFamily="34" charset="-122"/>
                <a:cs typeface="Arial" pitchFamily="34" charset="-120"/>
              </a:rPr>
              <a:t>FORGE  ·  Software Development Conference 2026</a:t>
            </a:r>
            <a:endParaRPr lang="en-US" sz="900" dirty="0"/>
          </a:p>
        </p:txBody>
      </p:sp>
      <p:sp>
        <p:nvSpPr>
          <p:cNvPr id="25" name="Text 22"/>
          <p:cNvSpPr txBox="1"/>
          <p:nvPr/>
        </p:nvSpPr>
        <p:spPr>
          <a:xfrm>
            <a:off x="11094415" y="6455664"/>
            <a:ext cx="548640" cy="219456"/>
          </a:xfrm>
          <a:prstGeom prst="rect">
            <a:avLst/>
          </a:prstGeom>
          <a:noFill/>
          <a:ln/>
        </p:spPr>
        <p:txBody>
          <a:bodyPr wrap="square" lIns="0" tIns="0" rIns="0" bIns="0" rtlCol="0" anchor="t"/>
          <a:lstStyle/>
          <a:p>
            <a:pPr algn="r" indent="0" marL="0">
              <a:buNone/>
            </a:pPr>
            <a:r>
              <a:rPr lang="en-US" sz="900" dirty="0">
                <a:solidFill>
                  <a:srgbClr val="738191"/>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t"/>
          <a:lstStyle/>
          <a:p>
            <a:pPr indent="0" marL="0">
              <a:buNone/>
            </a:pPr>
            <a:r>
              <a:rPr lang="en-US" sz="1100" b="1" spc="300" kern="0" dirty="0">
                <a:solidFill>
                  <a:srgbClr val="FF6A2B"/>
                </a:solidFill>
                <a:latin typeface="Arial" pitchFamily="34" charset="0"/>
                <a:ea typeface="Arial" pitchFamily="34" charset="-122"/>
                <a:cs typeface="Arial" pitchFamily="34" charset="-120"/>
              </a:rPr>
              <a:t>01  ·  THE PROBLEM</a:t>
            </a:r>
            <a:endParaRPr lang="en-US" sz="1100" dirty="0"/>
          </a:p>
        </p:txBody>
      </p:sp>
      <p:sp>
        <p:nvSpPr>
          <p:cNvPr id="3" name="Text 1"/>
          <p:cNvSpPr txBox="1"/>
          <p:nvPr/>
        </p:nvSpPr>
        <p:spPr>
          <a:xfrm>
            <a:off x="548640" y="676656"/>
            <a:ext cx="11094415" cy="658368"/>
          </a:xfrm>
          <a:prstGeom prst="rect">
            <a:avLst/>
          </a:prstGeom>
          <a:noFill/>
          <a:ln/>
        </p:spPr>
        <p:txBody>
          <a:bodyPr wrap="square" lIns="0" tIns="0" rIns="0" bIns="0" rtlCol="0" anchor="t"/>
          <a:lstStyle/>
          <a:p>
            <a:pPr indent="0" marL="0">
              <a:buNone/>
            </a:pPr>
            <a:r>
              <a:rPr lang="en-US" sz="3200" b="1" dirty="0">
                <a:solidFill>
                  <a:srgbClr val="F3F5F8"/>
                </a:solidFill>
                <a:latin typeface="Arial" pitchFamily="34" charset="0"/>
                <a:ea typeface="Arial" pitchFamily="34" charset="-122"/>
                <a:cs typeface="Arial" pitchFamily="34" charset="-120"/>
              </a:rPr>
              <a:t>Not find-and-replace: ten transitions, one order</a:t>
            </a:r>
            <a:endParaRPr lang="en-US" sz="3200" dirty="0"/>
          </a:p>
        </p:txBody>
      </p:sp>
      <p:sp>
        <p:nvSpPr>
          <p:cNvPr id="4" name="Text 2"/>
          <p:cNvSpPr txBox="1"/>
          <p:nvPr/>
        </p:nvSpPr>
        <p:spPr>
          <a:xfrm>
            <a:off x="548640" y="1316736"/>
            <a:ext cx="10607040" cy="512064"/>
          </a:xfrm>
          <a:prstGeom prst="rect">
            <a:avLst/>
          </a:prstGeom>
          <a:noFill/>
          <a:ln/>
        </p:spPr>
        <p:txBody>
          <a:bodyPr wrap="square" lIns="0" tIns="0" rIns="0" bIns="0" rtlCol="0" anchor="t"/>
          <a:lstStyle/>
          <a:p>
            <a:pPr indent="0" marL="0">
              <a:lnSpc>
                <a:spcPct val="105000"/>
              </a:lnSpc>
              <a:buNone/>
            </a:pPr>
            <a:r>
              <a:rPr lang="en-US" sz="1500" dirty="0">
                <a:solidFill>
                  <a:srgbClr val="AAB5C3"/>
                </a:solidFill>
                <a:latin typeface="Arial" pitchFamily="34" charset="0"/>
                <a:ea typeface="Arial" pitchFamily="34" charset="-122"/>
                <a:cs typeface="Arial" pitchFamily="34" charset="-120"/>
              </a:rPr>
              <a:t>Each step changes the ground under the next, so every pack has to build on the output of the one before it.</a:t>
            </a:r>
            <a:endParaRPr lang="en-US" sz="1500" dirty="0"/>
          </a:p>
        </p:txBody>
      </p:sp>
      <p:sp>
        <p:nvSpPr>
          <p:cNvPr id="5" name="Shape 3"/>
          <p:cNvSpPr/>
          <p:nvPr/>
        </p:nvSpPr>
        <p:spPr>
          <a:xfrm>
            <a:off x="548640" y="2057400"/>
            <a:ext cx="2011680" cy="960120"/>
          </a:xfrm>
          <a:prstGeom prst="roundRect">
            <a:avLst>
              <a:gd name="adj" fmla="val 11429"/>
            </a:avLst>
          </a:prstGeom>
          <a:solidFill>
            <a:srgbClr val="121821">
              <a:alpha val="96000"/>
            </a:srgbClr>
          </a:solidFill>
          <a:ln w="9525">
            <a:solidFill>
              <a:srgbClr val="263244"/>
            </a:solidFill>
            <a:prstDash val="solid"/>
          </a:ln>
        </p:spPr>
      </p:sp>
      <p:sp>
        <p:nvSpPr>
          <p:cNvPr id="6" name="Text 4"/>
          <p:cNvSpPr txBox="1"/>
          <p:nvPr/>
        </p:nvSpPr>
        <p:spPr>
          <a:xfrm>
            <a:off x="713232" y="2185416"/>
            <a:ext cx="457200" cy="256032"/>
          </a:xfrm>
          <a:prstGeom prst="rect">
            <a:avLst/>
          </a:prstGeom>
          <a:noFill/>
          <a:ln/>
        </p:spPr>
        <p:txBody>
          <a:bodyPr wrap="square" lIns="0" tIns="0" rIns="0" bIns="0" rtlCol="0" anchor="t"/>
          <a:lstStyle/>
          <a:p>
            <a:pPr indent="0" marL="0">
              <a:buNone/>
            </a:pPr>
            <a:r>
              <a:rPr lang="en-US" sz="1200" b="1" dirty="0">
                <a:solidFill>
                  <a:srgbClr val="FF6A2B"/>
                </a:solidFill>
                <a:latin typeface="Arial" pitchFamily="34" charset="0"/>
                <a:ea typeface="Arial" pitchFamily="34" charset="-122"/>
                <a:cs typeface="Arial" pitchFamily="34" charset="-120"/>
              </a:rPr>
              <a:t>01</a:t>
            </a:r>
            <a:endParaRPr lang="en-US" sz="1200" dirty="0"/>
          </a:p>
        </p:txBody>
      </p:sp>
      <p:sp>
        <p:nvSpPr>
          <p:cNvPr id="7" name="Text 5"/>
          <p:cNvSpPr txBox="1"/>
          <p:nvPr/>
        </p:nvSpPr>
        <p:spPr>
          <a:xfrm>
            <a:off x="713232" y="2404872"/>
            <a:ext cx="1737360" cy="310896"/>
          </a:xfrm>
          <a:prstGeom prst="rect">
            <a:avLst/>
          </a:prstGeom>
          <a:noFill/>
          <a:ln/>
        </p:spPr>
        <p:txBody>
          <a:bodyPr wrap="square" lIns="0" tIns="0" rIns="0" bIns="0" rtlCol="0" anchor="t"/>
          <a:lstStyle/>
          <a:p>
            <a:pPr indent="0" marL="0">
              <a:buNone/>
            </a:pPr>
            <a:r>
              <a:rPr lang="en-US" sz="1450" b="1" dirty="0">
                <a:solidFill>
                  <a:srgbClr val="F3F5F8"/>
                </a:solidFill>
                <a:latin typeface="Arial" pitchFamily="34" charset="0"/>
                <a:ea typeface="Arial" pitchFamily="34" charset="-122"/>
                <a:cs typeface="Arial" pitchFamily="34" charset="-120"/>
              </a:rPr>
              <a:t>Maven build</a:t>
            </a:r>
            <a:endParaRPr lang="en-US" sz="1450" dirty="0"/>
          </a:p>
        </p:txBody>
      </p:sp>
      <p:sp>
        <p:nvSpPr>
          <p:cNvPr id="8" name="Text 6"/>
          <p:cNvSpPr txBox="1"/>
          <p:nvPr/>
        </p:nvSpPr>
        <p:spPr>
          <a:xfrm>
            <a:off x="713232" y="2724912"/>
            <a:ext cx="1810512" cy="219456"/>
          </a:xfrm>
          <a:prstGeom prst="rect">
            <a:avLst/>
          </a:prstGeom>
          <a:noFill/>
          <a:ln/>
        </p:spPr>
        <p:txBody>
          <a:bodyPr wrap="square" lIns="0" tIns="0" rIns="0" bIns="0" rtlCol="0" anchor="t"/>
          <a:lstStyle/>
          <a:p>
            <a:pPr indent="0" marL="0">
              <a:buNone/>
            </a:pPr>
            <a:r>
              <a:rPr lang="en-US" sz="900" dirty="0">
                <a:solidFill>
                  <a:srgbClr val="738191"/>
                </a:solidFill>
                <a:latin typeface="Consolas" pitchFamily="34" charset="0"/>
                <a:ea typeface="Consolas" pitchFamily="34" charset="-122"/>
                <a:cs typeface="Consolas" pitchFamily="34" charset="-120"/>
              </a:rPr>
              <a:t>build-maven-modernize</a:t>
            </a:r>
            <a:endParaRPr lang="en-US" sz="900" dirty="0"/>
          </a:p>
        </p:txBody>
      </p:sp>
      <p:sp>
        <p:nvSpPr>
          <p:cNvPr id="9" name="Shape 7"/>
          <p:cNvSpPr/>
          <p:nvPr/>
        </p:nvSpPr>
        <p:spPr>
          <a:xfrm>
            <a:off x="2596896" y="2537460"/>
            <a:ext cx="185852" cy="0"/>
          </a:xfrm>
          <a:prstGeom prst="line">
            <a:avLst/>
          </a:prstGeom>
          <a:noFill/>
          <a:ln w="15875">
            <a:solidFill>
              <a:srgbClr val="FF6A2B"/>
            </a:solidFill>
            <a:prstDash val="solid"/>
            <a:tailEnd type="triangle"/>
          </a:ln>
        </p:spPr>
      </p:sp>
      <p:sp>
        <p:nvSpPr>
          <p:cNvPr id="10" name="Shape 8"/>
          <p:cNvSpPr/>
          <p:nvPr/>
        </p:nvSpPr>
        <p:spPr>
          <a:xfrm>
            <a:off x="2819324" y="2057400"/>
            <a:ext cx="2011680" cy="960120"/>
          </a:xfrm>
          <a:prstGeom prst="roundRect">
            <a:avLst>
              <a:gd name="adj" fmla="val 11429"/>
            </a:avLst>
          </a:prstGeom>
          <a:solidFill>
            <a:srgbClr val="121821">
              <a:alpha val="96000"/>
            </a:srgbClr>
          </a:solidFill>
          <a:ln w="9525">
            <a:solidFill>
              <a:srgbClr val="263244"/>
            </a:solidFill>
            <a:prstDash val="solid"/>
          </a:ln>
        </p:spPr>
      </p:sp>
      <p:sp>
        <p:nvSpPr>
          <p:cNvPr id="11" name="Text 9"/>
          <p:cNvSpPr txBox="1"/>
          <p:nvPr/>
        </p:nvSpPr>
        <p:spPr>
          <a:xfrm>
            <a:off x="2983916" y="2185416"/>
            <a:ext cx="457200" cy="256032"/>
          </a:xfrm>
          <a:prstGeom prst="rect">
            <a:avLst/>
          </a:prstGeom>
          <a:noFill/>
          <a:ln/>
        </p:spPr>
        <p:txBody>
          <a:bodyPr wrap="square" lIns="0" tIns="0" rIns="0" bIns="0" rtlCol="0" anchor="t"/>
          <a:lstStyle/>
          <a:p>
            <a:pPr indent="0" marL="0">
              <a:buNone/>
            </a:pPr>
            <a:r>
              <a:rPr lang="en-US" sz="1200" b="1" dirty="0">
                <a:solidFill>
                  <a:srgbClr val="FF6A2B"/>
                </a:solidFill>
                <a:latin typeface="Arial" pitchFamily="34" charset="0"/>
                <a:ea typeface="Arial" pitchFamily="34" charset="-122"/>
                <a:cs typeface="Arial" pitchFamily="34" charset="-120"/>
              </a:rPr>
              <a:t>02</a:t>
            </a:r>
            <a:endParaRPr lang="en-US" sz="1200" dirty="0"/>
          </a:p>
        </p:txBody>
      </p:sp>
      <p:sp>
        <p:nvSpPr>
          <p:cNvPr id="12" name="Text 10"/>
          <p:cNvSpPr txBox="1"/>
          <p:nvPr/>
        </p:nvSpPr>
        <p:spPr>
          <a:xfrm>
            <a:off x="2983916" y="2404872"/>
            <a:ext cx="1737360" cy="310896"/>
          </a:xfrm>
          <a:prstGeom prst="rect">
            <a:avLst/>
          </a:prstGeom>
          <a:noFill/>
          <a:ln/>
        </p:spPr>
        <p:txBody>
          <a:bodyPr wrap="square" lIns="0" tIns="0" rIns="0" bIns="0" rtlCol="0" anchor="t"/>
          <a:lstStyle/>
          <a:p>
            <a:pPr indent="0" marL="0">
              <a:buNone/>
            </a:pPr>
            <a:r>
              <a:rPr lang="en-US" sz="1450" b="1" dirty="0">
                <a:solidFill>
                  <a:srgbClr val="F3F5F8"/>
                </a:solidFill>
                <a:latin typeface="Arial" pitchFamily="34" charset="0"/>
                <a:ea typeface="Arial" pitchFamily="34" charset="-122"/>
                <a:cs typeface="Arial" pitchFamily="34" charset="-120"/>
              </a:rPr>
              <a:t>Java 21</a:t>
            </a:r>
            <a:endParaRPr lang="en-US" sz="1450" dirty="0"/>
          </a:p>
        </p:txBody>
      </p:sp>
      <p:sp>
        <p:nvSpPr>
          <p:cNvPr id="13" name="Text 11"/>
          <p:cNvSpPr txBox="1"/>
          <p:nvPr/>
        </p:nvSpPr>
        <p:spPr>
          <a:xfrm>
            <a:off x="2983916" y="2724912"/>
            <a:ext cx="1810512" cy="219456"/>
          </a:xfrm>
          <a:prstGeom prst="rect">
            <a:avLst/>
          </a:prstGeom>
          <a:noFill/>
          <a:ln/>
        </p:spPr>
        <p:txBody>
          <a:bodyPr wrap="square" lIns="0" tIns="0" rIns="0" bIns="0" rtlCol="0" anchor="t"/>
          <a:lstStyle/>
          <a:p>
            <a:pPr indent="0" marL="0">
              <a:buNone/>
            </a:pPr>
            <a:r>
              <a:rPr lang="en-US" sz="900" dirty="0">
                <a:solidFill>
                  <a:srgbClr val="738191"/>
                </a:solidFill>
                <a:latin typeface="Consolas" pitchFamily="34" charset="0"/>
                <a:ea typeface="Consolas" pitchFamily="34" charset="-122"/>
                <a:cs typeface="Consolas" pitchFamily="34" charset="-120"/>
              </a:rPr>
              <a:t>java8-to-java21</a:t>
            </a:r>
            <a:endParaRPr lang="en-US" sz="900" dirty="0"/>
          </a:p>
        </p:txBody>
      </p:sp>
      <p:sp>
        <p:nvSpPr>
          <p:cNvPr id="14" name="Shape 12"/>
          <p:cNvSpPr/>
          <p:nvPr/>
        </p:nvSpPr>
        <p:spPr>
          <a:xfrm>
            <a:off x="4867580" y="2537460"/>
            <a:ext cx="185852" cy="0"/>
          </a:xfrm>
          <a:prstGeom prst="line">
            <a:avLst/>
          </a:prstGeom>
          <a:noFill/>
          <a:ln w="15875">
            <a:solidFill>
              <a:srgbClr val="FF6A2B"/>
            </a:solidFill>
            <a:prstDash val="solid"/>
            <a:tailEnd type="triangle"/>
          </a:ln>
        </p:spPr>
      </p:sp>
      <p:sp>
        <p:nvSpPr>
          <p:cNvPr id="15" name="Shape 13"/>
          <p:cNvSpPr/>
          <p:nvPr/>
        </p:nvSpPr>
        <p:spPr>
          <a:xfrm>
            <a:off x="5090008" y="2057400"/>
            <a:ext cx="2011680" cy="960120"/>
          </a:xfrm>
          <a:prstGeom prst="roundRect">
            <a:avLst>
              <a:gd name="adj" fmla="val 11429"/>
            </a:avLst>
          </a:prstGeom>
          <a:solidFill>
            <a:srgbClr val="121821">
              <a:alpha val="96000"/>
            </a:srgbClr>
          </a:solidFill>
          <a:ln w="9525">
            <a:solidFill>
              <a:srgbClr val="263244"/>
            </a:solidFill>
            <a:prstDash val="solid"/>
          </a:ln>
        </p:spPr>
      </p:sp>
      <p:sp>
        <p:nvSpPr>
          <p:cNvPr id="16" name="Text 14"/>
          <p:cNvSpPr txBox="1"/>
          <p:nvPr/>
        </p:nvSpPr>
        <p:spPr>
          <a:xfrm>
            <a:off x="5254600" y="2185416"/>
            <a:ext cx="457200" cy="256032"/>
          </a:xfrm>
          <a:prstGeom prst="rect">
            <a:avLst/>
          </a:prstGeom>
          <a:noFill/>
          <a:ln/>
        </p:spPr>
        <p:txBody>
          <a:bodyPr wrap="square" lIns="0" tIns="0" rIns="0" bIns="0" rtlCol="0" anchor="t"/>
          <a:lstStyle/>
          <a:p>
            <a:pPr indent="0" marL="0">
              <a:buNone/>
            </a:pPr>
            <a:r>
              <a:rPr lang="en-US" sz="1200" b="1" dirty="0">
                <a:solidFill>
                  <a:srgbClr val="FF6A2B"/>
                </a:solidFill>
                <a:latin typeface="Arial" pitchFamily="34" charset="0"/>
                <a:ea typeface="Arial" pitchFamily="34" charset="-122"/>
                <a:cs typeface="Arial" pitchFamily="34" charset="-120"/>
              </a:rPr>
              <a:t>03</a:t>
            </a:r>
            <a:endParaRPr lang="en-US" sz="1200" dirty="0"/>
          </a:p>
        </p:txBody>
      </p:sp>
      <p:sp>
        <p:nvSpPr>
          <p:cNvPr id="17" name="Text 15"/>
          <p:cNvSpPr txBox="1"/>
          <p:nvPr/>
        </p:nvSpPr>
        <p:spPr>
          <a:xfrm>
            <a:off x="5254600" y="2404872"/>
            <a:ext cx="1737360" cy="310896"/>
          </a:xfrm>
          <a:prstGeom prst="rect">
            <a:avLst/>
          </a:prstGeom>
          <a:noFill/>
          <a:ln/>
        </p:spPr>
        <p:txBody>
          <a:bodyPr wrap="square" lIns="0" tIns="0" rIns="0" bIns="0" rtlCol="0" anchor="t"/>
          <a:lstStyle/>
          <a:p>
            <a:pPr indent="0" marL="0">
              <a:buNone/>
            </a:pPr>
            <a:r>
              <a:rPr lang="en-US" sz="1450" b="1" dirty="0">
                <a:solidFill>
                  <a:srgbClr val="F3F5F8"/>
                </a:solidFill>
                <a:latin typeface="Arial" pitchFamily="34" charset="0"/>
                <a:ea typeface="Arial" pitchFamily="34" charset="-122"/>
                <a:cs typeface="Arial" pitchFamily="34" charset="-120"/>
              </a:rPr>
              <a:t>javax </a:t>
            </a:r>
            <a:pPr indent="0" marL="0">
              <a:buNone/>
            </a:pPr>
            <a:r>
              <a:rPr lang="en-US" sz="1800" b="1" dirty="0">
                <a:solidFill>
                  <a:srgbClr val="AAB5C3"/>
                </a:solidFill>
                <a:latin typeface="Arial" pitchFamily="34" charset="0"/>
                <a:ea typeface="Arial" pitchFamily="34" charset="-122"/>
                <a:cs typeface="Arial" pitchFamily="34" charset="-120"/>
              </a:rPr>
              <a:t>→</a:t>
            </a:r>
            <a:pPr indent="0" marL="0">
              <a:buNone/>
            </a:pPr>
            <a:r>
              <a:rPr lang="en-US" sz="1450" b="1" dirty="0">
                <a:solidFill>
                  <a:srgbClr val="F3F5F8"/>
                </a:solidFill>
                <a:latin typeface="Arial" pitchFamily="34" charset="0"/>
                <a:ea typeface="Arial" pitchFamily="34" charset="-122"/>
                <a:cs typeface="Arial" pitchFamily="34" charset="-120"/>
              </a:rPr>
              <a:t> jakarta</a:t>
            </a:r>
            <a:endParaRPr lang="en-US" sz="1450" dirty="0"/>
          </a:p>
        </p:txBody>
      </p:sp>
      <p:sp>
        <p:nvSpPr>
          <p:cNvPr id="18" name="Text 16"/>
          <p:cNvSpPr txBox="1"/>
          <p:nvPr/>
        </p:nvSpPr>
        <p:spPr>
          <a:xfrm>
            <a:off x="5254600" y="2724912"/>
            <a:ext cx="1810512" cy="219456"/>
          </a:xfrm>
          <a:prstGeom prst="rect">
            <a:avLst/>
          </a:prstGeom>
          <a:noFill/>
          <a:ln/>
        </p:spPr>
        <p:txBody>
          <a:bodyPr wrap="square" lIns="0" tIns="0" rIns="0" bIns="0" rtlCol="0" anchor="t"/>
          <a:lstStyle/>
          <a:p>
            <a:pPr indent="0" marL="0">
              <a:buNone/>
            </a:pPr>
            <a:r>
              <a:rPr lang="en-US" sz="900" dirty="0">
                <a:solidFill>
                  <a:srgbClr val="738191"/>
                </a:solidFill>
                <a:latin typeface="Consolas" pitchFamily="34" charset="0"/>
                <a:ea typeface="Consolas" pitchFamily="34" charset="-122"/>
                <a:cs typeface="Consolas" pitchFamily="34" charset="-120"/>
              </a:rPr>
              <a:t>javax-to-jakarta</a:t>
            </a:r>
            <a:endParaRPr lang="en-US" sz="900" dirty="0"/>
          </a:p>
        </p:txBody>
      </p:sp>
      <p:sp>
        <p:nvSpPr>
          <p:cNvPr id="19" name="Shape 17"/>
          <p:cNvSpPr/>
          <p:nvPr/>
        </p:nvSpPr>
        <p:spPr>
          <a:xfrm>
            <a:off x="7138264" y="2537460"/>
            <a:ext cx="185852" cy="0"/>
          </a:xfrm>
          <a:prstGeom prst="line">
            <a:avLst/>
          </a:prstGeom>
          <a:noFill/>
          <a:ln w="15875">
            <a:solidFill>
              <a:srgbClr val="FF6A2B"/>
            </a:solidFill>
            <a:prstDash val="solid"/>
            <a:tailEnd type="triangle"/>
          </a:ln>
        </p:spPr>
      </p:sp>
      <p:sp>
        <p:nvSpPr>
          <p:cNvPr id="20" name="Shape 18"/>
          <p:cNvSpPr/>
          <p:nvPr/>
        </p:nvSpPr>
        <p:spPr>
          <a:xfrm>
            <a:off x="7360691" y="2057400"/>
            <a:ext cx="2011680" cy="960120"/>
          </a:xfrm>
          <a:prstGeom prst="roundRect">
            <a:avLst>
              <a:gd name="adj" fmla="val 11429"/>
            </a:avLst>
          </a:prstGeom>
          <a:solidFill>
            <a:srgbClr val="121821">
              <a:alpha val="96000"/>
            </a:srgbClr>
          </a:solidFill>
          <a:ln w="9525">
            <a:solidFill>
              <a:srgbClr val="263244"/>
            </a:solidFill>
            <a:prstDash val="solid"/>
          </a:ln>
        </p:spPr>
      </p:sp>
      <p:sp>
        <p:nvSpPr>
          <p:cNvPr id="21" name="Text 19"/>
          <p:cNvSpPr txBox="1"/>
          <p:nvPr/>
        </p:nvSpPr>
        <p:spPr>
          <a:xfrm>
            <a:off x="7525283" y="2185416"/>
            <a:ext cx="457200" cy="256032"/>
          </a:xfrm>
          <a:prstGeom prst="rect">
            <a:avLst/>
          </a:prstGeom>
          <a:noFill/>
          <a:ln/>
        </p:spPr>
        <p:txBody>
          <a:bodyPr wrap="square" lIns="0" tIns="0" rIns="0" bIns="0" rtlCol="0" anchor="t"/>
          <a:lstStyle/>
          <a:p>
            <a:pPr indent="0" marL="0">
              <a:buNone/>
            </a:pPr>
            <a:r>
              <a:rPr lang="en-US" sz="1200" b="1" dirty="0">
                <a:solidFill>
                  <a:srgbClr val="FF6A2B"/>
                </a:solidFill>
                <a:latin typeface="Arial" pitchFamily="34" charset="0"/>
                <a:ea typeface="Arial" pitchFamily="34" charset="-122"/>
                <a:cs typeface="Arial" pitchFamily="34" charset="-120"/>
              </a:rPr>
              <a:t>04</a:t>
            </a:r>
            <a:endParaRPr lang="en-US" sz="1200" dirty="0"/>
          </a:p>
        </p:txBody>
      </p:sp>
      <p:sp>
        <p:nvSpPr>
          <p:cNvPr id="22" name="Text 20"/>
          <p:cNvSpPr txBox="1"/>
          <p:nvPr/>
        </p:nvSpPr>
        <p:spPr>
          <a:xfrm>
            <a:off x="7525283" y="2404872"/>
            <a:ext cx="1737360" cy="310896"/>
          </a:xfrm>
          <a:prstGeom prst="rect">
            <a:avLst/>
          </a:prstGeom>
          <a:noFill/>
          <a:ln/>
        </p:spPr>
        <p:txBody>
          <a:bodyPr wrap="square" lIns="0" tIns="0" rIns="0" bIns="0" rtlCol="0" anchor="t"/>
          <a:lstStyle/>
          <a:p>
            <a:pPr indent="0" marL="0">
              <a:buNone/>
            </a:pPr>
            <a:r>
              <a:rPr lang="en-US" sz="1450" b="1" dirty="0">
                <a:solidFill>
                  <a:srgbClr val="F3F5F8"/>
                </a:solidFill>
                <a:latin typeface="Arial" pitchFamily="34" charset="0"/>
                <a:ea typeface="Arial" pitchFamily="34" charset="-122"/>
                <a:cs typeface="Arial" pitchFamily="34" charset="-120"/>
              </a:rPr>
              <a:t>Spring 6.2</a:t>
            </a:r>
            <a:endParaRPr lang="en-US" sz="1450" dirty="0"/>
          </a:p>
        </p:txBody>
      </p:sp>
      <p:sp>
        <p:nvSpPr>
          <p:cNvPr id="23" name="Text 21"/>
          <p:cNvSpPr txBox="1"/>
          <p:nvPr/>
        </p:nvSpPr>
        <p:spPr>
          <a:xfrm>
            <a:off x="7525283" y="2724912"/>
            <a:ext cx="1810512" cy="219456"/>
          </a:xfrm>
          <a:prstGeom prst="rect">
            <a:avLst/>
          </a:prstGeom>
          <a:noFill/>
          <a:ln/>
        </p:spPr>
        <p:txBody>
          <a:bodyPr wrap="square" lIns="0" tIns="0" rIns="0" bIns="0" rtlCol="0" anchor="t"/>
          <a:lstStyle/>
          <a:p>
            <a:pPr indent="0" marL="0">
              <a:buNone/>
            </a:pPr>
            <a:r>
              <a:rPr lang="en-US" sz="900" dirty="0">
                <a:solidFill>
                  <a:srgbClr val="738191"/>
                </a:solidFill>
                <a:latin typeface="Consolas" pitchFamily="34" charset="0"/>
                <a:ea typeface="Consolas" pitchFamily="34" charset="-122"/>
                <a:cs typeface="Consolas" pitchFamily="34" charset="-120"/>
              </a:rPr>
              <a:t>spring-to-spring6</a:t>
            </a:r>
            <a:endParaRPr lang="en-US" sz="900" dirty="0"/>
          </a:p>
        </p:txBody>
      </p:sp>
      <p:sp>
        <p:nvSpPr>
          <p:cNvPr id="24" name="Shape 22"/>
          <p:cNvSpPr/>
          <p:nvPr/>
        </p:nvSpPr>
        <p:spPr>
          <a:xfrm>
            <a:off x="9408947" y="2537460"/>
            <a:ext cx="185852" cy="0"/>
          </a:xfrm>
          <a:prstGeom prst="line">
            <a:avLst/>
          </a:prstGeom>
          <a:noFill/>
          <a:ln w="15875">
            <a:solidFill>
              <a:srgbClr val="FF6A2B"/>
            </a:solidFill>
            <a:prstDash val="solid"/>
            <a:tailEnd type="triangle"/>
          </a:ln>
        </p:spPr>
      </p:sp>
      <p:sp>
        <p:nvSpPr>
          <p:cNvPr id="25" name="Shape 23"/>
          <p:cNvSpPr/>
          <p:nvPr/>
        </p:nvSpPr>
        <p:spPr>
          <a:xfrm>
            <a:off x="9631375" y="2057400"/>
            <a:ext cx="2011680" cy="960120"/>
          </a:xfrm>
          <a:prstGeom prst="roundRect">
            <a:avLst>
              <a:gd name="adj" fmla="val 11429"/>
            </a:avLst>
          </a:prstGeom>
          <a:solidFill>
            <a:srgbClr val="121821">
              <a:alpha val="96000"/>
            </a:srgbClr>
          </a:solidFill>
          <a:ln w="9525">
            <a:solidFill>
              <a:srgbClr val="263244"/>
            </a:solidFill>
            <a:prstDash val="solid"/>
          </a:ln>
        </p:spPr>
      </p:sp>
      <p:sp>
        <p:nvSpPr>
          <p:cNvPr id="26" name="Text 24"/>
          <p:cNvSpPr txBox="1"/>
          <p:nvPr/>
        </p:nvSpPr>
        <p:spPr>
          <a:xfrm>
            <a:off x="9795967" y="2185416"/>
            <a:ext cx="457200" cy="256032"/>
          </a:xfrm>
          <a:prstGeom prst="rect">
            <a:avLst/>
          </a:prstGeom>
          <a:noFill/>
          <a:ln/>
        </p:spPr>
        <p:txBody>
          <a:bodyPr wrap="square" lIns="0" tIns="0" rIns="0" bIns="0" rtlCol="0" anchor="t"/>
          <a:lstStyle/>
          <a:p>
            <a:pPr indent="0" marL="0">
              <a:buNone/>
            </a:pPr>
            <a:r>
              <a:rPr lang="en-US" sz="1200" b="1" dirty="0">
                <a:solidFill>
                  <a:srgbClr val="FF6A2B"/>
                </a:solidFill>
                <a:latin typeface="Arial" pitchFamily="34" charset="0"/>
                <a:ea typeface="Arial" pitchFamily="34" charset="-122"/>
                <a:cs typeface="Arial" pitchFamily="34" charset="-120"/>
              </a:rPr>
              <a:t>05</a:t>
            </a:r>
            <a:endParaRPr lang="en-US" sz="1200" dirty="0"/>
          </a:p>
        </p:txBody>
      </p:sp>
      <p:sp>
        <p:nvSpPr>
          <p:cNvPr id="27" name="Text 25"/>
          <p:cNvSpPr txBox="1"/>
          <p:nvPr/>
        </p:nvSpPr>
        <p:spPr>
          <a:xfrm>
            <a:off x="9795967" y="2404872"/>
            <a:ext cx="1737360" cy="310896"/>
          </a:xfrm>
          <a:prstGeom prst="rect">
            <a:avLst/>
          </a:prstGeom>
          <a:noFill/>
          <a:ln/>
        </p:spPr>
        <p:txBody>
          <a:bodyPr wrap="square" lIns="0" tIns="0" rIns="0" bIns="0" rtlCol="0" anchor="t"/>
          <a:lstStyle/>
          <a:p>
            <a:pPr indent="0" marL="0">
              <a:buNone/>
            </a:pPr>
            <a:r>
              <a:rPr lang="en-US" sz="1450" b="1" dirty="0">
                <a:solidFill>
                  <a:srgbClr val="F3F5F8"/>
                </a:solidFill>
                <a:latin typeface="Arial" pitchFamily="34" charset="0"/>
                <a:ea typeface="Arial" pitchFamily="34" charset="-122"/>
                <a:cs typeface="Arial" pitchFamily="34" charset="-120"/>
              </a:rPr>
              <a:t>Spring Security 6.3</a:t>
            </a:r>
            <a:endParaRPr lang="en-US" sz="1450" dirty="0"/>
          </a:p>
        </p:txBody>
      </p:sp>
      <p:sp>
        <p:nvSpPr>
          <p:cNvPr id="28" name="Text 26"/>
          <p:cNvSpPr txBox="1"/>
          <p:nvPr/>
        </p:nvSpPr>
        <p:spPr>
          <a:xfrm>
            <a:off x="9795967" y="2724912"/>
            <a:ext cx="1810512" cy="219456"/>
          </a:xfrm>
          <a:prstGeom prst="rect">
            <a:avLst/>
          </a:prstGeom>
          <a:noFill/>
          <a:ln/>
        </p:spPr>
        <p:txBody>
          <a:bodyPr wrap="square" lIns="0" tIns="0" rIns="0" bIns="0" rtlCol="0" anchor="t"/>
          <a:lstStyle/>
          <a:p>
            <a:pPr indent="0" marL="0">
              <a:buNone/>
            </a:pPr>
            <a:r>
              <a:rPr lang="en-US" sz="900" dirty="0">
                <a:solidFill>
                  <a:srgbClr val="738191"/>
                </a:solidFill>
                <a:latin typeface="Consolas" pitchFamily="34" charset="0"/>
                <a:ea typeface="Consolas" pitchFamily="34" charset="-122"/>
                <a:cs typeface="Consolas" pitchFamily="34" charset="-120"/>
              </a:rPr>
              <a:t>springsec-to-springsec6</a:t>
            </a:r>
            <a:endParaRPr lang="en-US" sz="900" dirty="0"/>
          </a:p>
        </p:txBody>
      </p:sp>
      <p:sp>
        <p:nvSpPr>
          <p:cNvPr id="29" name="Shape 27"/>
          <p:cNvSpPr/>
          <p:nvPr/>
        </p:nvSpPr>
        <p:spPr>
          <a:xfrm>
            <a:off x="548640" y="3383280"/>
            <a:ext cx="2011680" cy="960120"/>
          </a:xfrm>
          <a:prstGeom prst="roundRect">
            <a:avLst>
              <a:gd name="adj" fmla="val 11429"/>
            </a:avLst>
          </a:prstGeom>
          <a:solidFill>
            <a:srgbClr val="121821">
              <a:alpha val="96000"/>
            </a:srgbClr>
          </a:solidFill>
          <a:ln w="9525">
            <a:solidFill>
              <a:srgbClr val="263244"/>
            </a:solidFill>
            <a:prstDash val="solid"/>
          </a:ln>
        </p:spPr>
      </p:sp>
      <p:sp>
        <p:nvSpPr>
          <p:cNvPr id="30" name="Text 28"/>
          <p:cNvSpPr txBox="1"/>
          <p:nvPr/>
        </p:nvSpPr>
        <p:spPr>
          <a:xfrm>
            <a:off x="713232" y="3511296"/>
            <a:ext cx="457200" cy="256032"/>
          </a:xfrm>
          <a:prstGeom prst="rect">
            <a:avLst/>
          </a:prstGeom>
          <a:noFill/>
          <a:ln/>
        </p:spPr>
        <p:txBody>
          <a:bodyPr wrap="square" lIns="0" tIns="0" rIns="0" bIns="0" rtlCol="0" anchor="t"/>
          <a:lstStyle/>
          <a:p>
            <a:pPr indent="0" marL="0">
              <a:buNone/>
            </a:pPr>
            <a:r>
              <a:rPr lang="en-US" sz="1200" b="1" dirty="0">
                <a:solidFill>
                  <a:srgbClr val="FF6A2B"/>
                </a:solidFill>
                <a:latin typeface="Arial" pitchFamily="34" charset="0"/>
                <a:ea typeface="Arial" pitchFamily="34" charset="-122"/>
                <a:cs typeface="Arial" pitchFamily="34" charset="-120"/>
              </a:rPr>
              <a:t>06</a:t>
            </a:r>
            <a:endParaRPr lang="en-US" sz="1200" dirty="0"/>
          </a:p>
        </p:txBody>
      </p:sp>
      <p:sp>
        <p:nvSpPr>
          <p:cNvPr id="31" name="Text 29"/>
          <p:cNvSpPr txBox="1"/>
          <p:nvPr/>
        </p:nvSpPr>
        <p:spPr>
          <a:xfrm>
            <a:off x="713232" y="3730752"/>
            <a:ext cx="1737360" cy="310896"/>
          </a:xfrm>
          <a:prstGeom prst="rect">
            <a:avLst/>
          </a:prstGeom>
          <a:noFill/>
          <a:ln/>
        </p:spPr>
        <p:txBody>
          <a:bodyPr wrap="square" lIns="0" tIns="0" rIns="0" bIns="0" rtlCol="0" anchor="t"/>
          <a:lstStyle/>
          <a:p>
            <a:pPr indent="0" marL="0">
              <a:buNone/>
            </a:pPr>
            <a:r>
              <a:rPr lang="en-US" sz="1450" b="1" dirty="0">
                <a:solidFill>
                  <a:srgbClr val="F3F5F8"/>
                </a:solidFill>
                <a:latin typeface="Arial" pitchFamily="34" charset="0"/>
                <a:ea typeface="Arial" pitchFamily="34" charset="-122"/>
                <a:cs typeface="Arial" pitchFamily="34" charset="-120"/>
              </a:rPr>
              <a:t>Struts 7</a:t>
            </a:r>
            <a:endParaRPr lang="en-US" sz="1450" dirty="0"/>
          </a:p>
        </p:txBody>
      </p:sp>
      <p:sp>
        <p:nvSpPr>
          <p:cNvPr id="32" name="Text 30"/>
          <p:cNvSpPr txBox="1"/>
          <p:nvPr/>
        </p:nvSpPr>
        <p:spPr>
          <a:xfrm>
            <a:off x="713232" y="4050792"/>
            <a:ext cx="1810512" cy="219456"/>
          </a:xfrm>
          <a:prstGeom prst="rect">
            <a:avLst/>
          </a:prstGeom>
          <a:noFill/>
          <a:ln/>
        </p:spPr>
        <p:txBody>
          <a:bodyPr wrap="square" lIns="0" tIns="0" rIns="0" bIns="0" rtlCol="0" anchor="t"/>
          <a:lstStyle/>
          <a:p>
            <a:pPr indent="0" marL="0">
              <a:buNone/>
            </a:pPr>
            <a:r>
              <a:rPr lang="en-US" sz="900" dirty="0">
                <a:solidFill>
                  <a:srgbClr val="738191"/>
                </a:solidFill>
                <a:latin typeface="Consolas" pitchFamily="34" charset="0"/>
                <a:ea typeface="Consolas" pitchFamily="34" charset="-122"/>
                <a:cs typeface="Consolas" pitchFamily="34" charset="-120"/>
              </a:rPr>
              <a:t>struts2-modernize</a:t>
            </a:r>
            <a:endParaRPr lang="en-US" sz="900" dirty="0"/>
          </a:p>
        </p:txBody>
      </p:sp>
      <p:sp>
        <p:nvSpPr>
          <p:cNvPr id="33" name="Shape 31"/>
          <p:cNvSpPr/>
          <p:nvPr/>
        </p:nvSpPr>
        <p:spPr>
          <a:xfrm>
            <a:off x="2596896" y="3863340"/>
            <a:ext cx="185852" cy="0"/>
          </a:xfrm>
          <a:prstGeom prst="line">
            <a:avLst/>
          </a:prstGeom>
          <a:noFill/>
          <a:ln w="15875">
            <a:solidFill>
              <a:srgbClr val="FF6A2B"/>
            </a:solidFill>
            <a:prstDash val="solid"/>
            <a:tailEnd type="triangle"/>
          </a:ln>
        </p:spPr>
      </p:sp>
      <p:sp>
        <p:nvSpPr>
          <p:cNvPr id="34" name="Shape 32"/>
          <p:cNvSpPr/>
          <p:nvPr/>
        </p:nvSpPr>
        <p:spPr>
          <a:xfrm>
            <a:off x="2819324" y="3383280"/>
            <a:ext cx="2011680" cy="960120"/>
          </a:xfrm>
          <a:prstGeom prst="roundRect">
            <a:avLst>
              <a:gd name="adj" fmla="val 11429"/>
            </a:avLst>
          </a:prstGeom>
          <a:solidFill>
            <a:srgbClr val="121821">
              <a:alpha val="96000"/>
            </a:srgbClr>
          </a:solidFill>
          <a:ln w="9525">
            <a:solidFill>
              <a:srgbClr val="263244"/>
            </a:solidFill>
            <a:prstDash val="solid"/>
          </a:ln>
        </p:spPr>
      </p:sp>
      <p:sp>
        <p:nvSpPr>
          <p:cNvPr id="35" name="Text 33"/>
          <p:cNvSpPr txBox="1"/>
          <p:nvPr/>
        </p:nvSpPr>
        <p:spPr>
          <a:xfrm>
            <a:off x="2983916" y="3511296"/>
            <a:ext cx="457200" cy="256032"/>
          </a:xfrm>
          <a:prstGeom prst="rect">
            <a:avLst/>
          </a:prstGeom>
          <a:noFill/>
          <a:ln/>
        </p:spPr>
        <p:txBody>
          <a:bodyPr wrap="square" lIns="0" tIns="0" rIns="0" bIns="0" rtlCol="0" anchor="t"/>
          <a:lstStyle/>
          <a:p>
            <a:pPr indent="0" marL="0">
              <a:buNone/>
            </a:pPr>
            <a:r>
              <a:rPr lang="en-US" sz="1200" b="1" dirty="0">
                <a:solidFill>
                  <a:srgbClr val="FF6A2B"/>
                </a:solidFill>
                <a:latin typeface="Arial" pitchFamily="34" charset="0"/>
                <a:ea typeface="Arial" pitchFamily="34" charset="-122"/>
                <a:cs typeface="Arial" pitchFamily="34" charset="-120"/>
              </a:rPr>
              <a:t>07</a:t>
            </a:r>
            <a:endParaRPr lang="en-US" sz="1200" dirty="0"/>
          </a:p>
        </p:txBody>
      </p:sp>
      <p:sp>
        <p:nvSpPr>
          <p:cNvPr id="36" name="Text 34"/>
          <p:cNvSpPr txBox="1"/>
          <p:nvPr/>
        </p:nvSpPr>
        <p:spPr>
          <a:xfrm>
            <a:off x="2983916" y="3730752"/>
            <a:ext cx="1737360" cy="310896"/>
          </a:xfrm>
          <a:prstGeom prst="rect">
            <a:avLst/>
          </a:prstGeom>
          <a:noFill/>
          <a:ln/>
        </p:spPr>
        <p:txBody>
          <a:bodyPr wrap="square" lIns="0" tIns="0" rIns="0" bIns="0" rtlCol="0" anchor="t"/>
          <a:lstStyle/>
          <a:p>
            <a:pPr indent="0" marL="0">
              <a:buNone/>
            </a:pPr>
            <a:r>
              <a:rPr lang="en-US" sz="1450" b="1" dirty="0">
                <a:solidFill>
                  <a:srgbClr val="F3F5F8"/>
                </a:solidFill>
                <a:latin typeface="Arial" pitchFamily="34" charset="0"/>
                <a:ea typeface="Arial" pitchFamily="34" charset="-122"/>
                <a:cs typeface="Arial" pitchFamily="34" charset="-120"/>
              </a:rPr>
              <a:t>JSP + JSTL 3.0</a:t>
            </a:r>
            <a:endParaRPr lang="en-US" sz="1450" dirty="0"/>
          </a:p>
        </p:txBody>
      </p:sp>
      <p:sp>
        <p:nvSpPr>
          <p:cNvPr id="37" name="Text 35"/>
          <p:cNvSpPr txBox="1"/>
          <p:nvPr/>
        </p:nvSpPr>
        <p:spPr>
          <a:xfrm>
            <a:off x="2983916" y="4050792"/>
            <a:ext cx="1810512" cy="219456"/>
          </a:xfrm>
          <a:prstGeom prst="rect">
            <a:avLst/>
          </a:prstGeom>
          <a:noFill/>
          <a:ln/>
        </p:spPr>
        <p:txBody>
          <a:bodyPr wrap="square" lIns="0" tIns="0" rIns="0" bIns="0" rtlCol="0" anchor="t"/>
          <a:lstStyle/>
          <a:p>
            <a:pPr indent="0" marL="0">
              <a:buNone/>
            </a:pPr>
            <a:r>
              <a:rPr lang="en-US" sz="900" dirty="0">
                <a:solidFill>
                  <a:srgbClr val="738191"/>
                </a:solidFill>
                <a:latin typeface="Consolas" pitchFamily="34" charset="0"/>
                <a:ea typeface="Consolas" pitchFamily="34" charset="-122"/>
                <a:cs typeface="Consolas" pitchFamily="34" charset="-120"/>
              </a:rPr>
              <a:t>jsp-jstl-modernize</a:t>
            </a:r>
            <a:endParaRPr lang="en-US" sz="900" dirty="0"/>
          </a:p>
        </p:txBody>
      </p:sp>
      <p:sp>
        <p:nvSpPr>
          <p:cNvPr id="38" name="Shape 36"/>
          <p:cNvSpPr/>
          <p:nvPr/>
        </p:nvSpPr>
        <p:spPr>
          <a:xfrm>
            <a:off x="4867580" y="3863340"/>
            <a:ext cx="185852" cy="0"/>
          </a:xfrm>
          <a:prstGeom prst="line">
            <a:avLst/>
          </a:prstGeom>
          <a:noFill/>
          <a:ln w="15875">
            <a:solidFill>
              <a:srgbClr val="FF6A2B"/>
            </a:solidFill>
            <a:prstDash val="solid"/>
            <a:tailEnd type="triangle"/>
          </a:ln>
        </p:spPr>
      </p:sp>
      <p:sp>
        <p:nvSpPr>
          <p:cNvPr id="39" name="Shape 37"/>
          <p:cNvSpPr/>
          <p:nvPr/>
        </p:nvSpPr>
        <p:spPr>
          <a:xfrm>
            <a:off x="5090008" y="3383280"/>
            <a:ext cx="2011680" cy="960120"/>
          </a:xfrm>
          <a:prstGeom prst="roundRect">
            <a:avLst>
              <a:gd name="adj" fmla="val 11429"/>
            </a:avLst>
          </a:prstGeom>
          <a:solidFill>
            <a:srgbClr val="121821">
              <a:alpha val="96000"/>
            </a:srgbClr>
          </a:solidFill>
          <a:ln w="9525">
            <a:solidFill>
              <a:srgbClr val="263244"/>
            </a:solidFill>
            <a:prstDash val="solid"/>
          </a:ln>
        </p:spPr>
      </p:sp>
      <p:sp>
        <p:nvSpPr>
          <p:cNvPr id="40" name="Text 38"/>
          <p:cNvSpPr txBox="1"/>
          <p:nvPr/>
        </p:nvSpPr>
        <p:spPr>
          <a:xfrm>
            <a:off x="5254600" y="3511296"/>
            <a:ext cx="457200" cy="256032"/>
          </a:xfrm>
          <a:prstGeom prst="rect">
            <a:avLst/>
          </a:prstGeom>
          <a:noFill/>
          <a:ln/>
        </p:spPr>
        <p:txBody>
          <a:bodyPr wrap="square" lIns="0" tIns="0" rIns="0" bIns="0" rtlCol="0" anchor="t"/>
          <a:lstStyle/>
          <a:p>
            <a:pPr indent="0" marL="0">
              <a:buNone/>
            </a:pPr>
            <a:r>
              <a:rPr lang="en-US" sz="1200" b="1" dirty="0">
                <a:solidFill>
                  <a:srgbClr val="FF6A2B"/>
                </a:solidFill>
                <a:latin typeface="Arial" pitchFamily="34" charset="0"/>
                <a:ea typeface="Arial" pitchFamily="34" charset="-122"/>
                <a:cs typeface="Arial" pitchFamily="34" charset="-120"/>
              </a:rPr>
              <a:t>08</a:t>
            </a:r>
            <a:endParaRPr lang="en-US" sz="1200" dirty="0"/>
          </a:p>
        </p:txBody>
      </p:sp>
      <p:sp>
        <p:nvSpPr>
          <p:cNvPr id="41" name="Text 39"/>
          <p:cNvSpPr txBox="1"/>
          <p:nvPr/>
        </p:nvSpPr>
        <p:spPr>
          <a:xfrm>
            <a:off x="5254600" y="3730752"/>
            <a:ext cx="1737360" cy="310896"/>
          </a:xfrm>
          <a:prstGeom prst="rect">
            <a:avLst/>
          </a:prstGeom>
          <a:noFill/>
          <a:ln/>
        </p:spPr>
        <p:txBody>
          <a:bodyPr wrap="square" lIns="0" tIns="0" rIns="0" bIns="0" rtlCol="0" anchor="t"/>
          <a:lstStyle/>
          <a:p>
            <a:pPr indent="0" marL="0">
              <a:buNone/>
            </a:pPr>
            <a:r>
              <a:rPr lang="en-US" sz="1450" b="1" dirty="0">
                <a:solidFill>
                  <a:srgbClr val="F3F5F8"/>
                </a:solidFill>
                <a:latin typeface="Arial" pitchFamily="34" charset="0"/>
                <a:ea typeface="Arial" pitchFamily="34" charset="-122"/>
                <a:cs typeface="Arial" pitchFamily="34" charset="-120"/>
              </a:rPr>
              <a:t>JUnit 5</a:t>
            </a:r>
            <a:endParaRPr lang="en-US" sz="1450" dirty="0"/>
          </a:p>
        </p:txBody>
      </p:sp>
      <p:sp>
        <p:nvSpPr>
          <p:cNvPr id="42" name="Text 40"/>
          <p:cNvSpPr txBox="1"/>
          <p:nvPr/>
        </p:nvSpPr>
        <p:spPr>
          <a:xfrm>
            <a:off x="5254600" y="4050792"/>
            <a:ext cx="1810512" cy="219456"/>
          </a:xfrm>
          <a:prstGeom prst="rect">
            <a:avLst/>
          </a:prstGeom>
          <a:noFill/>
          <a:ln/>
        </p:spPr>
        <p:txBody>
          <a:bodyPr wrap="square" lIns="0" tIns="0" rIns="0" bIns="0" rtlCol="0" anchor="t"/>
          <a:lstStyle/>
          <a:p>
            <a:pPr indent="0" marL="0">
              <a:buNone/>
            </a:pPr>
            <a:r>
              <a:rPr lang="en-US" sz="900" dirty="0">
                <a:solidFill>
                  <a:srgbClr val="738191"/>
                </a:solidFill>
                <a:latin typeface="Consolas" pitchFamily="34" charset="0"/>
                <a:ea typeface="Consolas" pitchFamily="34" charset="-122"/>
                <a:cs typeface="Consolas" pitchFamily="34" charset="-120"/>
              </a:rPr>
              <a:t>junit4-to-junit5</a:t>
            </a:r>
            <a:endParaRPr lang="en-US" sz="900" dirty="0"/>
          </a:p>
        </p:txBody>
      </p:sp>
      <p:sp>
        <p:nvSpPr>
          <p:cNvPr id="43" name="Shape 41"/>
          <p:cNvSpPr/>
          <p:nvPr/>
        </p:nvSpPr>
        <p:spPr>
          <a:xfrm>
            <a:off x="7138264" y="3863340"/>
            <a:ext cx="185852" cy="0"/>
          </a:xfrm>
          <a:prstGeom prst="line">
            <a:avLst/>
          </a:prstGeom>
          <a:noFill/>
          <a:ln w="15875">
            <a:solidFill>
              <a:srgbClr val="FF6A2B"/>
            </a:solidFill>
            <a:prstDash val="solid"/>
            <a:tailEnd type="triangle"/>
          </a:ln>
        </p:spPr>
      </p:sp>
      <p:sp>
        <p:nvSpPr>
          <p:cNvPr id="44" name="Shape 42"/>
          <p:cNvSpPr/>
          <p:nvPr/>
        </p:nvSpPr>
        <p:spPr>
          <a:xfrm>
            <a:off x="7360691" y="3383280"/>
            <a:ext cx="2011680" cy="960120"/>
          </a:xfrm>
          <a:prstGeom prst="roundRect">
            <a:avLst>
              <a:gd name="adj" fmla="val 11429"/>
            </a:avLst>
          </a:prstGeom>
          <a:solidFill>
            <a:srgbClr val="121821">
              <a:alpha val="96000"/>
            </a:srgbClr>
          </a:solidFill>
          <a:ln w="9525">
            <a:solidFill>
              <a:srgbClr val="263244"/>
            </a:solidFill>
            <a:prstDash val="solid"/>
          </a:ln>
        </p:spPr>
      </p:sp>
      <p:sp>
        <p:nvSpPr>
          <p:cNvPr id="45" name="Text 43"/>
          <p:cNvSpPr txBox="1"/>
          <p:nvPr/>
        </p:nvSpPr>
        <p:spPr>
          <a:xfrm>
            <a:off x="7525283" y="3511296"/>
            <a:ext cx="457200" cy="256032"/>
          </a:xfrm>
          <a:prstGeom prst="rect">
            <a:avLst/>
          </a:prstGeom>
          <a:noFill/>
          <a:ln/>
        </p:spPr>
        <p:txBody>
          <a:bodyPr wrap="square" lIns="0" tIns="0" rIns="0" bIns="0" rtlCol="0" anchor="t"/>
          <a:lstStyle/>
          <a:p>
            <a:pPr indent="0" marL="0">
              <a:buNone/>
            </a:pPr>
            <a:r>
              <a:rPr lang="en-US" sz="1200" b="1" dirty="0">
                <a:solidFill>
                  <a:srgbClr val="FF6A2B"/>
                </a:solidFill>
                <a:latin typeface="Arial" pitchFamily="34" charset="0"/>
                <a:ea typeface="Arial" pitchFamily="34" charset="-122"/>
                <a:cs typeface="Arial" pitchFamily="34" charset="-120"/>
              </a:rPr>
              <a:t>09</a:t>
            </a:r>
            <a:endParaRPr lang="en-US" sz="1200" dirty="0"/>
          </a:p>
        </p:txBody>
      </p:sp>
      <p:sp>
        <p:nvSpPr>
          <p:cNvPr id="46" name="Text 44"/>
          <p:cNvSpPr txBox="1"/>
          <p:nvPr/>
        </p:nvSpPr>
        <p:spPr>
          <a:xfrm>
            <a:off x="7525283" y="3730752"/>
            <a:ext cx="1737360" cy="310896"/>
          </a:xfrm>
          <a:prstGeom prst="rect">
            <a:avLst/>
          </a:prstGeom>
          <a:noFill/>
          <a:ln/>
        </p:spPr>
        <p:txBody>
          <a:bodyPr wrap="square" lIns="0" tIns="0" rIns="0" bIns="0" rtlCol="0" anchor="t"/>
          <a:lstStyle/>
          <a:p>
            <a:pPr indent="0" marL="0">
              <a:buNone/>
            </a:pPr>
            <a:r>
              <a:rPr lang="en-US" sz="1450" b="1" dirty="0">
                <a:solidFill>
                  <a:srgbClr val="F3F5F8"/>
                </a:solidFill>
                <a:latin typeface="Arial" pitchFamily="34" charset="0"/>
                <a:ea typeface="Arial" pitchFamily="34" charset="-122"/>
                <a:cs typeface="Arial" pitchFamily="34" charset="-120"/>
              </a:rPr>
              <a:t>web.xml </a:t>
            </a:r>
            <a:pPr indent="0" marL="0">
              <a:buNone/>
            </a:pPr>
            <a:r>
              <a:rPr lang="en-US" sz="1800" b="1" dirty="0">
                <a:solidFill>
                  <a:srgbClr val="AAB5C3"/>
                </a:solidFill>
                <a:latin typeface="Arial" pitchFamily="34" charset="0"/>
                <a:ea typeface="Arial" pitchFamily="34" charset="-122"/>
                <a:cs typeface="Arial" pitchFamily="34" charset="-120"/>
              </a:rPr>
              <a:t>→</a:t>
            </a:r>
            <a:pPr indent="0" marL="0">
              <a:buNone/>
            </a:pPr>
            <a:r>
              <a:rPr lang="en-US" sz="1450" b="1" dirty="0">
                <a:solidFill>
                  <a:srgbClr val="F3F5F8"/>
                </a:solidFill>
                <a:latin typeface="Arial" pitchFamily="34" charset="0"/>
                <a:ea typeface="Arial" pitchFamily="34" charset="-122"/>
                <a:cs typeface="Arial" pitchFamily="34" charset="-120"/>
              </a:rPr>
              <a:t> EE 10</a:t>
            </a:r>
            <a:endParaRPr lang="en-US" sz="1450" dirty="0"/>
          </a:p>
        </p:txBody>
      </p:sp>
      <p:sp>
        <p:nvSpPr>
          <p:cNvPr id="47" name="Text 45"/>
          <p:cNvSpPr txBox="1"/>
          <p:nvPr/>
        </p:nvSpPr>
        <p:spPr>
          <a:xfrm>
            <a:off x="7525283" y="4050792"/>
            <a:ext cx="1810512" cy="219456"/>
          </a:xfrm>
          <a:prstGeom prst="rect">
            <a:avLst/>
          </a:prstGeom>
          <a:noFill/>
          <a:ln/>
        </p:spPr>
        <p:txBody>
          <a:bodyPr wrap="square" lIns="0" tIns="0" rIns="0" bIns="0" rtlCol="0" anchor="t"/>
          <a:lstStyle/>
          <a:p>
            <a:pPr indent="0" marL="0">
              <a:buNone/>
            </a:pPr>
            <a:r>
              <a:rPr lang="en-US" sz="900" dirty="0">
                <a:solidFill>
                  <a:srgbClr val="738191"/>
                </a:solidFill>
                <a:latin typeface="Consolas" pitchFamily="34" charset="0"/>
                <a:ea typeface="Consolas" pitchFamily="34" charset="-122"/>
                <a:cs typeface="Consolas" pitchFamily="34" charset="-120"/>
              </a:rPr>
              <a:t>webapp-bootstrap-jakarta10</a:t>
            </a:r>
            <a:endParaRPr lang="en-US" sz="900" dirty="0"/>
          </a:p>
        </p:txBody>
      </p:sp>
      <p:sp>
        <p:nvSpPr>
          <p:cNvPr id="48" name="Shape 46"/>
          <p:cNvSpPr/>
          <p:nvPr/>
        </p:nvSpPr>
        <p:spPr>
          <a:xfrm>
            <a:off x="9408947" y="3863340"/>
            <a:ext cx="185852" cy="0"/>
          </a:xfrm>
          <a:prstGeom prst="line">
            <a:avLst/>
          </a:prstGeom>
          <a:noFill/>
          <a:ln w="15875">
            <a:solidFill>
              <a:srgbClr val="FF6A2B"/>
            </a:solidFill>
            <a:prstDash val="solid"/>
            <a:tailEnd type="triangle"/>
          </a:ln>
        </p:spPr>
      </p:sp>
      <p:sp>
        <p:nvSpPr>
          <p:cNvPr id="49" name="Shape 47"/>
          <p:cNvSpPr/>
          <p:nvPr/>
        </p:nvSpPr>
        <p:spPr>
          <a:xfrm>
            <a:off x="9631375" y="3383280"/>
            <a:ext cx="2011680" cy="960120"/>
          </a:xfrm>
          <a:prstGeom prst="roundRect">
            <a:avLst>
              <a:gd name="adj" fmla="val 11429"/>
            </a:avLst>
          </a:prstGeom>
          <a:solidFill>
            <a:srgbClr val="121821">
              <a:alpha val="96000"/>
            </a:srgbClr>
          </a:solidFill>
          <a:ln w="9525">
            <a:solidFill>
              <a:srgbClr val="263244"/>
            </a:solidFill>
            <a:prstDash val="solid"/>
          </a:ln>
        </p:spPr>
      </p:sp>
      <p:sp>
        <p:nvSpPr>
          <p:cNvPr id="50" name="Text 48"/>
          <p:cNvSpPr txBox="1"/>
          <p:nvPr/>
        </p:nvSpPr>
        <p:spPr>
          <a:xfrm>
            <a:off x="9795967" y="3511296"/>
            <a:ext cx="457200" cy="256032"/>
          </a:xfrm>
          <a:prstGeom prst="rect">
            <a:avLst/>
          </a:prstGeom>
          <a:noFill/>
          <a:ln/>
        </p:spPr>
        <p:txBody>
          <a:bodyPr wrap="square" lIns="0" tIns="0" rIns="0" bIns="0" rtlCol="0" anchor="t"/>
          <a:lstStyle/>
          <a:p>
            <a:pPr indent="0" marL="0">
              <a:buNone/>
            </a:pPr>
            <a:r>
              <a:rPr lang="en-US" sz="1200" b="1" dirty="0">
                <a:solidFill>
                  <a:srgbClr val="FF6A2B"/>
                </a:solidFill>
                <a:latin typeface="Arial" pitchFamily="34" charset="0"/>
                <a:ea typeface="Arial" pitchFamily="34" charset="-122"/>
                <a:cs typeface="Arial" pitchFamily="34" charset="-120"/>
              </a:rPr>
              <a:t>10</a:t>
            </a:r>
            <a:endParaRPr lang="en-US" sz="1200" dirty="0"/>
          </a:p>
        </p:txBody>
      </p:sp>
      <p:sp>
        <p:nvSpPr>
          <p:cNvPr id="51" name="Text 49"/>
          <p:cNvSpPr txBox="1"/>
          <p:nvPr/>
        </p:nvSpPr>
        <p:spPr>
          <a:xfrm>
            <a:off x="9795967" y="3730752"/>
            <a:ext cx="1737360" cy="310896"/>
          </a:xfrm>
          <a:prstGeom prst="rect">
            <a:avLst/>
          </a:prstGeom>
          <a:noFill/>
          <a:ln/>
        </p:spPr>
        <p:txBody>
          <a:bodyPr wrap="square" lIns="0" tIns="0" rIns="0" bIns="0" rtlCol="0" anchor="t"/>
          <a:lstStyle/>
          <a:p>
            <a:pPr indent="0" marL="0">
              <a:buNone/>
            </a:pPr>
            <a:r>
              <a:rPr lang="en-US" sz="1450" b="1" dirty="0">
                <a:solidFill>
                  <a:srgbClr val="F3F5F8"/>
                </a:solidFill>
                <a:latin typeface="Arial" pitchFamily="34" charset="0"/>
                <a:ea typeface="Arial" pitchFamily="34" charset="-122"/>
                <a:cs typeface="Arial" pitchFamily="34" charset="-120"/>
              </a:rPr>
              <a:t>Liberty server.xml</a:t>
            </a:r>
            <a:endParaRPr lang="en-US" sz="1450" dirty="0"/>
          </a:p>
        </p:txBody>
      </p:sp>
      <p:sp>
        <p:nvSpPr>
          <p:cNvPr id="52" name="Text 50"/>
          <p:cNvSpPr txBox="1"/>
          <p:nvPr/>
        </p:nvSpPr>
        <p:spPr>
          <a:xfrm>
            <a:off x="9795967" y="4050792"/>
            <a:ext cx="1810512" cy="219456"/>
          </a:xfrm>
          <a:prstGeom prst="rect">
            <a:avLst/>
          </a:prstGeom>
          <a:noFill/>
          <a:ln/>
        </p:spPr>
        <p:txBody>
          <a:bodyPr wrap="square" lIns="0" tIns="0" rIns="0" bIns="0" rtlCol="0" anchor="t"/>
          <a:lstStyle/>
          <a:p>
            <a:pPr indent="0" marL="0">
              <a:buNone/>
            </a:pPr>
            <a:r>
              <a:rPr lang="en-US" sz="900" dirty="0">
                <a:solidFill>
                  <a:srgbClr val="738191"/>
                </a:solidFill>
                <a:latin typeface="Consolas" pitchFamily="34" charset="0"/>
                <a:ea typeface="Consolas" pitchFamily="34" charset="-122"/>
                <a:cs typeface="Consolas" pitchFamily="34" charset="-120"/>
              </a:rPr>
              <a:t>liberty-server-config</a:t>
            </a:r>
            <a:endParaRPr lang="en-US" sz="900" dirty="0"/>
          </a:p>
        </p:txBody>
      </p:sp>
      <p:sp>
        <p:nvSpPr>
          <p:cNvPr id="53" name="Shape 51"/>
          <p:cNvSpPr/>
          <p:nvPr/>
        </p:nvSpPr>
        <p:spPr>
          <a:xfrm>
            <a:off x="548640" y="4572000"/>
            <a:ext cx="3545738" cy="1481328"/>
          </a:xfrm>
          <a:prstGeom prst="roundRect">
            <a:avLst>
              <a:gd name="adj" fmla="val 7407"/>
            </a:avLst>
          </a:prstGeom>
          <a:solidFill>
            <a:srgbClr val="121821">
              <a:alpha val="92000"/>
            </a:srgbClr>
          </a:solidFill>
          <a:ln w="9525">
            <a:solidFill>
              <a:srgbClr val="1E2835"/>
            </a:solidFill>
            <a:prstDash val="solid"/>
          </a:ln>
        </p:spPr>
      </p:sp>
      <p:sp>
        <p:nvSpPr>
          <p:cNvPr id="54" name="Shape 52"/>
          <p:cNvSpPr/>
          <p:nvPr/>
        </p:nvSpPr>
        <p:spPr>
          <a:xfrm>
            <a:off x="777240" y="4773168"/>
            <a:ext cx="475488" cy="475488"/>
          </a:xfrm>
          <a:prstGeom prst="ellipse">
            <a:avLst/>
          </a:prstGeom>
          <a:solidFill>
            <a:srgbClr val="FFB547">
              <a:alpha val="16000"/>
            </a:srgbClr>
          </a:solidFill>
          <a:ln w="9525">
            <a:solidFill>
              <a:srgbClr val="FFB547">
                <a:alpha val="50000"/>
              </a:srgbClr>
            </a:solidFill>
            <a:prstDash val="solid"/>
          </a:ln>
        </p:spPr>
      </p:sp>
      <p:pic>
        <p:nvPicPr>
          <p:cNvPr id="55" name="Image 0" descr="/private/tmp/claude-501/-Users-raja-forge/826f4f3b-77e1-484d-8167-0e3b60d97c63/scratchpad/deck/assets/icons/LuSplit-FFB547.png">    </p:cNvPr>
          <p:cNvPicPr>
            <a:picLocks noChangeAspect="1"/>
          </p:cNvPicPr>
          <p:nvPr/>
        </p:nvPicPr>
        <p:blipFill>
          <a:blip r:embed="rId1"/>
          <a:stretch>
            <a:fillRect/>
          </a:stretch>
        </p:blipFill>
        <p:spPr>
          <a:xfrm>
            <a:off x="896112" y="4892040"/>
            <a:ext cx="237744" cy="237744"/>
          </a:xfrm>
          <a:prstGeom prst="rect">
            <a:avLst/>
          </a:prstGeom>
        </p:spPr>
      </p:pic>
      <p:sp>
        <p:nvSpPr>
          <p:cNvPr id="56" name="Text 53"/>
          <p:cNvSpPr txBox="1"/>
          <p:nvPr/>
        </p:nvSpPr>
        <p:spPr>
          <a:xfrm>
            <a:off x="1389888" y="4773168"/>
            <a:ext cx="2539898" cy="475488"/>
          </a:xfrm>
          <a:prstGeom prst="rect">
            <a:avLst/>
          </a:prstGeom>
          <a:noFill/>
          <a:ln/>
        </p:spPr>
        <p:txBody>
          <a:bodyPr wrap="square" lIns="0" tIns="0" rIns="0" bIns="0" rtlCol="0" anchor="ctr"/>
          <a:lstStyle/>
          <a:p>
            <a:pPr indent="0" marL="0">
              <a:buNone/>
            </a:pPr>
            <a:r>
              <a:rPr lang="en-US" sz="1500" b="1" dirty="0">
                <a:solidFill>
                  <a:srgbClr val="F3F5F8"/>
                </a:solidFill>
                <a:latin typeface="Arial" pitchFamily="34" charset="0"/>
                <a:ea typeface="Arial" pitchFamily="34" charset="-122"/>
                <a:cs typeface="Arial" pitchFamily="34" charset="-120"/>
              </a:rPr>
              <a:t>Not every javax.* moves</a:t>
            </a:r>
            <a:endParaRPr lang="en-US" sz="1500" dirty="0"/>
          </a:p>
        </p:txBody>
      </p:sp>
      <p:sp>
        <p:nvSpPr>
          <p:cNvPr id="57" name="Text 54"/>
          <p:cNvSpPr txBox="1"/>
          <p:nvPr/>
        </p:nvSpPr>
        <p:spPr>
          <a:xfrm>
            <a:off x="777240" y="5376672"/>
            <a:ext cx="3088538" cy="603504"/>
          </a:xfrm>
          <a:prstGeom prst="rect">
            <a:avLst/>
          </a:prstGeom>
          <a:noFill/>
          <a:ln/>
        </p:spPr>
        <p:txBody>
          <a:bodyPr wrap="square" lIns="0" tIns="0" rIns="0" bIns="0" rtlCol="0" anchor="t"/>
          <a:lstStyle/>
          <a:p>
            <a:pPr indent="0" marL="0">
              <a:buNone/>
            </a:pPr>
            <a:r>
              <a:rPr lang="en-US" sz="1200" dirty="0">
                <a:solidFill>
                  <a:srgbClr val="AAB5C3"/>
                </a:solidFill>
                <a:latin typeface="Arial" pitchFamily="34" charset="0"/>
                <a:ea typeface="Arial" pitchFamily="34" charset="-122"/>
                <a:cs typeface="Arial" pitchFamily="34" charset="-120"/>
              </a:rPr>
              <a:t>javax.xml.bind is Jakarta; javax.xml.parsers is the JDK. A blanket rule is wrong in one direction or the other.</a:t>
            </a:r>
            <a:endParaRPr lang="en-US" sz="1200" dirty="0"/>
          </a:p>
        </p:txBody>
      </p:sp>
      <p:sp>
        <p:nvSpPr>
          <p:cNvPr id="58" name="Shape 55"/>
          <p:cNvSpPr/>
          <p:nvPr/>
        </p:nvSpPr>
        <p:spPr>
          <a:xfrm>
            <a:off x="4322978" y="4572000"/>
            <a:ext cx="3545738" cy="1481328"/>
          </a:xfrm>
          <a:prstGeom prst="roundRect">
            <a:avLst>
              <a:gd name="adj" fmla="val 7407"/>
            </a:avLst>
          </a:prstGeom>
          <a:solidFill>
            <a:srgbClr val="121821">
              <a:alpha val="92000"/>
            </a:srgbClr>
          </a:solidFill>
          <a:ln w="9525">
            <a:solidFill>
              <a:srgbClr val="1E2835"/>
            </a:solidFill>
            <a:prstDash val="solid"/>
          </a:ln>
        </p:spPr>
      </p:sp>
      <p:sp>
        <p:nvSpPr>
          <p:cNvPr id="59" name="Shape 56"/>
          <p:cNvSpPr/>
          <p:nvPr/>
        </p:nvSpPr>
        <p:spPr>
          <a:xfrm>
            <a:off x="4551578" y="4773168"/>
            <a:ext cx="475488" cy="475488"/>
          </a:xfrm>
          <a:prstGeom prst="ellipse">
            <a:avLst/>
          </a:prstGeom>
          <a:solidFill>
            <a:srgbClr val="FF4D5E">
              <a:alpha val="16000"/>
            </a:srgbClr>
          </a:solidFill>
          <a:ln w="9525">
            <a:solidFill>
              <a:srgbClr val="FF4D5E">
                <a:alpha val="50000"/>
              </a:srgbClr>
            </a:solidFill>
            <a:prstDash val="solid"/>
          </a:ln>
        </p:spPr>
      </p:sp>
      <p:pic>
        <p:nvPicPr>
          <p:cNvPr id="60" name="Image 1" descr="/private/tmp/claude-501/-Users-raja-forge/826f4f3b-77e1-484d-8167-0e3b60d97c63/scratchpad/deck/assets/icons/LuTriangleAlert-FF4D5E.png">    </p:cNvPr>
          <p:cNvPicPr>
            <a:picLocks noChangeAspect="1"/>
          </p:cNvPicPr>
          <p:nvPr/>
        </p:nvPicPr>
        <p:blipFill>
          <a:blip r:embed="rId2"/>
          <a:stretch>
            <a:fillRect/>
          </a:stretch>
        </p:blipFill>
        <p:spPr>
          <a:xfrm>
            <a:off x="4670450" y="4892040"/>
            <a:ext cx="237744" cy="237744"/>
          </a:xfrm>
          <a:prstGeom prst="rect">
            <a:avLst/>
          </a:prstGeom>
        </p:spPr>
      </p:pic>
      <p:sp>
        <p:nvSpPr>
          <p:cNvPr id="61" name="Text 57"/>
          <p:cNvSpPr txBox="1"/>
          <p:nvPr/>
        </p:nvSpPr>
        <p:spPr>
          <a:xfrm>
            <a:off x="5164226" y="4773168"/>
            <a:ext cx="2539898" cy="475488"/>
          </a:xfrm>
          <a:prstGeom prst="rect">
            <a:avLst/>
          </a:prstGeom>
          <a:noFill/>
          <a:ln/>
        </p:spPr>
        <p:txBody>
          <a:bodyPr wrap="square" lIns="0" tIns="0" rIns="0" bIns="0" rtlCol="0" anchor="ctr"/>
          <a:lstStyle/>
          <a:p>
            <a:pPr indent="0" marL="0">
              <a:buNone/>
            </a:pPr>
            <a:r>
              <a:rPr lang="en-US" sz="1500" b="1" dirty="0">
                <a:solidFill>
                  <a:srgbClr val="F3F5F8"/>
                </a:solidFill>
                <a:latin typeface="Arial" pitchFamily="34" charset="0"/>
                <a:ea typeface="Arial" pitchFamily="34" charset="-122"/>
                <a:cs typeface="Arial" pitchFamily="34" charset="-120"/>
              </a:rPr>
              <a:t>A rename isn’t enough</a:t>
            </a:r>
            <a:endParaRPr lang="en-US" sz="1500" dirty="0"/>
          </a:p>
        </p:txBody>
      </p:sp>
      <p:sp>
        <p:nvSpPr>
          <p:cNvPr id="62" name="Text 58"/>
          <p:cNvSpPr txBox="1"/>
          <p:nvPr/>
        </p:nvSpPr>
        <p:spPr>
          <a:xfrm>
            <a:off x="4551578" y="5376672"/>
            <a:ext cx="3088538" cy="603504"/>
          </a:xfrm>
          <a:prstGeom prst="rect">
            <a:avLst/>
          </a:prstGeom>
          <a:noFill/>
          <a:ln/>
        </p:spPr>
        <p:txBody>
          <a:bodyPr wrap="square" lIns="0" tIns="0" rIns="0" bIns="0" rtlCol="0" anchor="t"/>
          <a:lstStyle/>
          <a:p>
            <a:pPr indent="0" marL="0">
              <a:buNone/>
            </a:pPr>
            <a:r>
              <a:rPr lang="en-US" sz="1200" dirty="0">
                <a:solidFill>
                  <a:srgbClr val="AAB5C3"/>
                </a:solidFill>
                <a:latin typeface="Arial" pitchFamily="34" charset="0"/>
                <a:ea typeface="Arial" pitchFamily="34" charset="-122"/>
                <a:cs typeface="Arial" pitchFamily="34" charset="-120"/>
              </a:rPr>
              <a:t>getRealPath() is gone and JAXB left the JDK. A pure rename compiles, then fails at runtime.</a:t>
            </a:r>
            <a:endParaRPr lang="en-US" sz="1200" dirty="0"/>
          </a:p>
        </p:txBody>
      </p:sp>
      <p:sp>
        <p:nvSpPr>
          <p:cNvPr id="63" name="Shape 59"/>
          <p:cNvSpPr/>
          <p:nvPr/>
        </p:nvSpPr>
        <p:spPr>
          <a:xfrm>
            <a:off x="8097317" y="4572000"/>
            <a:ext cx="3545738" cy="1481328"/>
          </a:xfrm>
          <a:prstGeom prst="roundRect">
            <a:avLst>
              <a:gd name="adj" fmla="val 7407"/>
            </a:avLst>
          </a:prstGeom>
          <a:solidFill>
            <a:srgbClr val="121821">
              <a:alpha val="92000"/>
            </a:srgbClr>
          </a:solidFill>
          <a:ln w="9525">
            <a:solidFill>
              <a:srgbClr val="1E2835"/>
            </a:solidFill>
            <a:prstDash val="solid"/>
          </a:ln>
        </p:spPr>
      </p:sp>
      <p:sp>
        <p:nvSpPr>
          <p:cNvPr id="64" name="Shape 60"/>
          <p:cNvSpPr/>
          <p:nvPr/>
        </p:nvSpPr>
        <p:spPr>
          <a:xfrm>
            <a:off x="8325917" y="4773168"/>
            <a:ext cx="475488" cy="475488"/>
          </a:xfrm>
          <a:prstGeom prst="ellipse">
            <a:avLst/>
          </a:prstGeom>
          <a:solidFill>
            <a:srgbClr val="5EB1FF">
              <a:alpha val="16000"/>
            </a:srgbClr>
          </a:solidFill>
          <a:ln w="9525">
            <a:solidFill>
              <a:srgbClr val="5EB1FF">
                <a:alpha val="50000"/>
              </a:srgbClr>
            </a:solidFill>
            <a:prstDash val="solid"/>
          </a:ln>
        </p:spPr>
      </p:sp>
      <p:pic>
        <p:nvPicPr>
          <p:cNvPr id="65" name="Image 2" descr="/private/tmp/claude-501/-Users-raja-forge/826f4f3b-77e1-484d-8167-0e3b60d97c63/scratchpad/deck/assets/icons/LuGitBranch-5EB1FF.png">    </p:cNvPr>
          <p:cNvPicPr>
            <a:picLocks noChangeAspect="1"/>
          </p:cNvPicPr>
          <p:nvPr/>
        </p:nvPicPr>
        <p:blipFill>
          <a:blip r:embed="rId3"/>
          <a:stretch>
            <a:fillRect/>
          </a:stretch>
        </p:blipFill>
        <p:spPr>
          <a:xfrm>
            <a:off x="8444789" y="4892040"/>
            <a:ext cx="237744" cy="237744"/>
          </a:xfrm>
          <a:prstGeom prst="rect">
            <a:avLst/>
          </a:prstGeom>
        </p:spPr>
      </p:pic>
      <p:sp>
        <p:nvSpPr>
          <p:cNvPr id="66" name="Text 61"/>
          <p:cNvSpPr txBox="1"/>
          <p:nvPr/>
        </p:nvSpPr>
        <p:spPr>
          <a:xfrm>
            <a:off x="8938565" y="4773168"/>
            <a:ext cx="2539898" cy="475488"/>
          </a:xfrm>
          <a:prstGeom prst="rect">
            <a:avLst/>
          </a:prstGeom>
          <a:noFill/>
          <a:ln/>
        </p:spPr>
        <p:txBody>
          <a:bodyPr wrap="square" lIns="0" tIns="0" rIns="0" bIns="0" rtlCol="0" anchor="ctr"/>
          <a:lstStyle/>
          <a:p>
            <a:pPr indent="0" marL="0">
              <a:buNone/>
            </a:pPr>
            <a:r>
              <a:rPr lang="en-US" sz="1500" b="1" dirty="0">
                <a:solidFill>
                  <a:srgbClr val="F3F5F8"/>
                </a:solidFill>
                <a:latin typeface="Arial" pitchFamily="34" charset="0"/>
                <a:ea typeface="Arial" pitchFamily="34" charset="-122"/>
                <a:cs typeface="Arial" pitchFamily="34" charset="-120"/>
              </a:rPr>
              <a:t>Order is load-bearing</a:t>
            </a:r>
            <a:endParaRPr lang="en-US" sz="1500" dirty="0"/>
          </a:p>
        </p:txBody>
      </p:sp>
      <p:sp>
        <p:nvSpPr>
          <p:cNvPr id="67" name="Text 62"/>
          <p:cNvSpPr txBox="1"/>
          <p:nvPr/>
        </p:nvSpPr>
        <p:spPr>
          <a:xfrm>
            <a:off x="8325917" y="5376672"/>
            <a:ext cx="3088538" cy="603504"/>
          </a:xfrm>
          <a:prstGeom prst="rect">
            <a:avLst/>
          </a:prstGeom>
          <a:noFill/>
          <a:ln/>
        </p:spPr>
        <p:txBody>
          <a:bodyPr wrap="square" lIns="0" tIns="0" rIns="0" bIns="0" rtlCol="0" anchor="t"/>
          <a:lstStyle/>
          <a:p>
            <a:pPr indent="0" marL="0">
              <a:buNone/>
            </a:pPr>
            <a:r>
              <a:rPr lang="en-US" sz="1200" dirty="0">
                <a:solidFill>
                  <a:srgbClr val="AAB5C3"/>
                </a:solidFill>
                <a:latin typeface="Arial" pitchFamily="34" charset="0"/>
                <a:ea typeface="Arial" pitchFamily="34" charset="-122"/>
                <a:cs typeface="Arial" pitchFamily="34" charset="-120"/>
              </a:rPr>
              <a:t>Run a pack against the original source and it silently undoes the pack before it.</a:t>
            </a:r>
            <a:endParaRPr lang="en-US" sz="1200" dirty="0"/>
          </a:p>
        </p:txBody>
      </p:sp>
      <p:sp>
        <p:nvSpPr>
          <p:cNvPr id="68" name="Text 63"/>
          <p:cNvSpPr txBox="1"/>
          <p:nvPr/>
        </p:nvSpPr>
        <p:spPr>
          <a:xfrm>
            <a:off x="548640" y="6455664"/>
            <a:ext cx="5486400" cy="219456"/>
          </a:xfrm>
          <a:prstGeom prst="rect">
            <a:avLst/>
          </a:prstGeom>
          <a:noFill/>
          <a:ln/>
        </p:spPr>
        <p:txBody>
          <a:bodyPr wrap="square" lIns="0" tIns="0" rIns="0" bIns="0" rtlCol="0" anchor="t"/>
          <a:lstStyle/>
          <a:p>
            <a:pPr indent="0" marL="0">
              <a:buNone/>
            </a:pPr>
            <a:r>
              <a:rPr lang="en-US" sz="900" dirty="0">
                <a:solidFill>
                  <a:srgbClr val="738191"/>
                </a:solidFill>
                <a:latin typeface="Arial" pitchFamily="34" charset="0"/>
                <a:ea typeface="Arial" pitchFamily="34" charset="-122"/>
                <a:cs typeface="Arial" pitchFamily="34" charset="-120"/>
              </a:rPr>
              <a:t>FORGE  ·  Software Development Conference 2026</a:t>
            </a:r>
            <a:endParaRPr lang="en-US" sz="900" dirty="0"/>
          </a:p>
        </p:txBody>
      </p:sp>
      <p:sp>
        <p:nvSpPr>
          <p:cNvPr id="69" name="Text 64"/>
          <p:cNvSpPr txBox="1"/>
          <p:nvPr/>
        </p:nvSpPr>
        <p:spPr>
          <a:xfrm>
            <a:off x="11094415" y="6455664"/>
            <a:ext cx="548640" cy="219456"/>
          </a:xfrm>
          <a:prstGeom prst="rect">
            <a:avLst/>
          </a:prstGeom>
          <a:noFill/>
          <a:ln/>
        </p:spPr>
        <p:txBody>
          <a:bodyPr wrap="square" lIns="0" tIns="0" rIns="0" bIns="0" rtlCol="0" anchor="t"/>
          <a:lstStyle/>
          <a:p>
            <a:pPr algn="r" indent="0" marL="0">
              <a:buNone/>
            </a:pPr>
            <a:r>
              <a:rPr lang="en-US" sz="900" dirty="0">
                <a:solidFill>
                  <a:srgbClr val="738191"/>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t"/>
          <a:lstStyle/>
          <a:p>
            <a:pPr indent="0" marL="0">
              <a:buNone/>
            </a:pPr>
            <a:r>
              <a:rPr lang="en-US" sz="1100" b="1" spc="300" kern="0" dirty="0">
                <a:solidFill>
                  <a:srgbClr val="FF6A2B"/>
                </a:solidFill>
                <a:latin typeface="Arial" pitchFamily="34" charset="0"/>
                <a:ea typeface="Arial" pitchFamily="34" charset="-122"/>
                <a:cs typeface="Arial" pitchFamily="34" charset="-120"/>
              </a:rPr>
              <a:t>01  ·  THE PROBLEM</a:t>
            </a:r>
            <a:endParaRPr lang="en-US" sz="1100" dirty="0"/>
          </a:p>
        </p:txBody>
      </p:sp>
      <p:sp>
        <p:nvSpPr>
          <p:cNvPr id="3" name="Text 1"/>
          <p:cNvSpPr txBox="1"/>
          <p:nvPr/>
        </p:nvSpPr>
        <p:spPr>
          <a:xfrm>
            <a:off x="548640" y="676656"/>
            <a:ext cx="11094415" cy="658368"/>
          </a:xfrm>
          <a:prstGeom prst="rect">
            <a:avLst/>
          </a:prstGeom>
          <a:noFill/>
          <a:ln/>
        </p:spPr>
        <p:txBody>
          <a:bodyPr wrap="square" lIns="0" tIns="0" rIns="0" bIns="0" rtlCol="0" anchor="t"/>
          <a:lstStyle/>
          <a:p>
            <a:pPr indent="0" marL="0">
              <a:buNone/>
            </a:pPr>
            <a:r>
              <a:rPr lang="en-US" sz="3200" b="1" dirty="0">
                <a:solidFill>
                  <a:srgbClr val="F3F5F8"/>
                </a:solidFill>
                <a:latin typeface="Arial" pitchFamily="34" charset="0"/>
                <a:ea typeface="Arial" pitchFamily="34" charset="-122"/>
                <a:cs typeface="Arial" pitchFamily="34" charset="-120"/>
              </a:rPr>
              <a:t>Why not just ask an LLM to do it?</a:t>
            </a:r>
            <a:endParaRPr lang="en-US" sz="3200" dirty="0"/>
          </a:p>
        </p:txBody>
      </p:sp>
      <p:sp>
        <p:nvSpPr>
          <p:cNvPr id="4" name="Shape 2"/>
          <p:cNvSpPr/>
          <p:nvPr/>
        </p:nvSpPr>
        <p:spPr>
          <a:xfrm>
            <a:off x="548640" y="1600200"/>
            <a:ext cx="5410048" cy="1481328"/>
          </a:xfrm>
          <a:prstGeom prst="roundRect">
            <a:avLst>
              <a:gd name="adj" fmla="val 7407"/>
            </a:avLst>
          </a:prstGeom>
          <a:solidFill>
            <a:srgbClr val="121821">
              <a:alpha val="92000"/>
            </a:srgbClr>
          </a:solidFill>
          <a:ln w="9525">
            <a:solidFill>
              <a:srgbClr val="1E2835"/>
            </a:solidFill>
            <a:prstDash val="solid"/>
          </a:ln>
        </p:spPr>
      </p:sp>
      <p:sp>
        <p:nvSpPr>
          <p:cNvPr id="5" name="Shape 3"/>
          <p:cNvSpPr/>
          <p:nvPr/>
        </p:nvSpPr>
        <p:spPr>
          <a:xfrm>
            <a:off x="822960" y="1874520"/>
            <a:ext cx="566928" cy="566928"/>
          </a:xfrm>
          <a:prstGeom prst="ellipse">
            <a:avLst/>
          </a:prstGeom>
          <a:solidFill>
            <a:srgbClr val="FF4D5E">
              <a:alpha val="16000"/>
            </a:srgbClr>
          </a:solidFill>
          <a:ln w="9525">
            <a:solidFill>
              <a:srgbClr val="FF4D5E">
                <a:alpha val="50000"/>
              </a:srgbClr>
            </a:solidFill>
            <a:prstDash val="solid"/>
          </a:ln>
        </p:spPr>
      </p:sp>
      <p:pic>
        <p:nvPicPr>
          <p:cNvPr id="6" name="Image 0" descr="/private/tmp/claude-501/-Users-raja-forge/826f4f3b-77e1-484d-8167-0e3b60d97c63/scratchpad/deck/assets/icons/LuEye-FF4D5E.png">    </p:cNvPr>
          <p:cNvPicPr>
            <a:picLocks noChangeAspect="1"/>
          </p:cNvPicPr>
          <p:nvPr/>
        </p:nvPicPr>
        <p:blipFill>
          <a:blip r:embed="rId1"/>
          <a:stretch>
            <a:fillRect/>
          </a:stretch>
        </p:blipFill>
        <p:spPr>
          <a:xfrm>
            <a:off x="964692" y="2016252"/>
            <a:ext cx="283464" cy="283464"/>
          </a:xfrm>
          <a:prstGeom prst="rect">
            <a:avLst/>
          </a:prstGeom>
        </p:spPr>
      </p:pic>
      <p:sp>
        <p:nvSpPr>
          <p:cNvPr id="7" name="Text 4"/>
          <p:cNvSpPr txBox="1"/>
          <p:nvPr/>
        </p:nvSpPr>
        <p:spPr>
          <a:xfrm>
            <a:off x="1600200" y="1874520"/>
            <a:ext cx="4129888" cy="347472"/>
          </a:xfrm>
          <a:prstGeom prst="rect">
            <a:avLst/>
          </a:prstGeom>
          <a:noFill/>
          <a:ln/>
        </p:spPr>
        <p:txBody>
          <a:bodyPr wrap="square" lIns="0" tIns="0" rIns="0" bIns="0" rtlCol="0" anchor="t"/>
          <a:lstStyle/>
          <a:p>
            <a:pPr indent="0" marL="0">
              <a:buNone/>
            </a:pPr>
            <a:r>
              <a:rPr lang="en-US" sz="1800" b="1" dirty="0">
                <a:solidFill>
                  <a:srgbClr val="F3F5F8"/>
                </a:solidFill>
                <a:latin typeface="Arial" pitchFamily="34" charset="0"/>
                <a:ea typeface="Arial" pitchFamily="34" charset="-122"/>
                <a:cs typeface="Arial" pitchFamily="34" charset="-120"/>
              </a:rPr>
              <a:t>It leaks what it should protect</a:t>
            </a:r>
            <a:endParaRPr lang="en-US" sz="1800" dirty="0"/>
          </a:p>
        </p:txBody>
      </p:sp>
      <p:sp>
        <p:nvSpPr>
          <p:cNvPr id="8" name="Text 5"/>
          <p:cNvSpPr txBox="1"/>
          <p:nvPr/>
        </p:nvSpPr>
        <p:spPr>
          <a:xfrm>
            <a:off x="1600200" y="2276856"/>
            <a:ext cx="4129888" cy="713232"/>
          </a:xfrm>
          <a:prstGeom prst="rect">
            <a:avLst/>
          </a:prstGeom>
          <a:noFill/>
          <a:ln/>
        </p:spPr>
        <p:txBody>
          <a:bodyPr wrap="square" lIns="0" tIns="0" rIns="0" bIns="0" rtlCol="0" anchor="t"/>
          <a:lstStyle/>
          <a:p>
            <a:pPr indent="0" marL="0">
              <a:buNone/>
            </a:pPr>
            <a:r>
              <a:rPr lang="en-US" sz="1400" dirty="0">
                <a:solidFill>
                  <a:srgbClr val="AAB5C3"/>
                </a:solidFill>
                <a:latin typeface="Arial" pitchFamily="34" charset="0"/>
                <a:ea typeface="Arial" pitchFamily="34" charset="-122"/>
                <a:cs typeface="Arial" pitchFamily="34" charset="-120"/>
              </a:rPr>
              <a:t>Asking a model “does this file contain secrets?” works by sending it the secrets.</a:t>
            </a:r>
            <a:endParaRPr lang="en-US" sz="1400" dirty="0"/>
          </a:p>
        </p:txBody>
      </p:sp>
      <p:sp>
        <p:nvSpPr>
          <p:cNvPr id="9" name="Shape 6"/>
          <p:cNvSpPr/>
          <p:nvPr/>
        </p:nvSpPr>
        <p:spPr>
          <a:xfrm>
            <a:off x="6233008" y="1600200"/>
            <a:ext cx="5410048" cy="1481328"/>
          </a:xfrm>
          <a:prstGeom prst="roundRect">
            <a:avLst>
              <a:gd name="adj" fmla="val 7407"/>
            </a:avLst>
          </a:prstGeom>
          <a:solidFill>
            <a:srgbClr val="121821">
              <a:alpha val="92000"/>
            </a:srgbClr>
          </a:solidFill>
          <a:ln w="9525">
            <a:solidFill>
              <a:srgbClr val="1E2835"/>
            </a:solidFill>
            <a:prstDash val="solid"/>
          </a:ln>
        </p:spPr>
      </p:sp>
      <p:sp>
        <p:nvSpPr>
          <p:cNvPr id="10" name="Shape 7"/>
          <p:cNvSpPr/>
          <p:nvPr/>
        </p:nvSpPr>
        <p:spPr>
          <a:xfrm>
            <a:off x="6507328" y="1874520"/>
            <a:ext cx="566928" cy="566928"/>
          </a:xfrm>
          <a:prstGeom prst="ellipse">
            <a:avLst/>
          </a:prstGeom>
          <a:solidFill>
            <a:srgbClr val="FFB547">
              <a:alpha val="16000"/>
            </a:srgbClr>
          </a:solidFill>
          <a:ln w="9525">
            <a:solidFill>
              <a:srgbClr val="FFB547">
                <a:alpha val="50000"/>
              </a:srgbClr>
            </a:solidFill>
            <a:prstDash val="solid"/>
          </a:ln>
        </p:spPr>
      </p:sp>
      <p:pic>
        <p:nvPicPr>
          <p:cNvPr id="11" name="Image 1" descr="/private/tmp/claude-501/-Users-raja-forge/826f4f3b-77e1-484d-8167-0e3b60d97c63/scratchpad/deck/assets/icons/LuRepeat-FFB547.png">    </p:cNvPr>
          <p:cNvPicPr>
            <a:picLocks noChangeAspect="1"/>
          </p:cNvPicPr>
          <p:nvPr/>
        </p:nvPicPr>
        <p:blipFill>
          <a:blip r:embed="rId2"/>
          <a:stretch>
            <a:fillRect/>
          </a:stretch>
        </p:blipFill>
        <p:spPr>
          <a:xfrm>
            <a:off x="6649060" y="2016252"/>
            <a:ext cx="283464" cy="283464"/>
          </a:xfrm>
          <a:prstGeom prst="rect">
            <a:avLst/>
          </a:prstGeom>
        </p:spPr>
      </p:pic>
      <p:sp>
        <p:nvSpPr>
          <p:cNvPr id="12" name="Text 8"/>
          <p:cNvSpPr txBox="1"/>
          <p:nvPr/>
        </p:nvSpPr>
        <p:spPr>
          <a:xfrm>
            <a:off x="7284568" y="1874520"/>
            <a:ext cx="4129888" cy="347472"/>
          </a:xfrm>
          <a:prstGeom prst="rect">
            <a:avLst/>
          </a:prstGeom>
          <a:noFill/>
          <a:ln/>
        </p:spPr>
        <p:txBody>
          <a:bodyPr wrap="square" lIns="0" tIns="0" rIns="0" bIns="0" rtlCol="0" anchor="t"/>
          <a:lstStyle/>
          <a:p>
            <a:pPr indent="0" marL="0">
              <a:buNone/>
            </a:pPr>
            <a:r>
              <a:rPr lang="en-US" sz="1800" b="1" dirty="0">
                <a:solidFill>
                  <a:srgbClr val="F3F5F8"/>
                </a:solidFill>
                <a:latin typeface="Arial" pitchFamily="34" charset="0"/>
                <a:ea typeface="Arial" pitchFamily="34" charset="-122"/>
                <a:cs typeface="Arial" pitchFamily="34" charset="-120"/>
              </a:rPr>
              <a:t>It grades its own homework</a:t>
            </a:r>
            <a:endParaRPr lang="en-US" sz="1800" dirty="0"/>
          </a:p>
        </p:txBody>
      </p:sp>
      <p:sp>
        <p:nvSpPr>
          <p:cNvPr id="13" name="Text 9"/>
          <p:cNvSpPr txBox="1"/>
          <p:nvPr/>
        </p:nvSpPr>
        <p:spPr>
          <a:xfrm>
            <a:off x="7284568" y="2276856"/>
            <a:ext cx="4129888" cy="713232"/>
          </a:xfrm>
          <a:prstGeom prst="rect">
            <a:avLst/>
          </a:prstGeom>
          <a:noFill/>
          <a:ln/>
        </p:spPr>
        <p:txBody>
          <a:bodyPr wrap="square" lIns="0" tIns="0" rIns="0" bIns="0" rtlCol="0" anchor="t"/>
          <a:lstStyle/>
          <a:p>
            <a:pPr indent="0" marL="0">
              <a:buNone/>
            </a:pPr>
            <a:r>
              <a:rPr lang="en-US" sz="1400" dirty="0">
                <a:solidFill>
                  <a:srgbClr val="AAB5C3"/>
                </a:solidFill>
                <a:latin typeface="Arial" pitchFamily="34" charset="0"/>
                <a:ea typeface="Arial" pitchFamily="34" charset="-122"/>
                <a:cs typeface="Arial" pitchFamily="34" charset="-120"/>
              </a:rPr>
              <a:t>The model that wrote the change shares the blind spots that caused the mistake.</a:t>
            </a:r>
            <a:endParaRPr lang="en-US" sz="1400" dirty="0"/>
          </a:p>
        </p:txBody>
      </p:sp>
      <p:sp>
        <p:nvSpPr>
          <p:cNvPr id="14" name="Shape 10"/>
          <p:cNvSpPr/>
          <p:nvPr/>
        </p:nvSpPr>
        <p:spPr>
          <a:xfrm>
            <a:off x="548640" y="3310128"/>
            <a:ext cx="5410048" cy="1481328"/>
          </a:xfrm>
          <a:prstGeom prst="roundRect">
            <a:avLst>
              <a:gd name="adj" fmla="val 7407"/>
            </a:avLst>
          </a:prstGeom>
          <a:solidFill>
            <a:srgbClr val="121821">
              <a:alpha val="92000"/>
            </a:srgbClr>
          </a:solidFill>
          <a:ln w="9525">
            <a:solidFill>
              <a:srgbClr val="1E2835"/>
            </a:solidFill>
            <a:prstDash val="solid"/>
          </a:ln>
        </p:spPr>
      </p:sp>
      <p:sp>
        <p:nvSpPr>
          <p:cNvPr id="15" name="Shape 11"/>
          <p:cNvSpPr/>
          <p:nvPr/>
        </p:nvSpPr>
        <p:spPr>
          <a:xfrm>
            <a:off x="822960" y="3584448"/>
            <a:ext cx="566928" cy="566928"/>
          </a:xfrm>
          <a:prstGeom prst="ellipse">
            <a:avLst/>
          </a:prstGeom>
          <a:solidFill>
            <a:srgbClr val="FFB547">
              <a:alpha val="16000"/>
            </a:srgbClr>
          </a:solidFill>
          <a:ln w="9525">
            <a:solidFill>
              <a:srgbClr val="FFB547">
                <a:alpha val="50000"/>
              </a:srgbClr>
            </a:solidFill>
            <a:prstDash val="solid"/>
          </a:ln>
        </p:spPr>
      </p:sp>
      <p:pic>
        <p:nvPicPr>
          <p:cNvPr id="16" name="Image 2" descr="/private/tmp/claude-501/-Users-raja-forge/826f4f3b-77e1-484d-8167-0e3b60d97c63/scratchpad/deck/assets/icons/LuShuffle-FFB547.png">    </p:cNvPr>
          <p:cNvPicPr>
            <a:picLocks noChangeAspect="1"/>
          </p:cNvPicPr>
          <p:nvPr/>
        </p:nvPicPr>
        <p:blipFill>
          <a:blip r:embed="rId3"/>
          <a:stretch>
            <a:fillRect/>
          </a:stretch>
        </p:blipFill>
        <p:spPr>
          <a:xfrm>
            <a:off x="964692" y="3726180"/>
            <a:ext cx="283464" cy="283464"/>
          </a:xfrm>
          <a:prstGeom prst="rect">
            <a:avLst/>
          </a:prstGeom>
        </p:spPr>
      </p:pic>
      <p:sp>
        <p:nvSpPr>
          <p:cNvPr id="17" name="Text 12"/>
          <p:cNvSpPr txBox="1"/>
          <p:nvPr/>
        </p:nvSpPr>
        <p:spPr>
          <a:xfrm>
            <a:off x="1600200" y="3584448"/>
            <a:ext cx="4129888" cy="347472"/>
          </a:xfrm>
          <a:prstGeom prst="rect">
            <a:avLst/>
          </a:prstGeom>
          <a:noFill/>
          <a:ln/>
        </p:spPr>
        <p:txBody>
          <a:bodyPr wrap="square" lIns="0" tIns="0" rIns="0" bIns="0" rtlCol="0" anchor="t"/>
          <a:lstStyle/>
          <a:p>
            <a:pPr indent="0" marL="0">
              <a:buNone/>
            </a:pPr>
            <a:r>
              <a:rPr lang="en-US" sz="1800" b="1" dirty="0">
                <a:solidFill>
                  <a:srgbClr val="F3F5F8"/>
                </a:solidFill>
                <a:latin typeface="Arial" pitchFamily="34" charset="0"/>
                <a:ea typeface="Arial" pitchFamily="34" charset="-122"/>
                <a:cs typeface="Arial" pitchFamily="34" charset="-120"/>
              </a:rPr>
              <a:t>It can’t be replayed</a:t>
            </a:r>
            <a:endParaRPr lang="en-US" sz="1800" dirty="0"/>
          </a:p>
        </p:txBody>
      </p:sp>
      <p:sp>
        <p:nvSpPr>
          <p:cNvPr id="18" name="Text 13"/>
          <p:cNvSpPr txBox="1"/>
          <p:nvPr/>
        </p:nvSpPr>
        <p:spPr>
          <a:xfrm>
            <a:off x="1600200" y="3986784"/>
            <a:ext cx="4129888" cy="713232"/>
          </a:xfrm>
          <a:prstGeom prst="rect">
            <a:avLst/>
          </a:prstGeom>
          <a:noFill/>
          <a:ln/>
        </p:spPr>
        <p:txBody>
          <a:bodyPr wrap="square" lIns="0" tIns="0" rIns="0" bIns="0" rtlCol="0" anchor="t"/>
          <a:lstStyle/>
          <a:p>
            <a:pPr indent="0" marL="0">
              <a:buNone/>
            </a:pPr>
            <a:r>
              <a:rPr lang="en-US" sz="1400" dirty="0">
                <a:solidFill>
                  <a:srgbClr val="AAB5C3"/>
                </a:solidFill>
                <a:latin typeface="Arial" pitchFamily="34" charset="0"/>
                <a:ea typeface="Arial" pitchFamily="34" charset="-122"/>
                <a:cs typeface="Arial" pitchFamily="34" charset="-120"/>
              </a:rPr>
              <a:t>A plan and run order chosen by a model drift from run to run. An audit needs the same answer twice.</a:t>
            </a:r>
            <a:endParaRPr lang="en-US" sz="1400" dirty="0"/>
          </a:p>
        </p:txBody>
      </p:sp>
      <p:sp>
        <p:nvSpPr>
          <p:cNvPr id="19" name="Shape 14"/>
          <p:cNvSpPr/>
          <p:nvPr/>
        </p:nvSpPr>
        <p:spPr>
          <a:xfrm>
            <a:off x="6233008" y="3310128"/>
            <a:ext cx="5410048" cy="1481328"/>
          </a:xfrm>
          <a:prstGeom prst="roundRect">
            <a:avLst>
              <a:gd name="adj" fmla="val 7407"/>
            </a:avLst>
          </a:prstGeom>
          <a:solidFill>
            <a:srgbClr val="121821">
              <a:alpha val="92000"/>
            </a:srgbClr>
          </a:solidFill>
          <a:ln w="9525">
            <a:solidFill>
              <a:srgbClr val="1E2835"/>
            </a:solidFill>
            <a:prstDash val="solid"/>
          </a:ln>
        </p:spPr>
      </p:sp>
      <p:sp>
        <p:nvSpPr>
          <p:cNvPr id="20" name="Shape 15"/>
          <p:cNvSpPr/>
          <p:nvPr/>
        </p:nvSpPr>
        <p:spPr>
          <a:xfrm>
            <a:off x="6507328" y="3584448"/>
            <a:ext cx="566928" cy="566928"/>
          </a:xfrm>
          <a:prstGeom prst="ellipse">
            <a:avLst/>
          </a:prstGeom>
          <a:solidFill>
            <a:srgbClr val="FF4D5E">
              <a:alpha val="16000"/>
            </a:srgbClr>
          </a:solidFill>
          <a:ln w="9525">
            <a:solidFill>
              <a:srgbClr val="FF4D5E">
                <a:alpha val="50000"/>
              </a:srgbClr>
            </a:solidFill>
            <a:prstDash val="solid"/>
          </a:ln>
        </p:spPr>
      </p:sp>
      <p:pic>
        <p:nvPicPr>
          <p:cNvPr id="21" name="Image 3" descr="/private/tmp/claude-501/-Users-raja-forge/826f4f3b-77e1-484d-8167-0e3b60d97c63/scratchpad/deck/assets/icons/LuTarget-FF4D5E.png">    </p:cNvPr>
          <p:cNvPicPr>
            <a:picLocks noChangeAspect="1"/>
          </p:cNvPicPr>
          <p:nvPr/>
        </p:nvPicPr>
        <p:blipFill>
          <a:blip r:embed="rId4"/>
          <a:stretch>
            <a:fillRect/>
          </a:stretch>
        </p:blipFill>
        <p:spPr>
          <a:xfrm>
            <a:off x="6649060" y="3726180"/>
            <a:ext cx="283464" cy="283464"/>
          </a:xfrm>
          <a:prstGeom prst="rect">
            <a:avLst/>
          </a:prstGeom>
        </p:spPr>
      </p:pic>
      <p:sp>
        <p:nvSpPr>
          <p:cNvPr id="22" name="Text 16"/>
          <p:cNvSpPr txBox="1"/>
          <p:nvPr/>
        </p:nvSpPr>
        <p:spPr>
          <a:xfrm>
            <a:off x="7284568" y="3584448"/>
            <a:ext cx="4129888" cy="347472"/>
          </a:xfrm>
          <a:prstGeom prst="rect">
            <a:avLst/>
          </a:prstGeom>
          <a:noFill/>
          <a:ln/>
        </p:spPr>
        <p:txBody>
          <a:bodyPr wrap="square" lIns="0" tIns="0" rIns="0" bIns="0" rtlCol="0" anchor="t"/>
          <a:lstStyle/>
          <a:p>
            <a:pPr indent="0" marL="0">
              <a:buNone/>
            </a:pPr>
            <a:r>
              <a:rPr lang="en-US" sz="1800" b="1" dirty="0">
                <a:solidFill>
                  <a:srgbClr val="F3F5F8"/>
                </a:solidFill>
                <a:latin typeface="Arial" pitchFamily="34" charset="0"/>
                <a:ea typeface="Arial" pitchFamily="34" charset="-122"/>
                <a:cs typeface="Arial" pitchFamily="34" charset="-120"/>
              </a:rPr>
              <a:t>It fumbles mechanical questions</a:t>
            </a:r>
            <a:endParaRPr lang="en-US" sz="1800" dirty="0"/>
          </a:p>
        </p:txBody>
      </p:sp>
      <p:sp>
        <p:nvSpPr>
          <p:cNvPr id="23" name="Text 17"/>
          <p:cNvSpPr txBox="1"/>
          <p:nvPr/>
        </p:nvSpPr>
        <p:spPr>
          <a:xfrm>
            <a:off x="7284568" y="3986784"/>
            <a:ext cx="4129888" cy="713232"/>
          </a:xfrm>
          <a:prstGeom prst="rect">
            <a:avLst/>
          </a:prstGeom>
          <a:noFill/>
          <a:ln/>
        </p:spPr>
        <p:txBody>
          <a:bodyPr wrap="square" lIns="0" tIns="0" rIns="0" bIns="0" rtlCol="0" anchor="t"/>
          <a:lstStyle/>
          <a:p>
            <a:pPr indent="0" marL="0">
              <a:buNone/>
            </a:pPr>
            <a:r>
              <a:rPr lang="en-US" sz="1400" dirty="0">
                <a:solidFill>
                  <a:srgbClr val="AAB5C3"/>
                </a:solidFill>
                <a:latin typeface="Arial" pitchFamily="34" charset="0"/>
                <a:ea typeface="Arial" pitchFamily="34" charset="-122"/>
                <a:cs typeface="Arial" pitchFamily="34" charset="-120"/>
              </a:rPr>
              <a:t>We asked a model “is this file in scope?” Both early live runs went to manual review, one at a passing score of 80.</a:t>
            </a:r>
            <a:endParaRPr lang="en-US" sz="1400" dirty="0"/>
          </a:p>
        </p:txBody>
      </p:sp>
      <p:sp>
        <p:nvSpPr>
          <p:cNvPr id="24" name="Shape 18"/>
          <p:cNvSpPr/>
          <p:nvPr/>
        </p:nvSpPr>
        <p:spPr>
          <a:xfrm>
            <a:off x="548640" y="5120640"/>
            <a:ext cx="11094415" cy="987552"/>
          </a:xfrm>
          <a:prstGeom prst="roundRect">
            <a:avLst>
              <a:gd name="adj" fmla="val 11111"/>
            </a:avLst>
          </a:prstGeom>
          <a:solidFill>
            <a:srgbClr val="FF6A2B">
              <a:alpha val="10000"/>
            </a:srgbClr>
          </a:solidFill>
          <a:ln w="9525">
            <a:solidFill>
              <a:srgbClr val="FF6A2B">
                <a:alpha val="40000"/>
              </a:srgbClr>
            </a:solidFill>
            <a:prstDash val="solid"/>
          </a:ln>
        </p:spPr>
      </p:sp>
      <p:sp>
        <p:nvSpPr>
          <p:cNvPr id="25" name="Text 19"/>
          <p:cNvSpPr txBox="1"/>
          <p:nvPr/>
        </p:nvSpPr>
        <p:spPr>
          <a:xfrm>
            <a:off x="914400" y="5266944"/>
            <a:ext cx="10362895" cy="411480"/>
          </a:xfrm>
          <a:prstGeom prst="rect">
            <a:avLst/>
          </a:prstGeom>
          <a:noFill/>
          <a:ln/>
        </p:spPr>
        <p:txBody>
          <a:bodyPr wrap="square" lIns="0" tIns="0" rIns="0" bIns="0" rtlCol="0" anchor="t"/>
          <a:lstStyle/>
          <a:p>
            <a:pPr indent="0" marL="0">
              <a:buNone/>
            </a:pPr>
            <a:r>
              <a:rPr lang="en-US" sz="2200" b="1" dirty="0">
                <a:solidFill>
                  <a:srgbClr val="F3F5F8"/>
                </a:solidFill>
                <a:latin typeface="Arial" pitchFamily="34" charset="0"/>
                <a:ea typeface="Arial" pitchFamily="34" charset="-122"/>
                <a:cs typeface="Arial" pitchFamily="34" charset="-120"/>
              </a:rPr>
              <a:t>“A model can never be the control that decides what a model may see.”</a:t>
            </a:r>
            <a:endParaRPr lang="en-US" sz="2200" dirty="0"/>
          </a:p>
        </p:txBody>
      </p:sp>
      <p:sp>
        <p:nvSpPr>
          <p:cNvPr id="26" name="Text 20"/>
          <p:cNvSpPr txBox="1"/>
          <p:nvPr/>
        </p:nvSpPr>
        <p:spPr>
          <a:xfrm>
            <a:off x="914400" y="5705856"/>
            <a:ext cx="10362895" cy="274320"/>
          </a:xfrm>
          <a:prstGeom prst="rect">
            <a:avLst/>
          </a:prstGeom>
          <a:noFill/>
          <a:ln/>
        </p:spPr>
        <p:txBody>
          <a:bodyPr wrap="square" lIns="0" tIns="0" rIns="0" bIns="0" rtlCol="0" anchor="t"/>
          <a:lstStyle/>
          <a:p>
            <a:pPr indent="0" marL="0">
              <a:buNone/>
            </a:pPr>
            <a:r>
              <a:rPr lang="en-US" sz="1100" dirty="0">
                <a:solidFill>
                  <a:srgbClr val="FF8A55"/>
                </a:solidFill>
                <a:latin typeface="Arial" pitchFamily="34" charset="0"/>
                <a:ea typeface="Arial" pitchFamily="34" charset="-122"/>
                <a:cs typeface="Arial" pitchFamily="34" charset="-120"/>
              </a:rPr>
              <a:t>FORGE design rule  ·  forge-mvp/GUARDRAILS.md</a:t>
            </a:r>
            <a:endParaRPr lang="en-US" sz="1100" dirty="0"/>
          </a:p>
        </p:txBody>
      </p:sp>
      <p:sp>
        <p:nvSpPr>
          <p:cNvPr id="27" name="Text 21"/>
          <p:cNvSpPr txBox="1"/>
          <p:nvPr/>
        </p:nvSpPr>
        <p:spPr>
          <a:xfrm>
            <a:off x="548640" y="6455664"/>
            <a:ext cx="5486400" cy="219456"/>
          </a:xfrm>
          <a:prstGeom prst="rect">
            <a:avLst/>
          </a:prstGeom>
          <a:noFill/>
          <a:ln/>
        </p:spPr>
        <p:txBody>
          <a:bodyPr wrap="square" lIns="0" tIns="0" rIns="0" bIns="0" rtlCol="0" anchor="t"/>
          <a:lstStyle/>
          <a:p>
            <a:pPr indent="0" marL="0">
              <a:buNone/>
            </a:pPr>
            <a:r>
              <a:rPr lang="en-US" sz="900" dirty="0">
                <a:solidFill>
                  <a:srgbClr val="738191"/>
                </a:solidFill>
                <a:latin typeface="Arial" pitchFamily="34" charset="0"/>
                <a:ea typeface="Arial" pitchFamily="34" charset="-122"/>
                <a:cs typeface="Arial" pitchFamily="34" charset="-120"/>
              </a:rPr>
              <a:t>FORGE  ·  Software Development Conference 2026</a:t>
            </a:r>
            <a:endParaRPr lang="en-US" sz="900" dirty="0"/>
          </a:p>
        </p:txBody>
      </p:sp>
      <p:sp>
        <p:nvSpPr>
          <p:cNvPr id="28" name="Text 22"/>
          <p:cNvSpPr txBox="1"/>
          <p:nvPr/>
        </p:nvSpPr>
        <p:spPr>
          <a:xfrm>
            <a:off x="11094415" y="6455664"/>
            <a:ext cx="548640" cy="219456"/>
          </a:xfrm>
          <a:prstGeom prst="rect">
            <a:avLst/>
          </a:prstGeom>
          <a:noFill/>
          <a:ln/>
        </p:spPr>
        <p:txBody>
          <a:bodyPr wrap="square" lIns="0" tIns="0" rIns="0" bIns="0" rtlCol="0" anchor="t"/>
          <a:lstStyle/>
          <a:p>
            <a:pPr algn="r" indent="0" marL="0">
              <a:buNone/>
            </a:pPr>
            <a:r>
              <a:rPr lang="en-US" sz="900" dirty="0">
                <a:solidFill>
                  <a:srgbClr val="738191"/>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822960" y="1783080"/>
            <a:ext cx="5486400" cy="274320"/>
          </a:xfrm>
          <a:prstGeom prst="rect">
            <a:avLst/>
          </a:prstGeom>
          <a:noFill/>
          <a:ln/>
        </p:spPr>
        <p:txBody>
          <a:bodyPr wrap="square" lIns="0" tIns="0" rIns="0" bIns="0" rtlCol="0" anchor="t"/>
          <a:lstStyle/>
          <a:p>
            <a:pPr indent="0" marL="0">
              <a:buNone/>
            </a:pPr>
            <a:r>
              <a:rPr lang="en-US" sz="1200" b="1" spc="400" kern="0" dirty="0">
                <a:solidFill>
                  <a:srgbClr val="FF6A2B"/>
                </a:solidFill>
                <a:latin typeface="Arial" pitchFamily="34" charset="0"/>
                <a:ea typeface="Arial" pitchFamily="34" charset="-122"/>
                <a:cs typeface="Arial" pitchFamily="34" charset="-120"/>
              </a:rPr>
              <a:t>02  ·  THE PRINCIPLE</a:t>
            </a:r>
            <a:endParaRPr lang="en-US" sz="1200" dirty="0"/>
          </a:p>
        </p:txBody>
      </p:sp>
      <p:sp>
        <p:nvSpPr>
          <p:cNvPr id="3" name="Text 1"/>
          <p:cNvSpPr txBox="1"/>
          <p:nvPr/>
        </p:nvSpPr>
        <p:spPr>
          <a:xfrm>
            <a:off x="777240" y="2194560"/>
            <a:ext cx="10515600" cy="1143000"/>
          </a:xfrm>
          <a:prstGeom prst="rect">
            <a:avLst/>
          </a:prstGeom>
          <a:noFill/>
          <a:ln/>
        </p:spPr>
        <p:txBody>
          <a:bodyPr wrap="square" lIns="0" tIns="0" rIns="0" bIns="0" rtlCol="0" anchor="t"/>
          <a:lstStyle/>
          <a:p>
            <a:pPr indent="0" marL="0">
              <a:buNone/>
            </a:pPr>
            <a:r>
              <a:rPr lang="en-US" sz="7200" b="1" dirty="0">
                <a:solidFill>
                  <a:srgbClr val="F3F5F8"/>
                </a:solidFill>
                <a:latin typeface="Arial" pitchFamily="34" charset="0"/>
                <a:ea typeface="Arial" pitchFamily="34" charset="-122"/>
                <a:cs typeface="Arial" pitchFamily="34" charset="-120"/>
              </a:rPr>
              <a:t>Models propose.</a:t>
            </a:r>
            <a:endParaRPr lang="en-US" sz="7200" dirty="0"/>
          </a:p>
        </p:txBody>
      </p:sp>
      <p:sp>
        <p:nvSpPr>
          <p:cNvPr id="4" name="Text 2"/>
          <p:cNvSpPr txBox="1"/>
          <p:nvPr/>
        </p:nvSpPr>
        <p:spPr>
          <a:xfrm>
            <a:off x="777240" y="3291840"/>
            <a:ext cx="10515600" cy="1143000"/>
          </a:xfrm>
          <a:prstGeom prst="rect">
            <a:avLst/>
          </a:prstGeom>
          <a:noFill/>
          <a:ln/>
        </p:spPr>
        <p:txBody>
          <a:bodyPr wrap="square" lIns="0" tIns="0" rIns="0" bIns="0" rtlCol="0" anchor="t"/>
          <a:lstStyle/>
          <a:p>
            <a:pPr indent="0" marL="0">
              <a:buNone/>
            </a:pPr>
            <a:r>
              <a:rPr lang="en-US" sz="7200" b="1" dirty="0">
                <a:solidFill>
                  <a:srgbClr val="FF6A2B"/>
                </a:solidFill>
                <a:effectLst>
                  <a:glow rad="177800">
                    <a:srgbClr val="FF6A2B">
                      <a:alpha val="28000"/>
                    </a:srgbClr>
                  </a:glow>
                </a:effectLst>
                <a:latin typeface="Arial" pitchFamily="34" charset="0"/>
                <a:ea typeface="Arial" pitchFamily="34" charset="-122"/>
                <a:cs typeface="Arial" pitchFamily="34" charset="-120"/>
              </a:rPr>
              <a:t>Code disposes.</a:t>
            </a:r>
            <a:endParaRPr lang="en-US" sz="7200" dirty="0"/>
          </a:p>
        </p:txBody>
      </p:sp>
      <p:sp>
        <p:nvSpPr>
          <p:cNvPr id="5" name="Text 3"/>
          <p:cNvSpPr txBox="1"/>
          <p:nvPr/>
        </p:nvSpPr>
        <p:spPr>
          <a:xfrm>
            <a:off x="822960" y="4663440"/>
            <a:ext cx="7863840" cy="822960"/>
          </a:xfrm>
          <a:prstGeom prst="rect">
            <a:avLst/>
          </a:prstGeom>
          <a:noFill/>
          <a:ln/>
        </p:spPr>
        <p:txBody>
          <a:bodyPr wrap="square" lIns="0" tIns="0" rIns="0" bIns="0" rtlCol="0" anchor="t"/>
          <a:lstStyle/>
          <a:p>
            <a:pPr indent="0" marL="0">
              <a:lnSpc>
                <a:spcPct val="110000"/>
              </a:lnSpc>
              <a:buNone/>
            </a:pPr>
            <a:r>
              <a:rPr lang="en-US" sz="2000" dirty="0">
                <a:solidFill>
                  <a:srgbClr val="AAB5C3"/>
                </a:solidFill>
                <a:latin typeface="Arial" pitchFamily="34" charset="0"/>
                <a:ea typeface="Arial" pitchFamily="34" charset="-122"/>
                <a:cs typeface="Arial" pitchFamily="34" charset="-120"/>
              </a:rPr>
              <a:t>Generative where the work needs judgment. Deterministic wherever the answer must be certain.</a:t>
            </a:r>
            <a:endParaRPr lang="en-US" sz="2000" dirty="0"/>
          </a:p>
        </p:txBody>
      </p:sp>
      <p:sp>
        <p:nvSpPr>
          <p:cNvPr id="6" name="Text 4"/>
          <p:cNvSpPr txBox="1"/>
          <p:nvPr/>
        </p:nvSpPr>
        <p:spPr>
          <a:xfrm>
            <a:off x="548640" y="6455664"/>
            <a:ext cx="5486400" cy="219456"/>
          </a:xfrm>
          <a:prstGeom prst="rect">
            <a:avLst/>
          </a:prstGeom>
          <a:noFill/>
          <a:ln/>
        </p:spPr>
        <p:txBody>
          <a:bodyPr wrap="square" lIns="0" tIns="0" rIns="0" bIns="0" rtlCol="0" anchor="t"/>
          <a:lstStyle/>
          <a:p>
            <a:pPr indent="0" marL="0">
              <a:buNone/>
            </a:pPr>
            <a:r>
              <a:rPr lang="en-US" sz="900" dirty="0">
                <a:solidFill>
                  <a:srgbClr val="738191"/>
                </a:solidFill>
                <a:latin typeface="Arial" pitchFamily="34" charset="0"/>
                <a:ea typeface="Arial" pitchFamily="34" charset="-122"/>
                <a:cs typeface="Arial" pitchFamily="34" charset="-120"/>
              </a:rPr>
              <a:t>FORGE  ·  Software Development Conference 2026</a:t>
            </a:r>
            <a:endParaRPr lang="en-US" sz="900" dirty="0"/>
          </a:p>
        </p:txBody>
      </p:sp>
      <p:sp>
        <p:nvSpPr>
          <p:cNvPr id="7" name="Text 5"/>
          <p:cNvSpPr txBox="1"/>
          <p:nvPr/>
        </p:nvSpPr>
        <p:spPr>
          <a:xfrm>
            <a:off x="11094415" y="6455664"/>
            <a:ext cx="548640" cy="219456"/>
          </a:xfrm>
          <a:prstGeom prst="rect">
            <a:avLst/>
          </a:prstGeom>
          <a:noFill/>
          <a:ln/>
        </p:spPr>
        <p:txBody>
          <a:bodyPr wrap="square" lIns="0" tIns="0" rIns="0" bIns="0" rtlCol="0" anchor="t"/>
          <a:lstStyle/>
          <a:p>
            <a:pPr algn="r" indent="0" marL="0">
              <a:buNone/>
            </a:pPr>
            <a:r>
              <a:rPr lang="en-US" sz="900" dirty="0">
                <a:solidFill>
                  <a:srgbClr val="738191"/>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t"/>
          <a:lstStyle/>
          <a:p>
            <a:pPr indent="0" marL="0">
              <a:buNone/>
            </a:pPr>
            <a:r>
              <a:rPr lang="en-US" sz="1100" b="1" spc="300" kern="0" dirty="0">
                <a:solidFill>
                  <a:srgbClr val="FF6A2B"/>
                </a:solidFill>
                <a:latin typeface="Arial" pitchFamily="34" charset="0"/>
                <a:ea typeface="Arial" pitchFamily="34" charset="-122"/>
                <a:cs typeface="Arial" pitchFamily="34" charset="-120"/>
              </a:rPr>
              <a:t>02  ·  THE PRINCIPLE</a:t>
            </a:r>
            <a:endParaRPr lang="en-US" sz="1100" dirty="0"/>
          </a:p>
        </p:txBody>
      </p:sp>
      <p:sp>
        <p:nvSpPr>
          <p:cNvPr id="3" name="Text 1"/>
          <p:cNvSpPr txBox="1"/>
          <p:nvPr/>
        </p:nvSpPr>
        <p:spPr>
          <a:xfrm>
            <a:off x="548640" y="676656"/>
            <a:ext cx="11094415" cy="658368"/>
          </a:xfrm>
          <a:prstGeom prst="rect">
            <a:avLst/>
          </a:prstGeom>
          <a:noFill/>
          <a:ln/>
        </p:spPr>
        <p:txBody>
          <a:bodyPr wrap="square" lIns="0" tIns="0" rIns="0" bIns="0" rtlCol="0" anchor="t"/>
          <a:lstStyle/>
          <a:p>
            <a:pPr indent="0" marL="0">
              <a:buNone/>
            </a:pPr>
            <a:r>
              <a:rPr lang="en-US" sz="3200" b="1" dirty="0">
                <a:solidFill>
                  <a:srgbClr val="F3F5F8"/>
                </a:solidFill>
                <a:latin typeface="Arial" pitchFamily="34" charset="0"/>
                <a:ea typeface="Arial" pitchFamily="34" charset="-122"/>
                <a:cs typeface="Arial" pitchFamily="34" charset="-120"/>
              </a:rPr>
              <a:t>Legacy J2EE in. A reviewed, modern WAR out.</a:t>
            </a:r>
            <a:endParaRPr lang="en-US" sz="3200" dirty="0"/>
          </a:p>
        </p:txBody>
      </p:sp>
      <p:sp>
        <p:nvSpPr>
          <p:cNvPr id="4" name="Text 2"/>
          <p:cNvSpPr txBox="1"/>
          <p:nvPr/>
        </p:nvSpPr>
        <p:spPr>
          <a:xfrm>
            <a:off x="548640" y="1316736"/>
            <a:ext cx="10607040" cy="512064"/>
          </a:xfrm>
          <a:prstGeom prst="rect">
            <a:avLst/>
          </a:prstGeom>
          <a:noFill/>
          <a:ln/>
        </p:spPr>
        <p:txBody>
          <a:bodyPr wrap="square" lIns="0" tIns="0" rIns="0" bIns="0" rtlCol="0" anchor="t"/>
          <a:lstStyle/>
          <a:p>
            <a:pPr indent="0" marL="0">
              <a:lnSpc>
                <a:spcPct val="105000"/>
              </a:lnSpc>
              <a:buNone/>
            </a:pPr>
            <a:r>
              <a:rPr lang="en-US" sz="1500" dirty="0">
                <a:solidFill>
                  <a:srgbClr val="AAB5C3"/>
                </a:solidFill>
                <a:latin typeface="Arial" pitchFamily="34" charset="0"/>
                <a:ea typeface="Arial" pitchFamily="34" charset="-122"/>
                <a:cs typeface="Arial" pitchFamily="34" charset="-120"/>
              </a:rPr>
              <a:t>Java 21 · Jakarta EE 10 · Spring 6.2 · a WAR on Liberty, no Spring Boot. One technology pack at a time.</a:t>
            </a:r>
            <a:endParaRPr lang="en-US" sz="1500" dirty="0"/>
          </a:p>
        </p:txBody>
      </p:sp>
      <p:sp>
        <p:nvSpPr>
          <p:cNvPr id="5" name="Shape 3"/>
          <p:cNvSpPr/>
          <p:nvPr/>
        </p:nvSpPr>
        <p:spPr>
          <a:xfrm>
            <a:off x="548640" y="2057400"/>
            <a:ext cx="3017520" cy="2377440"/>
          </a:xfrm>
          <a:prstGeom prst="roundRect">
            <a:avLst>
              <a:gd name="adj" fmla="val 4615"/>
            </a:avLst>
          </a:prstGeom>
          <a:solidFill>
            <a:srgbClr val="121821">
              <a:alpha val="92000"/>
            </a:srgbClr>
          </a:solidFill>
          <a:ln w="9525">
            <a:solidFill>
              <a:srgbClr val="1E2835"/>
            </a:solidFill>
            <a:prstDash val="solid"/>
          </a:ln>
        </p:spPr>
      </p:sp>
      <p:sp>
        <p:nvSpPr>
          <p:cNvPr id="6" name="Text 4"/>
          <p:cNvSpPr txBox="1"/>
          <p:nvPr/>
        </p:nvSpPr>
        <p:spPr>
          <a:xfrm>
            <a:off x="822960" y="2313432"/>
            <a:ext cx="2286000" cy="228600"/>
          </a:xfrm>
          <a:prstGeom prst="rect">
            <a:avLst/>
          </a:prstGeom>
          <a:noFill/>
          <a:ln/>
        </p:spPr>
        <p:txBody>
          <a:bodyPr wrap="square" lIns="0" tIns="0" rIns="0" bIns="0" rtlCol="0" anchor="t"/>
          <a:lstStyle/>
          <a:p>
            <a:pPr indent="0" marL="0">
              <a:buNone/>
            </a:pPr>
            <a:r>
              <a:rPr lang="en-US" sz="1100" b="1" spc="300" kern="0" dirty="0">
                <a:solidFill>
                  <a:srgbClr val="738191"/>
                </a:solidFill>
                <a:latin typeface="Arial" pitchFamily="34" charset="0"/>
                <a:ea typeface="Arial" pitchFamily="34" charset="-122"/>
                <a:cs typeface="Arial" pitchFamily="34" charset="-120"/>
              </a:rPr>
              <a:t>LEGACY</a:t>
            </a:r>
            <a:endParaRPr lang="en-US" sz="1100" dirty="0"/>
          </a:p>
        </p:txBody>
      </p:sp>
      <p:sp>
        <p:nvSpPr>
          <p:cNvPr id="7" name="Text 5"/>
          <p:cNvSpPr txBox="1"/>
          <p:nvPr/>
        </p:nvSpPr>
        <p:spPr>
          <a:xfrm>
            <a:off x="822960" y="2660904"/>
            <a:ext cx="2606040" cy="1645920"/>
          </a:xfrm>
          <a:prstGeom prst="rect">
            <a:avLst/>
          </a:prstGeom>
          <a:noFill/>
          <a:ln/>
        </p:spPr>
        <p:txBody>
          <a:bodyPr wrap="square" lIns="0" tIns="0" rIns="0" bIns="0" rtlCol="0" anchor="t"/>
          <a:lstStyle/>
          <a:p>
            <a:pPr indent="0" marL="0">
              <a:lnSpc>
                <a:spcPct val="115000"/>
              </a:lnSpc>
              <a:buNone/>
            </a:pPr>
            <a:r>
              <a:rPr lang="en-US" sz="1350" dirty="0">
                <a:solidFill>
                  <a:srgbClr val="AAB5C3"/>
                </a:solidFill>
                <a:latin typeface="Arial" pitchFamily="34" charset="0"/>
                <a:ea typeface="Arial" pitchFamily="34" charset="-122"/>
                <a:cs typeface="Arial" pitchFamily="34" charset="-120"/>
              </a:rPr>
              <a:t>Java 8</a:t>
            </a:r>
            <a:endParaRPr lang="en-US" sz="1350" dirty="0"/>
          </a:p>
          <a:p>
            <a:pPr indent="0" marL="0">
              <a:lnSpc>
                <a:spcPct val="115000"/>
              </a:lnSpc>
              <a:buNone/>
            </a:pPr>
            <a:r>
              <a:rPr lang="en-US" sz="1350" dirty="0">
                <a:solidFill>
                  <a:srgbClr val="AAB5C3"/>
                </a:solidFill>
                <a:latin typeface="Arial" pitchFamily="34" charset="0"/>
                <a:ea typeface="Arial" pitchFamily="34" charset="-122"/>
                <a:cs typeface="Arial" pitchFamily="34" charset="-120"/>
              </a:rPr>
              <a:t>javax.*</a:t>
            </a:r>
            <a:endParaRPr lang="en-US" sz="1350" dirty="0"/>
          </a:p>
          <a:p>
            <a:pPr indent="0" marL="0">
              <a:lnSpc>
                <a:spcPct val="115000"/>
              </a:lnSpc>
              <a:buNone/>
            </a:pPr>
            <a:r>
              <a:rPr lang="en-US" sz="1350" dirty="0">
                <a:solidFill>
                  <a:srgbClr val="AAB5C3"/>
                </a:solidFill>
                <a:latin typeface="Arial" pitchFamily="34" charset="0"/>
                <a:ea typeface="Arial" pitchFamily="34" charset="-122"/>
                <a:cs typeface="Arial" pitchFamily="34" charset="-120"/>
              </a:rPr>
              <a:t>Struts 6.8</a:t>
            </a:r>
            <a:endParaRPr lang="en-US" sz="1350" dirty="0"/>
          </a:p>
          <a:p>
            <a:pPr indent="0" marL="0">
              <a:lnSpc>
                <a:spcPct val="115000"/>
              </a:lnSpc>
              <a:buNone/>
            </a:pPr>
            <a:r>
              <a:rPr lang="en-US" sz="1350" dirty="0">
                <a:solidFill>
                  <a:srgbClr val="AAB5C3"/>
                </a:solidFill>
                <a:latin typeface="Arial" pitchFamily="34" charset="0"/>
                <a:ea typeface="Arial" pitchFamily="34" charset="-122"/>
                <a:cs typeface="Arial" pitchFamily="34" charset="-120"/>
              </a:rPr>
              <a:t>Spring 5.3 · Security 5.3</a:t>
            </a:r>
            <a:endParaRPr lang="en-US" sz="1350" dirty="0"/>
          </a:p>
          <a:p>
            <a:pPr indent="0" marL="0">
              <a:lnSpc>
                <a:spcPct val="115000"/>
              </a:lnSpc>
              <a:buNone/>
            </a:pPr>
            <a:r>
              <a:rPr lang="en-US" sz="1350" dirty="0">
                <a:solidFill>
                  <a:srgbClr val="AAB5C3"/>
                </a:solidFill>
                <a:latin typeface="Arial" pitchFamily="34" charset="0"/>
                <a:ea typeface="Arial" pitchFamily="34" charset="-122"/>
                <a:cs typeface="Arial" pitchFamily="34" charset="-120"/>
              </a:rPr>
              <a:t>JUnit 4</a:t>
            </a:r>
            <a:endParaRPr lang="en-US" sz="1350" dirty="0"/>
          </a:p>
          <a:p>
            <a:pPr indent="0" marL="0">
              <a:lnSpc>
                <a:spcPct val="115000"/>
              </a:lnSpc>
              <a:buNone/>
            </a:pPr>
            <a:r>
              <a:rPr lang="en-US" sz="1350" dirty="0">
                <a:solidFill>
                  <a:srgbClr val="AAB5C3"/>
                </a:solidFill>
                <a:latin typeface="Arial" pitchFamily="34" charset="0"/>
                <a:ea typeface="Arial" pitchFamily="34" charset="-122"/>
                <a:cs typeface="Arial" pitchFamily="34" charset="-120"/>
              </a:rPr>
              <a:t>web.xml + vendor descriptors</a:t>
            </a:r>
            <a:endParaRPr lang="en-US" sz="1350" dirty="0"/>
          </a:p>
        </p:txBody>
      </p:sp>
      <p:sp>
        <p:nvSpPr>
          <p:cNvPr id="8" name="Shape 6"/>
          <p:cNvSpPr/>
          <p:nvPr/>
        </p:nvSpPr>
        <p:spPr>
          <a:xfrm>
            <a:off x="3611880" y="3246120"/>
            <a:ext cx="274320" cy="0"/>
          </a:xfrm>
          <a:prstGeom prst="line">
            <a:avLst/>
          </a:prstGeom>
          <a:noFill/>
          <a:ln w="25400">
            <a:solidFill>
              <a:srgbClr val="FF6A2B"/>
            </a:solidFill>
            <a:prstDash val="solid"/>
            <a:tailEnd type="triangle"/>
          </a:ln>
        </p:spPr>
      </p:sp>
      <p:sp>
        <p:nvSpPr>
          <p:cNvPr id="9" name="Shape 7"/>
          <p:cNvSpPr/>
          <p:nvPr/>
        </p:nvSpPr>
        <p:spPr>
          <a:xfrm>
            <a:off x="3931920" y="2057400"/>
            <a:ext cx="4325112" cy="2377440"/>
          </a:xfrm>
          <a:prstGeom prst="roundRect">
            <a:avLst>
              <a:gd name="adj" fmla="val 4615"/>
            </a:avLst>
          </a:prstGeom>
          <a:solidFill>
            <a:srgbClr val="FF6A2B">
              <a:alpha val="10000"/>
            </a:srgbClr>
          </a:solidFill>
          <a:ln w="9525">
            <a:solidFill>
              <a:srgbClr val="FF6A2B">
                <a:alpha val="55000"/>
              </a:srgbClr>
            </a:solidFill>
            <a:prstDash val="solid"/>
          </a:ln>
        </p:spPr>
      </p:sp>
      <p:sp>
        <p:nvSpPr>
          <p:cNvPr id="10" name="Text 8"/>
          <p:cNvSpPr txBox="1"/>
          <p:nvPr/>
        </p:nvSpPr>
        <p:spPr>
          <a:xfrm>
            <a:off x="4206240" y="2276856"/>
            <a:ext cx="2286000" cy="365760"/>
          </a:xfrm>
          <a:prstGeom prst="rect">
            <a:avLst/>
          </a:prstGeom>
          <a:noFill/>
          <a:ln/>
        </p:spPr>
        <p:txBody>
          <a:bodyPr wrap="square" lIns="0" tIns="0" rIns="0" bIns="0" rtlCol="0" anchor="t"/>
          <a:lstStyle/>
          <a:p>
            <a:pPr indent="0" marL="0">
              <a:buNone/>
            </a:pPr>
            <a:r>
              <a:rPr lang="en-US" sz="2000" b="1" spc="300" kern="0" dirty="0">
                <a:solidFill>
                  <a:srgbClr val="F3F5F8"/>
                </a:solidFill>
                <a:latin typeface="Arial" pitchFamily="34" charset="0"/>
                <a:ea typeface="Arial" pitchFamily="34" charset="-122"/>
                <a:cs typeface="Arial" pitchFamily="34" charset="-120"/>
              </a:rPr>
              <a:t>FORGE</a:t>
            </a:r>
            <a:endParaRPr lang="en-US" sz="2000" dirty="0"/>
          </a:p>
        </p:txBody>
      </p:sp>
      <p:sp>
        <p:nvSpPr>
          <p:cNvPr id="11" name="Text 9"/>
          <p:cNvSpPr txBox="1"/>
          <p:nvPr/>
        </p:nvSpPr>
        <p:spPr>
          <a:xfrm>
            <a:off x="6035040" y="2350008"/>
            <a:ext cx="2011680" cy="274320"/>
          </a:xfrm>
          <a:prstGeom prst="rect">
            <a:avLst/>
          </a:prstGeom>
          <a:noFill/>
          <a:ln/>
        </p:spPr>
        <p:txBody>
          <a:bodyPr wrap="square" lIns="0" tIns="0" rIns="0" bIns="0" rtlCol="0" anchor="t"/>
          <a:lstStyle/>
          <a:p>
            <a:pPr algn="r" indent="0" marL="0">
              <a:buNone/>
            </a:pPr>
            <a:r>
              <a:rPr lang="en-US" sz="1100" dirty="0">
                <a:solidFill>
                  <a:srgbClr val="FF8A55"/>
                </a:solidFill>
                <a:latin typeface="Arial" pitchFamily="34" charset="0"/>
                <a:ea typeface="Arial" pitchFamily="34" charset="-122"/>
                <a:cs typeface="Arial" pitchFamily="34" charset="-120"/>
              </a:rPr>
              <a:t>per file, every time</a:t>
            </a:r>
            <a:endParaRPr lang="en-US" sz="1100" dirty="0"/>
          </a:p>
        </p:txBody>
      </p:sp>
      <p:sp>
        <p:nvSpPr>
          <p:cNvPr id="12" name="Text 10"/>
          <p:cNvSpPr txBox="1"/>
          <p:nvPr/>
        </p:nvSpPr>
        <p:spPr>
          <a:xfrm>
            <a:off x="4137660" y="2843784"/>
            <a:ext cx="731520" cy="365760"/>
          </a:xfrm>
          <a:prstGeom prst="roundRect">
            <a:avLst>
              <a:gd name="adj" fmla="val 50000"/>
            </a:avLst>
          </a:prstGeom>
          <a:solidFill>
            <a:srgbClr val="5EB1FF">
              <a:alpha val="20000"/>
            </a:srgbClr>
          </a:solidFill>
          <a:ln w="9525">
            <a:solidFill>
              <a:srgbClr val="5EB1FF">
                <a:alpha val="55000"/>
              </a:srgbClr>
            </a:solidFill>
          </a:ln>
        </p:spPr>
        <p:txBody>
          <a:bodyPr wrap="square" lIns="0" tIns="0" rIns="0" bIns="0" rtlCol="0" anchor="ctr"/>
          <a:lstStyle/>
          <a:p>
            <a:pPr algn="ctr" indent="0" marL="0">
              <a:buNone/>
            </a:pPr>
            <a:r>
              <a:rPr lang="en-US" sz="1050" b="1" dirty="0">
                <a:solidFill>
                  <a:srgbClr val="F3F5F8"/>
                </a:solidFill>
                <a:latin typeface="Arial" pitchFamily="34" charset="0"/>
                <a:ea typeface="Arial" pitchFamily="34" charset="-122"/>
                <a:cs typeface="Arial" pitchFamily="34" charset="-120"/>
              </a:rPr>
              <a:t>Discover</a:t>
            </a:r>
            <a:endParaRPr lang="en-US" sz="1050" dirty="0"/>
          </a:p>
        </p:txBody>
      </p:sp>
      <p:sp>
        <p:nvSpPr>
          <p:cNvPr id="13" name="Text 11"/>
          <p:cNvSpPr txBox="1"/>
          <p:nvPr/>
        </p:nvSpPr>
        <p:spPr>
          <a:xfrm>
            <a:off x="4933188" y="2843784"/>
            <a:ext cx="731520" cy="365760"/>
          </a:xfrm>
          <a:prstGeom prst="roundRect">
            <a:avLst>
              <a:gd name="adj" fmla="val 50000"/>
            </a:avLst>
          </a:prstGeom>
          <a:solidFill>
            <a:srgbClr val="5EB1FF">
              <a:alpha val="20000"/>
            </a:srgbClr>
          </a:solidFill>
          <a:ln w="9525">
            <a:solidFill>
              <a:srgbClr val="5EB1FF">
                <a:alpha val="55000"/>
              </a:srgbClr>
            </a:solidFill>
          </a:ln>
        </p:spPr>
        <p:txBody>
          <a:bodyPr wrap="square" lIns="0" tIns="0" rIns="0" bIns="0" rtlCol="0" anchor="ctr"/>
          <a:lstStyle/>
          <a:p>
            <a:pPr algn="ctr" indent="0" marL="0">
              <a:buNone/>
            </a:pPr>
            <a:r>
              <a:rPr lang="en-US" sz="1050" b="1" dirty="0">
                <a:solidFill>
                  <a:srgbClr val="F3F5F8"/>
                </a:solidFill>
                <a:latin typeface="Arial" pitchFamily="34" charset="0"/>
                <a:ea typeface="Arial" pitchFamily="34" charset="-122"/>
                <a:cs typeface="Arial" pitchFamily="34" charset="-120"/>
              </a:rPr>
              <a:t>Plan</a:t>
            </a:r>
            <a:endParaRPr lang="en-US" sz="1050" dirty="0"/>
          </a:p>
        </p:txBody>
      </p:sp>
      <p:sp>
        <p:nvSpPr>
          <p:cNvPr id="14" name="Text 12"/>
          <p:cNvSpPr txBox="1"/>
          <p:nvPr/>
        </p:nvSpPr>
        <p:spPr>
          <a:xfrm>
            <a:off x="5728716" y="2843784"/>
            <a:ext cx="731520" cy="365760"/>
          </a:xfrm>
          <a:prstGeom prst="roundRect">
            <a:avLst>
              <a:gd name="adj" fmla="val 50000"/>
            </a:avLst>
          </a:prstGeom>
          <a:solidFill>
            <a:srgbClr val="FF6A2B">
              <a:alpha val="20000"/>
            </a:srgbClr>
          </a:solidFill>
          <a:ln w="9525">
            <a:solidFill>
              <a:srgbClr val="FF6A2B">
                <a:alpha val="55000"/>
              </a:srgbClr>
            </a:solidFill>
          </a:ln>
        </p:spPr>
        <p:txBody>
          <a:bodyPr wrap="square" lIns="0" tIns="0" rIns="0" bIns="0" rtlCol="0" anchor="ctr"/>
          <a:lstStyle/>
          <a:p>
            <a:pPr algn="ctr" indent="0" marL="0">
              <a:buNone/>
            </a:pPr>
            <a:r>
              <a:rPr lang="en-US" sz="1050" b="1" dirty="0">
                <a:solidFill>
                  <a:srgbClr val="F3F5F8"/>
                </a:solidFill>
                <a:latin typeface="Arial" pitchFamily="34" charset="0"/>
                <a:ea typeface="Arial" pitchFamily="34" charset="-122"/>
                <a:cs typeface="Arial" pitchFamily="34" charset="-120"/>
              </a:rPr>
              <a:t>Rewrite</a:t>
            </a:r>
            <a:endParaRPr lang="en-US" sz="1050" dirty="0"/>
          </a:p>
        </p:txBody>
      </p:sp>
      <p:sp>
        <p:nvSpPr>
          <p:cNvPr id="15" name="Text 13"/>
          <p:cNvSpPr txBox="1"/>
          <p:nvPr/>
        </p:nvSpPr>
        <p:spPr>
          <a:xfrm>
            <a:off x="6524244" y="2843784"/>
            <a:ext cx="731520" cy="365760"/>
          </a:xfrm>
          <a:prstGeom prst="roundRect">
            <a:avLst>
              <a:gd name="adj" fmla="val 50000"/>
            </a:avLst>
          </a:prstGeom>
          <a:solidFill>
            <a:srgbClr val="5EB1FF">
              <a:alpha val="20000"/>
            </a:srgbClr>
          </a:solidFill>
          <a:ln w="9525">
            <a:solidFill>
              <a:srgbClr val="5EB1FF">
                <a:alpha val="55000"/>
              </a:srgbClr>
            </a:solidFill>
          </a:ln>
        </p:spPr>
        <p:txBody>
          <a:bodyPr wrap="square" lIns="0" tIns="0" rIns="0" bIns="0" rtlCol="0" anchor="ctr"/>
          <a:lstStyle/>
          <a:p>
            <a:pPr algn="ctr" indent="0" marL="0">
              <a:buNone/>
            </a:pPr>
            <a:r>
              <a:rPr lang="en-US" sz="1050" b="1" dirty="0">
                <a:solidFill>
                  <a:srgbClr val="F3F5F8"/>
                </a:solidFill>
                <a:latin typeface="Arial" pitchFamily="34" charset="0"/>
                <a:ea typeface="Arial" pitchFamily="34" charset="-122"/>
                <a:cs typeface="Arial" pitchFamily="34" charset="-120"/>
              </a:rPr>
              <a:t>Parse</a:t>
            </a:r>
            <a:endParaRPr lang="en-US" sz="1050" dirty="0"/>
          </a:p>
        </p:txBody>
      </p:sp>
      <p:sp>
        <p:nvSpPr>
          <p:cNvPr id="16" name="Text 14"/>
          <p:cNvSpPr txBox="1"/>
          <p:nvPr/>
        </p:nvSpPr>
        <p:spPr>
          <a:xfrm>
            <a:off x="7319772" y="2843784"/>
            <a:ext cx="731520" cy="365760"/>
          </a:xfrm>
          <a:prstGeom prst="roundRect">
            <a:avLst>
              <a:gd name="adj" fmla="val 50000"/>
            </a:avLst>
          </a:prstGeom>
          <a:solidFill>
            <a:srgbClr val="FF6A2B">
              <a:alpha val="20000"/>
            </a:srgbClr>
          </a:solidFill>
          <a:ln w="9525">
            <a:solidFill>
              <a:srgbClr val="FF6A2B">
                <a:alpha val="55000"/>
              </a:srgbClr>
            </a:solidFill>
          </a:ln>
        </p:spPr>
        <p:txBody>
          <a:bodyPr wrap="square" lIns="0" tIns="0" rIns="0" bIns="0" rtlCol="0" anchor="ctr"/>
          <a:lstStyle/>
          <a:p>
            <a:pPr algn="ctr" indent="0" marL="0">
              <a:buNone/>
            </a:pPr>
            <a:r>
              <a:rPr lang="en-US" sz="1050" b="1" dirty="0">
                <a:solidFill>
                  <a:srgbClr val="F3F5F8"/>
                </a:solidFill>
                <a:latin typeface="Arial" pitchFamily="34" charset="0"/>
                <a:ea typeface="Arial" pitchFamily="34" charset="-122"/>
                <a:cs typeface="Arial" pitchFamily="34" charset="-120"/>
              </a:rPr>
              <a:t>Review</a:t>
            </a:r>
            <a:endParaRPr lang="en-US" sz="1050" dirty="0"/>
          </a:p>
        </p:txBody>
      </p:sp>
      <p:sp>
        <p:nvSpPr>
          <p:cNvPr id="17" name="Text 15"/>
          <p:cNvSpPr txBox="1"/>
          <p:nvPr/>
        </p:nvSpPr>
        <p:spPr>
          <a:xfrm>
            <a:off x="4137660" y="3319272"/>
            <a:ext cx="731520" cy="365760"/>
          </a:xfrm>
          <a:prstGeom prst="roundRect">
            <a:avLst>
              <a:gd name="adj" fmla="val 50000"/>
            </a:avLst>
          </a:prstGeom>
          <a:solidFill>
            <a:srgbClr val="5EB1FF">
              <a:alpha val="20000"/>
            </a:srgbClr>
          </a:solidFill>
          <a:ln w="9525">
            <a:solidFill>
              <a:srgbClr val="5EB1FF">
                <a:alpha val="55000"/>
              </a:srgbClr>
            </a:solidFill>
          </a:ln>
        </p:spPr>
        <p:txBody>
          <a:bodyPr wrap="square" lIns="0" tIns="0" rIns="0" bIns="0" rtlCol="0" anchor="ctr"/>
          <a:lstStyle/>
          <a:p>
            <a:pPr algn="ctr" indent="0" marL="0">
              <a:buNone/>
            </a:pPr>
            <a:r>
              <a:rPr lang="en-US" sz="1050" b="1" dirty="0">
                <a:solidFill>
                  <a:srgbClr val="F3F5F8"/>
                </a:solidFill>
                <a:latin typeface="Arial" pitchFamily="34" charset="0"/>
                <a:ea typeface="Arial" pitchFamily="34" charset="-122"/>
                <a:cs typeface="Arial" pitchFamily="34" charset="-120"/>
              </a:rPr>
              <a:t>Guard</a:t>
            </a:r>
            <a:endParaRPr lang="en-US" sz="1050" dirty="0"/>
          </a:p>
        </p:txBody>
      </p:sp>
      <p:sp>
        <p:nvSpPr>
          <p:cNvPr id="18" name="Text 16"/>
          <p:cNvSpPr txBox="1"/>
          <p:nvPr/>
        </p:nvSpPr>
        <p:spPr>
          <a:xfrm>
            <a:off x="4933188" y="3319272"/>
            <a:ext cx="731520" cy="365760"/>
          </a:xfrm>
          <a:prstGeom prst="roundRect">
            <a:avLst>
              <a:gd name="adj" fmla="val 50000"/>
            </a:avLst>
          </a:prstGeom>
          <a:solidFill>
            <a:srgbClr val="5EB1FF">
              <a:alpha val="20000"/>
            </a:srgbClr>
          </a:solidFill>
          <a:ln w="9525">
            <a:solidFill>
              <a:srgbClr val="5EB1FF">
                <a:alpha val="55000"/>
              </a:srgbClr>
            </a:solidFill>
          </a:ln>
        </p:spPr>
        <p:txBody>
          <a:bodyPr wrap="square" lIns="0" tIns="0" rIns="0" bIns="0" rtlCol="0" anchor="ctr"/>
          <a:lstStyle/>
          <a:p>
            <a:pPr algn="ctr" indent="0" marL="0">
              <a:buNone/>
            </a:pPr>
            <a:r>
              <a:rPr lang="en-US" sz="1050" b="1" dirty="0">
                <a:solidFill>
                  <a:srgbClr val="F3F5F8"/>
                </a:solidFill>
                <a:latin typeface="Arial" pitchFamily="34" charset="0"/>
                <a:ea typeface="Arial" pitchFamily="34" charset="-122"/>
                <a:cs typeface="Arial" pitchFamily="34" charset="-120"/>
              </a:rPr>
              <a:t>Hold</a:t>
            </a:r>
            <a:endParaRPr lang="en-US" sz="1050" dirty="0"/>
          </a:p>
        </p:txBody>
      </p:sp>
      <p:sp>
        <p:nvSpPr>
          <p:cNvPr id="19" name="Text 17"/>
          <p:cNvSpPr txBox="1"/>
          <p:nvPr/>
        </p:nvSpPr>
        <p:spPr>
          <a:xfrm>
            <a:off x="5728716" y="3319272"/>
            <a:ext cx="731520" cy="365760"/>
          </a:xfrm>
          <a:prstGeom prst="roundRect">
            <a:avLst>
              <a:gd name="adj" fmla="val 50000"/>
            </a:avLst>
          </a:prstGeom>
          <a:solidFill>
            <a:srgbClr val="5EB1FF">
              <a:alpha val="20000"/>
            </a:srgbClr>
          </a:solidFill>
          <a:ln w="9525">
            <a:solidFill>
              <a:srgbClr val="5EB1FF">
                <a:alpha val="55000"/>
              </a:srgbClr>
            </a:solidFill>
          </a:ln>
        </p:spPr>
        <p:txBody>
          <a:bodyPr wrap="square" lIns="0" tIns="0" rIns="0" bIns="0" rtlCol="0" anchor="ctr"/>
          <a:lstStyle/>
          <a:p>
            <a:pPr algn="ctr" indent="0" marL="0">
              <a:buNone/>
            </a:pPr>
            <a:r>
              <a:rPr lang="en-US" sz="1050" b="1" dirty="0">
                <a:solidFill>
                  <a:srgbClr val="F3F5F8"/>
                </a:solidFill>
                <a:latin typeface="Arial" pitchFamily="34" charset="0"/>
                <a:ea typeface="Arial" pitchFamily="34" charset="-122"/>
                <a:cs typeface="Arial" pitchFamily="34" charset="-120"/>
              </a:rPr>
              <a:t>Build</a:t>
            </a:r>
            <a:endParaRPr lang="en-US" sz="1050" dirty="0"/>
          </a:p>
        </p:txBody>
      </p:sp>
      <p:sp>
        <p:nvSpPr>
          <p:cNvPr id="20" name="Text 18"/>
          <p:cNvSpPr txBox="1"/>
          <p:nvPr/>
        </p:nvSpPr>
        <p:spPr>
          <a:xfrm>
            <a:off x="6524244" y="3319272"/>
            <a:ext cx="731520" cy="365760"/>
          </a:xfrm>
          <a:prstGeom prst="roundRect">
            <a:avLst>
              <a:gd name="adj" fmla="val 50000"/>
            </a:avLst>
          </a:prstGeom>
          <a:solidFill>
            <a:srgbClr val="5EB1FF">
              <a:alpha val="20000"/>
            </a:srgbClr>
          </a:solidFill>
          <a:ln w="9525">
            <a:solidFill>
              <a:srgbClr val="5EB1FF">
                <a:alpha val="55000"/>
              </a:srgbClr>
            </a:solidFill>
          </a:ln>
        </p:spPr>
        <p:txBody>
          <a:bodyPr wrap="square" lIns="0" tIns="0" rIns="0" bIns="0" rtlCol="0" anchor="ctr"/>
          <a:lstStyle/>
          <a:p>
            <a:pPr algn="ctr" indent="0" marL="0">
              <a:buNone/>
            </a:pPr>
            <a:r>
              <a:rPr lang="en-US" sz="1050" b="1" dirty="0">
                <a:solidFill>
                  <a:srgbClr val="F3F5F8"/>
                </a:solidFill>
                <a:latin typeface="Arial" pitchFamily="34" charset="0"/>
                <a:ea typeface="Arial" pitchFamily="34" charset="-122"/>
                <a:cs typeface="Arial" pitchFamily="34" charset="-120"/>
              </a:rPr>
              <a:t>Land</a:t>
            </a:r>
            <a:endParaRPr lang="en-US" sz="1050" dirty="0"/>
          </a:p>
        </p:txBody>
      </p:sp>
      <p:sp>
        <p:nvSpPr>
          <p:cNvPr id="21" name="Text 19"/>
          <p:cNvSpPr txBox="1"/>
          <p:nvPr/>
        </p:nvSpPr>
        <p:spPr>
          <a:xfrm>
            <a:off x="7319772" y="3319272"/>
            <a:ext cx="731520" cy="365760"/>
          </a:xfrm>
          <a:prstGeom prst="roundRect">
            <a:avLst>
              <a:gd name="adj" fmla="val 50000"/>
            </a:avLst>
          </a:prstGeom>
          <a:solidFill>
            <a:srgbClr val="5EB1FF">
              <a:alpha val="20000"/>
            </a:srgbClr>
          </a:solidFill>
          <a:ln w="9525">
            <a:solidFill>
              <a:srgbClr val="5EB1FF">
                <a:alpha val="55000"/>
              </a:srgbClr>
            </a:solidFill>
          </a:ln>
        </p:spPr>
        <p:txBody>
          <a:bodyPr wrap="square" lIns="0" tIns="0" rIns="0" bIns="0" rtlCol="0" anchor="ctr"/>
          <a:lstStyle/>
          <a:p>
            <a:pPr algn="ctr" indent="0" marL="0">
              <a:buNone/>
            </a:pPr>
            <a:r>
              <a:rPr lang="en-US" sz="1050" b="1" dirty="0">
                <a:solidFill>
                  <a:srgbClr val="F3F5F8"/>
                </a:solidFill>
                <a:latin typeface="Arial" pitchFamily="34" charset="0"/>
                <a:ea typeface="Arial" pitchFamily="34" charset="-122"/>
                <a:cs typeface="Arial" pitchFamily="34" charset="-120"/>
              </a:rPr>
              <a:t>PR</a:t>
            </a:r>
            <a:endParaRPr lang="en-US" sz="1050" dirty="0"/>
          </a:p>
        </p:txBody>
      </p:sp>
      <p:sp>
        <p:nvSpPr>
          <p:cNvPr id="22" name="Text 20"/>
          <p:cNvSpPr txBox="1"/>
          <p:nvPr/>
        </p:nvSpPr>
        <p:spPr>
          <a:xfrm>
            <a:off x="4206240" y="3886200"/>
            <a:ext cx="3840480" cy="457200"/>
          </a:xfrm>
          <a:prstGeom prst="rect">
            <a:avLst/>
          </a:prstGeom>
          <a:noFill/>
          <a:ln/>
        </p:spPr>
        <p:txBody>
          <a:bodyPr wrap="square" lIns="0" tIns="0" rIns="0" bIns="0" rtlCol="0" anchor="t"/>
          <a:lstStyle/>
          <a:p>
            <a:pPr indent="0" marL="0">
              <a:buNone/>
            </a:pPr>
            <a:r>
              <a:rPr lang="en-US" sz="1150" dirty="0">
                <a:solidFill>
                  <a:srgbClr val="AAB5C3"/>
                </a:solidFill>
                <a:latin typeface="Arial" pitchFamily="34" charset="0"/>
                <a:ea typeface="Arial" pitchFamily="34" charset="-122"/>
                <a:cs typeface="Arial" pitchFamily="34" charset="-120"/>
              </a:rPr>
              <a:t>Guarded, transformed, parsed, cross-reviewed and risk-scored before anything is written.</a:t>
            </a:r>
            <a:endParaRPr lang="en-US" sz="1150" dirty="0"/>
          </a:p>
        </p:txBody>
      </p:sp>
      <p:sp>
        <p:nvSpPr>
          <p:cNvPr id="23" name="Shape 21"/>
          <p:cNvSpPr/>
          <p:nvPr/>
        </p:nvSpPr>
        <p:spPr>
          <a:xfrm>
            <a:off x="8302752" y="3246120"/>
            <a:ext cx="274320" cy="0"/>
          </a:xfrm>
          <a:prstGeom prst="line">
            <a:avLst/>
          </a:prstGeom>
          <a:noFill/>
          <a:ln w="25400">
            <a:solidFill>
              <a:srgbClr val="FF6A2B"/>
            </a:solidFill>
            <a:prstDash val="solid"/>
            <a:tailEnd type="triangle"/>
          </a:ln>
        </p:spPr>
      </p:sp>
      <p:sp>
        <p:nvSpPr>
          <p:cNvPr id="24" name="Shape 22"/>
          <p:cNvSpPr/>
          <p:nvPr/>
        </p:nvSpPr>
        <p:spPr>
          <a:xfrm>
            <a:off x="8622792" y="2057400"/>
            <a:ext cx="3020263" cy="2377440"/>
          </a:xfrm>
          <a:prstGeom prst="roundRect">
            <a:avLst>
              <a:gd name="adj" fmla="val 4615"/>
            </a:avLst>
          </a:prstGeom>
          <a:solidFill>
            <a:srgbClr val="121821">
              <a:alpha val="92000"/>
            </a:srgbClr>
          </a:solidFill>
          <a:ln w="9525">
            <a:solidFill>
              <a:srgbClr val="35D07F">
                <a:alpha val="45000"/>
              </a:srgbClr>
            </a:solidFill>
            <a:prstDash val="solid"/>
          </a:ln>
        </p:spPr>
      </p:sp>
      <p:sp>
        <p:nvSpPr>
          <p:cNvPr id="25" name="Text 23"/>
          <p:cNvSpPr txBox="1"/>
          <p:nvPr/>
        </p:nvSpPr>
        <p:spPr>
          <a:xfrm>
            <a:off x="8897112" y="2313432"/>
            <a:ext cx="2286000" cy="228600"/>
          </a:xfrm>
          <a:prstGeom prst="rect">
            <a:avLst/>
          </a:prstGeom>
          <a:noFill/>
          <a:ln/>
        </p:spPr>
        <p:txBody>
          <a:bodyPr wrap="square" lIns="0" tIns="0" rIns="0" bIns="0" rtlCol="0" anchor="t"/>
          <a:lstStyle/>
          <a:p>
            <a:pPr indent="0" marL="0">
              <a:buNone/>
            </a:pPr>
            <a:r>
              <a:rPr lang="en-US" sz="1100" b="1" spc="300" kern="0" dirty="0">
                <a:solidFill>
                  <a:srgbClr val="35D07F"/>
                </a:solidFill>
                <a:latin typeface="Arial" pitchFamily="34" charset="0"/>
                <a:ea typeface="Arial" pitchFamily="34" charset="-122"/>
                <a:cs typeface="Arial" pitchFamily="34" charset="-120"/>
              </a:rPr>
              <a:t>MODERN</a:t>
            </a:r>
            <a:endParaRPr lang="en-US" sz="1100" dirty="0"/>
          </a:p>
        </p:txBody>
      </p:sp>
      <p:sp>
        <p:nvSpPr>
          <p:cNvPr id="26" name="Text 24"/>
          <p:cNvSpPr txBox="1"/>
          <p:nvPr/>
        </p:nvSpPr>
        <p:spPr>
          <a:xfrm>
            <a:off x="8897112" y="2660904"/>
            <a:ext cx="2651760" cy="1645920"/>
          </a:xfrm>
          <a:prstGeom prst="rect">
            <a:avLst/>
          </a:prstGeom>
          <a:noFill/>
          <a:ln/>
        </p:spPr>
        <p:txBody>
          <a:bodyPr wrap="square" lIns="0" tIns="0" rIns="0" bIns="0" rtlCol="0" anchor="t"/>
          <a:lstStyle/>
          <a:p>
            <a:pPr indent="0" marL="0">
              <a:lnSpc>
                <a:spcPct val="115000"/>
              </a:lnSpc>
              <a:buNone/>
            </a:pPr>
            <a:r>
              <a:rPr lang="en-US" sz="1350" dirty="0">
                <a:solidFill>
                  <a:srgbClr val="F3F5F8"/>
                </a:solidFill>
                <a:latin typeface="Arial" pitchFamily="34" charset="0"/>
                <a:ea typeface="Arial" pitchFamily="34" charset="-122"/>
                <a:cs typeface="Arial" pitchFamily="34" charset="-120"/>
              </a:rPr>
              <a:t>Java 21 LTS</a:t>
            </a:r>
            <a:endParaRPr lang="en-US" sz="1350" dirty="0"/>
          </a:p>
          <a:p>
            <a:pPr indent="0" marL="0">
              <a:lnSpc>
                <a:spcPct val="115000"/>
              </a:lnSpc>
              <a:buNone/>
            </a:pPr>
            <a:r>
              <a:rPr lang="en-US" sz="1350" dirty="0">
                <a:solidFill>
                  <a:srgbClr val="F3F5F8"/>
                </a:solidFill>
                <a:latin typeface="Arial" pitchFamily="34" charset="0"/>
                <a:ea typeface="Arial" pitchFamily="34" charset="-122"/>
                <a:cs typeface="Arial" pitchFamily="34" charset="-120"/>
              </a:rPr>
              <a:t>jakarta.* (EE 10)</a:t>
            </a:r>
            <a:endParaRPr lang="en-US" sz="1350" dirty="0"/>
          </a:p>
          <a:p>
            <a:pPr indent="0" marL="0">
              <a:lnSpc>
                <a:spcPct val="115000"/>
              </a:lnSpc>
              <a:buNone/>
            </a:pPr>
            <a:r>
              <a:rPr lang="en-US" sz="1350" dirty="0">
                <a:solidFill>
                  <a:srgbClr val="F3F5F8"/>
                </a:solidFill>
                <a:latin typeface="Arial" pitchFamily="34" charset="0"/>
                <a:ea typeface="Arial" pitchFamily="34" charset="-122"/>
                <a:cs typeface="Arial" pitchFamily="34" charset="-120"/>
              </a:rPr>
              <a:t>Struts 7</a:t>
            </a:r>
            <a:endParaRPr lang="en-US" sz="1350" dirty="0"/>
          </a:p>
          <a:p>
            <a:pPr indent="0" marL="0">
              <a:lnSpc>
                <a:spcPct val="115000"/>
              </a:lnSpc>
              <a:buNone/>
            </a:pPr>
            <a:r>
              <a:rPr lang="en-US" sz="1350" dirty="0">
                <a:solidFill>
                  <a:srgbClr val="F3F5F8"/>
                </a:solidFill>
                <a:latin typeface="Arial" pitchFamily="34" charset="0"/>
                <a:ea typeface="Arial" pitchFamily="34" charset="-122"/>
                <a:cs typeface="Arial" pitchFamily="34" charset="-120"/>
              </a:rPr>
              <a:t>Spring 6.2 · Security 6.3</a:t>
            </a:r>
            <a:endParaRPr lang="en-US" sz="1350" dirty="0"/>
          </a:p>
          <a:p>
            <a:pPr indent="0" marL="0">
              <a:lnSpc>
                <a:spcPct val="115000"/>
              </a:lnSpc>
              <a:buNone/>
            </a:pPr>
            <a:r>
              <a:rPr lang="en-US" sz="1350" dirty="0">
                <a:solidFill>
                  <a:srgbClr val="F3F5F8"/>
                </a:solidFill>
                <a:latin typeface="Arial" pitchFamily="34" charset="0"/>
                <a:ea typeface="Arial" pitchFamily="34" charset="-122"/>
                <a:cs typeface="Arial" pitchFamily="34" charset="-120"/>
              </a:rPr>
              <a:t>JUnit 5 + Mockito 5</a:t>
            </a:r>
            <a:endParaRPr lang="en-US" sz="1350" dirty="0"/>
          </a:p>
          <a:p>
            <a:pPr indent="0" marL="0">
              <a:lnSpc>
                <a:spcPct val="115000"/>
              </a:lnSpc>
              <a:buNone/>
            </a:pPr>
            <a:r>
              <a:rPr lang="en-US" sz="1350" dirty="0">
                <a:solidFill>
                  <a:srgbClr val="F3F5F8"/>
                </a:solidFill>
                <a:latin typeface="Arial" pitchFamily="34" charset="0"/>
                <a:ea typeface="Arial" pitchFamily="34" charset="-122"/>
                <a:cs typeface="Arial" pitchFamily="34" charset="-120"/>
              </a:rPr>
              <a:t>Liberty server.xml</a:t>
            </a:r>
            <a:endParaRPr lang="en-US" sz="1350" dirty="0"/>
          </a:p>
          <a:p>
            <a:pPr indent="0" marL="0">
              <a:lnSpc>
                <a:spcPct val="115000"/>
              </a:lnSpc>
              <a:buNone/>
            </a:pPr>
            <a:r>
              <a:rPr lang="en-US" sz="1350" dirty="0">
                <a:solidFill>
                  <a:srgbClr val="F3F5F8"/>
                </a:solidFill>
                <a:latin typeface="Arial" pitchFamily="34" charset="0"/>
                <a:ea typeface="Arial" pitchFamily="34" charset="-122"/>
                <a:cs typeface="Arial" pitchFamily="34" charset="-120"/>
              </a:rPr>
              <a:t>A branch, then a PR</a:t>
            </a:r>
            <a:endParaRPr lang="en-US" sz="1350" dirty="0"/>
          </a:p>
        </p:txBody>
      </p:sp>
      <p:sp>
        <p:nvSpPr>
          <p:cNvPr id="27" name="Shape 25"/>
          <p:cNvSpPr/>
          <p:nvPr/>
        </p:nvSpPr>
        <p:spPr>
          <a:xfrm>
            <a:off x="548640" y="4754880"/>
            <a:ext cx="2602154" cy="1298448"/>
          </a:xfrm>
          <a:prstGeom prst="roundRect">
            <a:avLst>
              <a:gd name="adj" fmla="val 8451"/>
            </a:avLst>
          </a:prstGeom>
          <a:solidFill>
            <a:srgbClr val="121821">
              <a:alpha val="92000"/>
            </a:srgbClr>
          </a:solidFill>
          <a:ln w="9525">
            <a:solidFill>
              <a:srgbClr val="1E2835"/>
            </a:solidFill>
            <a:prstDash val="solid"/>
          </a:ln>
        </p:spPr>
      </p:sp>
      <p:sp>
        <p:nvSpPr>
          <p:cNvPr id="28" name="Text 26"/>
          <p:cNvSpPr txBox="1"/>
          <p:nvPr/>
        </p:nvSpPr>
        <p:spPr>
          <a:xfrm>
            <a:off x="822960" y="4901184"/>
            <a:ext cx="2144954" cy="640080"/>
          </a:xfrm>
          <a:prstGeom prst="rect">
            <a:avLst/>
          </a:prstGeom>
          <a:noFill/>
          <a:ln/>
        </p:spPr>
        <p:txBody>
          <a:bodyPr wrap="square" lIns="0" tIns="0" rIns="0" bIns="0" rtlCol="0" anchor="t"/>
          <a:lstStyle/>
          <a:p>
            <a:pPr indent="0" marL="0">
              <a:buNone/>
            </a:pPr>
            <a:r>
              <a:rPr lang="en-US" sz="4000" b="1" dirty="0">
                <a:solidFill>
                  <a:srgbClr val="FF6A2B"/>
                </a:solidFill>
                <a:latin typeface="Arial" pitchFamily="34" charset="0"/>
                <a:ea typeface="Arial" pitchFamily="34" charset="-122"/>
                <a:cs typeface="Arial" pitchFamily="34" charset="-120"/>
              </a:rPr>
              <a:t>18</a:t>
            </a:r>
            <a:endParaRPr lang="en-US" sz="4000" dirty="0"/>
          </a:p>
        </p:txBody>
      </p:sp>
      <p:sp>
        <p:nvSpPr>
          <p:cNvPr id="29" name="Text 27"/>
          <p:cNvSpPr txBox="1"/>
          <p:nvPr/>
        </p:nvSpPr>
        <p:spPr>
          <a:xfrm>
            <a:off x="822960" y="5559552"/>
            <a:ext cx="2144954" cy="411480"/>
          </a:xfrm>
          <a:prstGeom prst="rect">
            <a:avLst/>
          </a:prstGeom>
          <a:noFill/>
          <a:ln/>
        </p:spPr>
        <p:txBody>
          <a:bodyPr wrap="square" lIns="0" tIns="0" rIns="0" bIns="0" rtlCol="0" anchor="t"/>
          <a:lstStyle/>
          <a:p>
            <a:pPr indent="0" marL="0">
              <a:buNone/>
            </a:pPr>
            <a:r>
              <a:rPr lang="en-US" sz="1250" dirty="0">
                <a:solidFill>
                  <a:srgbClr val="AAB5C3"/>
                </a:solidFill>
                <a:latin typeface="Arial" pitchFamily="34" charset="0"/>
                <a:ea typeface="Arial" pitchFamily="34" charset="-122"/>
                <a:cs typeface="Arial" pitchFamily="34" charset="-120"/>
              </a:rPr>
              <a:t>technology packs, 10 migrate today</a:t>
            </a:r>
            <a:endParaRPr lang="en-US" sz="1250" dirty="0"/>
          </a:p>
        </p:txBody>
      </p:sp>
      <p:sp>
        <p:nvSpPr>
          <p:cNvPr id="30" name="Shape 28"/>
          <p:cNvSpPr/>
          <p:nvPr/>
        </p:nvSpPr>
        <p:spPr>
          <a:xfrm>
            <a:off x="3379394" y="4754880"/>
            <a:ext cx="2602154" cy="1298448"/>
          </a:xfrm>
          <a:prstGeom prst="roundRect">
            <a:avLst>
              <a:gd name="adj" fmla="val 8451"/>
            </a:avLst>
          </a:prstGeom>
          <a:solidFill>
            <a:srgbClr val="121821">
              <a:alpha val="92000"/>
            </a:srgbClr>
          </a:solidFill>
          <a:ln w="9525">
            <a:solidFill>
              <a:srgbClr val="1E2835"/>
            </a:solidFill>
            <a:prstDash val="solid"/>
          </a:ln>
        </p:spPr>
      </p:sp>
      <p:sp>
        <p:nvSpPr>
          <p:cNvPr id="31" name="Text 29"/>
          <p:cNvSpPr txBox="1"/>
          <p:nvPr/>
        </p:nvSpPr>
        <p:spPr>
          <a:xfrm>
            <a:off x="3653714" y="4901184"/>
            <a:ext cx="2144954" cy="640080"/>
          </a:xfrm>
          <a:prstGeom prst="rect">
            <a:avLst/>
          </a:prstGeom>
          <a:noFill/>
          <a:ln/>
        </p:spPr>
        <p:txBody>
          <a:bodyPr wrap="square" lIns="0" tIns="0" rIns="0" bIns="0" rtlCol="0" anchor="t"/>
          <a:lstStyle/>
          <a:p>
            <a:pPr indent="0" marL="0">
              <a:buNone/>
            </a:pPr>
            <a:r>
              <a:rPr lang="en-US" sz="4000" b="1" dirty="0">
                <a:solidFill>
                  <a:srgbClr val="FF6A2B"/>
                </a:solidFill>
                <a:latin typeface="Arial" pitchFamily="34" charset="0"/>
                <a:ea typeface="Arial" pitchFamily="34" charset="-122"/>
                <a:cs typeface="Arial" pitchFamily="34" charset="-120"/>
              </a:rPr>
              <a:t>3</a:t>
            </a:r>
            <a:endParaRPr lang="en-US" sz="4000" dirty="0"/>
          </a:p>
        </p:txBody>
      </p:sp>
      <p:sp>
        <p:nvSpPr>
          <p:cNvPr id="32" name="Text 30"/>
          <p:cNvSpPr txBox="1"/>
          <p:nvPr/>
        </p:nvSpPr>
        <p:spPr>
          <a:xfrm>
            <a:off x="3653714" y="5559552"/>
            <a:ext cx="2144954" cy="411480"/>
          </a:xfrm>
          <a:prstGeom prst="rect">
            <a:avLst/>
          </a:prstGeom>
          <a:noFill/>
          <a:ln/>
        </p:spPr>
        <p:txBody>
          <a:bodyPr wrap="square" lIns="0" tIns="0" rIns="0" bIns="0" rtlCol="0" anchor="t"/>
          <a:lstStyle/>
          <a:p>
            <a:pPr indent="0" marL="0">
              <a:buNone/>
            </a:pPr>
            <a:r>
              <a:rPr lang="en-US" sz="1250" dirty="0">
                <a:solidFill>
                  <a:srgbClr val="AAB5C3"/>
                </a:solidFill>
                <a:latin typeface="Arial" pitchFamily="34" charset="0"/>
                <a:ea typeface="Arial" pitchFamily="34" charset="-122"/>
                <a:cs typeface="Arial" pitchFamily="34" charset="-120"/>
              </a:rPr>
              <a:t>model calls per file on the happy path</a:t>
            </a:r>
            <a:endParaRPr lang="en-US" sz="1250" dirty="0"/>
          </a:p>
        </p:txBody>
      </p:sp>
      <p:sp>
        <p:nvSpPr>
          <p:cNvPr id="33" name="Shape 31"/>
          <p:cNvSpPr/>
          <p:nvPr/>
        </p:nvSpPr>
        <p:spPr>
          <a:xfrm>
            <a:off x="6210148" y="4754880"/>
            <a:ext cx="2602154" cy="1298448"/>
          </a:xfrm>
          <a:prstGeom prst="roundRect">
            <a:avLst>
              <a:gd name="adj" fmla="val 8451"/>
            </a:avLst>
          </a:prstGeom>
          <a:solidFill>
            <a:srgbClr val="121821">
              <a:alpha val="92000"/>
            </a:srgbClr>
          </a:solidFill>
          <a:ln w="9525">
            <a:solidFill>
              <a:srgbClr val="1E2835"/>
            </a:solidFill>
            <a:prstDash val="solid"/>
          </a:ln>
        </p:spPr>
      </p:sp>
      <p:sp>
        <p:nvSpPr>
          <p:cNvPr id="34" name="Text 32"/>
          <p:cNvSpPr txBox="1"/>
          <p:nvPr/>
        </p:nvSpPr>
        <p:spPr>
          <a:xfrm>
            <a:off x="6484468" y="4901184"/>
            <a:ext cx="2144954" cy="640080"/>
          </a:xfrm>
          <a:prstGeom prst="rect">
            <a:avLst/>
          </a:prstGeom>
          <a:noFill/>
          <a:ln/>
        </p:spPr>
        <p:txBody>
          <a:bodyPr wrap="square" lIns="0" tIns="0" rIns="0" bIns="0" rtlCol="0" anchor="t"/>
          <a:lstStyle/>
          <a:p>
            <a:pPr indent="0" marL="0">
              <a:buNone/>
            </a:pPr>
            <a:r>
              <a:rPr lang="en-US" sz="4000" b="1" dirty="0">
                <a:solidFill>
                  <a:srgbClr val="FF6A2B"/>
                </a:solidFill>
                <a:latin typeface="Arial" pitchFamily="34" charset="0"/>
                <a:ea typeface="Arial" pitchFamily="34" charset="-122"/>
                <a:cs typeface="Arial" pitchFamily="34" charset="-120"/>
              </a:rPr>
              <a:t>8</a:t>
            </a:r>
            <a:endParaRPr lang="en-US" sz="4000" dirty="0"/>
          </a:p>
        </p:txBody>
      </p:sp>
      <p:sp>
        <p:nvSpPr>
          <p:cNvPr id="35" name="Text 33"/>
          <p:cNvSpPr txBox="1"/>
          <p:nvPr/>
        </p:nvSpPr>
        <p:spPr>
          <a:xfrm>
            <a:off x="6484468" y="5559552"/>
            <a:ext cx="2144954" cy="411480"/>
          </a:xfrm>
          <a:prstGeom prst="rect">
            <a:avLst/>
          </a:prstGeom>
          <a:noFill/>
          <a:ln/>
        </p:spPr>
        <p:txBody>
          <a:bodyPr wrap="square" lIns="0" tIns="0" rIns="0" bIns="0" rtlCol="0" anchor="t"/>
          <a:lstStyle/>
          <a:p>
            <a:pPr indent="0" marL="0">
              <a:buNone/>
            </a:pPr>
            <a:r>
              <a:rPr lang="en-US" sz="1250" dirty="0">
                <a:solidFill>
                  <a:srgbClr val="AAB5C3"/>
                </a:solidFill>
                <a:latin typeface="Arial" pitchFamily="34" charset="0"/>
                <a:ea typeface="Arial" pitchFamily="34" charset="-122"/>
                <a:cs typeface="Arial" pitchFamily="34" charset="-120"/>
              </a:rPr>
              <a:t>files in flight at once</a:t>
            </a:r>
            <a:endParaRPr lang="en-US" sz="1250" dirty="0"/>
          </a:p>
        </p:txBody>
      </p:sp>
      <p:sp>
        <p:nvSpPr>
          <p:cNvPr id="36" name="Shape 34"/>
          <p:cNvSpPr/>
          <p:nvPr/>
        </p:nvSpPr>
        <p:spPr>
          <a:xfrm>
            <a:off x="9040901" y="4754880"/>
            <a:ext cx="2602154" cy="1298448"/>
          </a:xfrm>
          <a:prstGeom prst="roundRect">
            <a:avLst>
              <a:gd name="adj" fmla="val 8451"/>
            </a:avLst>
          </a:prstGeom>
          <a:solidFill>
            <a:srgbClr val="121821">
              <a:alpha val="92000"/>
            </a:srgbClr>
          </a:solidFill>
          <a:ln w="9525">
            <a:solidFill>
              <a:srgbClr val="1E2835"/>
            </a:solidFill>
            <a:prstDash val="solid"/>
          </a:ln>
        </p:spPr>
      </p:sp>
      <p:sp>
        <p:nvSpPr>
          <p:cNvPr id="37" name="Text 35"/>
          <p:cNvSpPr txBox="1"/>
          <p:nvPr/>
        </p:nvSpPr>
        <p:spPr>
          <a:xfrm>
            <a:off x="9315221" y="4901184"/>
            <a:ext cx="2144954" cy="640080"/>
          </a:xfrm>
          <a:prstGeom prst="rect">
            <a:avLst/>
          </a:prstGeom>
          <a:noFill/>
          <a:ln/>
        </p:spPr>
        <p:txBody>
          <a:bodyPr wrap="square" lIns="0" tIns="0" rIns="0" bIns="0" rtlCol="0" anchor="t"/>
          <a:lstStyle/>
          <a:p>
            <a:pPr indent="0" marL="0">
              <a:buNone/>
            </a:pPr>
            <a:r>
              <a:rPr lang="en-US" sz="4000" b="1" dirty="0">
                <a:solidFill>
                  <a:srgbClr val="FF6A2B"/>
                </a:solidFill>
                <a:latin typeface="Arial" pitchFamily="34" charset="0"/>
                <a:ea typeface="Arial" pitchFamily="34" charset="-122"/>
                <a:cs typeface="Arial" pitchFamily="34" charset="-120"/>
              </a:rPr>
              <a:t>975</a:t>
            </a:r>
            <a:endParaRPr lang="en-US" sz="4000" dirty="0"/>
          </a:p>
        </p:txBody>
      </p:sp>
      <p:sp>
        <p:nvSpPr>
          <p:cNvPr id="38" name="Text 36"/>
          <p:cNvSpPr txBox="1"/>
          <p:nvPr/>
        </p:nvSpPr>
        <p:spPr>
          <a:xfrm>
            <a:off x="9315221" y="5559552"/>
            <a:ext cx="2144954" cy="411480"/>
          </a:xfrm>
          <a:prstGeom prst="rect">
            <a:avLst/>
          </a:prstGeom>
          <a:noFill/>
          <a:ln/>
        </p:spPr>
        <p:txBody>
          <a:bodyPr wrap="square" lIns="0" tIns="0" rIns="0" bIns="0" rtlCol="0" anchor="t"/>
          <a:lstStyle/>
          <a:p>
            <a:pPr indent="0" marL="0">
              <a:buNone/>
            </a:pPr>
            <a:r>
              <a:rPr lang="en-US" sz="1250" dirty="0">
                <a:solidFill>
                  <a:srgbClr val="AAB5C3"/>
                </a:solidFill>
                <a:latin typeface="Arial" pitchFamily="34" charset="0"/>
                <a:ea typeface="Arial" pitchFamily="34" charset="-122"/>
                <a:cs typeface="Arial" pitchFamily="34" charset="-120"/>
              </a:rPr>
              <a:t>tests, fully mocked: no AWS needed</a:t>
            </a:r>
            <a:endParaRPr lang="en-US" sz="1250" dirty="0"/>
          </a:p>
        </p:txBody>
      </p:sp>
      <p:sp>
        <p:nvSpPr>
          <p:cNvPr id="39" name="Text 37"/>
          <p:cNvSpPr txBox="1"/>
          <p:nvPr/>
        </p:nvSpPr>
        <p:spPr>
          <a:xfrm>
            <a:off x="548640" y="6455664"/>
            <a:ext cx="5486400" cy="219456"/>
          </a:xfrm>
          <a:prstGeom prst="rect">
            <a:avLst/>
          </a:prstGeom>
          <a:noFill/>
          <a:ln/>
        </p:spPr>
        <p:txBody>
          <a:bodyPr wrap="square" lIns="0" tIns="0" rIns="0" bIns="0" rtlCol="0" anchor="t"/>
          <a:lstStyle/>
          <a:p>
            <a:pPr indent="0" marL="0">
              <a:buNone/>
            </a:pPr>
            <a:r>
              <a:rPr lang="en-US" sz="900" dirty="0">
                <a:solidFill>
                  <a:srgbClr val="738191"/>
                </a:solidFill>
                <a:latin typeface="Arial" pitchFamily="34" charset="0"/>
                <a:ea typeface="Arial" pitchFamily="34" charset="-122"/>
                <a:cs typeface="Arial" pitchFamily="34" charset="-120"/>
              </a:rPr>
              <a:t>FORGE  ·  Software Development Conference 2026</a:t>
            </a:r>
            <a:endParaRPr lang="en-US" sz="900" dirty="0"/>
          </a:p>
        </p:txBody>
      </p:sp>
      <p:sp>
        <p:nvSpPr>
          <p:cNvPr id="40" name="Text 38"/>
          <p:cNvSpPr txBox="1"/>
          <p:nvPr/>
        </p:nvSpPr>
        <p:spPr>
          <a:xfrm>
            <a:off x="11094415" y="6455664"/>
            <a:ext cx="548640" cy="219456"/>
          </a:xfrm>
          <a:prstGeom prst="rect">
            <a:avLst/>
          </a:prstGeom>
          <a:noFill/>
          <a:ln/>
        </p:spPr>
        <p:txBody>
          <a:bodyPr wrap="square" lIns="0" tIns="0" rIns="0" bIns="0" rtlCol="0" anchor="t"/>
          <a:lstStyle/>
          <a:p>
            <a:pPr algn="r" indent="0" marL="0">
              <a:buNone/>
            </a:pPr>
            <a:r>
              <a:rPr lang="en-US" sz="900" dirty="0">
                <a:solidFill>
                  <a:srgbClr val="738191"/>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t"/>
          <a:lstStyle/>
          <a:p>
            <a:pPr indent="0" marL="0">
              <a:buNone/>
            </a:pPr>
            <a:r>
              <a:rPr lang="en-US" sz="1100" b="1" spc="300" kern="0" dirty="0">
                <a:solidFill>
                  <a:srgbClr val="FF6A2B"/>
                </a:solidFill>
                <a:latin typeface="Arial" pitchFamily="34" charset="0"/>
                <a:ea typeface="Arial" pitchFamily="34" charset="-122"/>
                <a:cs typeface="Arial" pitchFamily="34" charset="-120"/>
              </a:rPr>
              <a:t>02  ·  THE PRINCIPLE</a:t>
            </a:r>
            <a:endParaRPr lang="en-US" sz="1100" dirty="0"/>
          </a:p>
        </p:txBody>
      </p:sp>
      <p:sp>
        <p:nvSpPr>
          <p:cNvPr id="3" name="Text 1"/>
          <p:cNvSpPr txBox="1"/>
          <p:nvPr/>
        </p:nvSpPr>
        <p:spPr>
          <a:xfrm>
            <a:off x="548640" y="676656"/>
            <a:ext cx="11094415" cy="658368"/>
          </a:xfrm>
          <a:prstGeom prst="rect">
            <a:avLst/>
          </a:prstGeom>
          <a:noFill/>
          <a:ln/>
        </p:spPr>
        <p:txBody>
          <a:bodyPr wrap="square" lIns="0" tIns="0" rIns="0" bIns="0" rtlCol="0" anchor="t"/>
          <a:lstStyle/>
          <a:p>
            <a:pPr indent="0" marL="0">
              <a:buNone/>
            </a:pPr>
            <a:r>
              <a:rPr lang="en-US" sz="3200" b="1" dirty="0">
                <a:solidFill>
                  <a:srgbClr val="F3F5F8"/>
                </a:solidFill>
                <a:latin typeface="Arial" pitchFamily="34" charset="0"/>
                <a:ea typeface="Arial" pitchFamily="34" charset="-122"/>
                <a:cs typeface="Arial" pitchFamily="34" charset="-120"/>
              </a:rPr>
              <a:t>Where the model decides, and where it never does</a:t>
            </a:r>
            <a:endParaRPr lang="en-US" sz="3200" dirty="0"/>
          </a:p>
        </p:txBody>
      </p:sp>
      <p:sp>
        <p:nvSpPr>
          <p:cNvPr id="4" name="Shape 2"/>
          <p:cNvSpPr/>
          <p:nvPr/>
        </p:nvSpPr>
        <p:spPr>
          <a:xfrm>
            <a:off x="548640" y="1600200"/>
            <a:ext cx="5410048" cy="4023360"/>
          </a:xfrm>
          <a:prstGeom prst="roundRect">
            <a:avLst>
              <a:gd name="adj" fmla="val 2727"/>
            </a:avLst>
          </a:prstGeom>
          <a:solidFill>
            <a:srgbClr val="FF6A2B">
              <a:alpha val="9000"/>
            </a:srgbClr>
          </a:solidFill>
          <a:ln w="9525">
            <a:solidFill>
              <a:srgbClr val="FF6A2B">
                <a:alpha val="45000"/>
              </a:srgbClr>
            </a:solidFill>
            <a:prstDash val="solid"/>
          </a:ln>
        </p:spPr>
      </p:sp>
      <p:sp>
        <p:nvSpPr>
          <p:cNvPr id="5" name="Shape 3"/>
          <p:cNvSpPr/>
          <p:nvPr/>
        </p:nvSpPr>
        <p:spPr>
          <a:xfrm>
            <a:off x="868680" y="1874520"/>
            <a:ext cx="548640" cy="548640"/>
          </a:xfrm>
          <a:prstGeom prst="ellipse">
            <a:avLst/>
          </a:prstGeom>
          <a:solidFill>
            <a:srgbClr val="FF6A2B">
              <a:alpha val="16000"/>
            </a:srgbClr>
          </a:solidFill>
          <a:ln w="9525">
            <a:solidFill>
              <a:srgbClr val="FF6A2B">
                <a:alpha val="50000"/>
              </a:srgbClr>
            </a:solidFill>
            <a:prstDash val="solid"/>
          </a:ln>
        </p:spPr>
      </p:sp>
      <p:pic>
        <p:nvPicPr>
          <p:cNvPr id="6" name="Image 0" descr="/private/tmp/claude-501/-Users-raja-forge/826f4f3b-77e1-484d-8167-0e3b60d97c63/scratchpad/deck/assets/icons/LuSparkles-FF6A2B.png">    </p:cNvPr>
          <p:cNvPicPr>
            <a:picLocks noChangeAspect="1"/>
          </p:cNvPicPr>
          <p:nvPr/>
        </p:nvPicPr>
        <p:blipFill>
          <a:blip r:embed="rId1"/>
          <a:stretch>
            <a:fillRect/>
          </a:stretch>
        </p:blipFill>
        <p:spPr>
          <a:xfrm>
            <a:off x="1005840" y="2011680"/>
            <a:ext cx="274320" cy="274320"/>
          </a:xfrm>
          <a:prstGeom prst="rect">
            <a:avLst/>
          </a:prstGeom>
        </p:spPr>
      </p:pic>
      <p:sp>
        <p:nvSpPr>
          <p:cNvPr id="7" name="Text 4"/>
          <p:cNvSpPr txBox="1"/>
          <p:nvPr/>
        </p:nvSpPr>
        <p:spPr>
          <a:xfrm>
            <a:off x="1554480" y="2029968"/>
            <a:ext cx="3840480" cy="274320"/>
          </a:xfrm>
          <a:prstGeom prst="rect">
            <a:avLst/>
          </a:prstGeom>
          <a:noFill/>
          <a:ln/>
        </p:spPr>
        <p:txBody>
          <a:bodyPr wrap="square" lIns="0" tIns="0" rIns="0" bIns="0" rtlCol="0" anchor="t"/>
          <a:lstStyle/>
          <a:p>
            <a:pPr indent="0" marL="0">
              <a:buNone/>
            </a:pPr>
            <a:r>
              <a:rPr lang="en-US" sz="1300" b="1" spc="300" kern="0" dirty="0">
                <a:solidFill>
                  <a:srgbClr val="FF6A2B"/>
                </a:solidFill>
                <a:latin typeface="Arial" pitchFamily="34" charset="0"/>
                <a:ea typeface="Arial" pitchFamily="34" charset="-122"/>
                <a:cs typeface="Arial" pitchFamily="34" charset="-120"/>
              </a:rPr>
              <a:t>THE MODEL DECIDES</a:t>
            </a:r>
            <a:endParaRPr lang="en-US" sz="1300" dirty="0"/>
          </a:p>
        </p:txBody>
      </p:sp>
      <p:sp>
        <p:nvSpPr>
          <p:cNvPr id="8" name="Shape 5"/>
          <p:cNvSpPr/>
          <p:nvPr/>
        </p:nvSpPr>
        <p:spPr>
          <a:xfrm>
            <a:off x="932688" y="2779776"/>
            <a:ext cx="91440" cy="91440"/>
          </a:xfrm>
          <a:prstGeom prst="ellipse">
            <a:avLst/>
          </a:prstGeom>
          <a:solidFill>
            <a:srgbClr val="FF6A2B"/>
          </a:solidFill>
          <a:ln/>
        </p:spPr>
      </p:sp>
      <p:sp>
        <p:nvSpPr>
          <p:cNvPr id="9" name="Text 6"/>
          <p:cNvSpPr txBox="1"/>
          <p:nvPr/>
        </p:nvSpPr>
        <p:spPr>
          <a:xfrm>
            <a:off x="1152144" y="2697480"/>
            <a:ext cx="4541368" cy="420624"/>
          </a:xfrm>
          <a:prstGeom prst="rect">
            <a:avLst/>
          </a:prstGeom>
          <a:noFill/>
          <a:ln/>
        </p:spPr>
        <p:txBody>
          <a:bodyPr wrap="square" lIns="0" tIns="0" rIns="0" bIns="0" rtlCol="0" anchor="t"/>
          <a:lstStyle/>
          <a:p>
            <a:pPr indent="0" marL="0">
              <a:buNone/>
            </a:pPr>
            <a:r>
              <a:rPr lang="en-US" sz="1400" b="1" dirty="0">
                <a:solidFill>
                  <a:srgbClr val="F3F5F8"/>
                </a:solidFill>
                <a:latin typeface="Arial" pitchFamily="34" charset="0"/>
                <a:ea typeface="Arial" pitchFamily="34" charset="-122"/>
                <a:cs typeface="Arial" pitchFamily="34" charset="-120"/>
              </a:rPr>
              <a:t>How to rewrite a file</a:t>
            </a:r>
            <a:pPr indent="0" marL="0">
              <a:buNone/>
            </a:pPr>
            <a:r>
              <a:rPr lang="en-US" sz="1400" dirty="0">
                <a:solidFill>
                  <a:srgbClr val="AAB5C3"/>
                </a:solidFill>
                <a:latin typeface="Arial" pitchFamily="34" charset="0"/>
                <a:ea typeface="Arial" pitchFamily="34" charset="-122"/>
                <a:cs typeface="Arial" pitchFamily="34" charset="-120"/>
              </a:rPr>
              <a:t> within a pack’s rules  (Opus 4.8)</a:t>
            </a:r>
            <a:endParaRPr lang="en-US" sz="1400" dirty="0"/>
          </a:p>
        </p:txBody>
      </p:sp>
      <p:sp>
        <p:nvSpPr>
          <p:cNvPr id="10" name="Shape 7"/>
          <p:cNvSpPr/>
          <p:nvPr/>
        </p:nvSpPr>
        <p:spPr>
          <a:xfrm>
            <a:off x="932688" y="3255264"/>
            <a:ext cx="91440" cy="91440"/>
          </a:xfrm>
          <a:prstGeom prst="ellipse">
            <a:avLst/>
          </a:prstGeom>
          <a:solidFill>
            <a:srgbClr val="FF6A2B"/>
          </a:solidFill>
          <a:ln/>
        </p:spPr>
      </p:sp>
      <p:sp>
        <p:nvSpPr>
          <p:cNvPr id="11" name="Text 8"/>
          <p:cNvSpPr txBox="1"/>
          <p:nvPr/>
        </p:nvSpPr>
        <p:spPr>
          <a:xfrm>
            <a:off x="1152144" y="3172968"/>
            <a:ext cx="4541368" cy="420624"/>
          </a:xfrm>
          <a:prstGeom prst="rect">
            <a:avLst/>
          </a:prstGeom>
          <a:noFill/>
          <a:ln/>
        </p:spPr>
        <p:txBody>
          <a:bodyPr wrap="square" lIns="0" tIns="0" rIns="0" bIns="0" rtlCol="0" anchor="t"/>
          <a:lstStyle/>
          <a:p>
            <a:pPr indent="0" marL="0">
              <a:buNone/>
            </a:pPr>
            <a:r>
              <a:rPr lang="en-US" sz="1400" b="1" dirty="0">
                <a:solidFill>
                  <a:srgbClr val="F3F5F8"/>
                </a:solidFill>
                <a:latin typeface="Arial" pitchFamily="34" charset="0"/>
                <a:ea typeface="Arial" pitchFamily="34" charset="-122"/>
                <a:cs typeface="Arial" pitchFamily="34" charset="-120"/>
              </a:rPr>
              <a:t>How good the rewrite is</a:t>
            </a:r>
            <a:pPr indent="0" marL="0">
              <a:buNone/>
            </a:pPr>
            <a:r>
              <a:rPr lang="en-US" sz="1400" dirty="0">
                <a:solidFill>
                  <a:srgbClr val="AAB5C3"/>
                </a:solidFill>
                <a:latin typeface="Arial" pitchFamily="34" charset="0"/>
                <a:ea typeface="Arial" pitchFamily="34" charset="-122"/>
                <a:cs typeface="Arial" pitchFamily="34" charset="-120"/>
              </a:rPr>
              <a:t>, as a 0–100 score  (Nova Pro)</a:t>
            </a:r>
            <a:endParaRPr lang="en-US" sz="1400" dirty="0"/>
          </a:p>
        </p:txBody>
      </p:sp>
      <p:sp>
        <p:nvSpPr>
          <p:cNvPr id="12" name="Shape 9"/>
          <p:cNvSpPr/>
          <p:nvPr/>
        </p:nvSpPr>
        <p:spPr>
          <a:xfrm>
            <a:off x="932688" y="3730752"/>
            <a:ext cx="91440" cy="91440"/>
          </a:xfrm>
          <a:prstGeom prst="ellipse">
            <a:avLst/>
          </a:prstGeom>
          <a:solidFill>
            <a:srgbClr val="FF6A2B"/>
          </a:solidFill>
          <a:ln/>
        </p:spPr>
      </p:sp>
      <p:sp>
        <p:nvSpPr>
          <p:cNvPr id="13" name="Text 10"/>
          <p:cNvSpPr txBox="1"/>
          <p:nvPr/>
        </p:nvSpPr>
        <p:spPr>
          <a:xfrm>
            <a:off x="1152144" y="3648456"/>
            <a:ext cx="4541368" cy="420624"/>
          </a:xfrm>
          <a:prstGeom prst="rect">
            <a:avLst/>
          </a:prstGeom>
          <a:noFill/>
          <a:ln/>
        </p:spPr>
        <p:txBody>
          <a:bodyPr wrap="square" lIns="0" tIns="0" rIns="0" bIns="0" rtlCol="0" anchor="t"/>
          <a:lstStyle/>
          <a:p>
            <a:pPr indent="0" marL="0">
              <a:buNone/>
            </a:pPr>
            <a:r>
              <a:rPr lang="en-US" sz="1400" b="1" dirty="0">
                <a:solidFill>
                  <a:srgbClr val="F3F5F8"/>
                </a:solidFill>
                <a:latin typeface="Arial" pitchFamily="34" charset="0"/>
                <a:ea typeface="Arial" pitchFamily="34" charset="-122"/>
                <a:cs typeface="Arial" pitchFamily="34" charset="-120"/>
              </a:rPr>
              <a:t>Which tool to call next</a:t>
            </a:r>
            <a:pPr indent="0" marL="0">
              <a:buNone/>
            </a:pPr>
            <a:r>
              <a:rPr lang="en-US" sz="1400" dirty="0">
                <a:solidFill>
                  <a:srgbClr val="AAB5C3"/>
                </a:solidFill>
                <a:latin typeface="Arial" pitchFamily="34" charset="0"/>
                <a:ea typeface="Arial" pitchFamily="34" charset="-122"/>
                <a:cs typeface="Arial" pitchFamily="34" charset="-120"/>
              </a:rPr>
              <a:t>, and when to stop and ask</a:t>
            </a:r>
            <a:endParaRPr lang="en-US" sz="1400" dirty="0"/>
          </a:p>
        </p:txBody>
      </p:sp>
      <p:sp>
        <p:nvSpPr>
          <p:cNvPr id="14" name="Shape 11"/>
          <p:cNvSpPr/>
          <p:nvPr/>
        </p:nvSpPr>
        <p:spPr>
          <a:xfrm>
            <a:off x="932688" y="4206240"/>
            <a:ext cx="91440" cy="91440"/>
          </a:xfrm>
          <a:prstGeom prst="ellipse">
            <a:avLst/>
          </a:prstGeom>
          <a:solidFill>
            <a:srgbClr val="FF6A2B"/>
          </a:solidFill>
          <a:ln/>
        </p:spPr>
      </p:sp>
      <p:sp>
        <p:nvSpPr>
          <p:cNvPr id="15" name="Text 12"/>
          <p:cNvSpPr txBox="1"/>
          <p:nvPr/>
        </p:nvSpPr>
        <p:spPr>
          <a:xfrm>
            <a:off x="1152144" y="4123944"/>
            <a:ext cx="4541368" cy="420624"/>
          </a:xfrm>
          <a:prstGeom prst="rect">
            <a:avLst/>
          </a:prstGeom>
          <a:noFill/>
          <a:ln/>
        </p:spPr>
        <p:txBody>
          <a:bodyPr wrap="square" lIns="0" tIns="0" rIns="0" bIns="0" rtlCol="0" anchor="t"/>
          <a:lstStyle/>
          <a:p>
            <a:pPr indent="0" marL="0">
              <a:buNone/>
            </a:pPr>
            <a:r>
              <a:rPr lang="en-US" sz="1400" b="1" dirty="0">
                <a:solidFill>
                  <a:srgbClr val="F3F5F8"/>
                </a:solidFill>
                <a:latin typeface="Arial" pitchFamily="34" charset="0"/>
                <a:ea typeface="Arial" pitchFamily="34" charset="-122"/>
                <a:cs typeface="Arial" pitchFamily="34" charset="-120"/>
              </a:rPr>
              <a:t>How to explain a result</a:t>
            </a:r>
            <a:pPr indent="0" marL="0">
              <a:buNone/>
            </a:pPr>
            <a:r>
              <a:rPr lang="en-US" sz="1400" dirty="0">
                <a:solidFill>
                  <a:srgbClr val="AAB5C3"/>
                </a:solidFill>
                <a:latin typeface="Arial" pitchFamily="34" charset="0"/>
                <a:ea typeface="Arial" pitchFamily="34" charset="-122"/>
                <a:cs typeface="Arial" pitchFamily="34" charset="-120"/>
              </a:rPr>
              <a:t> to a human</a:t>
            </a:r>
            <a:endParaRPr lang="en-US" sz="1400" dirty="0"/>
          </a:p>
        </p:txBody>
      </p:sp>
      <p:sp>
        <p:nvSpPr>
          <p:cNvPr id="16" name="Shape 13"/>
          <p:cNvSpPr/>
          <p:nvPr/>
        </p:nvSpPr>
        <p:spPr>
          <a:xfrm>
            <a:off x="932688" y="4681728"/>
            <a:ext cx="91440" cy="91440"/>
          </a:xfrm>
          <a:prstGeom prst="ellipse">
            <a:avLst/>
          </a:prstGeom>
          <a:solidFill>
            <a:srgbClr val="FF6A2B"/>
          </a:solidFill>
          <a:ln/>
        </p:spPr>
      </p:sp>
      <p:sp>
        <p:nvSpPr>
          <p:cNvPr id="17" name="Text 14"/>
          <p:cNvSpPr txBox="1"/>
          <p:nvPr/>
        </p:nvSpPr>
        <p:spPr>
          <a:xfrm>
            <a:off x="1152144" y="4599432"/>
            <a:ext cx="4541368" cy="420624"/>
          </a:xfrm>
          <a:prstGeom prst="rect">
            <a:avLst/>
          </a:prstGeom>
          <a:noFill/>
          <a:ln/>
        </p:spPr>
        <p:txBody>
          <a:bodyPr wrap="square" lIns="0" tIns="0" rIns="0" bIns="0" rtlCol="0" anchor="t"/>
          <a:lstStyle/>
          <a:p>
            <a:pPr indent="0" marL="0">
              <a:buNone/>
            </a:pPr>
            <a:r>
              <a:rPr lang="en-US" sz="1400" b="1" dirty="0">
                <a:solidFill>
                  <a:srgbClr val="F3F5F8"/>
                </a:solidFill>
                <a:latin typeface="Arial" pitchFamily="34" charset="0"/>
                <a:ea typeface="Arial" pitchFamily="34" charset="-122"/>
                <a:cs typeface="Arial" pitchFamily="34" charset="-120"/>
              </a:rPr>
              <a:t>Which decisions to propose</a:t>
            </a:r>
            <a:pPr indent="0" marL="0">
              <a:buNone/>
            </a:pPr>
            <a:r>
              <a:rPr lang="en-US" sz="1400" dirty="0">
                <a:solidFill>
                  <a:srgbClr val="AAB5C3"/>
                </a:solidFill>
                <a:latin typeface="Arial" pitchFamily="34" charset="0"/>
                <a:ea typeface="Arial" pitchFamily="34" charset="-122"/>
                <a:cs typeface="Arial" pitchFamily="34" charset="-120"/>
              </a:rPr>
              <a:t> from your sentence</a:t>
            </a:r>
            <a:endParaRPr lang="en-US" sz="1400" dirty="0"/>
          </a:p>
        </p:txBody>
      </p:sp>
      <p:sp>
        <p:nvSpPr>
          <p:cNvPr id="18" name="Shape 15"/>
          <p:cNvSpPr/>
          <p:nvPr/>
        </p:nvSpPr>
        <p:spPr>
          <a:xfrm>
            <a:off x="6233008" y="1600200"/>
            <a:ext cx="5410048" cy="4023360"/>
          </a:xfrm>
          <a:prstGeom prst="roundRect">
            <a:avLst>
              <a:gd name="adj" fmla="val 2727"/>
            </a:avLst>
          </a:prstGeom>
          <a:solidFill>
            <a:srgbClr val="5EB1FF">
              <a:alpha val="9000"/>
            </a:srgbClr>
          </a:solidFill>
          <a:ln w="9525">
            <a:solidFill>
              <a:srgbClr val="5EB1FF">
                <a:alpha val="45000"/>
              </a:srgbClr>
            </a:solidFill>
            <a:prstDash val="solid"/>
          </a:ln>
        </p:spPr>
      </p:sp>
      <p:sp>
        <p:nvSpPr>
          <p:cNvPr id="19" name="Shape 16"/>
          <p:cNvSpPr/>
          <p:nvPr/>
        </p:nvSpPr>
        <p:spPr>
          <a:xfrm>
            <a:off x="6553048" y="1874520"/>
            <a:ext cx="548640" cy="548640"/>
          </a:xfrm>
          <a:prstGeom prst="ellipse">
            <a:avLst/>
          </a:prstGeom>
          <a:solidFill>
            <a:srgbClr val="5EB1FF">
              <a:alpha val="16000"/>
            </a:srgbClr>
          </a:solidFill>
          <a:ln w="9525">
            <a:solidFill>
              <a:srgbClr val="5EB1FF">
                <a:alpha val="50000"/>
              </a:srgbClr>
            </a:solidFill>
            <a:prstDash val="solid"/>
          </a:ln>
        </p:spPr>
      </p:sp>
      <p:pic>
        <p:nvPicPr>
          <p:cNvPr id="20" name="Image 1" descr="/private/tmp/claude-501/-Users-raja-forge/826f4f3b-77e1-484d-8167-0e3b60d97c63/scratchpad/deck/assets/icons/LuCode-5EB1FF.png">    </p:cNvPr>
          <p:cNvPicPr>
            <a:picLocks noChangeAspect="1"/>
          </p:cNvPicPr>
          <p:nvPr/>
        </p:nvPicPr>
        <p:blipFill>
          <a:blip r:embed="rId2"/>
          <a:stretch>
            <a:fillRect/>
          </a:stretch>
        </p:blipFill>
        <p:spPr>
          <a:xfrm>
            <a:off x="6690208" y="2011680"/>
            <a:ext cx="274320" cy="274320"/>
          </a:xfrm>
          <a:prstGeom prst="rect">
            <a:avLst/>
          </a:prstGeom>
        </p:spPr>
      </p:pic>
      <p:sp>
        <p:nvSpPr>
          <p:cNvPr id="21" name="Text 17"/>
          <p:cNvSpPr txBox="1"/>
          <p:nvPr/>
        </p:nvSpPr>
        <p:spPr>
          <a:xfrm>
            <a:off x="7238848" y="2029968"/>
            <a:ext cx="3840480" cy="274320"/>
          </a:xfrm>
          <a:prstGeom prst="rect">
            <a:avLst/>
          </a:prstGeom>
          <a:noFill/>
          <a:ln/>
        </p:spPr>
        <p:txBody>
          <a:bodyPr wrap="square" lIns="0" tIns="0" rIns="0" bIns="0" rtlCol="0" anchor="t"/>
          <a:lstStyle/>
          <a:p>
            <a:pPr indent="0" marL="0">
              <a:buNone/>
            </a:pPr>
            <a:r>
              <a:rPr lang="en-US" sz="1300" b="1" spc="300" kern="0" dirty="0">
                <a:solidFill>
                  <a:srgbClr val="5EB1FF"/>
                </a:solidFill>
                <a:latin typeface="Arial" pitchFamily="34" charset="0"/>
                <a:ea typeface="Arial" pitchFamily="34" charset="-122"/>
                <a:cs typeface="Arial" pitchFamily="34" charset="-120"/>
              </a:rPr>
              <a:t>CODE DECIDES, ALWAYS</a:t>
            </a:r>
            <a:endParaRPr lang="en-US" sz="1300" dirty="0"/>
          </a:p>
        </p:txBody>
      </p:sp>
      <p:sp>
        <p:nvSpPr>
          <p:cNvPr id="22" name="Shape 18"/>
          <p:cNvSpPr/>
          <p:nvPr/>
        </p:nvSpPr>
        <p:spPr>
          <a:xfrm>
            <a:off x="6617056" y="2779776"/>
            <a:ext cx="91440" cy="91440"/>
          </a:xfrm>
          <a:prstGeom prst="ellipse">
            <a:avLst/>
          </a:prstGeom>
          <a:solidFill>
            <a:srgbClr val="5EB1FF"/>
          </a:solidFill>
          <a:ln/>
        </p:spPr>
      </p:sp>
      <p:sp>
        <p:nvSpPr>
          <p:cNvPr id="23" name="Text 19"/>
          <p:cNvSpPr txBox="1"/>
          <p:nvPr/>
        </p:nvSpPr>
        <p:spPr>
          <a:xfrm>
            <a:off x="6836512" y="2697480"/>
            <a:ext cx="4541368" cy="420624"/>
          </a:xfrm>
          <a:prstGeom prst="rect">
            <a:avLst/>
          </a:prstGeom>
          <a:noFill/>
          <a:ln/>
        </p:spPr>
        <p:txBody>
          <a:bodyPr wrap="square" lIns="0" tIns="0" rIns="0" bIns="0" rtlCol="0" anchor="t"/>
          <a:lstStyle/>
          <a:p>
            <a:pPr indent="0" marL="0">
              <a:buNone/>
            </a:pPr>
            <a:r>
              <a:rPr lang="en-US" sz="1400" b="1" dirty="0">
                <a:solidFill>
                  <a:srgbClr val="F3F5F8"/>
                </a:solidFill>
                <a:latin typeface="Arial" pitchFamily="34" charset="0"/>
                <a:ea typeface="Arial" pitchFamily="34" charset="-122"/>
                <a:cs typeface="Arial" pitchFamily="34" charset="-120"/>
              </a:rPr>
              <a:t>Which packs apply</a:t>
            </a:r>
            <a:pPr indent="0" marL="0">
              <a:buNone/>
            </a:pPr>
            <a:r>
              <a:rPr lang="en-US" sz="1400" dirty="0">
                <a:solidFill>
                  <a:srgbClr val="AAB5C3"/>
                </a:solidFill>
                <a:latin typeface="Arial" pitchFamily="34" charset="0"/>
                <a:ea typeface="Arial" pitchFamily="34" charset="-122"/>
                <a:cs typeface="Arial" pitchFamily="34" charset="-120"/>
              </a:rPr>
              <a:t>: detect rules over evidence</a:t>
            </a:r>
            <a:endParaRPr lang="en-US" sz="1400" dirty="0"/>
          </a:p>
        </p:txBody>
      </p:sp>
      <p:sp>
        <p:nvSpPr>
          <p:cNvPr id="24" name="Shape 20"/>
          <p:cNvSpPr/>
          <p:nvPr/>
        </p:nvSpPr>
        <p:spPr>
          <a:xfrm>
            <a:off x="6617056" y="3255264"/>
            <a:ext cx="91440" cy="91440"/>
          </a:xfrm>
          <a:prstGeom prst="ellipse">
            <a:avLst/>
          </a:prstGeom>
          <a:solidFill>
            <a:srgbClr val="5EB1FF"/>
          </a:solidFill>
          <a:ln/>
        </p:spPr>
      </p:sp>
      <p:sp>
        <p:nvSpPr>
          <p:cNvPr id="25" name="Text 21"/>
          <p:cNvSpPr txBox="1"/>
          <p:nvPr/>
        </p:nvSpPr>
        <p:spPr>
          <a:xfrm>
            <a:off x="6836512" y="3172968"/>
            <a:ext cx="4541368" cy="420624"/>
          </a:xfrm>
          <a:prstGeom prst="rect">
            <a:avLst/>
          </a:prstGeom>
          <a:noFill/>
          <a:ln/>
        </p:spPr>
        <p:txBody>
          <a:bodyPr wrap="square" lIns="0" tIns="0" rIns="0" bIns="0" rtlCol="0" anchor="t"/>
          <a:lstStyle/>
          <a:p>
            <a:pPr indent="0" marL="0">
              <a:buNone/>
            </a:pPr>
            <a:r>
              <a:rPr lang="en-US" sz="1400" b="1" dirty="0">
                <a:solidFill>
                  <a:srgbClr val="F3F5F8"/>
                </a:solidFill>
                <a:latin typeface="Arial" pitchFamily="34" charset="0"/>
                <a:ea typeface="Arial" pitchFamily="34" charset="-122"/>
                <a:cs typeface="Arial" pitchFamily="34" charset="-120"/>
              </a:rPr>
              <a:t>Which files a pack takes</a:t>
            </a:r>
            <a:pPr indent="0" marL="0">
              <a:buNone/>
            </a:pPr>
            <a:r>
              <a:rPr lang="en-US" sz="1400" dirty="0">
                <a:solidFill>
                  <a:srgbClr val="AAB5C3"/>
                </a:solidFill>
                <a:latin typeface="Arial" pitchFamily="34" charset="0"/>
                <a:ea typeface="Arial" pitchFamily="34" charset="-122"/>
                <a:cs typeface="Arial" pitchFamily="34" charset="-120"/>
              </a:rPr>
              <a:t>: content match and scope</a:t>
            </a:r>
            <a:endParaRPr lang="en-US" sz="1400" dirty="0"/>
          </a:p>
        </p:txBody>
      </p:sp>
      <p:sp>
        <p:nvSpPr>
          <p:cNvPr id="26" name="Shape 22"/>
          <p:cNvSpPr/>
          <p:nvPr/>
        </p:nvSpPr>
        <p:spPr>
          <a:xfrm>
            <a:off x="6617056" y="3730752"/>
            <a:ext cx="91440" cy="91440"/>
          </a:xfrm>
          <a:prstGeom prst="ellipse">
            <a:avLst/>
          </a:prstGeom>
          <a:solidFill>
            <a:srgbClr val="5EB1FF"/>
          </a:solidFill>
          <a:ln/>
        </p:spPr>
      </p:sp>
      <p:sp>
        <p:nvSpPr>
          <p:cNvPr id="27" name="Text 23"/>
          <p:cNvSpPr txBox="1"/>
          <p:nvPr/>
        </p:nvSpPr>
        <p:spPr>
          <a:xfrm>
            <a:off x="6836512" y="3648456"/>
            <a:ext cx="4541368" cy="420624"/>
          </a:xfrm>
          <a:prstGeom prst="rect">
            <a:avLst/>
          </a:prstGeom>
          <a:noFill/>
          <a:ln/>
        </p:spPr>
        <p:txBody>
          <a:bodyPr wrap="square" lIns="0" tIns="0" rIns="0" bIns="0" rtlCol="0" anchor="t"/>
          <a:lstStyle/>
          <a:p>
            <a:pPr indent="0" marL="0">
              <a:buNone/>
            </a:pPr>
            <a:r>
              <a:rPr lang="en-US" sz="1400" b="1" dirty="0">
                <a:solidFill>
                  <a:srgbClr val="F3F5F8"/>
                </a:solidFill>
                <a:latin typeface="Arial" pitchFamily="34" charset="0"/>
                <a:ea typeface="Arial" pitchFamily="34" charset="-122"/>
                <a:cs typeface="Arial" pitchFamily="34" charset="-120"/>
              </a:rPr>
              <a:t>What a score means</a:t>
            </a:r>
            <a:pPr indent="0" marL="0">
              <a:buNone/>
            </a:pPr>
            <a:r>
              <a:rPr lang="en-US" sz="1400" dirty="0">
                <a:solidFill>
                  <a:srgbClr val="AAB5C3"/>
                </a:solidFill>
                <a:latin typeface="Arial" pitchFamily="34" charset="0"/>
                <a:ea typeface="Arial" pitchFamily="34" charset="-122"/>
                <a:cs typeface="Arial" pitchFamily="34" charset="-120"/>
              </a:rPr>
              <a:t>: route_reviewer, max_retries</a:t>
            </a:r>
            <a:endParaRPr lang="en-US" sz="1400" dirty="0"/>
          </a:p>
        </p:txBody>
      </p:sp>
      <p:sp>
        <p:nvSpPr>
          <p:cNvPr id="28" name="Shape 24"/>
          <p:cNvSpPr/>
          <p:nvPr/>
        </p:nvSpPr>
        <p:spPr>
          <a:xfrm>
            <a:off x="6617056" y="4206240"/>
            <a:ext cx="91440" cy="91440"/>
          </a:xfrm>
          <a:prstGeom prst="ellipse">
            <a:avLst/>
          </a:prstGeom>
          <a:solidFill>
            <a:srgbClr val="5EB1FF"/>
          </a:solidFill>
          <a:ln/>
        </p:spPr>
      </p:sp>
      <p:sp>
        <p:nvSpPr>
          <p:cNvPr id="29" name="Text 25"/>
          <p:cNvSpPr txBox="1"/>
          <p:nvPr/>
        </p:nvSpPr>
        <p:spPr>
          <a:xfrm>
            <a:off x="6836512" y="4123944"/>
            <a:ext cx="4541368" cy="420624"/>
          </a:xfrm>
          <a:prstGeom prst="rect">
            <a:avLst/>
          </a:prstGeom>
          <a:noFill/>
          <a:ln/>
        </p:spPr>
        <p:txBody>
          <a:bodyPr wrap="square" lIns="0" tIns="0" rIns="0" bIns="0" rtlCol="0" anchor="t"/>
          <a:lstStyle/>
          <a:p>
            <a:pPr indent="0" marL="0">
              <a:buNone/>
            </a:pPr>
            <a:r>
              <a:rPr lang="en-US" sz="1400" b="1" dirty="0">
                <a:solidFill>
                  <a:srgbClr val="F3F5F8"/>
                </a:solidFill>
                <a:latin typeface="Arial" pitchFamily="34" charset="0"/>
                <a:ea typeface="Arial" pitchFamily="34" charset="-122"/>
                <a:cs typeface="Arial" pitchFamily="34" charset="-120"/>
              </a:rPr>
              <a:t>Whether output parses</a:t>
            </a:r>
            <a:pPr indent="0" marL="0">
              <a:buNone/>
            </a:pPr>
            <a:r>
              <a:rPr lang="en-US" sz="1400" dirty="0">
                <a:solidFill>
                  <a:srgbClr val="AAB5C3"/>
                </a:solidFill>
                <a:latin typeface="Arial" pitchFamily="34" charset="0"/>
                <a:ea typeface="Arial" pitchFamily="34" charset="-122"/>
                <a:cs typeface="Arial" pitchFamily="34" charset="-120"/>
              </a:rPr>
              <a:t>: javac, then your own build</a:t>
            </a:r>
            <a:endParaRPr lang="en-US" sz="1400" dirty="0"/>
          </a:p>
        </p:txBody>
      </p:sp>
      <p:sp>
        <p:nvSpPr>
          <p:cNvPr id="30" name="Shape 26"/>
          <p:cNvSpPr/>
          <p:nvPr/>
        </p:nvSpPr>
        <p:spPr>
          <a:xfrm>
            <a:off x="6617056" y="4681728"/>
            <a:ext cx="91440" cy="91440"/>
          </a:xfrm>
          <a:prstGeom prst="ellipse">
            <a:avLst/>
          </a:prstGeom>
          <a:solidFill>
            <a:srgbClr val="5EB1FF"/>
          </a:solidFill>
          <a:ln/>
        </p:spPr>
      </p:sp>
      <p:sp>
        <p:nvSpPr>
          <p:cNvPr id="31" name="Text 27"/>
          <p:cNvSpPr txBox="1"/>
          <p:nvPr/>
        </p:nvSpPr>
        <p:spPr>
          <a:xfrm>
            <a:off x="6836512" y="4599432"/>
            <a:ext cx="4541368" cy="420624"/>
          </a:xfrm>
          <a:prstGeom prst="rect">
            <a:avLst/>
          </a:prstGeom>
          <a:noFill/>
          <a:ln/>
        </p:spPr>
        <p:txBody>
          <a:bodyPr wrap="square" lIns="0" tIns="0" rIns="0" bIns="0" rtlCol="0" anchor="t"/>
          <a:lstStyle/>
          <a:p>
            <a:pPr indent="0" marL="0">
              <a:buNone/>
            </a:pPr>
            <a:r>
              <a:rPr lang="en-US" sz="1400" b="1" dirty="0">
                <a:solidFill>
                  <a:srgbClr val="F3F5F8"/>
                </a:solidFill>
                <a:latin typeface="Arial" pitchFamily="34" charset="0"/>
                <a:ea typeface="Arial" pitchFamily="34" charset="-122"/>
                <a:cs typeface="Arial" pitchFamily="34" charset="-120"/>
              </a:rPr>
              <a:t>What counts as a secret</a:t>
            </a:r>
            <a:pPr indent="0" marL="0">
              <a:buNone/>
            </a:pPr>
            <a:r>
              <a:rPr lang="en-US" sz="1400" dirty="0">
                <a:solidFill>
                  <a:srgbClr val="AAB5C3"/>
                </a:solidFill>
                <a:latin typeface="Arial" pitchFamily="34" charset="0"/>
                <a:ea typeface="Arial" pitchFamily="34" charset="-122"/>
                <a:cs typeface="Arial" pitchFamily="34" charset="-120"/>
              </a:rPr>
              <a:t>: a local scan, first</a:t>
            </a:r>
            <a:endParaRPr lang="en-US" sz="1400" dirty="0"/>
          </a:p>
        </p:txBody>
      </p:sp>
      <p:sp>
        <p:nvSpPr>
          <p:cNvPr id="32" name="Shape 28"/>
          <p:cNvSpPr/>
          <p:nvPr/>
        </p:nvSpPr>
        <p:spPr>
          <a:xfrm>
            <a:off x="6617056" y="5157216"/>
            <a:ext cx="91440" cy="91440"/>
          </a:xfrm>
          <a:prstGeom prst="ellipse">
            <a:avLst/>
          </a:prstGeom>
          <a:solidFill>
            <a:srgbClr val="5EB1FF"/>
          </a:solidFill>
          <a:ln/>
        </p:spPr>
      </p:sp>
      <p:sp>
        <p:nvSpPr>
          <p:cNvPr id="33" name="Text 29"/>
          <p:cNvSpPr txBox="1"/>
          <p:nvPr/>
        </p:nvSpPr>
        <p:spPr>
          <a:xfrm>
            <a:off x="6836512" y="5074920"/>
            <a:ext cx="4541368" cy="420624"/>
          </a:xfrm>
          <a:prstGeom prst="rect">
            <a:avLst/>
          </a:prstGeom>
          <a:noFill/>
          <a:ln/>
        </p:spPr>
        <p:txBody>
          <a:bodyPr wrap="square" lIns="0" tIns="0" rIns="0" bIns="0" rtlCol="0" anchor="t"/>
          <a:lstStyle/>
          <a:p>
            <a:pPr indent="0" marL="0">
              <a:buNone/>
            </a:pPr>
            <a:r>
              <a:rPr lang="en-US" sz="1400" b="1" dirty="0">
                <a:solidFill>
                  <a:srgbClr val="F3F5F8"/>
                </a:solidFill>
                <a:latin typeface="Arial" pitchFamily="34" charset="0"/>
                <a:ea typeface="Arial" pitchFamily="34" charset="-122"/>
                <a:cs typeface="Arial" pitchFamily="34" charset="-120"/>
              </a:rPr>
              <a:t>Landing code or opening a PR</a:t>
            </a:r>
            <a:pPr indent="0" marL="0">
              <a:buNone/>
            </a:pPr>
            <a:r>
              <a:rPr lang="en-US" sz="1400" dirty="0">
                <a:solidFill>
                  <a:srgbClr val="AAB5C3"/>
                </a:solidFill>
                <a:latin typeface="Arial" pitchFamily="34" charset="0"/>
                <a:ea typeface="Arial" pitchFamily="34" charset="-122"/>
                <a:cs typeface="Arial" pitchFamily="34" charset="-120"/>
              </a:rPr>
              <a:t>: your click</a:t>
            </a:r>
            <a:endParaRPr lang="en-US" sz="1400" dirty="0"/>
          </a:p>
        </p:txBody>
      </p:sp>
      <p:sp>
        <p:nvSpPr>
          <p:cNvPr id="34" name="Text 30"/>
          <p:cNvSpPr txBox="1"/>
          <p:nvPr/>
        </p:nvSpPr>
        <p:spPr>
          <a:xfrm>
            <a:off x="548640" y="5806440"/>
            <a:ext cx="11094415" cy="320040"/>
          </a:xfrm>
          <a:prstGeom prst="rect">
            <a:avLst/>
          </a:prstGeom>
          <a:noFill/>
          <a:ln/>
        </p:spPr>
        <p:txBody>
          <a:bodyPr wrap="square" lIns="0" tIns="0" rIns="0" bIns="0" rtlCol="0" anchor="t"/>
          <a:lstStyle/>
          <a:p>
            <a:pPr indent="0" marL="0">
              <a:buNone/>
            </a:pPr>
            <a:r>
              <a:rPr lang="en-US" sz="1300" i="1" dirty="0">
                <a:solidFill>
                  <a:srgbClr val="AAB5C3"/>
                </a:solidFill>
                <a:latin typeface="Arial" pitchFamily="34" charset="0"/>
                <a:ea typeface="Arial" pitchFamily="34" charset="-122"/>
                <a:cs typeface="Arial" pitchFamily="34" charset="-120"/>
              </a:rPr>
              <a:t>Every limit on the right is enforced in code and pinned by a test, not written into a prompt.</a:t>
            </a:r>
            <a:endParaRPr lang="en-US" sz="1300" dirty="0"/>
          </a:p>
        </p:txBody>
      </p:sp>
      <p:sp>
        <p:nvSpPr>
          <p:cNvPr id="35" name="Text 31"/>
          <p:cNvSpPr txBox="1"/>
          <p:nvPr/>
        </p:nvSpPr>
        <p:spPr>
          <a:xfrm>
            <a:off x="548640" y="6455664"/>
            <a:ext cx="5486400" cy="219456"/>
          </a:xfrm>
          <a:prstGeom prst="rect">
            <a:avLst/>
          </a:prstGeom>
          <a:noFill/>
          <a:ln/>
        </p:spPr>
        <p:txBody>
          <a:bodyPr wrap="square" lIns="0" tIns="0" rIns="0" bIns="0" rtlCol="0" anchor="t"/>
          <a:lstStyle/>
          <a:p>
            <a:pPr indent="0" marL="0">
              <a:buNone/>
            </a:pPr>
            <a:r>
              <a:rPr lang="en-US" sz="900" dirty="0">
                <a:solidFill>
                  <a:srgbClr val="738191"/>
                </a:solidFill>
                <a:latin typeface="Arial" pitchFamily="34" charset="0"/>
                <a:ea typeface="Arial" pitchFamily="34" charset="-122"/>
                <a:cs typeface="Arial" pitchFamily="34" charset="-120"/>
              </a:rPr>
              <a:t>FORGE  ·  Software Development Conference 2026</a:t>
            </a:r>
            <a:endParaRPr lang="en-US" sz="900" dirty="0"/>
          </a:p>
        </p:txBody>
      </p:sp>
      <p:sp>
        <p:nvSpPr>
          <p:cNvPr id="36" name="Text 32"/>
          <p:cNvSpPr txBox="1"/>
          <p:nvPr/>
        </p:nvSpPr>
        <p:spPr>
          <a:xfrm>
            <a:off x="11094415" y="6455664"/>
            <a:ext cx="548640" cy="219456"/>
          </a:xfrm>
          <a:prstGeom prst="rect">
            <a:avLst/>
          </a:prstGeom>
          <a:noFill/>
          <a:ln/>
        </p:spPr>
        <p:txBody>
          <a:bodyPr wrap="square" lIns="0" tIns="0" rIns="0" bIns="0" rtlCol="0" anchor="t"/>
          <a:lstStyle/>
          <a:p>
            <a:pPr algn="r" indent="0" marL="0">
              <a:buNone/>
            </a:pPr>
            <a:r>
              <a:rPr lang="en-US" sz="900" dirty="0">
                <a:solidFill>
                  <a:srgbClr val="738191"/>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t"/>
          <a:lstStyle/>
          <a:p>
            <a:pPr indent="0" marL="0">
              <a:buNone/>
            </a:pPr>
            <a:r>
              <a:rPr lang="en-US" sz="1100" b="1" spc="300" kern="0" dirty="0">
                <a:solidFill>
                  <a:srgbClr val="FF6A2B"/>
                </a:solidFill>
                <a:latin typeface="Arial" pitchFamily="34" charset="0"/>
                <a:ea typeface="Arial" pitchFamily="34" charset="-122"/>
                <a:cs typeface="Arial" pitchFamily="34" charset="-120"/>
              </a:rPr>
              <a:t>03  ·  THE ENGINE</a:t>
            </a:r>
            <a:endParaRPr lang="en-US" sz="1100" dirty="0"/>
          </a:p>
        </p:txBody>
      </p:sp>
      <p:sp>
        <p:nvSpPr>
          <p:cNvPr id="3" name="Text 1"/>
          <p:cNvSpPr txBox="1"/>
          <p:nvPr/>
        </p:nvSpPr>
        <p:spPr>
          <a:xfrm>
            <a:off x="548640" y="676656"/>
            <a:ext cx="11094415" cy="658368"/>
          </a:xfrm>
          <a:prstGeom prst="rect">
            <a:avLst/>
          </a:prstGeom>
          <a:noFill/>
          <a:ln/>
        </p:spPr>
        <p:txBody>
          <a:bodyPr wrap="square" lIns="0" tIns="0" rIns="0" bIns="0" rtlCol="0" anchor="t"/>
          <a:lstStyle/>
          <a:p>
            <a:pPr indent="0" marL="0">
              <a:buNone/>
            </a:pPr>
            <a:r>
              <a:rPr lang="en-US" sz="3200" b="1" dirty="0">
                <a:solidFill>
                  <a:srgbClr val="F3F5F8"/>
                </a:solidFill>
                <a:latin typeface="Arial" pitchFamily="34" charset="0"/>
                <a:ea typeface="Arial" pitchFamily="34" charset="-122"/>
                <a:cs typeface="Arial" pitchFamily="34" charset="-120"/>
              </a:rPr>
              <a:t>Architecture: a local engine on managed AWS services</a:t>
            </a:r>
            <a:endParaRPr lang="en-US" sz="3200" dirty="0"/>
          </a:p>
        </p:txBody>
      </p:sp>
      <p:sp>
        <p:nvSpPr>
          <p:cNvPr id="4" name="Shape 2"/>
          <p:cNvSpPr/>
          <p:nvPr/>
        </p:nvSpPr>
        <p:spPr>
          <a:xfrm>
            <a:off x="548640" y="1645920"/>
            <a:ext cx="3886200" cy="4434840"/>
          </a:xfrm>
          <a:prstGeom prst="roundRect">
            <a:avLst>
              <a:gd name="adj" fmla="val 2824"/>
            </a:avLst>
          </a:prstGeom>
          <a:solidFill>
            <a:srgbClr val="121821">
              <a:alpha val="75000"/>
            </a:srgbClr>
          </a:solidFill>
          <a:ln w="9525">
            <a:solidFill>
              <a:srgbClr val="1E2835"/>
            </a:solidFill>
            <a:prstDash val="solid"/>
          </a:ln>
        </p:spPr>
      </p:sp>
      <p:sp>
        <p:nvSpPr>
          <p:cNvPr id="5" name="Text 3"/>
          <p:cNvSpPr txBox="1"/>
          <p:nvPr/>
        </p:nvSpPr>
        <p:spPr>
          <a:xfrm>
            <a:off x="804672" y="1810512"/>
            <a:ext cx="3474720" cy="237744"/>
          </a:xfrm>
          <a:prstGeom prst="rect">
            <a:avLst/>
          </a:prstGeom>
          <a:noFill/>
          <a:ln/>
        </p:spPr>
        <p:txBody>
          <a:bodyPr wrap="square" lIns="0" tIns="0" rIns="0" bIns="0" rtlCol="0" anchor="t"/>
          <a:lstStyle/>
          <a:p>
            <a:pPr indent="0" marL="0">
              <a:buNone/>
            </a:pPr>
            <a:r>
              <a:rPr lang="en-US" sz="1050" b="1" spc="200" kern="0" dirty="0">
                <a:solidFill>
                  <a:srgbClr val="738191"/>
                </a:solidFill>
                <a:latin typeface="Arial" pitchFamily="34" charset="0"/>
                <a:ea typeface="Arial" pitchFamily="34" charset="-122"/>
                <a:cs typeface="Arial" pitchFamily="34" charset="-120"/>
              </a:rPr>
              <a:t>ENGINEER’S MACHINE  ·  CI</a:t>
            </a:r>
            <a:endParaRPr lang="en-US" sz="1050" dirty="0"/>
          </a:p>
        </p:txBody>
      </p:sp>
      <p:sp>
        <p:nvSpPr>
          <p:cNvPr id="6" name="Shape 4"/>
          <p:cNvSpPr/>
          <p:nvPr/>
        </p:nvSpPr>
        <p:spPr>
          <a:xfrm>
            <a:off x="777240" y="2212848"/>
            <a:ext cx="1691640" cy="914400"/>
          </a:xfrm>
          <a:prstGeom prst="roundRect">
            <a:avLst>
              <a:gd name="adj" fmla="val 12000"/>
            </a:avLst>
          </a:prstGeom>
          <a:solidFill>
            <a:srgbClr val="18212D"/>
          </a:solidFill>
          <a:ln w="9525">
            <a:solidFill>
              <a:srgbClr val="263244"/>
            </a:solidFill>
            <a:prstDash val="solid"/>
          </a:ln>
        </p:spPr>
      </p:sp>
      <p:pic>
        <p:nvPicPr>
          <p:cNvPr id="7" name="Image 0" descr="/private/tmp/claude-501/-Users-raja-forge/826f4f3b-77e1-484d-8167-0e3b60d97c63/scratchpad/deck/assets/icons/LuMessagesSquare-5EB1FF.png">    </p:cNvPr>
          <p:cNvPicPr>
            <a:picLocks noChangeAspect="1"/>
          </p:cNvPicPr>
          <p:nvPr/>
        </p:nvPicPr>
        <p:blipFill>
          <a:blip r:embed="rId1"/>
          <a:stretch>
            <a:fillRect/>
          </a:stretch>
        </p:blipFill>
        <p:spPr>
          <a:xfrm>
            <a:off x="923544" y="2368296"/>
            <a:ext cx="274320" cy="274320"/>
          </a:xfrm>
          <a:prstGeom prst="rect">
            <a:avLst/>
          </a:prstGeom>
        </p:spPr>
      </p:pic>
      <p:sp>
        <p:nvSpPr>
          <p:cNvPr id="8" name="Text 5"/>
          <p:cNvSpPr txBox="1"/>
          <p:nvPr/>
        </p:nvSpPr>
        <p:spPr>
          <a:xfrm>
            <a:off x="1280160" y="2368296"/>
            <a:ext cx="1097280" cy="274320"/>
          </a:xfrm>
          <a:prstGeom prst="rect">
            <a:avLst/>
          </a:prstGeom>
          <a:noFill/>
          <a:ln/>
        </p:spPr>
        <p:txBody>
          <a:bodyPr wrap="square" lIns="0" tIns="0" rIns="0" bIns="0" rtlCol="0" anchor="t"/>
          <a:lstStyle/>
          <a:p>
            <a:pPr indent="0" marL="0">
              <a:buNone/>
            </a:pPr>
            <a:r>
              <a:rPr lang="en-US" sz="1400" b="1" dirty="0">
                <a:solidFill>
                  <a:srgbClr val="F3F5F8"/>
                </a:solidFill>
                <a:latin typeface="Arial" pitchFamily="34" charset="0"/>
                <a:ea typeface="Arial" pitchFamily="34" charset="-122"/>
                <a:cs typeface="Arial" pitchFamily="34" charset="-120"/>
              </a:rPr>
              <a:t>Chat UI</a:t>
            </a:r>
            <a:endParaRPr lang="en-US" sz="1400" dirty="0"/>
          </a:p>
        </p:txBody>
      </p:sp>
      <p:sp>
        <p:nvSpPr>
          <p:cNvPr id="9" name="Text 6"/>
          <p:cNvSpPr txBox="1"/>
          <p:nvPr/>
        </p:nvSpPr>
        <p:spPr>
          <a:xfrm>
            <a:off x="923544" y="2743200"/>
            <a:ext cx="1463040" cy="256032"/>
          </a:xfrm>
          <a:prstGeom prst="rect">
            <a:avLst/>
          </a:prstGeom>
          <a:noFill/>
          <a:ln/>
        </p:spPr>
        <p:txBody>
          <a:bodyPr wrap="square" lIns="0" tIns="0" rIns="0" bIns="0" rtlCol="0" anchor="t"/>
          <a:lstStyle/>
          <a:p>
            <a:pPr indent="0" marL="0">
              <a:buNone/>
            </a:pPr>
            <a:r>
              <a:rPr lang="en-US" sz="950" dirty="0">
                <a:solidFill>
                  <a:srgbClr val="AAB5C3"/>
                </a:solidFill>
                <a:latin typeface="Consolas" pitchFamily="34" charset="0"/>
                <a:ea typeface="Consolas" pitchFamily="34" charset="-122"/>
                <a:cs typeface="Consolas" pitchFamily="34" charset="-120"/>
              </a:rPr>
              <a:t>migrate.py --ui</a:t>
            </a:r>
            <a:endParaRPr lang="en-US" sz="950" dirty="0"/>
          </a:p>
        </p:txBody>
      </p:sp>
      <p:sp>
        <p:nvSpPr>
          <p:cNvPr id="10" name="Shape 7"/>
          <p:cNvSpPr/>
          <p:nvPr/>
        </p:nvSpPr>
        <p:spPr>
          <a:xfrm>
            <a:off x="2606040" y="2212848"/>
            <a:ext cx="1600200" cy="914400"/>
          </a:xfrm>
          <a:prstGeom prst="roundRect">
            <a:avLst>
              <a:gd name="adj" fmla="val 12000"/>
            </a:avLst>
          </a:prstGeom>
          <a:solidFill>
            <a:srgbClr val="18212D"/>
          </a:solidFill>
          <a:ln w="9525">
            <a:solidFill>
              <a:srgbClr val="263244"/>
            </a:solidFill>
            <a:prstDash val="solid"/>
          </a:ln>
        </p:spPr>
      </p:sp>
      <p:pic>
        <p:nvPicPr>
          <p:cNvPr id="11" name="Image 1" descr="/private/tmp/claude-501/-Users-raja-forge/826f4f3b-77e1-484d-8167-0e3b60d97c63/scratchpad/deck/assets/icons/LuSquareTerminal-5EB1FF.png">    </p:cNvPr>
          <p:cNvPicPr>
            <a:picLocks noChangeAspect="1"/>
          </p:cNvPicPr>
          <p:nvPr/>
        </p:nvPicPr>
        <p:blipFill>
          <a:blip r:embed="rId2"/>
          <a:stretch>
            <a:fillRect/>
          </a:stretch>
        </p:blipFill>
        <p:spPr>
          <a:xfrm>
            <a:off x="2752344" y="2368296"/>
            <a:ext cx="274320" cy="274320"/>
          </a:xfrm>
          <a:prstGeom prst="rect">
            <a:avLst/>
          </a:prstGeom>
        </p:spPr>
      </p:pic>
      <p:sp>
        <p:nvSpPr>
          <p:cNvPr id="12" name="Text 8"/>
          <p:cNvSpPr txBox="1"/>
          <p:nvPr/>
        </p:nvSpPr>
        <p:spPr>
          <a:xfrm>
            <a:off x="3108960" y="2368296"/>
            <a:ext cx="1005840" cy="274320"/>
          </a:xfrm>
          <a:prstGeom prst="rect">
            <a:avLst/>
          </a:prstGeom>
          <a:noFill/>
          <a:ln/>
        </p:spPr>
        <p:txBody>
          <a:bodyPr wrap="square" lIns="0" tIns="0" rIns="0" bIns="0" rtlCol="0" anchor="t"/>
          <a:lstStyle/>
          <a:p>
            <a:pPr indent="0" marL="0">
              <a:buNone/>
            </a:pPr>
            <a:r>
              <a:rPr lang="en-US" sz="1400" b="1" dirty="0">
                <a:solidFill>
                  <a:srgbClr val="F3F5F8"/>
                </a:solidFill>
                <a:latin typeface="Arial" pitchFamily="34" charset="0"/>
                <a:ea typeface="Arial" pitchFamily="34" charset="-122"/>
                <a:cs typeface="Arial" pitchFamily="34" charset="-120"/>
              </a:rPr>
              <a:t>CLI</a:t>
            </a:r>
            <a:endParaRPr lang="en-US" sz="1400" dirty="0"/>
          </a:p>
        </p:txBody>
      </p:sp>
      <p:sp>
        <p:nvSpPr>
          <p:cNvPr id="13" name="Text 9"/>
          <p:cNvSpPr txBox="1"/>
          <p:nvPr/>
        </p:nvSpPr>
        <p:spPr>
          <a:xfrm>
            <a:off x="2752344" y="2743200"/>
            <a:ext cx="1371600" cy="256032"/>
          </a:xfrm>
          <a:prstGeom prst="rect">
            <a:avLst/>
          </a:prstGeom>
          <a:noFill/>
          <a:ln/>
        </p:spPr>
        <p:txBody>
          <a:bodyPr wrap="square" lIns="0" tIns="0" rIns="0" bIns="0" rtlCol="0" anchor="t"/>
          <a:lstStyle/>
          <a:p>
            <a:pPr indent="0" marL="0">
              <a:buNone/>
            </a:pPr>
            <a:r>
              <a:rPr lang="en-US" sz="950" dirty="0">
                <a:solidFill>
                  <a:srgbClr val="AAB5C3"/>
                </a:solidFill>
                <a:latin typeface="Consolas" pitchFamily="34" charset="0"/>
                <a:ea typeface="Consolas" pitchFamily="34" charset="-122"/>
                <a:cs typeface="Consolas" pitchFamily="34" charset="-120"/>
              </a:rPr>
              <a:t>CI gates</a:t>
            </a:r>
            <a:endParaRPr lang="en-US" sz="950" dirty="0"/>
          </a:p>
        </p:txBody>
      </p:sp>
      <p:sp>
        <p:nvSpPr>
          <p:cNvPr id="14" name="Shape 10"/>
          <p:cNvSpPr/>
          <p:nvPr/>
        </p:nvSpPr>
        <p:spPr>
          <a:xfrm>
            <a:off x="1627632" y="3145536"/>
            <a:ext cx="0" cy="265176"/>
          </a:xfrm>
          <a:prstGeom prst="line">
            <a:avLst/>
          </a:prstGeom>
          <a:noFill/>
          <a:ln w="19050">
            <a:solidFill>
              <a:srgbClr val="738191"/>
            </a:solidFill>
            <a:prstDash val="solid"/>
            <a:tailEnd type="triangle"/>
          </a:ln>
        </p:spPr>
      </p:sp>
      <p:sp>
        <p:nvSpPr>
          <p:cNvPr id="15" name="Shape 11"/>
          <p:cNvSpPr/>
          <p:nvPr/>
        </p:nvSpPr>
        <p:spPr>
          <a:xfrm>
            <a:off x="3401568" y="3145536"/>
            <a:ext cx="0" cy="265176"/>
          </a:xfrm>
          <a:prstGeom prst="line">
            <a:avLst/>
          </a:prstGeom>
          <a:noFill/>
          <a:ln w="19050">
            <a:solidFill>
              <a:srgbClr val="738191"/>
            </a:solidFill>
            <a:prstDash val="solid"/>
            <a:tailEnd type="triangle"/>
          </a:ln>
        </p:spPr>
      </p:sp>
      <p:sp>
        <p:nvSpPr>
          <p:cNvPr id="16" name="Shape 12"/>
          <p:cNvSpPr/>
          <p:nvPr/>
        </p:nvSpPr>
        <p:spPr>
          <a:xfrm>
            <a:off x="777240" y="3429000"/>
            <a:ext cx="3429000" cy="731520"/>
          </a:xfrm>
          <a:prstGeom prst="roundRect">
            <a:avLst>
              <a:gd name="adj" fmla="val 15000"/>
            </a:avLst>
          </a:prstGeom>
          <a:solidFill>
            <a:srgbClr val="18212D"/>
          </a:solidFill>
          <a:ln w="9525">
            <a:solidFill>
              <a:srgbClr val="5EB1FF">
                <a:alpha val="50000"/>
              </a:srgbClr>
            </a:solidFill>
            <a:prstDash val="solid"/>
          </a:ln>
        </p:spPr>
      </p:sp>
      <p:sp>
        <p:nvSpPr>
          <p:cNvPr id="17" name="Text 13"/>
          <p:cNvSpPr txBox="1"/>
          <p:nvPr/>
        </p:nvSpPr>
        <p:spPr>
          <a:xfrm>
            <a:off x="960120" y="3511296"/>
            <a:ext cx="3108960" cy="256032"/>
          </a:xfrm>
          <a:prstGeom prst="rect">
            <a:avLst/>
          </a:prstGeom>
          <a:noFill/>
          <a:ln/>
        </p:spPr>
        <p:txBody>
          <a:bodyPr wrap="square" lIns="0" tIns="0" rIns="0" bIns="0" rtlCol="0" anchor="t"/>
          <a:lstStyle/>
          <a:p>
            <a:pPr indent="0" marL="0">
              <a:buNone/>
            </a:pPr>
            <a:r>
              <a:rPr lang="en-US" sz="1250" b="1" dirty="0">
                <a:solidFill>
                  <a:srgbClr val="5EB1FF"/>
                </a:solidFill>
                <a:latin typeface="Consolas" pitchFamily="34" charset="0"/>
                <a:ea typeface="Consolas" pitchFamily="34" charset="-122"/>
                <a:cs typeface="Consolas" pitchFamily="34" charset="-120"/>
              </a:rPr>
              <a:t>forge/service.py</a:t>
            </a:r>
            <a:endParaRPr lang="en-US" sz="1250" dirty="0"/>
          </a:p>
        </p:txBody>
      </p:sp>
      <p:sp>
        <p:nvSpPr>
          <p:cNvPr id="18" name="Text 14"/>
          <p:cNvSpPr txBox="1"/>
          <p:nvPr/>
        </p:nvSpPr>
        <p:spPr>
          <a:xfrm>
            <a:off x="960120" y="3794760"/>
            <a:ext cx="3108960" cy="256032"/>
          </a:xfrm>
          <a:prstGeom prst="rect">
            <a:avLst/>
          </a:prstGeom>
          <a:noFill/>
          <a:ln/>
        </p:spPr>
        <p:txBody>
          <a:bodyPr wrap="square" lIns="0" tIns="0" rIns="0" bIns="0" rtlCol="0" anchor="t"/>
          <a:lstStyle/>
          <a:p>
            <a:pPr indent="0" marL="0">
              <a:buNone/>
            </a:pPr>
            <a:r>
              <a:rPr lang="en-US" sz="1100" dirty="0">
                <a:solidFill>
                  <a:srgbClr val="AAB5C3"/>
                </a:solidFill>
                <a:latin typeface="Arial" pitchFamily="34" charset="0"/>
                <a:ea typeface="Arial" pitchFamily="34" charset="-122"/>
                <a:cs typeface="Arial" pitchFamily="34" charset="-120"/>
              </a:rPr>
              <a:t>one implementation of every run</a:t>
            </a:r>
            <a:endParaRPr lang="en-US" sz="1100" dirty="0"/>
          </a:p>
        </p:txBody>
      </p:sp>
      <p:sp>
        <p:nvSpPr>
          <p:cNvPr id="19" name="Shape 15"/>
          <p:cNvSpPr/>
          <p:nvPr/>
        </p:nvSpPr>
        <p:spPr>
          <a:xfrm>
            <a:off x="2487168" y="4178808"/>
            <a:ext cx="0" cy="237744"/>
          </a:xfrm>
          <a:prstGeom prst="line">
            <a:avLst/>
          </a:prstGeom>
          <a:noFill/>
          <a:ln w="19050">
            <a:solidFill>
              <a:srgbClr val="738191"/>
            </a:solidFill>
            <a:prstDash val="solid"/>
            <a:tailEnd type="triangle"/>
          </a:ln>
        </p:spPr>
      </p:sp>
      <p:sp>
        <p:nvSpPr>
          <p:cNvPr id="20" name="Shape 16"/>
          <p:cNvSpPr/>
          <p:nvPr/>
        </p:nvSpPr>
        <p:spPr>
          <a:xfrm>
            <a:off x="777240" y="4434840"/>
            <a:ext cx="3429000" cy="731520"/>
          </a:xfrm>
          <a:prstGeom prst="roundRect">
            <a:avLst>
              <a:gd name="adj" fmla="val 15000"/>
            </a:avLst>
          </a:prstGeom>
          <a:solidFill>
            <a:srgbClr val="FF6A2B">
              <a:alpha val="14000"/>
            </a:srgbClr>
          </a:solidFill>
          <a:ln w="9525">
            <a:solidFill>
              <a:srgbClr val="FF6A2B">
                <a:alpha val="55000"/>
              </a:srgbClr>
            </a:solidFill>
            <a:prstDash val="solid"/>
          </a:ln>
        </p:spPr>
      </p:sp>
      <p:sp>
        <p:nvSpPr>
          <p:cNvPr id="21" name="Text 17"/>
          <p:cNvSpPr txBox="1"/>
          <p:nvPr/>
        </p:nvSpPr>
        <p:spPr>
          <a:xfrm>
            <a:off x="960120" y="4517136"/>
            <a:ext cx="3108960" cy="274320"/>
          </a:xfrm>
          <a:prstGeom prst="rect">
            <a:avLst/>
          </a:prstGeom>
          <a:noFill/>
          <a:ln/>
        </p:spPr>
        <p:txBody>
          <a:bodyPr wrap="square" lIns="0" tIns="0" rIns="0" bIns="0" rtlCol="0" anchor="t"/>
          <a:lstStyle/>
          <a:p>
            <a:pPr indent="0" marL="0">
              <a:buNone/>
            </a:pPr>
            <a:r>
              <a:rPr lang="en-US" sz="1350" b="1" dirty="0">
                <a:solidFill>
                  <a:srgbClr val="F3F5F8"/>
                </a:solidFill>
                <a:latin typeface="Arial" pitchFamily="34" charset="0"/>
                <a:ea typeface="Arial" pitchFamily="34" charset="-122"/>
                <a:cs typeface="Arial" pitchFamily="34" charset="-120"/>
              </a:rPr>
              <a:t>LangGraph pipeline</a:t>
            </a:r>
            <a:endParaRPr lang="en-US" sz="1350" dirty="0"/>
          </a:p>
        </p:txBody>
      </p:sp>
      <p:sp>
        <p:nvSpPr>
          <p:cNvPr id="22" name="Text 18"/>
          <p:cNvSpPr txBox="1"/>
          <p:nvPr/>
        </p:nvSpPr>
        <p:spPr>
          <a:xfrm>
            <a:off x="960120" y="4800600"/>
            <a:ext cx="3108960" cy="256032"/>
          </a:xfrm>
          <a:prstGeom prst="rect">
            <a:avLst/>
          </a:prstGeom>
          <a:noFill/>
          <a:ln/>
        </p:spPr>
        <p:txBody>
          <a:bodyPr wrap="square" lIns="0" tIns="0" rIns="0" bIns="0" rtlCol="0" anchor="t"/>
          <a:lstStyle/>
          <a:p>
            <a:pPr indent="0" marL="0">
              <a:buNone/>
            </a:pPr>
            <a:r>
              <a:rPr lang="en-US" sz="1100" dirty="0">
                <a:solidFill>
                  <a:srgbClr val="AAB5C3"/>
                </a:solidFill>
                <a:latin typeface="Arial" pitchFamily="34" charset="0"/>
                <a:ea typeface="Arial" pitchFamily="34" charset="-122"/>
                <a:cs typeface="Arial" pitchFamily="34" charset="-120"/>
              </a:rPr>
              <a:t>one state machine per file, 8 at once</a:t>
            </a:r>
            <a:endParaRPr lang="en-US" sz="1100" dirty="0"/>
          </a:p>
        </p:txBody>
      </p:sp>
      <p:pic>
        <p:nvPicPr>
          <p:cNvPr id="23" name="Image 2" descr="/private/tmp/claude-501/-Users-raja-forge/826f4f3b-77e1-484d-8167-0e3b60d97c63/scratchpad/deck/assets/icons/LuLock-FFB547.png">    </p:cNvPr>
          <p:cNvPicPr>
            <a:picLocks noChangeAspect="1"/>
          </p:cNvPicPr>
          <p:nvPr/>
        </p:nvPicPr>
        <p:blipFill>
          <a:blip r:embed="rId3"/>
          <a:stretch>
            <a:fillRect/>
          </a:stretch>
        </p:blipFill>
        <p:spPr>
          <a:xfrm>
            <a:off x="804672" y="5422392"/>
            <a:ext cx="274320" cy="274320"/>
          </a:xfrm>
          <a:prstGeom prst="rect">
            <a:avLst/>
          </a:prstGeom>
        </p:spPr>
      </p:pic>
      <p:sp>
        <p:nvSpPr>
          <p:cNvPr id="24" name="Text 19"/>
          <p:cNvSpPr txBox="1"/>
          <p:nvPr/>
        </p:nvSpPr>
        <p:spPr>
          <a:xfrm>
            <a:off x="1188720" y="5394960"/>
            <a:ext cx="3063240" cy="502920"/>
          </a:xfrm>
          <a:prstGeom prst="rect">
            <a:avLst/>
          </a:prstGeom>
          <a:noFill/>
          <a:ln/>
        </p:spPr>
        <p:txBody>
          <a:bodyPr wrap="square" lIns="0" tIns="0" rIns="0" bIns="0" rtlCol="0" anchor="t"/>
          <a:lstStyle/>
          <a:p>
            <a:pPr indent="0" marL="0">
              <a:buNone/>
            </a:pPr>
            <a:r>
              <a:rPr lang="en-US" sz="1150" dirty="0">
                <a:solidFill>
                  <a:srgbClr val="AAB5C3"/>
                </a:solidFill>
                <a:latin typeface="Arial" pitchFamily="34" charset="0"/>
                <a:ea typeface="Arial" pitchFamily="34" charset="-122"/>
                <a:cs typeface="Arial" pitchFamily="34" charset="-120"/>
              </a:rPr>
              <a:t>The secret gate runs here, before a single byte leaves the machine.</a:t>
            </a:r>
            <a:endParaRPr lang="en-US" sz="1150" dirty="0"/>
          </a:p>
        </p:txBody>
      </p:sp>
      <p:sp>
        <p:nvSpPr>
          <p:cNvPr id="25" name="Shape 20"/>
          <p:cNvSpPr/>
          <p:nvPr/>
        </p:nvSpPr>
        <p:spPr>
          <a:xfrm>
            <a:off x="5074920" y="1645920"/>
            <a:ext cx="6568135" cy="4434840"/>
          </a:xfrm>
          <a:prstGeom prst="roundRect">
            <a:avLst>
              <a:gd name="adj" fmla="val 2474"/>
            </a:avLst>
          </a:prstGeom>
          <a:solidFill>
            <a:srgbClr val="121821">
              <a:alpha val="75000"/>
            </a:srgbClr>
          </a:solidFill>
          <a:ln w="9525">
            <a:solidFill>
              <a:srgbClr val="1E2835"/>
            </a:solidFill>
            <a:prstDash val="solid"/>
          </a:ln>
        </p:spPr>
      </p:sp>
      <p:sp>
        <p:nvSpPr>
          <p:cNvPr id="26" name="Text 21"/>
          <p:cNvSpPr txBox="1"/>
          <p:nvPr/>
        </p:nvSpPr>
        <p:spPr>
          <a:xfrm>
            <a:off x="5349240" y="1810512"/>
            <a:ext cx="3657600" cy="237744"/>
          </a:xfrm>
          <a:prstGeom prst="rect">
            <a:avLst/>
          </a:prstGeom>
          <a:noFill/>
          <a:ln/>
        </p:spPr>
        <p:txBody>
          <a:bodyPr wrap="square" lIns="0" tIns="0" rIns="0" bIns="0" rtlCol="0" anchor="t"/>
          <a:lstStyle/>
          <a:p>
            <a:pPr indent="0" marL="0">
              <a:buNone/>
            </a:pPr>
            <a:r>
              <a:rPr lang="en-US" sz="1050" b="1" spc="200" kern="0" dirty="0">
                <a:solidFill>
                  <a:srgbClr val="738191"/>
                </a:solidFill>
                <a:latin typeface="Arial" pitchFamily="34" charset="0"/>
                <a:ea typeface="Arial" pitchFamily="34" charset="-122"/>
                <a:cs typeface="Arial" pitchFamily="34" charset="-120"/>
              </a:rPr>
              <a:t>AWS  ·  us-east-1</a:t>
            </a:r>
            <a:endParaRPr lang="en-US" sz="1050" dirty="0"/>
          </a:p>
        </p:txBody>
      </p:sp>
      <p:sp>
        <p:nvSpPr>
          <p:cNvPr id="27" name="Shape 22"/>
          <p:cNvSpPr/>
          <p:nvPr/>
        </p:nvSpPr>
        <p:spPr>
          <a:xfrm>
            <a:off x="5303520" y="2212848"/>
            <a:ext cx="3154680" cy="2313432"/>
          </a:xfrm>
          <a:prstGeom prst="roundRect">
            <a:avLst>
              <a:gd name="adj" fmla="val 4743"/>
            </a:avLst>
          </a:prstGeom>
          <a:solidFill>
            <a:srgbClr val="18212D"/>
          </a:solidFill>
          <a:ln w="9525">
            <a:solidFill>
              <a:srgbClr val="263244"/>
            </a:solidFill>
            <a:prstDash val="solid"/>
          </a:ln>
        </p:spPr>
      </p:sp>
      <p:pic>
        <p:nvPicPr>
          <p:cNvPr id="28" name="Image 3" descr="/private/tmp/claude-501/-Users-raja-forge/826f4f3b-77e1-484d-8167-0e3b60d97c63/scratchpad/deck/assets/icons/LuBrainCircuit-FF6A2B.png">    </p:cNvPr>
          <p:cNvPicPr>
            <a:picLocks noChangeAspect="1"/>
          </p:cNvPicPr>
          <p:nvPr/>
        </p:nvPicPr>
        <p:blipFill>
          <a:blip r:embed="rId4"/>
          <a:stretch>
            <a:fillRect/>
          </a:stretch>
        </p:blipFill>
        <p:spPr>
          <a:xfrm>
            <a:off x="5468112" y="2350008"/>
            <a:ext cx="292608" cy="292608"/>
          </a:xfrm>
          <a:prstGeom prst="rect">
            <a:avLst/>
          </a:prstGeom>
        </p:spPr>
      </p:pic>
      <p:sp>
        <p:nvSpPr>
          <p:cNvPr id="29" name="Text 23"/>
          <p:cNvSpPr txBox="1"/>
          <p:nvPr/>
        </p:nvSpPr>
        <p:spPr>
          <a:xfrm>
            <a:off x="5852160" y="2359152"/>
            <a:ext cx="2468880" cy="274320"/>
          </a:xfrm>
          <a:prstGeom prst="rect">
            <a:avLst/>
          </a:prstGeom>
          <a:noFill/>
          <a:ln/>
        </p:spPr>
        <p:txBody>
          <a:bodyPr wrap="square" lIns="0" tIns="0" rIns="0" bIns="0" rtlCol="0" anchor="t"/>
          <a:lstStyle/>
          <a:p>
            <a:pPr indent="0" marL="0">
              <a:buNone/>
            </a:pPr>
            <a:r>
              <a:rPr lang="en-US" sz="1400" b="1" dirty="0">
                <a:solidFill>
                  <a:srgbClr val="F3F5F8"/>
                </a:solidFill>
                <a:latin typeface="Arial" pitchFamily="34" charset="0"/>
                <a:ea typeface="Arial" pitchFamily="34" charset="-122"/>
                <a:cs typeface="Arial" pitchFamily="34" charset="-120"/>
              </a:rPr>
              <a:t>Amazon Bedrock</a:t>
            </a:r>
            <a:endParaRPr lang="en-US" sz="1400" dirty="0"/>
          </a:p>
        </p:txBody>
      </p:sp>
      <p:sp>
        <p:nvSpPr>
          <p:cNvPr id="30" name="Shape 24"/>
          <p:cNvSpPr/>
          <p:nvPr/>
        </p:nvSpPr>
        <p:spPr>
          <a:xfrm>
            <a:off x="5486400" y="2889504"/>
            <a:ext cx="91440" cy="91440"/>
          </a:xfrm>
          <a:prstGeom prst="ellipse">
            <a:avLst/>
          </a:prstGeom>
          <a:solidFill>
            <a:srgbClr val="FF6A2B"/>
          </a:solidFill>
          <a:ln/>
        </p:spPr>
      </p:sp>
      <p:sp>
        <p:nvSpPr>
          <p:cNvPr id="31" name="Text 25"/>
          <p:cNvSpPr txBox="1"/>
          <p:nvPr/>
        </p:nvSpPr>
        <p:spPr>
          <a:xfrm>
            <a:off x="5687568" y="2816352"/>
            <a:ext cx="2697480" cy="274320"/>
          </a:xfrm>
          <a:prstGeom prst="rect">
            <a:avLst/>
          </a:prstGeom>
          <a:noFill/>
          <a:ln/>
        </p:spPr>
        <p:txBody>
          <a:bodyPr wrap="square" lIns="0" tIns="0" rIns="0" bIns="0" rtlCol="0" anchor="t"/>
          <a:lstStyle/>
          <a:p>
            <a:pPr indent="0" marL="0">
              <a:buNone/>
            </a:pPr>
            <a:r>
              <a:rPr lang="en-US" sz="1200" b="1" dirty="0">
                <a:solidFill>
                  <a:srgbClr val="F3F5F8"/>
                </a:solidFill>
                <a:latin typeface="Arial" pitchFamily="34" charset="0"/>
                <a:ea typeface="Arial" pitchFamily="34" charset="-122"/>
                <a:cs typeface="Arial" pitchFamily="34" charset="-120"/>
              </a:rPr>
              <a:t>Claude Opus 4.8</a:t>
            </a:r>
            <a:pPr indent="0" marL="0">
              <a:buNone/>
            </a:pPr>
            <a:r>
              <a:rPr lang="en-US" sz="1200" dirty="0">
                <a:solidFill>
                  <a:srgbClr val="AAB5C3"/>
                </a:solidFill>
                <a:latin typeface="Arial" pitchFamily="34" charset="0"/>
                <a:ea typeface="Arial" pitchFamily="34" charset="-122"/>
                <a:cs typeface="Arial" pitchFamily="34" charset="-120"/>
              </a:rPr>
              <a:t>  transform</a:t>
            </a:r>
            <a:endParaRPr lang="en-US" sz="1200" dirty="0"/>
          </a:p>
        </p:txBody>
      </p:sp>
      <p:sp>
        <p:nvSpPr>
          <p:cNvPr id="32" name="Shape 26"/>
          <p:cNvSpPr/>
          <p:nvPr/>
        </p:nvSpPr>
        <p:spPr>
          <a:xfrm>
            <a:off x="5486400" y="3227832"/>
            <a:ext cx="91440" cy="91440"/>
          </a:xfrm>
          <a:prstGeom prst="ellipse">
            <a:avLst/>
          </a:prstGeom>
          <a:solidFill>
            <a:srgbClr val="FF6A2B"/>
          </a:solidFill>
          <a:ln/>
        </p:spPr>
      </p:sp>
      <p:sp>
        <p:nvSpPr>
          <p:cNvPr id="33" name="Text 27"/>
          <p:cNvSpPr txBox="1"/>
          <p:nvPr/>
        </p:nvSpPr>
        <p:spPr>
          <a:xfrm>
            <a:off x="5687568" y="3154680"/>
            <a:ext cx="2697480" cy="274320"/>
          </a:xfrm>
          <a:prstGeom prst="rect">
            <a:avLst/>
          </a:prstGeom>
          <a:noFill/>
          <a:ln/>
        </p:spPr>
        <p:txBody>
          <a:bodyPr wrap="square" lIns="0" tIns="0" rIns="0" bIns="0" rtlCol="0" anchor="t"/>
          <a:lstStyle/>
          <a:p>
            <a:pPr indent="0" marL="0">
              <a:buNone/>
            </a:pPr>
            <a:r>
              <a:rPr lang="en-US" sz="1200" b="1" dirty="0">
                <a:solidFill>
                  <a:srgbClr val="F3F5F8"/>
                </a:solidFill>
                <a:latin typeface="Arial" pitchFamily="34" charset="0"/>
                <a:ea typeface="Arial" pitchFamily="34" charset="-122"/>
                <a:cs typeface="Arial" pitchFamily="34" charset="-120"/>
              </a:rPr>
              <a:t>Amazon Nova Pro</a:t>
            </a:r>
            <a:pPr indent="0" marL="0">
              <a:buNone/>
            </a:pPr>
            <a:r>
              <a:rPr lang="en-US" sz="1200" dirty="0">
                <a:solidFill>
                  <a:srgbClr val="AAB5C3"/>
                </a:solidFill>
                <a:latin typeface="Arial" pitchFamily="34" charset="0"/>
                <a:ea typeface="Arial" pitchFamily="34" charset="-122"/>
                <a:cs typeface="Arial" pitchFamily="34" charset="-120"/>
              </a:rPr>
              <a:t>  review</a:t>
            </a:r>
            <a:endParaRPr lang="en-US" sz="1200" dirty="0"/>
          </a:p>
        </p:txBody>
      </p:sp>
      <p:sp>
        <p:nvSpPr>
          <p:cNvPr id="34" name="Shape 28"/>
          <p:cNvSpPr/>
          <p:nvPr/>
        </p:nvSpPr>
        <p:spPr>
          <a:xfrm>
            <a:off x="5486400" y="3566160"/>
            <a:ext cx="91440" cy="91440"/>
          </a:xfrm>
          <a:prstGeom prst="ellipse">
            <a:avLst/>
          </a:prstGeom>
          <a:solidFill>
            <a:srgbClr val="FF6A2B"/>
          </a:solidFill>
          <a:ln/>
        </p:spPr>
      </p:sp>
      <p:sp>
        <p:nvSpPr>
          <p:cNvPr id="35" name="Text 29"/>
          <p:cNvSpPr txBox="1"/>
          <p:nvPr/>
        </p:nvSpPr>
        <p:spPr>
          <a:xfrm>
            <a:off x="5687568" y="3493008"/>
            <a:ext cx="2697480" cy="274320"/>
          </a:xfrm>
          <a:prstGeom prst="rect">
            <a:avLst/>
          </a:prstGeom>
          <a:noFill/>
          <a:ln/>
        </p:spPr>
        <p:txBody>
          <a:bodyPr wrap="square" lIns="0" tIns="0" rIns="0" bIns="0" rtlCol="0" anchor="t"/>
          <a:lstStyle/>
          <a:p>
            <a:pPr indent="0" marL="0">
              <a:buNone/>
            </a:pPr>
            <a:r>
              <a:rPr lang="en-US" sz="1200" b="1" dirty="0">
                <a:solidFill>
                  <a:srgbClr val="F3F5F8"/>
                </a:solidFill>
                <a:latin typeface="Arial" pitchFamily="34" charset="0"/>
                <a:ea typeface="Arial" pitchFamily="34" charset="-122"/>
                <a:cs typeface="Arial" pitchFamily="34" charset="-120"/>
              </a:rPr>
              <a:t>Claude Haiku 4.5</a:t>
            </a:r>
            <a:pPr indent="0" marL="0">
              <a:buNone/>
            </a:pPr>
            <a:r>
              <a:rPr lang="en-US" sz="1200" dirty="0">
                <a:solidFill>
                  <a:srgbClr val="AAB5C3"/>
                </a:solidFill>
                <a:latin typeface="Arial" pitchFamily="34" charset="0"/>
                <a:ea typeface="Arial" pitchFamily="34" charset="-122"/>
                <a:cs typeface="Arial" pitchFamily="34" charset="-120"/>
              </a:rPr>
              <a:t>  intent</a:t>
            </a:r>
            <a:endParaRPr lang="en-US" sz="1200" dirty="0"/>
          </a:p>
        </p:txBody>
      </p:sp>
      <p:sp>
        <p:nvSpPr>
          <p:cNvPr id="36" name="Shape 30"/>
          <p:cNvSpPr/>
          <p:nvPr/>
        </p:nvSpPr>
        <p:spPr>
          <a:xfrm>
            <a:off x="5486400" y="3904488"/>
            <a:ext cx="91440" cy="91440"/>
          </a:xfrm>
          <a:prstGeom prst="ellipse">
            <a:avLst/>
          </a:prstGeom>
          <a:solidFill>
            <a:srgbClr val="FFB547"/>
          </a:solidFill>
          <a:ln/>
        </p:spPr>
      </p:sp>
      <p:sp>
        <p:nvSpPr>
          <p:cNvPr id="37" name="Text 31"/>
          <p:cNvSpPr txBox="1"/>
          <p:nvPr/>
        </p:nvSpPr>
        <p:spPr>
          <a:xfrm>
            <a:off x="5687568" y="3831336"/>
            <a:ext cx="2697480" cy="274320"/>
          </a:xfrm>
          <a:prstGeom prst="rect">
            <a:avLst/>
          </a:prstGeom>
          <a:noFill/>
          <a:ln/>
        </p:spPr>
        <p:txBody>
          <a:bodyPr wrap="square" lIns="0" tIns="0" rIns="0" bIns="0" rtlCol="0" anchor="t"/>
          <a:lstStyle/>
          <a:p>
            <a:pPr indent="0" marL="0">
              <a:buNone/>
            </a:pPr>
            <a:r>
              <a:rPr lang="en-US" sz="1200" b="1" dirty="0">
                <a:solidFill>
                  <a:srgbClr val="F3F5F8"/>
                </a:solidFill>
                <a:latin typeface="Arial" pitchFamily="34" charset="0"/>
                <a:ea typeface="Arial" pitchFamily="34" charset="-122"/>
                <a:cs typeface="Arial" pitchFamily="34" charset="-120"/>
              </a:rPr>
              <a:t>Guardrail</a:t>
            </a:r>
            <a:pPr indent="0" marL="0">
              <a:buNone/>
            </a:pPr>
            <a:r>
              <a:rPr lang="en-US" sz="1200" dirty="0">
                <a:solidFill>
                  <a:srgbClr val="AAB5C3"/>
                </a:solidFill>
                <a:latin typeface="Arial" pitchFamily="34" charset="0"/>
                <a:ea typeface="Arial" pitchFamily="34" charset="-122"/>
                <a:cs typeface="Arial" pitchFamily="34" charset="-120"/>
              </a:rPr>
              <a:t>  ApplyGuardrail, no model</a:t>
            </a:r>
            <a:endParaRPr lang="en-US" sz="1200" dirty="0"/>
          </a:p>
        </p:txBody>
      </p:sp>
      <p:sp>
        <p:nvSpPr>
          <p:cNvPr id="38" name="Text 32"/>
          <p:cNvSpPr txBox="1"/>
          <p:nvPr/>
        </p:nvSpPr>
        <p:spPr>
          <a:xfrm>
            <a:off x="5486400" y="4187952"/>
            <a:ext cx="2834640" cy="237744"/>
          </a:xfrm>
          <a:prstGeom prst="rect">
            <a:avLst/>
          </a:prstGeom>
          <a:noFill/>
          <a:ln/>
        </p:spPr>
        <p:txBody>
          <a:bodyPr wrap="square" lIns="0" tIns="0" rIns="0" bIns="0" rtlCol="0" anchor="t"/>
          <a:lstStyle/>
          <a:p>
            <a:pPr indent="0" marL="0">
              <a:buNone/>
            </a:pPr>
            <a:r>
              <a:rPr lang="en-US" sz="1000" dirty="0">
                <a:solidFill>
                  <a:srgbClr val="738191"/>
                </a:solidFill>
                <a:latin typeface="Arial" pitchFamily="34" charset="0"/>
                <a:ea typeface="Arial" pitchFamily="34" charset="-122"/>
                <a:cs typeface="Arial" pitchFamily="34" charset="-120"/>
              </a:rPr>
              <a:t>via us.* cross-region inference profiles</a:t>
            </a:r>
            <a:endParaRPr lang="en-US" sz="1000" dirty="0"/>
          </a:p>
        </p:txBody>
      </p:sp>
      <p:sp>
        <p:nvSpPr>
          <p:cNvPr id="39" name="Shape 33"/>
          <p:cNvSpPr/>
          <p:nvPr/>
        </p:nvSpPr>
        <p:spPr>
          <a:xfrm>
            <a:off x="8641080" y="2212848"/>
            <a:ext cx="2770632" cy="1097280"/>
          </a:xfrm>
          <a:prstGeom prst="roundRect">
            <a:avLst>
              <a:gd name="adj" fmla="val 10000"/>
            </a:avLst>
          </a:prstGeom>
          <a:solidFill>
            <a:srgbClr val="18212D"/>
          </a:solidFill>
          <a:ln w="9525">
            <a:solidFill>
              <a:srgbClr val="263244"/>
            </a:solidFill>
            <a:prstDash val="solid"/>
          </a:ln>
        </p:spPr>
      </p:sp>
      <p:pic>
        <p:nvPicPr>
          <p:cNvPr id="40" name="Image 4" descr="/private/tmp/claude-501/-Users-raja-forge/826f4f3b-77e1-484d-8167-0e3b60d97c63/scratchpad/deck/assets/icons/LuDatabase-5EB1FF.png">    </p:cNvPr>
          <p:cNvPicPr>
            <a:picLocks noChangeAspect="1"/>
          </p:cNvPicPr>
          <p:nvPr/>
        </p:nvPicPr>
        <p:blipFill>
          <a:blip r:embed="rId5"/>
          <a:stretch>
            <a:fillRect/>
          </a:stretch>
        </p:blipFill>
        <p:spPr>
          <a:xfrm>
            <a:off x="8796528" y="2350008"/>
            <a:ext cx="274320" cy="274320"/>
          </a:xfrm>
          <a:prstGeom prst="rect">
            <a:avLst/>
          </a:prstGeom>
        </p:spPr>
      </p:pic>
      <p:sp>
        <p:nvSpPr>
          <p:cNvPr id="41" name="Text 34"/>
          <p:cNvSpPr txBox="1"/>
          <p:nvPr/>
        </p:nvSpPr>
        <p:spPr>
          <a:xfrm>
            <a:off x="9162288" y="2350008"/>
            <a:ext cx="2194560" cy="274320"/>
          </a:xfrm>
          <a:prstGeom prst="rect">
            <a:avLst/>
          </a:prstGeom>
          <a:noFill/>
          <a:ln/>
        </p:spPr>
        <p:txBody>
          <a:bodyPr wrap="square" lIns="0" tIns="0" rIns="0" bIns="0" rtlCol="0" anchor="t"/>
          <a:lstStyle/>
          <a:p>
            <a:pPr indent="0" marL="0">
              <a:buNone/>
            </a:pPr>
            <a:r>
              <a:rPr lang="en-US" sz="1400" b="1" dirty="0">
                <a:solidFill>
                  <a:srgbClr val="F3F5F8"/>
                </a:solidFill>
                <a:latin typeface="Arial" pitchFamily="34" charset="0"/>
                <a:ea typeface="Arial" pitchFamily="34" charset="-122"/>
                <a:cs typeface="Arial" pitchFamily="34" charset="-120"/>
              </a:rPr>
              <a:t>DynamoDB</a:t>
            </a:r>
            <a:endParaRPr lang="en-US" sz="1400" dirty="0"/>
          </a:p>
        </p:txBody>
      </p:sp>
      <p:sp>
        <p:nvSpPr>
          <p:cNvPr id="42" name="Text 35"/>
          <p:cNvSpPr txBox="1"/>
          <p:nvPr/>
        </p:nvSpPr>
        <p:spPr>
          <a:xfrm>
            <a:off x="8823960" y="2715768"/>
            <a:ext cx="2514600" cy="502920"/>
          </a:xfrm>
          <a:prstGeom prst="rect">
            <a:avLst/>
          </a:prstGeom>
          <a:noFill/>
          <a:ln/>
        </p:spPr>
        <p:txBody>
          <a:bodyPr wrap="square" lIns="0" tIns="0" rIns="0" bIns="0" rtlCol="0" anchor="t"/>
          <a:lstStyle/>
          <a:p>
            <a:pPr indent="0" marL="0">
              <a:buNone/>
            </a:pPr>
            <a:r>
              <a:rPr lang="en-US" sz="1100" dirty="0">
                <a:solidFill>
                  <a:srgbClr val="AAB5C3"/>
                </a:solidFill>
                <a:latin typeface="Arial" pitchFamily="34" charset="0"/>
                <a:ea typeface="Arial" pitchFamily="34" charset="-122"/>
                <a:cs typeface="Arial" pitchFamily="34" charset="-120"/>
              </a:rPr>
              <a:t>Migration state: the audit trail</a:t>
            </a:r>
            <a:endParaRPr lang="en-US" sz="1100" dirty="0"/>
          </a:p>
          <a:p>
            <a:pPr indent="0" marL="0">
              <a:buNone/>
            </a:pPr>
            <a:r>
              <a:rPr lang="en-US" sz="1100" dirty="0">
                <a:solidFill>
                  <a:srgbClr val="AAB5C3"/>
                </a:solidFill>
                <a:latin typeface="Arial" pitchFamily="34" charset="0"/>
                <a:ea typeface="Arial" pitchFamily="34" charset="-122"/>
                <a:cs typeface="Arial" pitchFamily="34" charset="-120"/>
              </a:rPr>
              <a:t>LangGraph checkpoints: resumable</a:t>
            </a:r>
            <a:endParaRPr lang="en-US" sz="1100" dirty="0"/>
          </a:p>
        </p:txBody>
      </p:sp>
      <p:sp>
        <p:nvSpPr>
          <p:cNvPr id="43" name="Shape 36"/>
          <p:cNvSpPr/>
          <p:nvPr/>
        </p:nvSpPr>
        <p:spPr>
          <a:xfrm>
            <a:off x="8641080" y="3429000"/>
            <a:ext cx="2770632" cy="1097280"/>
          </a:xfrm>
          <a:prstGeom prst="roundRect">
            <a:avLst>
              <a:gd name="adj" fmla="val 10000"/>
            </a:avLst>
          </a:prstGeom>
          <a:solidFill>
            <a:srgbClr val="18212D"/>
          </a:solidFill>
          <a:ln w="9525">
            <a:solidFill>
              <a:srgbClr val="263244"/>
            </a:solidFill>
            <a:prstDash val="solid"/>
          </a:ln>
        </p:spPr>
      </p:sp>
      <p:pic>
        <p:nvPicPr>
          <p:cNvPr id="44" name="Image 5" descr="/private/tmp/claude-501/-Users-raja-forge/826f4f3b-77e1-484d-8167-0e3b60d97c63/scratchpad/deck/assets/icons/LuActivity-FFB547.png">    </p:cNvPr>
          <p:cNvPicPr>
            <a:picLocks noChangeAspect="1"/>
          </p:cNvPicPr>
          <p:nvPr/>
        </p:nvPicPr>
        <p:blipFill>
          <a:blip r:embed="rId6"/>
          <a:stretch>
            <a:fillRect/>
          </a:stretch>
        </p:blipFill>
        <p:spPr>
          <a:xfrm>
            <a:off x="8796528" y="3566160"/>
            <a:ext cx="274320" cy="274320"/>
          </a:xfrm>
          <a:prstGeom prst="rect">
            <a:avLst/>
          </a:prstGeom>
        </p:spPr>
      </p:pic>
      <p:sp>
        <p:nvSpPr>
          <p:cNvPr id="45" name="Text 37"/>
          <p:cNvSpPr txBox="1"/>
          <p:nvPr/>
        </p:nvSpPr>
        <p:spPr>
          <a:xfrm>
            <a:off x="9162288" y="3566160"/>
            <a:ext cx="2194560" cy="274320"/>
          </a:xfrm>
          <a:prstGeom prst="rect">
            <a:avLst/>
          </a:prstGeom>
          <a:noFill/>
          <a:ln/>
        </p:spPr>
        <p:txBody>
          <a:bodyPr wrap="square" lIns="0" tIns="0" rIns="0" bIns="0" rtlCol="0" anchor="t"/>
          <a:lstStyle/>
          <a:p>
            <a:pPr indent="0" marL="0">
              <a:buNone/>
            </a:pPr>
            <a:r>
              <a:rPr lang="en-US" sz="1400" b="1" dirty="0">
                <a:solidFill>
                  <a:srgbClr val="F3F5F8"/>
                </a:solidFill>
                <a:latin typeface="Arial" pitchFamily="34" charset="0"/>
                <a:ea typeface="Arial" pitchFamily="34" charset="-122"/>
                <a:cs typeface="Arial" pitchFamily="34" charset="-120"/>
              </a:rPr>
              <a:t>CloudWatch + SNS</a:t>
            </a:r>
            <a:endParaRPr lang="en-US" sz="1400" dirty="0"/>
          </a:p>
        </p:txBody>
      </p:sp>
      <p:sp>
        <p:nvSpPr>
          <p:cNvPr id="46" name="Text 38"/>
          <p:cNvSpPr txBox="1"/>
          <p:nvPr/>
        </p:nvSpPr>
        <p:spPr>
          <a:xfrm>
            <a:off x="8823960" y="3931920"/>
            <a:ext cx="2514600" cy="502920"/>
          </a:xfrm>
          <a:prstGeom prst="rect">
            <a:avLst/>
          </a:prstGeom>
          <a:noFill/>
          <a:ln/>
        </p:spPr>
        <p:txBody>
          <a:bodyPr wrap="square" lIns="0" tIns="0" rIns="0" bIns="0" rtlCol="0" anchor="t"/>
          <a:lstStyle/>
          <a:p>
            <a:pPr indent="0" marL="0">
              <a:buNone/>
            </a:pPr>
            <a:r>
              <a:rPr lang="en-US" sz="1100" dirty="0">
                <a:solidFill>
                  <a:srgbClr val="AAB5C3"/>
                </a:solidFill>
                <a:latin typeface="Arial" pitchFamily="34" charset="0"/>
                <a:ea typeface="Arial" pitchFamily="34" charset="-122"/>
                <a:cs typeface="Arial" pitchFamily="34" charset="-120"/>
              </a:rPr>
              <a:t>Metrics, dashboard, 4 alarms</a:t>
            </a:r>
            <a:endParaRPr lang="en-US" sz="1100" dirty="0"/>
          </a:p>
          <a:p>
            <a:pPr indent="0" marL="0">
              <a:buNone/>
            </a:pPr>
            <a:r>
              <a:rPr lang="en-US" sz="1100" dirty="0">
                <a:solidFill>
                  <a:srgbClr val="AAB5C3"/>
                </a:solidFill>
                <a:latin typeface="Arial" pitchFamily="34" charset="0"/>
                <a:ea typeface="Arial" pitchFamily="34" charset="-122"/>
                <a:cs typeface="Arial" pitchFamily="34" charset="-120"/>
              </a:rPr>
              <a:t>Alerts by e-mail</a:t>
            </a:r>
            <a:endParaRPr lang="en-US" sz="1100" dirty="0"/>
          </a:p>
        </p:txBody>
      </p:sp>
      <p:sp>
        <p:nvSpPr>
          <p:cNvPr id="47" name="Shape 39"/>
          <p:cNvSpPr/>
          <p:nvPr/>
        </p:nvSpPr>
        <p:spPr>
          <a:xfrm>
            <a:off x="5303520" y="4709160"/>
            <a:ext cx="6108192" cy="548640"/>
          </a:xfrm>
          <a:prstGeom prst="roundRect">
            <a:avLst>
              <a:gd name="adj" fmla="val 20000"/>
            </a:avLst>
          </a:prstGeom>
          <a:ln w="9525">
            <a:solidFill>
              <a:srgbClr val="738191">
                <a:alpha val="70000"/>
              </a:srgbClr>
            </a:solidFill>
            <a:prstDash val="dash"/>
          </a:ln>
        </p:spPr>
      </p:sp>
      <p:sp>
        <p:nvSpPr>
          <p:cNvPr id="48" name="Text 40"/>
          <p:cNvSpPr txBox="1"/>
          <p:nvPr/>
        </p:nvSpPr>
        <p:spPr>
          <a:xfrm>
            <a:off x="5486400" y="4855464"/>
            <a:ext cx="5760720" cy="274320"/>
          </a:xfrm>
          <a:prstGeom prst="rect">
            <a:avLst/>
          </a:prstGeom>
          <a:noFill/>
          <a:ln/>
        </p:spPr>
        <p:txBody>
          <a:bodyPr wrap="square" lIns="0" tIns="0" rIns="0" bIns="0" rtlCol="0" anchor="t"/>
          <a:lstStyle/>
          <a:p>
            <a:pPr indent="0" marL="0">
              <a:buNone/>
            </a:pPr>
            <a:r>
              <a:rPr lang="en-US" sz="1150" b="1" dirty="0">
                <a:solidFill>
                  <a:srgbClr val="738191"/>
                </a:solidFill>
                <a:latin typeface="Arial" pitchFamily="34" charset="0"/>
                <a:ea typeface="Arial" pitchFamily="34" charset="-122"/>
                <a:cs typeface="Arial" pitchFamily="34" charset="-120"/>
              </a:rPr>
              <a:t>Opt-in, off by default:  </a:t>
            </a:r>
            <a:pPr indent="0" marL="0">
              <a:buNone/>
            </a:pPr>
            <a:r>
              <a:rPr lang="en-US" sz="1150" dirty="0">
                <a:solidFill>
                  <a:srgbClr val="AAB5C3"/>
                </a:solidFill>
                <a:latin typeface="Arial" pitchFamily="34" charset="0"/>
                <a:ea typeface="Arial" pitchFamily="34" charset="-122"/>
                <a:cs typeface="Arial" pitchFamily="34" charset="-120"/>
              </a:rPr>
              <a:t>SQS manual-review queue  ·  SageMaker endpoint</a:t>
            </a:r>
            <a:endParaRPr lang="en-US" sz="1150" dirty="0"/>
          </a:p>
        </p:txBody>
      </p:sp>
      <p:pic>
        <p:nvPicPr>
          <p:cNvPr id="49" name="Image 6" descr="/private/tmp/claude-501/-Users-raja-forge/826f4f3b-77e1-484d-8167-0e3b60d97c63/scratchpad/deck/assets/icons/LuCloudCog-5EB1FF.png">    </p:cNvPr>
          <p:cNvPicPr>
            <a:picLocks noChangeAspect="1"/>
          </p:cNvPicPr>
          <p:nvPr/>
        </p:nvPicPr>
        <p:blipFill>
          <a:blip r:embed="rId7"/>
          <a:stretch>
            <a:fillRect/>
          </a:stretch>
        </p:blipFill>
        <p:spPr>
          <a:xfrm>
            <a:off x="5349240" y="5440680"/>
            <a:ext cx="292608" cy="292608"/>
          </a:xfrm>
          <a:prstGeom prst="rect">
            <a:avLst/>
          </a:prstGeom>
        </p:spPr>
      </p:pic>
      <p:sp>
        <p:nvSpPr>
          <p:cNvPr id="50" name="Text 41"/>
          <p:cNvSpPr txBox="1"/>
          <p:nvPr/>
        </p:nvSpPr>
        <p:spPr>
          <a:xfrm>
            <a:off x="5742432" y="5468112"/>
            <a:ext cx="5669280" cy="274320"/>
          </a:xfrm>
          <a:prstGeom prst="rect">
            <a:avLst/>
          </a:prstGeom>
          <a:noFill/>
          <a:ln/>
        </p:spPr>
        <p:txBody>
          <a:bodyPr wrap="square" lIns="0" tIns="0" rIns="0" bIns="0" rtlCol="0" anchor="t"/>
          <a:lstStyle/>
          <a:p>
            <a:pPr indent="0" marL="0">
              <a:buNone/>
            </a:pPr>
            <a:r>
              <a:rPr lang="en-US" sz="1250" dirty="0">
                <a:solidFill>
                  <a:srgbClr val="F3F5F8"/>
                </a:solidFill>
                <a:latin typeface="Arial" pitchFamily="34" charset="0"/>
                <a:ea typeface="Arial" pitchFamily="34" charset="-122"/>
                <a:cs typeface="Arial" pitchFamily="34" charset="-120"/>
              </a:rPr>
              <a:t>Provisioned by Terraform: one apply, about $5 a month idle.</a:t>
            </a:r>
            <a:endParaRPr lang="en-US" sz="1250" dirty="0"/>
          </a:p>
        </p:txBody>
      </p:sp>
      <p:sp>
        <p:nvSpPr>
          <p:cNvPr id="51" name="Shape 42"/>
          <p:cNvSpPr/>
          <p:nvPr/>
        </p:nvSpPr>
        <p:spPr>
          <a:xfrm>
            <a:off x="4224528" y="3794760"/>
            <a:ext cx="1060704" cy="0"/>
          </a:xfrm>
          <a:prstGeom prst="line">
            <a:avLst/>
          </a:prstGeom>
          <a:noFill/>
          <a:ln w="28575">
            <a:solidFill>
              <a:srgbClr val="FF6A2B"/>
            </a:solidFill>
            <a:prstDash val="solid"/>
            <a:tailEnd type="triangle"/>
          </a:ln>
        </p:spPr>
      </p:sp>
      <p:sp>
        <p:nvSpPr>
          <p:cNvPr id="52" name="Text 43"/>
          <p:cNvSpPr txBox="1"/>
          <p:nvPr/>
        </p:nvSpPr>
        <p:spPr>
          <a:xfrm>
            <a:off x="548640" y="6455664"/>
            <a:ext cx="5486400" cy="219456"/>
          </a:xfrm>
          <a:prstGeom prst="rect">
            <a:avLst/>
          </a:prstGeom>
          <a:noFill/>
          <a:ln/>
        </p:spPr>
        <p:txBody>
          <a:bodyPr wrap="square" lIns="0" tIns="0" rIns="0" bIns="0" rtlCol="0" anchor="t"/>
          <a:lstStyle/>
          <a:p>
            <a:pPr indent="0" marL="0">
              <a:buNone/>
            </a:pPr>
            <a:r>
              <a:rPr lang="en-US" sz="900" dirty="0">
                <a:solidFill>
                  <a:srgbClr val="738191"/>
                </a:solidFill>
                <a:latin typeface="Arial" pitchFamily="34" charset="0"/>
                <a:ea typeface="Arial" pitchFamily="34" charset="-122"/>
                <a:cs typeface="Arial" pitchFamily="34" charset="-120"/>
              </a:rPr>
              <a:t>FORGE  ·  Software Development Conference 2026</a:t>
            </a:r>
            <a:endParaRPr lang="en-US" sz="900" dirty="0"/>
          </a:p>
        </p:txBody>
      </p:sp>
      <p:sp>
        <p:nvSpPr>
          <p:cNvPr id="53" name="Text 44"/>
          <p:cNvSpPr txBox="1"/>
          <p:nvPr/>
        </p:nvSpPr>
        <p:spPr>
          <a:xfrm>
            <a:off x="11094415" y="6455664"/>
            <a:ext cx="548640" cy="219456"/>
          </a:xfrm>
          <a:prstGeom prst="rect">
            <a:avLst/>
          </a:prstGeom>
          <a:noFill/>
          <a:ln/>
        </p:spPr>
        <p:txBody>
          <a:bodyPr wrap="square" lIns="0" tIns="0" rIns="0" bIns="0" rtlCol="0" anchor="t"/>
          <a:lstStyle/>
          <a:p>
            <a:pPr algn="r" indent="0" marL="0">
              <a:buNone/>
            </a:pPr>
            <a:r>
              <a:rPr lang="en-US" sz="900" dirty="0">
                <a:solidFill>
                  <a:srgbClr val="738191"/>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t"/>
          <a:lstStyle/>
          <a:p>
            <a:pPr indent="0" marL="0">
              <a:buNone/>
            </a:pPr>
            <a:r>
              <a:rPr lang="en-US" sz="1100" b="1" spc="300" kern="0" dirty="0">
                <a:solidFill>
                  <a:srgbClr val="FF6A2B"/>
                </a:solidFill>
                <a:latin typeface="Arial" pitchFamily="34" charset="0"/>
                <a:ea typeface="Arial" pitchFamily="34" charset="-122"/>
                <a:cs typeface="Arial" pitchFamily="34" charset="-120"/>
              </a:rPr>
              <a:t>03  ·  THE ENGINE</a:t>
            </a:r>
            <a:endParaRPr lang="en-US" sz="1100" dirty="0"/>
          </a:p>
        </p:txBody>
      </p:sp>
      <p:sp>
        <p:nvSpPr>
          <p:cNvPr id="3" name="Text 1"/>
          <p:cNvSpPr txBox="1"/>
          <p:nvPr/>
        </p:nvSpPr>
        <p:spPr>
          <a:xfrm>
            <a:off x="548640" y="676656"/>
            <a:ext cx="11094415" cy="658368"/>
          </a:xfrm>
          <a:prstGeom prst="rect">
            <a:avLst/>
          </a:prstGeom>
          <a:noFill/>
          <a:ln/>
        </p:spPr>
        <p:txBody>
          <a:bodyPr wrap="square" lIns="0" tIns="0" rIns="0" bIns="0" rtlCol="0" anchor="t"/>
          <a:lstStyle/>
          <a:p>
            <a:pPr indent="0" marL="0">
              <a:buNone/>
            </a:pPr>
            <a:r>
              <a:rPr lang="en-US" sz="3200" b="1" dirty="0">
                <a:solidFill>
                  <a:srgbClr val="F3F5F8"/>
                </a:solidFill>
                <a:latin typeface="Arial" pitchFamily="34" charset="0"/>
                <a:ea typeface="Arial" pitchFamily="34" charset="-122"/>
                <a:cs typeface="Arial" pitchFamily="34" charset="-120"/>
              </a:rPr>
              <a:t>One file, one state machine</a:t>
            </a:r>
            <a:endParaRPr lang="en-US" sz="3200" dirty="0"/>
          </a:p>
        </p:txBody>
      </p:sp>
      <p:sp>
        <p:nvSpPr>
          <p:cNvPr id="4" name="Text 2"/>
          <p:cNvSpPr txBox="1"/>
          <p:nvPr/>
        </p:nvSpPr>
        <p:spPr>
          <a:xfrm>
            <a:off x="548640" y="1316736"/>
            <a:ext cx="10607040" cy="512064"/>
          </a:xfrm>
          <a:prstGeom prst="rect">
            <a:avLst/>
          </a:prstGeom>
          <a:noFill/>
          <a:ln/>
        </p:spPr>
        <p:txBody>
          <a:bodyPr wrap="square" lIns="0" tIns="0" rIns="0" bIns="0" rtlCol="0" anchor="t"/>
          <a:lstStyle/>
          <a:p>
            <a:pPr indent="0" marL="0">
              <a:lnSpc>
                <a:spcPct val="105000"/>
              </a:lnSpc>
              <a:buNone/>
            </a:pPr>
            <a:r>
              <a:rPr lang="en-US" sz="1500" dirty="0">
                <a:solidFill>
                  <a:srgbClr val="AAB5C3"/>
                </a:solidFill>
                <a:latin typeface="Arial" pitchFamily="34" charset="0"/>
                <a:ea typeface="Arial" pitchFamily="34" charset="-122"/>
                <a:cs typeface="Arial" pitchFamily="34" charset="-120"/>
              </a:rPr>
              <a:t>A LangGraph StateGraph per file, up to 8 files at once. Models work at three nodes; code routes every step.</a:t>
            </a:r>
            <a:endParaRPr lang="en-US" sz="1500" dirty="0"/>
          </a:p>
        </p:txBody>
      </p:sp>
      <p:sp>
        <p:nvSpPr>
          <p:cNvPr id="5" name="Shape 3"/>
          <p:cNvSpPr/>
          <p:nvPr/>
        </p:nvSpPr>
        <p:spPr>
          <a:xfrm>
            <a:off x="548640" y="2743200"/>
            <a:ext cx="1389888" cy="1024128"/>
          </a:xfrm>
          <a:prstGeom prst="roundRect">
            <a:avLst>
              <a:gd name="adj" fmla="val 10714"/>
            </a:avLst>
          </a:prstGeom>
          <a:solidFill>
            <a:srgbClr val="FFB547">
              <a:alpha val="10000"/>
            </a:srgbClr>
          </a:solidFill>
          <a:ln w="9525">
            <a:solidFill>
              <a:srgbClr val="FFB547">
                <a:alpha val="65000"/>
              </a:srgbClr>
            </a:solidFill>
            <a:prstDash val="solid"/>
          </a:ln>
        </p:spPr>
      </p:sp>
      <p:sp>
        <p:nvSpPr>
          <p:cNvPr id="6" name="Text 4"/>
          <p:cNvSpPr txBox="1"/>
          <p:nvPr/>
        </p:nvSpPr>
        <p:spPr>
          <a:xfrm>
            <a:off x="640080" y="2862072"/>
            <a:ext cx="1280160" cy="237744"/>
          </a:xfrm>
          <a:prstGeom prst="rect">
            <a:avLst/>
          </a:prstGeom>
          <a:noFill/>
          <a:ln/>
        </p:spPr>
        <p:txBody>
          <a:bodyPr wrap="square" lIns="0" tIns="0" rIns="0" bIns="0" rtlCol="0" anchor="t"/>
          <a:lstStyle/>
          <a:p>
            <a:pPr indent="0" marL="0">
              <a:buNone/>
            </a:pPr>
            <a:r>
              <a:rPr lang="en-US" sz="1050" b="1" dirty="0">
                <a:solidFill>
                  <a:srgbClr val="FFB547"/>
                </a:solidFill>
                <a:latin typeface="Consolas" pitchFamily="34" charset="0"/>
                <a:ea typeface="Consolas" pitchFamily="34" charset="-122"/>
                <a:cs typeface="Consolas" pitchFamily="34" charset="-120"/>
              </a:rPr>
              <a:t>guardrails_pre</a:t>
            </a:r>
            <a:endParaRPr lang="en-US" sz="1050" dirty="0"/>
          </a:p>
        </p:txBody>
      </p:sp>
      <p:sp>
        <p:nvSpPr>
          <p:cNvPr id="7" name="Text 5"/>
          <p:cNvSpPr txBox="1"/>
          <p:nvPr/>
        </p:nvSpPr>
        <p:spPr>
          <a:xfrm>
            <a:off x="640080" y="3145536"/>
            <a:ext cx="1261872" cy="585216"/>
          </a:xfrm>
          <a:prstGeom prst="rect">
            <a:avLst/>
          </a:prstGeom>
          <a:noFill/>
          <a:ln/>
        </p:spPr>
        <p:txBody>
          <a:bodyPr wrap="square" lIns="0" tIns="0" rIns="0" bIns="0" rtlCol="0" anchor="t"/>
          <a:lstStyle/>
          <a:p>
            <a:pPr indent="0" marL="0">
              <a:buNone/>
            </a:pPr>
            <a:r>
              <a:rPr lang="en-US" sz="1000" dirty="0">
                <a:solidFill>
                  <a:srgbClr val="AAB5C3"/>
                </a:solidFill>
                <a:latin typeface="Arial" pitchFamily="34" charset="0"/>
                <a:ea typeface="Arial" pitchFamily="34" charset="-122"/>
                <a:cs typeface="Arial" pitchFamily="34" charset="-120"/>
              </a:rPr>
              <a:t>secret scan · size</a:t>
            </a:r>
            <a:endParaRPr lang="en-US" sz="1000" dirty="0"/>
          </a:p>
          <a:p>
            <a:pPr indent="0" marL="0">
              <a:buNone/>
            </a:pPr>
            <a:r>
              <a:rPr lang="en-US" sz="1000" dirty="0">
                <a:solidFill>
                  <a:srgbClr val="AAB5C3"/>
                </a:solidFill>
                <a:latin typeface="Arial" pitchFamily="34" charset="0"/>
                <a:ea typeface="Arial" pitchFamily="34" charset="-122"/>
                <a:cs typeface="Arial" pitchFamily="34" charset="-120"/>
              </a:rPr>
              <a:t>Guardrail on input</a:t>
            </a:r>
            <a:endParaRPr lang="en-US" sz="1000" dirty="0"/>
          </a:p>
        </p:txBody>
      </p:sp>
      <p:sp>
        <p:nvSpPr>
          <p:cNvPr id="8" name="Shape 6"/>
          <p:cNvSpPr/>
          <p:nvPr/>
        </p:nvSpPr>
        <p:spPr>
          <a:xfrm>
            <a:off x="1956816" y="3255264"/>
            <a:ext cx="190957" cy="0"/>
          </a:xfrm>
          <a:prstGeom prst="line">
            <a:avLst/>
          </a:prstGeom>
          <a:noFill/>
          <a:ln w="15875">
            <a:solidFill>
              <a:srgbClr val="738191"/>
            </a:solidFill>
            <a:prstDash val="solid"/>
            <a:tailEnd type="triangle"/>
          </a:ln>
        </p:spPr>
      </p:sp>
      <p:sp>
        <p:nvSpPr>
          <p:cNvPr id="9" name="Shape 7"/>
          <p:cNvSpPr/>
          <p:nvPr/>
        </p:nvSpPr>
        <p:spPr>
          <a:xfrm>
            <a:off x="2166061" y="2743200"/>
            <a:ext cx="1389888" cy="1024128"/>
          </a:xfrm>
          <a:prstGeom prst="roundRect">
            <a:avLst>
              <a:gd name="adj" fmla="val 10714"/>
            </a:avLst>
          </a:prstGeom>
          <a:solidFill>
            <a:srgbClr val="FF6A2B">
              <a:alpha val="16000"/>
            </a:srgbClr>
          </a:solidFill>
          <a:ln w="9525">
            <a:solidFill>
              <a:srgbClr val="FF6A2B">
                <a:alpha val="65000"/>
              </a:srgbClr>
            </a:solidFill>
            <a:prstDash val="solid"/>
          </a:ln>
        </p:spPr>
      </p:sp>
      <p:sp>
        <p:nvSpPr>
          <p:cNvPr id="10" name="Text 8"/>
          <p:cNvSpPr txBox="1"/>
          <p:nvPr/>
        </p:nvSpPr>
        <p:spPr>
          <a:xfrm>
            <a:off x="2257501" y="2862072"/>
            <a:ext cx="1280160" cy="237744"/>
          </a:xfrm>
          <a:prstGeom prst="rect">
            <a:avLst/>
          </a:prstGeom>
          <a:noFill/>
          <a:ln/>
        </p:spPr>
        <p:txBody>
          <a:bodyPr wrap="square" lIns="0" tIns="0" rIns="0" bIns="0" rtlCol="0" anchor="t"/>
          <a:lstStyle/>
          <a:p>
            <a:pPr indent="0" marL="0">
              <a:buNone/>
            </a:pPr>
            <a:r>
              <a:rPr lang="en-US" sz="1050" b="1" dirty="0">
                <a:solidFill>
                  <a:srgbClr val="F3F5F8"/>
                </a:solidFill>
                <a:latin typeface="Consolas" pitchFamily="34" charset="0"/>
                <a:ea typeface="Consolas" pitchFamily="34" charset="-122"/>
                <a:cs typeface="Consolas" pitchFamily="34" charset="-120"/>
              </a:rPr>
              <a:t>transform</a:t>
            </a:r>
            <a:endParaRPr lang="en-US" sz="1050" dirty="0"/>
          </a:p>
        </p:txBody>
      </p:sp>
      <p:sp>
        <p:nvSpPr>
          <p:cNvPr id="11" name="Text 9"/>
          <p:cNvSpPr txBox="1"/>
          <p:nvPr/>
        </p:nvSpPr>
        <p:spPr>
          <a:xfrm>
            <a:off x="2257501" y="3145536"/>
            <a:ext cx="1261872" cy="585216"/>
          </a:xfrm>
          <a:prstGeom prst="rect">
            <a:avLst/>
          </a:prstGeom>
          <a:noFill/>
          <a:ln/>
        </p:spPr>
        <p:txBody>
          <a:bodyPr wrap="square" lIns="0" tIns="0" rIns="0" bIns="0" rtlCol="0" anchor="t"/>
          <a:lstStyle/>
          <a:p>
            <a:pPr indent="0" marL="0">
              <a:buNone/>
            </a:pPr>
            <a:r>
              <a:rPr lang="en-US" sz="1000" dirty="0">
                <a:solidFill>
                  <a:srgbClr val="AAB5C3"/>
                </a:solidFill>
                <a:latin typeface="Arial" pitchFamily="34" charset="0"/>
                <a:ea typeface="Arial" pitchFamily="34" charset="-122"/>
                <a:cs typeface="Arial" pitchFamily="34" charset="-120"/>
              </a:rPr>
              <a:t>Claude Opus 4.8</a:t>
            </a:r>
            <a:endParaRPr lang="en-US" sz="1000" dirty="0"/>
          </a:p>
        </p:txBody>
      </p:sp>
      <p:sp>
        <p:nvSpPr>
          <p:cNvPr id="12" name="Shape 10"/>
          <p:cNvSpPr/>
          <p:nvPr/>
        </p:nvSpPr>
        <p:spPr>
          <a:xfrm>
            <a:off x="3574237" y="3255264"/>
            <a:ext cx="190957" cy="0"/>
          </a:xfrm>
          <a:prstGeom prst="line">
            <a:avLst/>
          </a:prstGeom>
          <a:noFill/>
          <a:ln w="15875">
            <a:solidFill>
              <a:srgbClr val="738191"/>
            </a:solidFill>
            <a:prstDash val="solid"/>
            <a:tailEnd type="triangle"/>
          </a:ln>
        </p:spPr>
      </p:sp>
      <p:sp>
        <p:nvSpPr>
          <p:cNvPr id="13" name="Shape 11"/>
          <p:cNvSpPr/>
          <p:nvPr/>
        </p:nvSpPr>
        <p:spPr>
          <a:xfrm>
            <a:off x="3783482" y="2743200"/>
            <a:ext cx="1389888" cy="1024128"/>
          </a:xfrm>
          <a:prstGeom prst="roundRect">
            <a:avLst>
              <a:gd name="adj" fmla="val 10714"/>
            </a:avLst>
          </a:prstGeom>
          <a:solidFill>
            <a:srgbClr val="5EB1FF">
              <a:alpha val="10000"/>
            </a:srgbClr>
          </a:solidFill>
          <a:ln w="9525">
            <a:solidFill>
              <a:srgbClr val="5EB1FF">
                <a:alpha val="65000"/>
              </a:srgbClr>
            </a:solidFill>
            <a:prstDash val="solid"/>
          </a:ln>
        </p:spPr>
      </p:sp>
      <p:sp>
        <p:nvSpPr>
          <p:cNvPr id="14" name="Text 12"/>
          <p:cNvSpPr txBox="1"/>
          <p:nvPr/>
        </p:nvSpPr>
        <p:spPr>
          <a:xfrm>
            <a:off x="3874922" y="2862072"/>
            <a:ext cx="1280160" cy="237744"/>
          </a:xfrm>
          <a:prstGeom prst="rect">
            <a:avLst/>
          </a:prstGeom>
          <a:noFill/>
          <a:ln/>
        </p:spPr>
        <p:txBody>
          <a:bodyPr wrap="square" lIns="0" tIns="0" rIns="0" bIns="0" rtlCol="0" anchor="t"/>
          <a:lstStyle/>
          <a:p>
            <a:pPr indent="0" marL="0">
              <a:buNone/>
            </a:pPr>
            <a:r>
              <a:rPr lang="en-US" sz="1050" b="1" dirty="0">
                <a:solidFill>
                  <a:srgbClr val="5EB1FF"/>
                </a:solidFill>
                <a:latin typeface="Consolas" pitchFamily="34" charset="0"/>
                <a:ea typeface="Consolas" pitchFamily="34" charset="-122"/>
                <a:cs typeface="Consolas" pitchFamily="34" charset="-120"/>
              </a:rPr>
              <a:t>syntax_check</a:t>
            </a:r>
            <a:endParaRPr lang="en-US" sz="1050" dirty="0"/>
          </a:p>
        </p:txBody>
      </p:sp>
      <p:sp>
        <p:nvSpPr>
          <p:cNvPr id="15" name="Text 13"/>
          <p:cNvSpPr txBox="1"/>
          <p:nvPr/>
        </p:nvSpPr>
        <p:spPr>
          <a:xfrm>
            <a:off x="3874922" y="3145536"/>
            <a:ext cx="1261872" cy="585216"/>
          </a:xfrm>
          <a:prstGeom prst="rect">
            <a:avLst/>
          </a:prstGeom>
          <a:noFill/>
          <a:ln/>
        </p:spPr>
        <p:txBody>
          <a:bodyPr wrap="square" lIns="0" tIns="0" rIns="0" bIns="0" rtlCol="0" anchor="t"/>
          <a:lstStyle/>
          <a:p>
            <a:pPr indent="0" marL="0">
              <a:buNone/>
            </a:pPr>
            <a:r>
              <a:rPr lang="en-US" sz="1000" dirty="0">
                <a:solidFill>
                  <a:srgbClr val="AAB5C3"/>
                </a:solidFill>
                <a:latin typeface="Arial" pitchFamily="34" charset="0"/>
                <a:ea typeface="Arial" pitchFamily="34" charset="-122"/>
                <a:cs typeface="Arial" pitchFamily="34" charset="-120"/>
              </a:rPr>
              <a:t>javac parse</a:t>
            </a:r>
            <a:endParaRPr lang="en-US" sz="1000" dirty="0"/>
          </a:p>
          <a:p>
            <a:pPr indent="0" marL="0">
              <a:buNone/>
            </a:pPr>
            <a:r>
              <a:rPr lang="en-US" sz="1000" dirty="0">
                <a:solidFill>
                  <a:srgbClr val="AAB5C3"/>
                </a:solidFill>
                <a:latin typeface="Arial" pitchFamily="34" charset="0"/>
                <a:ea typeface="Arial" pitchFamily="34" charset="-122"/>
                <a:cs typeface="Arial" pitchFamily="34" charset="-120"/>
              </a:rPr>
              <a:t>no model, ~0.2 s</a:t>
            </a:r>
            <a:endParaRPr lang="en-US" sz="1000" dirty="0"/>
          </a:p>
        </p:txBody>
      </p:sp>
      <p:sp>
        <p:nvSpPr>
          <p:cNvPr id="16" name="Shape 14"/>
          <p:cNvSpPr/>
          <p:nvPr/>
        </p:nvSpPr>
        <p:spPr>
          <a:xfrm>
            <a:off x="5191658" y="3255264"/>
            <a:ext cx="190957" cy="0"/>
          </a:xfrm>
          <a:prstGeom prst="line">
            <a:avLst/>
          </a:prstGeom>
          <a:noFill/>
          <a:ln w="15875">
            <a:solidFill>
              <a:srgbClr val="738191"/>
            </a:solidFill>
            <a:prstDash val="solid"/>
            <a:tailEnd type="triangle"/>
          </a:ln>
        </p:spPr>
      </p:sp>
      <p:sp>
        <p:nvSpPr>
          <p:cNvPr id="17" name="Shape 15"/>
          <p:cNvSpPr/>
          <p:nvPr/>
        </p:nvSpPr>
        <p:spPr>
          <a:xfrm>
            <a:off x="5400904" y="2743200"/>
            <a:ext cx="1389888" cy="1024128"/>
          </a:xfrm>
          <a:prstGeom prst="roundRect">
            <a:avLst>
              <a:gd name="adj" fmla="val 10714"/>
            </a:avLst>
          </a:prstGeom>
          <a:solidFill>
            <a:srgbClr val="FF6A2B">
              <a:alpha val="16000"/>
            </a:srgbClr>
          </a:solidFill>
          <a:ln w="9525">
            <a:solidFill>
              <a:srgbClr val="FF6A2B">
                <a:alpha val="65000"/>
              </a:srgbClr>
            </a:solidFill>
            <a:prstDash val="solid"/>
          </a:ln>
        </p:spPr>
      </p:sp>
      <p:sp>
        <p:nvSpPr>
          <p:cNvPr id="18" name="Text 16"/>
          <p:cNvSpPr txBox="1"/>
          <p:nvPr/>
        </p:nvSpPr>
        <p:spPr>
          <a:xfrm>
            <a:off x="5492344" y="2862072"/>
            <a:ext cx="1280160" cy="237744"/>
          </a:xfrm>
          <a:prstGeom prst="rect">
            <a:avLst/>
          </a:prstGeom>
          <a:noFill/>
          <a:ln/>
        </p:spPr>
        <p:txBody>
          <a:bodyPr wrap="square" lIns="0" tIns="0" rIns="0" bIns="0" rtlCol="0" anchor="t"/>
          <a:lstStyle/>
          <a:p>
            <a:pPr indent="0" marL="0">
              <a:buNone/>
            </a:pPr>
            <a:r>
              <a:rPr lang="en-US" sz="1050" b="1" dirty="0">
                <a:solidFill>
                  <a:srgbClr val="F3F5F8"/>
                </a:solidFill>
                <a:latin typeface="Consolas" pitchFamily="34" charset="0"/>
                <a:ea typeface="Consolas" pitchFamily="34" charset="-122"/>
                <a:cs typeface="Consolas" pitchFamily="34" charset="-120"/>
              </a:rPr>
              <a:t>review</a:t>
            </a:r>
            <a:endParaRPr lang="en-US" sz="1050" dirty="0"/>
          </a:p>
        </p:txBody>
      </p:sp>
      <p:sp>
        <p:nvSpPr>
          <p:cNvPr id="19" name="Text 17"/>
          <p:cNvSpPr txBox="1"/>
          <p:nvPr/>
        </p:nvSpPr>
        <p:spPr>
          <a:xfrm>
            <a:off x="5492344" y="3145536"/>
            <a:ext cx="1261872" cy="585216"/>
          </a:xfrm>
          <a:prstGeom prst="rect">
            <a:avLst/>
          </a:prstGeom>
          <a:noFill/>
          <a:ln/>
        </p:spPr>
        <p:txBody>
          <a:bodyPr wrap="square" lIns="0" tIns="0" rIns="0" bIns="0" rtlCol="0" anchor="t"/>
          <a:lstStyle/>
          <a:p>
            <a:pPr indent="0" marL="0">
              <a:buNone/>
            </a:pPr>
            <a:r>
              <a:rPr lang="en-US" sz="1000" dirty="0">
                <a:solidFill>
                  <a:srgbClr val="AAB5C3"/>
                </a:solidFill>
                <a:latin typeface="Arial" pitchFamily="34" charset="0"/>
                <a:ea typeface="Arial" pitchFamily="34" charset="-122"/>
                <a:cs typeface="Arial" pitchFamily="34" charset="-120"/>
              </a:rPr>
              <a:t>Amazon Nova Pro</a:t>
            </a:r>
            <a:endParaRPr lang="en-US" sz="1000" dirty="0"/>
          </a:p>
          <a:p>
            <a:pPr indent="0" marL="0">
              <a:buNone/>
            </a:pPr>
            <a:r>
              <a:rPr lang="en-US" sz="1000" dirty="0">
                <a:solidFill>
                  <a:srgbClr val="AAB5C3"/>
                </a:solidFill>
                <a:latin typeface="Arial" pitchFamily="34" charset="0"/>
                <a:ea typeface="Arial" pitchFamily="34" charset="-122"/>
                <a:cs typeface="Arial" pitchFamily="34" charset="-120"/>
              </a:rPr>
              <a:t>scores 0–100</a:t>
            </a:r>
            <a:endParaRPr lang="en-US" sz="1000" dirty="0"/>
          </a:p>
        </p:txBody>
      </p:sp>
      <p:sp>
        <p:nvSpPr>
          <p:cNvPr id="20" name="Shape 18"/>
          <p:cNvSpPr/>
          <p:nvPr/>
        </p:nvSpPr>
        <p:spPr>
          <a:xfrm>
            <a:off x="6809080" y="3255264"/>
            <a:ext cx="190957" cy="0"/>
          </a:xfrm>
          <a:prstGeom prst="line">
            <a:avLst/>
          </a:prstGeom>
          <a:noFill/>
          <a:ln w="15875">
            <a:solidFill>
              <a:srgbClr val="738191"/>
            </a:solidFill>
            <a:prstDash val="solid"/>
            <a:tailEnd type="triangle"/>
          </a:ln>
        </p:spPr>
      </p:sp>
      <p:sp>
        <p:nvSpPr>
          <p:cNvPr id="21" name="Shape 19"/>
          <p:cNvSpPr/>
          <p:nvPr/>
        </p:nvSpPr>
        <p:spPr>
          <a:xfrm>
            <a:off x="7018325" y="2743200"/>
            <a:ext cx="1389888" cy="1024128"/>
          </a:xfrm>
          <a:prstGeom prst="roundRect">
            <a:avLst>
              <a:gd name="adj" fmla="val 10714"/>
            </a:avLst>
          </a:prstGeom>
          <a:solidFill>
            <a:srgbClr val="FFB547">
              <a:alpha val="10000"/>
            </a:srgbClr>
          </a:solidFill>
          <a:ln w="9525">
            <a:solidFill>
              <a:srgbClr val="FFB547">
                <a:alpha val="65000"/>
              </a:srgbClr>
            </a:solidFill>
            <a:prstDash val="solid"/>
          </a:ln>
        </p:spPr>
      </p:sp>
      <p:sp>
        <p:nvSpPr>
          <p:cNvPr id="22" name="Text 20"/>
          <p:cNvSpPr txBox="1"/>
          <p:nvPr/>
        </p:nvSpPr>
        <p:spPr>
          <a:xfrm>
            <a:off x="7109765" y="2862072"/>
            <a:ext cx="1280160" cy="237744"/>
          </a:xfrm>
          <a:prstGeom prst="rect">
            <a:avLst/>
          </a:prstGeom>
          <a:noFill/>
          <a:ln/>
        </p:spPr>
        <p:txBody>
          <a:bodyPr wrap="square" lIns="0" tIns="0" rIns="0" bIns="0" rtlCol="0" anchor="t"/>
          <a:lstStyle/>
          <a:p>
            <a:pPr indent="0" marL="0">
              <a:buNone/>
            </a:pPr>
            <a:r>
              <a:rPr lang="en-US" sz="1050" b="1" dirty="0">
                <a:solidFill>
                  <a:srgbClr val="FFB547"/>
                </a:solidFill>
                <a:latin typeface="Consolas" pitchFamily="34" charset="0"/>
                <a:ea typeface="Consolas" pitchFamily="34" charset="-122"/>
                <a:cs typeface="Consolas" pitchFamily="34" charset="-120"/>
              </a:rPr>
              <a:t>guardrails_post</a:t>
            </a:r>
            <a:endParaRPr lang="en-US" sz="1050" dirty="0"/>
          </a:p>
        </p:txBody>
      </p:sp>
      <p:sp>
        <p:nvSpPr>
          <p:cNvPr id="23" name="Text 21"/>
          <p:cNvSpPr txBox="1"/>
          <p:nvPr/>
        </p:nvSpPr>
        <p:spPr>
          <a:xfrm>
            <a:off x="7109765" y="3145536"/>
            <a:ext cx="1261872" cy="585216"/>
          </a:xfrm>
          <a:prstGeom prst="rect">
            <a:avLst/>
          </a:prstGeom>
          <a:noFill/>
          <a:ln/>
        </p:spPr>
        <p:txBody>
          <a:bodyPr wrap="square" lIns="0" tIns="0" rIns="0" bIns="0" rtlCol="0" anchor="t"/>
          <a:lstStyle/>
          <a:p>
            <a:pPr indent="0" marL="0">
              <a:buNone/>
            </a:pPr>
            <a:r>
              <a:rPr lang="en-US" sz="1000" dirty="0">
                <a:solidFill>
                  <a:srgbClr val="AAB5C3"/>
                </a:solidFill>
                <a:latin typeface="Arial" pitchFamily="34" charset="0"/>
                <a:ea typeface="Arial" pitchFamily="34" charset="-122"/>
                <a:cs typeface="Arial" pitchFamily="34" charset="-120"/>
              </a:rPr>
              <a:t>Guardrail on output</a:t>
            </a:r>
            <a:endParaRPr lang="en-US" sz="1000" dirty="0"/>
          </a:p>
          <a:p>
            <a:pPr indent="0" marL="0">
              <a:buNone/>
            </a:pPr>
            <a:r>
              <a:rPr lang="en-US" sz="1000" dirty="0">
                <a:solidFill>
                  <a:srgbClr val="AAB5C3"/>
                </a:solidFill>
                <a:latin typeface="Arial" pitchFamily="34" charset="0"/>
                <a:ea typeface="Arial" pitchFamily="34" charset="-122"/>
                <a:cs typeface="Arial" pitchFamily="34" charset="-120"/>
              </a:rPr>
              <a:t>zero javax.*</a:t>
            </a:r>
            <a:endParaRPr lang="en-US" sz="1000" dirty="0"/>
          </a:p>
          <a:p>
            <a:pPr indent="0" marL="0">
              <a:buNone/>
            </a:pPr>
            <a:r>
              <a:rPr lang="en-US" sz="1000" dirty="0">
                <a:solidFill>
                  <a:srgbClr val="AAB5C3"/>
                </a:solidFill>
                <a:latin typeface="Arial" pitchFamily="34" charset="0"/>
                <a:ea typeface="Arial" pitchFamily="34" charset="-122"/>
                <a:cs typeface="Arial" pitchFamily="34" charset="-120"/>
              </a:rPr>
              <a:t>advisory post-check</a:t>
            </a:r>
            <a:endParaRPr lang="en-US" sz="1000" dirty="0"/>
          </a:p>
        </p:txBody>
      </p:sp>
      <p:sp>
        <p:nvSpPr>
          <p:cNvPr id="24" name="Shape 22"/>
          <p:cNvSpPr/>
          <p:nvPr/>
        </p:nvSpPr>
        <p:spPr>
          <a:xfrm>
            <a:off x="8426501" y="3255264"/>
            <a:ext cx="190957" cy="0"/>
          </a:xfrm>
          <a:prstGeom prst="line">
            <a:avLst/>
          </a:prstGeom>
          <a:noFill/>
          <a:ln w="15875">
            <a:solidFill>
              <a:srgbClr val="738191"/>
            </a:solidFill>
            <a:prstDash val="solid"/>
            <a:tailEnd type="triangle"/>
          </a:ln>
        </p:spPr>
      </p:sp>
      <p:sp>
        <p:nvSpPr>
          <p:cNvPr id="25" name="Shape 23"/>
          <p:cNvSpPr/>
          <p:nvPr/>
        </p:nvSpPr>
        <p:spPr>
          <a:xfrm>
            <a:off x="8635746" y="2743200"/>
            <a:ext cx="1389888" cy="1024128"/>
          </a:xfrm>
          <a:prstGeom prst="roundRect">
            <a:avLst>
              <a:gd name="adj" fmla="val 10714"/>
            </a:avLst>
          </a:prstGeom>
          <a:solidFill>
            <a:srgbClr val="5EB1FF">
              <a:alpha val="10000"/>
            </a:srgbClr>
          </a:solidFill>
          <a:ln w="9525">
            <a:solidFill>
              <a:srgbClr val="5EB1FF">
                <a:alpha val="65000"/>
              </a:srgbClr>
            </a:solidFill>
            <a:prstDash val="solid"/>
          </a:ln>
        </p:spPr>
      </p:sp>
      <p:sp>
        <p:nvSpPr>
          <p:cNvPr id="26" name="Text 24"/>
          <p:cNvSpPr txBox="1"/>
          <p:nvPr/>
        </p:nvSpPr>
        <p:spPr>
          <a:xfrm>
            <a:off x="8727186" y="2862072"/>
            <a:ext cx="1280160" cy="237744"/>
          </a:xfrm>
          <a:prstGeom prst="rect">
            <a:avLst/>
          </a:prstGeom>
          <a:noFill/>
          <a:ln/>
        </p:spPr>
        <p:txBody>
          <a:bodyPr wrap="square" lIns="0" tIns="0" rIns="0" bIns="0" rtlCol="0" anchor="t"/>
          <a:lstStyle/>
          <a:p>
            <a:pPr indent="0" marL="0">
              <a:buNone/>
            </a:pPr>
            <a:r>
              <a:rPr lang="en-US" sz="1050" b="1" dirty="0">
                <a:solidFill>
                  <a:srgbClr val="5EB1FF"/>
                </a:solidFill>
                <a:latin typeface="Consolas" pitchFamily="34" charset="0"/>
                <a:ea typeface="Consolas" pitchFamily="34" charset="-122"/>
                <a:cs typeface="Consolas" pitchFamily="34" charset="-120"/>
              </a:rPr>
              <a:t>write_file</a:t>
            </a:r>
            <a:endParaRPr lang="en-US" sz="1050" dirty="0"/>
          </a:p>
        </p:txBody>
      </p:sp>
      <p:sp>
        <p:nvSpPr>
          <p:cNvPr id="27" name="Text 25"/>
          <p:cNvSpPr txBox="1"/>
          <p:nvPr/>
        </p:nvSpPr>
        <p:spPr>
          <a:xfrm>
            <a:off x="8727186" y="3145536"/>
            <a:ext cx="1261872" cy="585216"/>
          </a:xfrm>
          <a:prstGeom prst="rect">
            <a:avLst/>
          </a:prstGeom>
          <a:noFill/>
          <a:ln/>
        </p:spPr>
        <p:txBody>
          <a:bodyPr wrap="square" lIns="0" tIns="0" rIns="0" bIns="0" rtlCol="0" anchor="t"/>
          <a:lstStyle/>
          <a:p>
            <a:pPr indent="0" marL="0">
              <a:buNone/>
            </a:pPr>
            <a:r>
              <a:rPr lang="en-US" sz="1000" dirty="0">
                <a:solidFill>
                  <a:srgbClr val="AAB5C3"/>
                </a:solidFill>
                <a:latin typeface="Arial" pitchFamily="34" charset="0"/>
                <a:ea typeface="Arial" pitchFamily="34" charset="-122"/>
                <a:cs typeface="Arial" pitchFamily="34" charset="-120"/>
              </a:rPr>
              <a:t>into the output</a:t>
            </a:r>
            <a:endParaRPr lang="en-US" sz="1000" dirty="0"/>
          </a:p>
          <a:p>
            <a:pPr indent="0" marL="0">
              <a:buNone/>
            </a:pPr>
            <a:r>
              <a:rPr lang="en-US" sz="1000" dirty="0">
                <a:solidFill>
                  <a:srgbClr val="AAB5C3"/>
                </a:solidFill>
                <a:latin typeface="Arial" pitchFamily="34" charset="0"/>
                <a:ea typeface="Arial" pitchFamily="34" charset="-122"/>
                <a:cs typeface="Arial" pitchFamily="34" charset="-120"/>
              </a:rPr>
              <a:t>folder</a:t>
            </a:r>
            <a:endParaRPr lang="en-US" sz="1000" dirty="0"/>
          </a:p>
        </p:txBody>
      </p:sp>
      <p:sp>
        <p:nvSpPr>
          <p:cNvPr id="28" name="Shape 26"/>
          <p:cNvSpPr/>
          <p:nvPr/>
        </p:nvSpPr>
        <p:spPr>
          <a:xfrm>
            <a:off x="10043922" y="3255264"/>
            <a:ext cx="190957" cy="0"/>
          </a:xfrm>
          <a:prstGeom prst="line">
            <a:avLst/>
          </a:prstGeom>
          <a:noFill/>
          <a:ln w="15875">
            <a:solidFill>
              <a:srgbClr val="738191"/>
            </a:solidFill>
            <a:prstDash val="solid"/>
            <a:tailEnd type="triangle"/>
          </a:ln>
        </p:spPr>
      </p:sp>
      <p:sp>
        <p:nvSpPr>
          <p:cNvPr id="29" name="Shape 27"/>
          <p:cNvSpPr/>
          <p:nvPr/>
        </p:nvSpPr>
        <p:spPr>
          <a:xfrm>
            <a:off x="10253167" y="2743200"/>
            <a:ext cx="1389888" cy="1024128"/>
          </a:xfrm>
          <a:prstGeom prst="roundRect">
            <a:avLst>
              <a:gd name="adj" fmla="val 10714"/>
            </a:avLst>
          </a:prstGeom>
          <a:solidFill>
            <a:srgbClr val="5EB1FF">
              <a:alpha val="10000"/>
            </a:srgbClr>
          </a:solidFill>
          <a:ln w="9525">
            <a:solidFill>
              <a:srgbClr val="5EB1FF">
                <a:alpha val="65000"/>
              </a:srgbClr>
            </a:solidFill>
            <a:prstDash val="solid"/>
          </a:ln>
        </p:spPr>
      </p:sp>
      <p:sp>
        <p:nvSpPr>
          <p:cNvPr id="30" name="Text 28"/>
          <p:cNvSpPr txBox="1"/>
          <p:nvPr/>
        </p:nvSpPr>
        <p:spPr>
          <a:xfrm>
            <a:off x="10344607" y="2862072"/>
            <a:ext cx="1280160" cy="237744"/>
          </a:xfrm>
          <a:prstGeom prst="rect">
            <a:avLst/>
          </a:prstGeom>
          <a:noFill/>
          <a:ln/>
        </p:spPr>
        <p:txBody>
          <a:bodyPr wrap="square" lIns="0" tIns="0" rIns="0" bIns="0" rtlCol="0" anchor="t"/>
          <a:lstStyle/>
          <a:p>
            <a:pPr indent="0" marL="0">
              <a:buNone/>
            </a:pPr>
            <a:r>
              <a:rPr lang="en-US" sz="1050" b="1" dirty="0">
                <a:solidFill>
                  <a:srgbClr val="5EB1FF"/>
                </a:solidFill>
                <a:latin typeface="Consolas" pitchFamily="34" charset="0"/>
                <a:ea typeface="Consolas" pitchFamily="34" charset="-122"/>
                <a:cs typeface="Consolas" pitchFamily="34" charset="-120"/>
              </a:rPr>
              <a:t>verify_build</a:t>
            </a:r>
            <a:endParaRPr lang="en-US" sz="1050" dirty="0"/>
          </a:p>
        </p:txBody>
      </p:sp>
      <p:sp>
        <p:nvSpPr>
          <p:cNvPr id="31" name="Text 29"/>
          <p:cNvSpPr txBox="1"/>
          <p:nvPr/>
        </p:nvSpPr>
        <p:spPr>
          <a:xfrm>
            <a:off x="10344607" y="3145536"/>
            <a:ext cx="1261872" cy="585216"/>
          </a:xfrm>
          <a:prstGeom prst="rect">
            <a:avLst/>
          </a:prstGeom>
          <a:noFill/>
          <a:ln/>
        </p:spPr>
        <p:txBody>
          <a:bodyPr wrap="square" lIns="0" tIns="0" rIns="0" bIns="0" rtlCol="0" anchor="t"/>
          <a:lstStyle/>
          <a:p>
            <a:pPr indent="0" marL="0">
              <a:buNone/>
            </a:pPr>
            <a:r>
              <a:rPr lang="en-US" sz="1000" dirty="0">
                <a:solidFill>
                  <a:srgbClr val="AAB5C3"/>
                </a:solidFill>
                <a:latin typeface="Arial" pitchFamily="34" charset="0"/>
                <a:ea typeface="Arial" pitchFamily="34" charset="-122"/>
                <a:cs typeface="Arial" pitchFamily="34" charset="-120"/>
              </a:rPr>
              <a:t>optional compile</a:t>
            </a:r>
            <a:endParaRPr lang="en-US" sz="1000" dirty="0"/>
          </a:p>
          <a:p>
            <a:pPr indent="0" marL="0">
              <a:buNone/>
            </a:pPr>
            <a:r>
              <a:rPr lang="en-US" sz="1000" dirty="0">
                <a:solidFill>
                  <a:srgbClr val="AAB5C3"/>
                </a:solidFill>
                <a:latin typeface="Arial" pitchFamily="34" charset="0"/>
                <a:ea typeface="Arial" pitchFamily="34" charset="-122"/>
                <a:cs typeface="Arial" pitchFamily="34" charset="-120"/>
              </a:rPr>
              <a:t>a failure retries</a:t>
            </a:r>
            <a:endParaRPr lang="en-US" sz="1000" dirty="0"/>
          </a:p>
        </p:txBody>
      </p:sp>
      <p:sp>
        <p:nvSpPr>
          <p:cNvPr id="32" name="Shape 30"/>
          <p:cNvSpPr/>
          <p:nvPr/>
        </p:nvSpPr>
        <p:spPr>
          <a:xfrm flipV="1">
            <a:off x="6095848" y="2377440"/>
            <a:ext cx="0" cy="365760"/>
          </a:xfrm>
          <a:prstGeom prst="line">
            <a:avLst/>
          </a:prstGeom>
          <a:noFill/>
          <a:ln w="19050">
            <a:solidFill>
              <a:srgbClr val="FFB547"/>
            </a:solidFill>
            <a:prstDash val="solid"/>
          </a:ln>
        </p:spPr>
      </p:sp>
      <p:sp>
        <p:nvSpPr>
          <p:cNvPr id="33" name="Shape 31"/>
          <p:cNvSpPr/>
          <p:nvPr/>
        </p:nvSpPr>
        <p:spPr>
          <a:xfrm flipV="1">
            <a:off x="4478426" y="2377440"/>
            <a:ext cx="0" cy="365760"/>
          </a:xfrm>
          <a:prstGeom prst="line">
            <a:avLst/>
          </a:prstGeom>
          <a:noFill/>
          <a:ln w="19050">
            <a:solidFill>
              <a:srgbClr val="FFB547"/>
            </a:solidFill>
            <a:prstDash val="solid"/>
          </a:ln>
        </p:spPr>
      </p:sp>
      <p:sp>
        <p:nvSpPr>
          <p:cNvPr id="34" name="Shape 32"/>
          <p:cNvSpPr/>
          <p:nvPr/>
        </p:nvSpPr>
        <p:spPr>
          <a:xfrm flipH="1">
            <a:off x="2861005" y="2377440"/>
            <a:ext cx="3234842" cy="0"/>
          </a:xfrm>
          <a:prstGeom prst="line">
            <a:avLst/>
          </a:prstGeom>
          <a:noFill/>
          <a:ln w="19050">
            <a:solidFill>
              <a:srgbClr val="FFB547"/>
            </a:solidFill>
            <a:prstDash val="solid"/>
          </a:ln>
        </p:spPr>
      </p:sp>
      <p:sp>
        <p:nvSpPr>
          <p:cNvPr id="35" name="Shape 33"/>
          <p:cNvSpPr/>
          <p:nvPr/>
        </p:nvSpPr>
        <p:spPr>
          <a:xfrm>
            <a:off x="2861005" y="2377440"/>
            <a:ext cx="0" cy="347472"/>
          </a:xfrm>
          <a:prstGeom prst="line">
            <a:avLst/>
          </a:prstGeom>
          <a:noFill/>
          <a:ln w="19050">
            <a:solidFill>
              <a:srgbClr val="FFB547"/>
            </a:solidFill>
            <a:prstDash val="solid"/>
            <a:tailEnd type="triangle"/>
          </a:ln>
        </p:spPr>
      </p:sp>
      <p:sp>
        <p:nvSpPr>
          <p:cNvPr id="36" name="Text 34"/>
          <p:cNvSpPr txBox="1"/>
          <p:nvPr/>
        </p:nvSpPr>
        <p:spPr>
          <a:xfrm>
            <a:off x="2632405" y="2057400"/>
            <a:ext cx="6858000" cy="256032"/>
          </a:xfrm>
          <a:prstGeom prst="rect">
            <a:avLst/>
          </a:prstGeom>
          <a:noFill/>
          <a:ln/>
        </p:spPr>
        <p:txBody>
          <a:bodyPr wrap="square" lIns="0" tIns="0" rIns="0" bIns="0" rtlCol="0" anchor="t"/>
          <a:lstStyle/>
          <a:p>
            <a:pPr indent="0" marL="0">
              <a:buNone/>
            </a:pPr>
            <a:r>
              <a:rPr lang="en-US" sz="1100" b="1" dirty="0">
                <a:solidFill>
                  <a:srgbClr val="FFB547"/>
                </a:solidFill>
                <a:latin typeface="Arial" pitchFamily="34" charset="0"/>
                <a:ea typeface="Arial" pitchFamily="34" charset="-122"/>
                <a:cs typeface="Arial" pitchFamily="34" charset="-120"/>
              </a:rPr>
              <a:t>retry with feedback, at most twice: javac’s errors, or a review score of 50–79</a:t>
            </a:r>
            <a:endParaRPr lang="en-US" sz="1100" dirty="0"/>
          </a:p>
        </p:txBody>
      </p:sp>
      <p:sp>
        <p:nvSpPr>
          <p:cNvPr id="37" name="Shape 35"/>
          <p:cNvSpPr/>
          <p:nvPr/>
        </p:nvSpPr>
        <p:spPr>
          <a:xfrm>
            <a:off x="1243584" y="3785616"/>
            <a:ext cx="0" cy="548640"/>
          </a:xfrm>
          <a:prstGeom prst="line">
            <a:avLst/>
          </a:prstGeom>
          <a:noFill/>
          <a:ln w="19050">
            <a:solidFill>
              <a:srgbClr val="FF4D5E"/>
            </a:solidFill>
            <a:prstDash val="solid"/>
            <a:tailEnd type="triangle"/>
          </a:ln>
        </p:spPr>
      </p:sp>
      <p:sp>
        <p:nvSpPr>
          <p:cNvPr id="38" name="Text 36"/>
          <p:cNvSpPr txBox="1"/>
          <p:nvPr/>
        </p:nvSpPr>
        <p:spPr>
          <a:xfrm>
            <a:off x="548640" y="4352544"/>
            <a:ext cx="1389888" cy="384048"/>
          </a:xfrm>
          <a:prstGeom prst="roundRect">
            <a:avLst>
              <a:gd name="adj" fmla="val 50000"/>
            </a:avLst>
          </a:prstGeom>
          <a:solidFill>
            <a:srgbClr val="FF4D5E">
              <a:alpha val="18000"/>
            </a:srgbClr>
          </a:solidFill>
          <a:ln w="9525">
            <a:solidFill>
              <a:srgbClr val="FF4D5E">
                <a:alpha val="55000"/>
              </a:srgbClr>
            </a:solidFill>
          </a:ln>
        </p:spPr>
        <p:txBody>
          <a:bodyPr wrap="square" lIns="0" tIns="0" rIns="0" bIns="0" rtlCol="0" anchor="ctr"/>
          <a:lstStyle/>
          <a:p>
            <a:pPr algn="ctr" indent="0" marL="0">
              <a:buNone/>
            </a:pPr>
            <a:r>
              <a:rPr lang="en-US" sz="1050" b="1" dirty="0">
                <a:solidFill>
                  <a:srgbClr val="FF4D5E"/>
                </a:solidFill>
                <a:latin typeface="Consolas" pitchFamily="34" charset="0"/>
                <a:ea typeface="Consolas" pitchFamily="34" charset="-122"/>
                <a:cs typeface="Consolas" pitchFamily="34" charset="-120"/>
              </a:rPr>
              <a:t>BLOCKED</a:t>
            </a:r>
            <a:endParaRPr lang="en-US" sz="1050" dirty="0"/>
          </a:p>
        </p:txBody>
      </p:sp>
      <p:sp>
        <p:nvSpPr>
          <p:cNvPr id="39" name="Text 37"/>
          <p:cNvSpPr txBox="1"/>
          <p:nvPr/>
        </p:nvSpPr>
        <p:spPr>
          <a:xfrm>
            <a:off x="457200" y="4828032"/>
            <a:ext cx="1572768" cy="685800"/>
          </a:xfrm>
          <a:prstGeom prst="rect">
            <a:avLst/>
          </a:prstGeom>
          <a:noFill/>
          <a:ln/>
        </p:spPr>
        <p:txBody>
          <a:bodyPr wrap="square" lIns="0" tIns="0" rIns="0" bIns="0" rtlCol="0" anchor="t"/>
          <a:lstStyle/>
          <a:p>
            <a:pPr algn="ctr" indent="0" marL="0">
              <a:buNone/>
            </a:pPr>
            <a:r>
              <a:rPr lang="en-US" sz="1000" dirty="0">
                <a:solidFill>
                  <a:srgbClr val="AAB5C3"/>
                </a:solidFill>
                <a:latin typeface="Arial" pitchFamily="34" charset="0"/>
                <a:ea typeface="Arial" pitchFamily="34" charset="-122"/>
                <a:cs typeface="Arial" pitchFamily="34" charset="-120"/>
              </a:rPr>
              <a:t>secret, too large, or a guardrail hit: zero model calls</a:t>
            </a:r>
            <a:endParaRPr lang="en-US" sz="1000" dirty="0"/>
          </a:p>
        </p:txBody>
      </p:sp>
      <p:sp>
        <p:nvSpPr>
          <p:cNvPr id="40" name="Shape 38"/>
          <p:cNvSpPr/>
          <p:nvPr/>
        </p:nvSpPr>
        <p:spPr>
          <a:xfrm>
            <a:off x="2861005" y="3785616"/>
            <a:ext cx="0" cy="548640"/>
          </a:xfrm>
          <a:prstGeom prst="line">
            <a:avLst/>
          </a:prstGeom>
          <a:noFill/>
          <a:ln w="19050">
            <a:solidFill>
              <a:srgbClr val="5EB1FF"/>
            </a:solidFill>
            <a:prstDash val="solid"/>
            <a:tailEnd type="triangle"/>
          </a:ln>
        </p:spPr>
      </p:sp>
      <p:sp>
        <p:nvSpPr>
          <p:cNvPr id="41" name="Text 39"/>
          <p:cNvSpPr txBox="1"/>
          <p:nvPr/>
        </p:nvSpPr>
        <p:spPr>
          <a:xfrm>
            <a:off x="2166061" y="4352544"/>
            <a:ext cx="1389888" cy="384048"/>
          </a:xfrm>
          <a:prstGeom prst="roundRect">
            <a:avLst>
              <a:gd name="adj" fmla="val 50000"/>
            </a:avLst>
          </a:prstGeom>
          <a:solidFill>
            <a:srgbClr val="5EB1FF">
              <a:alpha val="18000"/>
            </a:srgbClr>
          </a:solidFill>
          <a:ln w="9525">
            <a:solidFill>
              <a:srgbClr val="5EB1FF">
                <a:alpha val="55000"/>
              </a:srgbClr>
            </a:solidFill>
          </a:ln>
        </p:spPr>
        <p:txBody>
          <a:bodyPr wrap="square" lIns="0" tIns="0" rIns="0" bIns="0" rtlCol="0" anchor="ctr"/>
          <a:lstStyle/>
          <a:p>
            <a:pPr algn="ctr" indent="0" marL="0">
              <a:buNone/>
            </a:pPr>
            <a:r>
              <a:rPr lang="en-US" sz="1050" b="1" dirty="0">
                <a:solidFill>
                  <a:srgbClr val="5EB1FF"/>
                </a:solidFill>
                <a:latin typeface="Consolas" pitchFamily="34" charset="0"/>
                <a:ea typeface="Consolas" pitchFamily="34" charset="-122"/>
                <a:cs typeface="Consolas" pitchFamily="34" charset="-120"/>
              </a:rPr>
              <a:t>NO CHANGE</a:t>
            </a:r>
            <a:endParaRPr lang="en-US" sz="1050" dirty="0"/>
          </a:p>
        </p:txBody>
      </p:sp>
      <p:sp>
        <p:nvSpPr>
          <p:cNvPr id="42" name="Text 40"/>
          <p:cNvSpPr txBox="1"/>
          <p:nvPr/>
        </p:nvSpPr>
        <p:spPr>
          <a:xfrm>
            <a:off x="2074621" y="4828032"/>
            <a:ext cx="1572768" cy="685800"/>
          </a:xfrm>
          <a:prstGeom prst="rect">
            <a:avLst/>
          </a:prstGeom>
          <a:noFill/>
          <a:ln/>
        </p:spPr>
        <p:txBody>
          <a:bodyPr wrap="square" lIns="0" tIns="0" rIns="0" bIns="0" rtlCol="0" anchor="t"/>
          <a:lstStyle/>
          <a:p>
            <a:pPr algn="ctr" indent="0" marL="0">
              <a:buNone/>
            </a:pPr>
            <a:r>
              <a:rPr lang="en-US" sz="1000" dirty="0">
                <a:solidFill>
                  <a:srgbClr val="AAB5C3"/>
                </a:solidFill>
                <a:latin typeface="Arial" pitchFamily="34" charset="0"/>
                <a:ea typeface="Arial" pitchFamily="34" charset="-122"/>
                <a:cs typeface="Arial" pitchFamily="34" charset="-120"/>
              </a:rPr>
              <a:t>nothing to change: no review, nothing written</a:t>
            </a:r>
            <a:endParaRPr lang="en-US" sz="1000" dirty="0"/>
          </a:p>
        </p:txBody>
      </p:sp>
      <p:sp>
        <p:nvSpPr>
          <p:cNvPr id="43" name="Shape 41"/>
          <p:cNvSpPr/>
          <p:nvPr/>
        </p:nvSpPr>
        <p:spPr>
          <a:xfrm>
            <a:off x="6095848" y="3785616"/>
            <a:ext cx="0" cy="548640"/>
          </a:xfrm>
          <a:prstGeom prst="line">
            <a:avLst/>
          </a:prstGeom>
          <a:noFill/>
          <a:ln w="19050">
            <a:solidFill>
              <a:srgbClr val="FF6A2B"/>
            </a:solidFill>
            <a:prstDash val="solid"/>
            <a:tailEnd type="triangle"/>
          </a:ln>
        </p:spPr>
      </p:sp>
      <p:sp>
        <p:nvSpPr>
          <p:cNvPr id="44" name="Text 42"/>
          <p:cNvSpPr txBox="1"/>
          <p:nvPr/>
        </p:nvSpPr>
        <p:spPr>
          <a:xfrm>
            <a:off x="5400904" y="4352544"/>
            <a:ext cx="1389888" cy="384048"/>
          </a:xfrm>
          <a:prstGeom prst="roundRect">
            <a:avLst>
              <a:gd name="adj" fmla="val 50000"/>
            </a:avLst>
          </a:prstGeom>
          <a:solidFill>
            <a:srgbClr val="FF6A2B">
              <a:alpha val="18000"/>
            </a:srgbClr>
          </a:solidFill>
          <a:ln w="9525">
            <a:solidFill>
              <a:srgbClr val="FF6A2B">
                <a:alpha val="55000"/>
              </a:srgbClr>
            </a:solidFill>
          </a:ln>
        </p:spPr>
        <p:txBody>
          <a:bodyPr wrap="square" lIns="0" tIns="0" rIns="0" bIns="0" rtlCol="0" anchor="ctr"/>
          <a:lstStyle/>
          <a:p>
            <a:pPr algn="ctr" indent="0" marL="0">
              <a:buNone/>
            </a:pPr>
            <a:r>
              <a:rPr lang="en-US" sz="1050" b="1" dirty="0">
                <a:solidFill>
                  <a:srgbClr val="FF6A2B"/>
                </a:solidFill>
                <a:latin typeface="Consolas" pitchFamily="34" charset="0"/>
                <a:ea typeface="Consolas" pitchFamily="34" charset="-122"/>
                <a:cs typeface="Consolas" pitchFamily="34" charset="-120"/>
              </a:rPr>
              <a:t>MANUAL_REVIEW</a:t>
            </a:r>
            <a:endParaRPr lang="en-US" sz="1050" dirty="0"/>
          </a:p>
        </p:txBody>
      </p:sp>
      <p:sp>
        <p:nvSpPr>
          <p:cNvPr id="45" name="Text 43"/>
          <p:cNvSpPr txBox="1"/>
          <p:nvPr/>
        </p:nvSpPr>
        <p:spPr>
          <a:xfrm>
            <a:off x="5309464" y="4828032"/>
            <a:ext cx="1572768" cy="685800"/>
          </a:xfrm>
          <a:prstGeom prst="rect">
            <a:avLst/>
          </a:prstGeom>
          <a:noFill/>
          <a:ln/>
        </p:spPr>
        <p:txBody>
          <a:bodyPr wrap="square" lIns="0" tIns="0" rIns="0" bIns="0" rtlCol="0" anchor="t"/>
          <a:lstStyle/>
          <a:p>
            <a:pPr algn="ctr" indent="0" marL="0">
              <a:buNone/>
            </a:pPr>
            <a:r>
              <a:rPr lang="en-US" sz="1000" dirty="0">
                <a:solidFill>
                  <a:srgbClr val="AAB5C3"/>
                </a:solidFill>
                <a:latin typeface="Arial" pitchFamily="34" charset="0"/>
                <a:ea typeface="Arial" pitchFamily="34" charset="-122"/>
                <a:cs typeface="Arial" pitchFamily="34" charset="-120"/>
              </a:rPr>
              <a:t>score &lt; 50, retries spent, or a failed check</a:t>
            </a:r>
            <a:endParaRPr lang="en-US" sz="1000" dirty="0"/>
          </a:p>
        </p:txBody>
      </p:sp>
      <p:sp>
        <p:nvSpPr>
          <p:cNvPr id="46" name="Shape 44"/>
          <p:cNvSpPr/>
          <p:nvPr/>
        </p:nvSpPr>
        <p:spPr>
          <a:xfrm>
            <a:off x="7713269" y="3785616"/>
            <a:ext cx="0" cy="548640"/>
          </a:xfrm>
          <a:prstGeom prst="line">
            <a:avLst/>
          </a:prstGeom>
          <a:noFill/>
          <a:ln w="19050">
            <a:solidFill>
              <a:srgbClr val="FFB547"/>
            </a:solidFill>
            <a:prstDash val="solid"/>
            <a:tailEnd type="triangle"/>
          </a:ln>
        </p:spPr>
      </p:sp>
      <p:sp>
        <p:nvSpPr>
          <p:cNvPr id="47" name="Text 45"/>
          <p:cNvSpPr txBox="1"/>
          <p:nvPr/>
        </p:nvSpPr>
        <p:spPr>
          <a:xfrm>
            <a:off x="7018325" y="4352544"/>
            <a:ext cx="1389888" cy="384048"/>
          </a:xfrm>
          <a:prstGeom prst="roundRect">
            <a:avLst>
              <a:gd name="adj" fmla="val 50000"/>
            </a:avLst>
          </a:prstGeom>
          <a:solidFill>
            <a:srgbClr val="FFB547">
              <a:alpha val="18000"/>
            </a:srgbClr>
          </a:solidFill>
          <a:ln w="9525">
            <a:solidFill>
              <a:srgbClr val="FFB547">
                <a:alpha val="55000"/>
              </a:srgbClr>
            </a:solidFill>
          </a:ln>
        </p:spPr>
        <p:txBody>
          <a:bodyPr wrap="square" lIns="0" tIns="0" rIns="0" bIns="0" rtlCol="0" anchor="ctr"/>
          <a:lstStyle/>
          <a:p>
            <a:pPr algn="ctr" indent="0" marL="0">
              <a:buNone/>
            </a:pPr>
            <a:r>
              <a:rPr lang="en-US" sz="1050" b="1" dirty="0">
                <a:solidFill>
                  <a:srgbClr val="FFB547"/>
                </a:solidFill>
                <a:latin typeface="Consolas" pitchFamily="34" charset="0"/>
                <a:ea typeface="Consolas" pitchFamily="34" charset="-122"/>
                <a:cs typeface="Consolas" pitchFamily="34" charset="-120"/>
              </a:rPr>
              <a:t>HELD</a:t>
            </a:r>
            <a:endParaRPr lang="en-US" sz="1050" dirty="0"/>
          </a:p>
        </p:txBody>
      </p:sp>
      <p:sp>
        <p:nvSpPr>
          <p:cNvPr id="48" name="Text 46"/>
          <p:cNvSpPr txBox="1"/>
          <p:nvPr/>
        </p:nvSpPr>
        <p:spPr>
          <a:xfrm>
            <a:off x="6926885" y="4828032"/>
            <a:ext cx="1572768" cy="685800"/>
          </a:xfrm>
          <a:prstGeom prst="rect">
            <a:avLst/>
          </a:prstGeom>
          <a:noFill/>
          <a:ln/>
        </p:spPr>
        <p:txBody>
          <a:bodyPr wrap="square" lIns="0" tIns="0" rIns="0" bIns="0" rtlCol="0" anchor="t"/>
          <a:lstStyle/>
          <a:p>
            <a:pPr algn="ctr" indent="0" marL="0">
              <a:buNone/>
            </a:pPr>
            <a:r>
              <a:rPr lang="en-US" sz="1000" dirty="0">
                <a:solidFill>
                  <a:srgbClr val="AAB5C3"/>
                </a:solidFill>
                <a:latin typeface="Arial" pitchFamily="34" charset="0"/>
                <a:ea typeface="Arial" pitchFamily="34" charset="-122"/>
                <a:cs typeface="Arial" pitchFamily="34" charset="-120"/>
              </a:rPr>
              <a:t>risk above the ceiling: staged, not written</a:t>
            </a:r>
            <a:endParaRPr lang="en-US" sz="1000" dirty="0"/>
          </a:p>
        </p:txBody>
      </p:sp>
      <p:sp>
        <p:nvSpPr>
          <p:cNvPr id="49" name="Shape 47"/>
          <p:cNvSpPr/>
          <p:nvPr/>
        </p:nvSpPr>
        <p:spPr>
          <a:xfrm>
            <a:off x="10948111" y="3785616"/>
            <a:ext cx="0" cy="548640"/>
          </a:xfrm>
          <a:prstGeom prst="line">
            <a:avLst/>
          </a:prstGeom>
          <a:noFill/>
          <a:ln w="19050">
            <a:solidFill>
              <a:srgbClr val="35D07F"/>
            </a:solidFill>
            <a:prstDash val="solid"/>
            <a:tailEnd type="triangle"/>
          </a:ln>
        </p:spPr>
      </p:sp>
      <p:sp>
        <p:nvSpPr>
          <p:cNvPr id="50" name="Text 48"/>
          <p:cNvSpPr txBox="1"/>
          <p:nvPr/>
        </p:nvSpPr>
        <p:spPr>
          <a:xfrm>
            <a:off x="10253167" y="4352544"/>
            <a:ext cx="1389888" cy="384048"/>
          </a:xfrm>
          <a:prstGeom prst="roundRect">
            <a:avLst>
              <a:gd name="adj" fmla="val 50000"/>
            </a:avLst>
          </a:prstGeom>
          <a:solidFill>
            <a:srgbClr val="35D07F">
              <a:alpha val="18000"/>
            </a:srgbClr>
          </a:solidFill>
          <a:ln w="9525">
            <a:solidFill>
              <a:srgbClr val="35D07F">
                <a:alpha val="55000"/>
              </a:srgbClr>
            </a:solidFill>
          </a:ln>
        </p:spPr>
        <p:txBody>
          <a:bodyPr wrap="square" lIns="0" tIns="0" rIns="0" bIns="0" rtlCol="0" anchor="ctr"/>
          <a:lstStyle/>
          <a:p>
            <a:pPr algn="ctr" indent="0" marL="0">
              <a:buNone/>
            </a:pPr>
            <a:r>
              <a:rPr lang="en-US" sz="1050" b="1" dirty="0">
                <a:solidFill>
                  <a:srgbClr val="35D07F"/>
                </a:solidFill>
                <a:latin typeface="Consolas" pitchFamily="34" charset="0"/>
                <a:ea typeface="Consolas" pitchFamily="34" charset="-122"/>
                <a:cs typeface="Consolas" pitchFamily="34" charset="-120"/>
              </a:rPr>
              <a:t>DONE</a:t>
            </a:r>
            <a:endParaRPr lang="en-US" sz="1050" dirty="0"/>
          </a:p>
        </p:txBody>
      </p:sp>
      <p:sp>
        <p:nvSpPr>
          <p:cNvPr id="51" name="Text 49"/>
          <p:cNvSpPr txBox="1"/>
          <p:nvPr/>
        </p:nvSpPr>
        <p:spPr>
          <a:xfrm>
            <a:off x="10161727" y="4828032"/>
            <a:ext cx="1572768" cy="685800"/>
          </a:xfrm>
          <a:prstGeom prst="rect">
            <a:avLst/>
          </a:prstGeom>
          <a:noFill/>
          <a:ln/>
        </p:spPr>
        <p:txBody>
          <a:bodyPr wrap="square" lIns="0" tIns="0" rIns="0" bIns="0" rtlCol="0" anchor="t"/>
          <a:lstStyle/>
          <a:p>
            <a:pPr algn="ctr" indent="0" marL="0">
              <a:buNone/>
            </a:pPr>
            <a:r>
              <a:rPr lang="en-US" sz="1000" dirty="0">
                <a:solidFill>
                  <a:srgbClr val="AAB5C3"/>
                </a:solidFill>
                <a:latin typeface="Arial" pitchFamily="34" charset="0"/>
                <a:ea typeface="Arial" pitchFamily="34" charset="-122"/>
                <a:cs typeface="Arial" pitchFamily="34" charset="-120"/>
              </a:rPr>
              <a:t>written, and compiled if enabled</a:t>
            </a:r>
            <a:endParaRPr lang="en-US" sz="1000" dirty="0"/>
          </a:p>
        </p:txBody>
      </p:sp>
      <p:sp>
        <p:nvSpPr>
          <p:cNvPr id="52" name="Shape 50"/>
          <p:cNvSpPr/>
          <p:nvPr/>
        </p:nvSpPr>
        <p:spPr>
          <a:xfrm>
            <a:off x="548640" y="5815584"/>
            <a:ext cx="109728" cy="109728"/>
          </a:xfrm>
          <a:prstGeom prst="ellipse">
            <a:avLst/>
          </a:prstGeom>
          <a:solidFill>
            <a:srgbClr val="FF6A2B"/>
          </a:solidFill>
          <a:ln/>
        </p:spPr>
      </p:sp>
      <p:sp>
        <p:nvSpPr>
          <p:cNvPr id="53" name="Text 51"/>
          <p:cNvSpPr txBox="1"/>
          <p:nvPr/>
        </p:nvSpPr>
        <p:spPr>
          <a:xfrm>
            <a:off x="731520" y="5769864"/>
            <a:ext cx="1325880" cy="219456"/>
          </a:xfrm>
          <a:prstGeom prst="rect">
            <a:avLst/>
          </a:prstGeom>
          <a:noFill/>
          <a:ln/>
        </p:spPr>
        <p:txBody>
          <a:bodyPr wrap="square" lIns="0" tIns="0" rIns="0" bIns="0" rtlCol="0" anchor="t"/>
          <a:lstStyle/>
          <a:p>
            <a:pPr indent="0" marL="0">
              <a:buNone/>
            </a:pPr>
            <a:r>
              <a:rPr lang="en-US" sz="1100" dirty="0">
                <a:solidFill>
                  <a:srgbClr val="AAB5C3"/>
                </a:solidFill>
                <a:latin typeface="Arial" pitchFamily="34" charset="0"/>
                <a:ea typeface="Arial" pitchFamily="34" charset="-122"/>
                <a:cs typeface="Arial" pitchFamily="34" charset="-120"/>
              </a:rPr>
              <a:t>model call</a:t>
            </a:r>
            <a:endParaRPr lang="en-US" sz="1100" dirty="0"/>
          </a:p>
        </p:txBody>
      </p:sp>
      <p:sp>
        <p:nvSpPr>
          <p:cNvPr id="54" name="Shape 52"/>
          <p:cNvSpPr/>
          <p:nvPr/>
        </p:nvSpPr>
        <p:spPr>
          <a:xfrm>
            <a:off x="2148840" y="5815584"/>
            <a:ext cx="109728" cy="109728"/>
          </a:xfrm>
          <a:prstGeom prst="ellipse">
            <a:avLst/>
          </a:prstGeom>
          <a:solidFill>
            <a:srgbClr val="FFB547"/>
          </a:solidFill>
          <a:ln/>
        </p:spPr>
      </p:sp>
      <p:sp>
        <p:nvSpPr>
          <p:cNvPr id="55" name="Text 53"/>
          <p:cNvSpPr txBox="1"/>
          <p:nvPr/>
        </p:nvSpPr>
        <p:spPr>
          <a:xfrm>
            <a:off x="2331720" y="5769864"/>
            <a:ext cx="1325880" cy="219456"/>
          </a:xfrm>
          <a:prstGeom prst="rect">
            <a:avLst/>
          </a:prstGeom>
          <a:noFill/>
          <a:ln/>
        </p:spPr>
        <p:txBody>
          <a:bodyPr wrap="square" lIns="0" tIns="0" rIns="0" bIns="0" rtlCol="0" anchor="t"/>
          <a:lstStyle/>
          <a:p>
            <a:pPr indent="0" marL="0">
              <a:buNone/>
            </a:pPr>
            <a:r>
              <a:rPr lang="en-US" sz="1100" dirty="0">
                <a:solidFill>
                  <a:srgbClr val="AAB5C3"/>
                </a:solidFill>
                <a:latin typeface="Arial" pitchFamily="34" charset="0"/>
                <a:ea typeface="Arial" pitchFamily="34" charset="-122"/>
                <a:cs typeface="Arial" pitchFamily="34" charset="-120"/>
              </a:rPr>
              <a:t>guardrail gate</a:t>
            </a:r>
            <a:endParaRPr lang="en-US" sz="1100" dirty="0"/>
          </a:p>
        </p:txBody>
      </p:sp>
      <p:sp>
        <p:nvSpPr>
          <p:cNvPr id="56" name="Shape 54"/>
          <p:cNvSpPr/>
          <p:nvPr/>
        </p:nvSpPr>
        <p:spPr>
          <a:xfrm>
            <a:off x="3749040" y="5815584"/>
            <a:ext cx="109728" cy="109728"/>
          </a:xfrm>
          <a:prstGeom prst="ellipse">
            <a:avLst/>
          </a:prstGeom>
          <a:solidFill>
            <a:srgbClr val="5EB1FF"/>
          </a:solidFill>
          <a:ln/>
        </p:spPr>
      </p:sp>
      <p:sp>
        <p:nvSpPr>
          <p:cNvPr id="57" name="Text 55"/>
          <p:cNvSpPr txBox="1"/>
          <p:nvPr/>
        </p:nvSpPr>
        <p:spPr>
          <a:xfrm>
            <a:off x="3931920" y="5769864"/>
            <a:ext cx="1325880" cy="219456"/>
          </a:xfrm>
          <a:prstGeom prst="rect">
            <a:avLst/>
          </a:prstGeom>
          <a:noFill/>
          <a:ln/>
        </p:spPr>
        <p:txBody>
          <a:bodyPr wrap="square" lIns="0" tIns="0" rIns="0" bIns="0" rtlCol="0" anchor="t"/>
          <a:lstStyle/>
          <a:p>
            <a:pPr indent="0" marL="0">
              <a:buNone/>
            </a:pPr>
            <a:r>
              <a:rPr lang="en-US" sz="1100" dirty="0">
                <a:solidFill>
                  <a:srgbClr val="AAB5C3"/>
                </a:solidFill>
                <a:latin typeface="Arial" pitchFamily="34" charset="0"/>
                <a:ea typeface="Arial" pitchFamily="34" charset="-122"/>
                <a:cs typeface="Arial" pitchFamily="34" charset="-120"/>
              </a:rPr>
              <a:t>local code</a:t>
            </a:r>
            <a:endParaRPr lang="en-US" sz="1100" dirty="0"/>
          </a:p>
        </p:txBody>
      </p:sp>
      <p:sp>
        <p:nvSpPr>
          <p:cNvPr id="58" name="Text 56"/>
          <p:cNvSpPr txBox="1"/>
          <p:nvPr/>
        </p:nvSpPr>
        <p:spPr>
          <a:xfrm>
            <a:off x="5669280" y="5751576"/>
            <a:ext cx="5971032" cy="256032"/>
          </a:xfrm>
          <a:prstGeom prst="rect">
            <a:avLst/>
          </a:prstGeom>
          <a:noFill/>
          <a:ln/>
        </p:spPr>
        <p:txBody>
          <a:bodyPr wrap="square" lIns="0" tIns="0" rIns="0" bIns="0" rtlCol="0" anchor="t"/>
          <a:lstStyle/>
          <a:p>
            <a:pPr algn="r" indent="0" marL="0">
              <a:buNone/>
            </a:pPr>
            <a:r>
              <a:rPr lang="en-US" sz="1100" dirty="0">
                <a:solidFill>
                  <a:srgbClr val="AAB5C3"/>
                </a:solidFill>
                <a:latin typeface="Arial" pitchFamily="34" charset="0"/>
                <a:ea typeface="Arial" pitchFamily="34" charset="-122"/>
                <a:cs typeface="Arial" pitchFamily="34" charset="-120"/>
              </a:rPr>
              <a:t>update_state  </a:t>
            </a:r>
            <a:pPr algn="r" indent="0" marL="0">
              <a:buNone/>
            </a:pPr>
            <a:r>
              <a:rPr lang="en-US" sz="1400" b="1" dirty="0">
                <a:solidFill>
                  <a:srgbClr val="FF6A2B"/>
                </a:solidFill>
                <a:latin typeface="Arial" pitchFamily="34" charset="0"/>
                <a:ea typeface="Arial" pitchFamily="34" charset="-122"/>
                <a:cs typeface="Arial" pitchFamily="34" charset="-120"/>
              </a:rPr>
              <a:t>→</a:t>
            </a:r>
            <a:pPr algn="r" indent="0" marL="0">
              <a:buNone/>
            </a:pPr>
            <a:r>
              <a:rPr lang="en-US" sz="1100" dirty="0">
                <a:solidFill>
                  <a:srgbClr val="AAB5C3"/>
                </a:solidFill>
                <a:latin typeface="Arial" pitchFamily="34" charset="0"/>
                <a:ea typeface="Arial" pitchFamily="34" charset="-122"/>
                <a:cs typeface="Arial" pitchFamily="34" charset="-120"/>
              </a:rPr>
              <a:t>  DynamoDB audit trail + CloudWatch metrics</a:t>
            </a:r>
            <a:endParaRPr lang="en-US" sz="1100" dirty="0"/>
          </a:p>
        </p:txBody>
      </p:sp>
      <p:sp>
        <p:nvSpPr>
          <p:cNvPr id="59" name="Text 57"/>
          <p:cNvSpPr txBox="1"/>
          <p:nvPr/>
        </p:nvSpPr>
        <p:spPr>
          <a:xfrm>
            <a:off x="548640" y="6455664"/>
            <a:ext cx="5486400" cy="219456"/>
          </a:xfrm>
          <a:prstGeom prst="rect">
            <a:avLst/>
          </a:prstGeom>
          <a:noFill/>
          <a:ln/>
        </p:spPr>
        <p:txBody>
          <a:bodyPr wrap="square" lIns="0" tIns="0" rIns="0" bIns="0" rtlCol="0" anchor="t"/>
          <a:lstStyle/>
          <a:p>
            <a:pPr indent="0" marL="0">
              <a:buNone/>
            </a:pPr>
            <a:r>
              <a:rPr lang="en-US" sz="900" dirty="0">
                <a:solidFill>
                  <a:srgbClr val="738191"/>
                </a:solidFill>
                <a:latin typeface="Arial" pitchFamily="34" charset="0"/>
                <a:ea typeface="Arial" pitchFamily="34" charset="-122"/>
                <a:cs typeface="Arial" pitchFamily="34" charset="-120"/>
              </a:rPr>
              <a:t>FORGE  ·  Software Development Conference 2026</a:t>
            </a:r>
            <a:endParaRPr lang="en-US" sz="900" dirty="0"/>
          </a:p>
        </p:txBody>
      </p:sp>
      <p:sp>
        <p:nvSpPr>
          <p:cNvPr id="60" name="Text 58"/>
          <p:cNvSpPr txBox="1"/>
          <p:nvPr/>
        </p:nvSpPr>
        <p:spPr>
          <a:xfrm>
            <a:off x="11094415" y="6455664"/>
            <a:ext cx="548640" cy="219456"/>
          </a:xfrm>
          <a:prstGeom prst="rect">
            <a:avLst/>
          </a:prstGeom>
          <a:noFill/>
          <a:ln/>
        </p:spPr>
        <p:txBody>
          <a:bodyPr wrap="square" lIns="0" tIns="0" rIns="0" bIns="0" rtlCol="0" anchor="t"/>
          <a:lstStyle/>
          <a:p>
            <a:pPr algn="r" indent="0" marL="0">
              <a:buNone/>
            </a:pPr>
            <a:r>
              <a:rPr lang="en-US" sz="900" dirty="0">
                <a:solidFill>
                  <a:srgbClr val="738191"/>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t"/>
          <a:lstStyle/>
          <a:p>
            <a:pPr indent="0" marL="0">
              <a:buNone/>
            </a:pPr>
            <a:r>
              <a:rPr lang="en-US" sz="1100" b="1" spc="300" kern="0" dirty="0">
                <a:solidFill>
                  <a:srgbClr val="FF6A2B"/>
                </a:solidFill>
                <a:latin typeface="Arial" pitchFamily="34" charset="0"/>
                <a:ea typeface="Arial" pitchFamily="34" charset="-122"/>
                <a:cs typeface="Arial" pitchFamily="34" charset="-120"/>
              </a:rPr>
              <a:t>03  ·  THE ENGINE</a:t>
            </a:r>
            <a:endParaRPr lang="en-US" sz="1100" dirty="0"/>
          </a:p>
        </p:txBody>
      </p:sp>
      <p:sp>
        <p:nvSpPr>
          <p:cNvPr id="3" name="Text 1"/>
          <p:cNvSpPr txBox="1"/>
          <p:nvPr/>
        </p:nvSpPr>
        <p:spPr>
          <a:xfrm>
            <a:off x="548640" y="676656"/>
            <a:ext cx="11094415" cy="658368"/>
          </a:xfrm>
          <a:prstGeom prst="rect">
            <a:avLst/>
          </a:prstGeom>
          <a:noFill/>
          <a:ln/>
        </p:spPr>
        <p:txBody>
          <a:bodyPr wrap="square" lIns="0" tIns="0" rIns="0" bIns="0" rtlCol="0" anchor="t"/>
          <a:lstStyle/>
          <a:p>
            <a:pPr indent="0" marL="0">
              <a:buNone/>
            </a:pPr>
            <a:r>
              <a:rPr lang="en-US" sz="3200" b="1" dirty="0">
                <a:solidFill>
                  <a:srgbClr val="F3F5F8"/>
                </a:solidFill>
                <a:latin typeface="Arial" pitchFamily="34" charset="0"/>
                <a:ea typeface="Arial" pitchFamily="34" charset="-122"/>
                <a:cs typeface="Arial" pitchFamily="34" charset="-120"/>
              </a:rPr>
              <a:t>Claude writes. Nova grades. Code decides.</a:t>
            </a:r>
            <a:endParaRPr lang="en-US" sz="3200" dirty="0"/>
          </a:p>
        </p:txBody>
      </p:sp>
      <p:sp>
        <p:nvSpPr>
          <p:cNvPr id="4" name="Shape 2"/>
          <p:cNvSpPr/>
          <p:nvPr/>
        </p:nvSpPr>
        <p:spPr>
          <a:xfrm>
            <a:off x="548640" y="1645920"/>
            <a:ext cx="4846320" cy="1078992"/>
          </a:xfrm>
          <a:prstGeom prst="roundRect">
            <a:avLst>
              <a:gd name="adj" fmla="val 10169"/>
            </a:avLst>
          </a:prstGeom>
          <a:solidFill>
            <a:srgbClr val="121821">
              <a:alpha val="92000"/>
            </a:srgbClr>
          </a:solidFill>
          <a:ln w="9525">
            <a:solidFill>
              <a:srgbClr val="FF6A2B">
                <a:alpha val="40000"/>
              </a:srgbClr>
            </a:solidFill>
            <a:prstDash val="solid"/>
          </a:ln>
        </p:spPr>
      </p:sp>
      <p:sp>
        <p:nvSpPr>
          <p:cNvPr id="5" name="Shape 3"/>
          <p:cNvSpPr/>
          <p:nvPr/>
        </p:nvSpPr>
        <p:spPr>
          <a:xfrm>
            <a:off x="777240" y="1901952"/>
            <a:ext cx="566928" cy="566928"/>
          </a:xfrm>
          <a:prstGeom prst="ellipse">
            <a:avLst/>
          </a:prstGeom>
          <a:solidFill>
            <a:srgbClr val="FF6A2B">
              <a:alpha val="16000"/>
            </a:srgbClr>
          </a:solidFill>
          <a:ln w="9525">
            <a:solidFill>
              <a:srgbClr val="FF6A2B">
                <a:alpha val="50000"/>
              </a:srgbClr>
            </a:solidFill>
            <a:prstDash val="solid"/>
          </a:ln>
        </p:spPr>
      </p:sp>
      <p:pic>
        <p:nvPicPr>
          <p:cNvPr id="6" name="Image 0" descr="/private/tmp/claude-501/-Users-raja-forge/826f4f3b-77e1-484d-8167-0e3b60d97c63/scratchpad/deck/assets/icons/LuPenLine-FF6A2B.png">    </p:cNvPr>
          <p:cNvPicPr>
            <a:picLocks noChangeAspect="1"/>
          </p:cNvPicPr>
          <p:nvPr/>
        </p:nvPicPr>
        <p:blipFill>
          <a:blip r:embed="rId1"/>
          <a:stretch>
            <a:fillRect/>
          </a:stretch>
        </p:blipFill>
        <p:spPr>
          <a:xfrm>
            <a:off x="918972" y="2043684"/>
            <a:ext cx="283464" cy="283464"/>
          </a:xfrm>
          <a:prstGeom prst="rect">
            <a:avLst/>
          </a:prstGeom>
        </p:spPr>
      </p:pic>
      <p:sp>
        <p:nvSpPr>
          <p:cNvPr id="7" name="Text 4"/>
          <p:cNvSpPr txBox="1"/>
          <p:nvPr/>
        </p:nvSpPr>
        <p:spPr>
          <a:xfrm>
            <a:off x="1554480" y="1773936"/>
            <a:ext cx="3566160" cy="219456"/>
          </a:xfrm>
          <a:prstGeom prst="rect">
            <a:avLst/>
          </a:prstGeom>
          <a:noFill/>
          <a:ln/>
        </p:spPr>
        <p:txBody>
          <a:bodyPr wrap="square" lIns="0" tIns="0" rIns="0" bIns="0" rtlCol="0" anchor="t"/>
          <a:lstStyle/>
          <a:p>
            <a:pPr indent="0" marL="0">
              <a:buNone/>
            </a:pPr>
            <a:r>
              <a:rPr lang="en-US" sz="1000" b="1" spc="200" kern="0" dirty="0">
                <a:solidFill>
                  <a:srgbClr val="FF6A2B"/>
                </a:solidFill>
                <a:latin typeface="Arial" pitchFamily="34" charset="0"/>
                <a:ea typeface="Arial" pitchFamily="34" charset="-122"/>
                <a:cs typeface="Arial" pitchFamily="34" charset="-120"/>
              </a:rPr>
              <a:t>TRANSFORM</a:t>
            </a:r>
            <a:endParaRPr lang="en-US" sz="1000" dirty="0"/>
          </a:p>
        </p:txBody>
      </p:sp>
      <p:sp>
        <p:nvSpPr>
          <p:cNvPr id="8" name="Text 5"/>
          <p:cNvSpPr txBox="1"/>
          <p:nvPr/>
        </p:nvSpPr>
        <p:spPr>
          <a:xfrm>
            <a:off x="1554480" y="1975104"/>
            <a:ext cx="3611880" cy="292608"/>
          </a:xfrm>
          <a:prstGeom prst="rect">
            <a:avLst/>
          </a:prstGeom>
          <a:noFill/>
          <a:ln/>
        </p:spPr>
        <p:txBody>
          <a:bodyPr wrap="square" lIns="0" tIns="0" rIns="0" bIns="0" rtlCol="0" anchor="t"/>
          <a:lstStyle/>
          <a:p>
            <a:pPr indent="0" marL="0">
              <a:buNone/>
            </a:pPr>
            <a:r>
              <a:rPr lang="en-US" sz="1600" b="1" dirty="0">
                <a:solidFill>
                  <a:srgbClr val="F3F5F8"/>
                </a:solidFill>
                <a:latin typeface="Arial" pitchFamily="34" charset="0"/>
                <a:ea typeface="Arial" pitchFamily="34" charset="-122"/>
                <a:cs typeface="Arial" pitchFamily="34" charset="-120"/>
              </a:rPr>
              <a:t>Claude Opus 4.8</a:t>
            </a:r>
            <a:endParaRPr lang="en-US" sz="1600" dirty="0"/>
          </a:p>
        </p:txBody>
      </p:sp>
      <p:sp>
        <p:nvSpPr>
          <p:cNvPr id="9" name="Text 6"/>
          <p:cNvSpPr txBox="1"/>
          <p:nvPr/>
        </p:nvSpPr>
        <p:spPr>
          <a:xfrm>
            <a:off x="1554480" y="2276856"/>
            <a:ext cx="3703320" cy="420624"/>
          </a:xfrm>
          <a:prstGeom prst="rect">
            <a:avLst/>
          </a:prstGeom>
          <a:noFill/>
          <a:ln/>
        </p:spPr>
        <p:txBody>
          <a:bodyPr wrap="square" lIns="0" tIns="0" rIns="0" bIns="0" rtlCol="0" anchor="t"/>
          <a:lstStyle/>
          <a:p>
            <a:pPr indent="0" marL="0">
              <a:buNone/>
            </a:pPr>
            <a:r>
              <a:rPr lang="en-US" sz="1150" dirty="0">
                <a:solidFill>
                  <a:srgbClr val="AAB5C3"/>
                </a:solidFill>
                <a:latin typeface="Arial" pitchFamily="34" charset="0"/>
                <a:ea typeface="Arial" pitchFamily="34" charset="-122"/>
                <a:cs typeface="Arial" pitchFamily="34" charset="-120"/>
              </a:rPr>
              <a:t>Rewrites the file under the pack’s rules. A retry carries javac’s errors or the reviewer’s feedback.</a:t>
            </a:r>
            <a:endParaRPr lang="en-US" sz="1150" dirty="0"/>
          </a:p>
        </p:txBody>
      </p:sp>
      <p:sp>
        <p:nvSpPr>
          <p:cNvPr id="10" name="Shape 7"/>
          <p:cNvSpPr/>
          <p:nvPr/>
        </p:nvSpPr>
        <p:spPr>
          <a:xfrm>
            <a:off x="2971800" y="2743200"/>
            <a:ext cx="0" cy="228600"/>
          </a:xfrm>
          <a:prstGeom prst="line">
            <a:avLst/>
          </a:prstGeom>
          <a:noFill/>
          <a:ln w="19050">
            <a:solidFill>
              <a:srgbClr val="738191"/>
            </a:solidFill>
            <a:prstDash val="solid"/>
            <a:tailEnd type="triangle"/>
          </a:ln>
        </p:spPr>
      </p:sp>
      <p:sp>
        <p:nvSpPr>
          <p:cNvPr id="11" name="Shape 8"/>
          <p:cNvSpPr/>
          <p:nvPr/>
        </p:nvSpPr>
        <p:spPr>
          <a:xfrm>
            <a:off x="548640" y="2990088"/>
            <a:ext cx="4846320" cy="1078992"/>
          </a:xfrm>
          <a:prstGeom prst="roundRect">
            <a:avLst>
              <a:gd name="adj" fmla="val 10169"/>
            </a:avLst>
          </a:prstGeom>
          <a:solidFill>
            <a:srgbClr val="121821">
              <a:alpha val="92000"/>
            </a:srgbClr>
          </a:solidFill>
          <a:ln w="9525">
            <a:solidFill>
              <a:srgbClr val="FF6A2B">
                <a:alpha val="40000"/>
              </a:srgbClr>
            </a:solidFill>
            <a:prstDash val="solid"/>
          </a:ln>
        </p:spPr>
      </p:sp>
      <p:sp>
        <p:nvSpPr>
          <p:cNvPr id="12" name="Shape 9"/>
          <p:cNvSpPr/>
          <p:nvPr/>
        </p:nvSpPr>
        <p:spPr>
          <a:xfrm>
            <a:off x="777240" y="3246120"/>
            <a:ext cx="566928" cy="566928"/>
          </a:xfrm>
          <a:prstGeom prst="ellipse">
            <a:avLst/>
          </a:prstGeom>
          <a:solidFill>
            <a:srgbClr val="FF6A2B">
              <a:alpha val="16000"/>
            </a:srgbClr>
          </a:solidFill>
          <a:ln w="9525">
            <a:solidFill>
              <a:srgbClr val="FF6A2B">
                <a:alpha val="50000"/>
              </a:srgbClr>
            </a:solidFill>
            <a:prstDash val="solid"/>
          </a:ln>
        </p:spPr>
      </p:sp>
      <p:pic>
        <p:nvPicPr>
          <p:cNvPr id="13" name="Image 1" descr="/private/tmp/claude-501/-Users-raja-forge/826f4f3b-77e1-484d-8167-0e3b60d97c63/scratchpad/deck/assets/icons/LuMicroscope-FF6A2B.png">    </p:cNvPr>
          <p:cNvPicPr>
            <a:picLocks noChangeAspect="1"/>
          </p:cNvPicPr>
          <p:nvPr/>
        </p:nvPicPr>
        <p:blipFill>
          <a:blip r:embed="rId2"/>
          <a:stretch>
            <a:fillRect/>
          </a:stretch>
        </p:blipFill>
        <p:spPr>
          <a:xfrm>
            <a:off x="918972" y="3387852"/>
            <a:ext cx="283464" cy="283464"/>
          </a:xfrm>
          <a:prstGeom prst="rect">
            <a:avLst/>
          </a:prstGeom>
        </p:spPr>
      </p:pic>
      <p:sp>
        <p:nvSpPr>
          <p:cNvPr id="14" name="Text 10"/>
          <p:cNvSpPr txBox="1"/>
          <p:nvPr/>
        </p:nvSpPr>
        <p:spPr>
          <a:xfrm>
            <a:off x="1554480" y="3118104"/>
            <a:ext cx="3566160" cy="219456"/>
          </a:xfrm>
          <a:prstGeom prst="rect">
            <a:avLst/>
          </a:prstGeom>
          <a:noFill/>
          <a:ln/>
        </p:spPr>
        <p:txBody>
          <a:bodyPr wrap="square" lIns="0" tIns="0" rIns="0" bIns="0" rtlCol="0" anchor="t"/>
          <a:lstStyle/>
          <a:p>
            <a:pPr indent="0" marL="0">
              <a:buNone/>
            </a:pPr>
            <a:r>
              <a:rPr lang="en-US" sz="1000" b="1" spc="200" kern="0" dirty="0">
                <a:solidFill>
                  <a:srgbClr val="FF6A2B"/>
                </a:solidFill>
                <a:latin typeface="Arial" pitchFamily="34" charset="0"/>
                <a:ea typeface="Arial" pitchFamily="34" charset="-122"/>
                <a:cs typeface="Arial" pitchFamily="34" charset="-120"/>
              </a:rPr>
              <a:t>REVIEW</a:t>
            </a:r>
            <a:endParaRPr lang="en-US" sz="1000" dirty="0"/>
          </a:p>
        </p:txBody>
      </p:sp>
      <p:sp>
        <p:nvSpPr>
          <p:cNvPr id="15" name="Text 11"/>
          <p:cNvSpPr txBox="1"/>
          <p:nvPr/>
        </p:nvSpPr>
        <p:spPr>
          <a:xfrm>
            <a:off x="1554480" y="3319272"/>
            <a:ext cx="3611880" cy="292608"/>
          </a:xfrm>
          <a:prstGeom prst="rect">
            <a:avLst/>
          </a:prstGeom>
          <a:noFill/>
          <a:ln/>
        </p:spPr>
        <p:txBody>
          <a:bodyPr wrap="square" lIns="0" tIns="0" rIns="0" bIns="0" rtlCol="0" anchor="t"/>
          <a:lstStyle/>
          <a:p>
            <a:pPr indent="0" marL="0">
              <a:buNone/>
            </a:pPr>
            <a:r>
              <a:rPr lang="en-US" sz="1600" b="1" dirty="0">
                <a:solidFill>
                  <a:srgbClr val="F3F5F8"/>
                </a:solidFill>
                <a:latin typeface="Arial" pitchFamily="34" charset="0"/>
                <a:ea typeface="Arial" pitchFamily="34" charset="-122"/>
                <a:cs typeface="Arial" pitchFamily="34" charset="-120"/>
              </a:rPr>
              <a:t>Amazon Nova Pro</a:t>
            </a:r>
            <a:endParaRPr lang="en-US" sz="1600" dirty="0"/>
          </a:p>
        </p:txBody>
      </p:sp>
      <p:sp>
        <p:nvSpPr>
          <p:cNvPr id="16" name="Text 12"/>
          <p:cNvSpPr txBox="1"/>
          <p:nvPr/>
        </p:nvSpPr>
        <p:spPr>
          <a:xfrm>
            <a:off x="1554480" y="3621024"/>
            <a:ext cx="3703320" cy="420624"/>
          </a:xfrm>
          <a:prstGeom prst="rect">
            <a:avLst/>
          </a:prstGeom>
          <a:noFill/>
          <a:ln/>
        </p:spPr>
        <p:txBody>
          <a:bodyPr wrap="square" lIns="0" tIns="0" rIns="0" bIns="0" rtlCol="0" anchor="t"/>
          <a:lstStyle/>
          <a:p>
            <a:pPr indent="0" marL="0">
              <a:buNone/>
            </a:pPr>
            <a:r>
              <a:rPr lang="en-US" sz="1150" dirty="0">
                <a:solidFill>
                  <a:srgbClr val="AAB5C3"/>
                </a:solidFill>
                <a:latin typeface="Arial" pitchFamily="34" charset="0"/>
                <a:ea typeface="Arial" pitchFamily="34" charset="-122"/>
                <a:cs typeface="Arial" pitchFamily="34" charset="-120"/>
              </a:rPr>
              <a:t>Scores 0–100 on the pack’s rubric. A different model family has different blind spots.</a:t>
            </a:r>
            <a:endParaRPr lang="en-US" sz="1150" dirty="0"/>
          </a:p>
        </p:txBody>
      </p:sp>
      <p:sp>
        <p:nvSpPr>
          <p:cNvPr id="17" name="Shape 13"/>
          <p:cNvSpPr/>
          <p:nvPr/>
        </p:nvSpPr>
        <p:spPr>
          <a:xfrm>
            <a:off x="2971800" y="4087368"/>
            <a:ext cx="0" cy="228600"/>
          </a:xfrm>
          <a:prstGeom prst="line">
            <a:avLst/>
          </a:prstGeom>
          <a:noFill/>
          <a:ln w="19050">
            <a:solidFill>
              <a:srgbClr val="738191"/>
            </a:solidFill>
            <a:prstDash val="solid"/>
            <a:tailEnd type="triangle"/>
          </a:ln>
        </p:spPr>
      </p:sp>
      <p:sp>
        <p:nvSpPr>
          <p:cNvPr id="18" name="Shape 14"/>
          <p:cNvSpPr/>
          <p:nvPr/>
        </p:nvSpPr>
        <p:spPr>
          <a:xfrm>
            <a:off x="548640" y="4334256"/>
            <a:ext cx="4846320" cy="1078992"/>
          </a:xfrm>
          <a:prstGeom prst="roundRect">
            <a:avLst>
              <a:gd name="adj" fmla="val 10169"/>
            </a:avLst>
          </a:prstGeom>
          <a:solidFill>
            <a:srgbClr val="121821">
              <a:alpha val="92000"/>
            </a:srgbClr>
          </a:solidFill>
          <a:ln w="9525">
            <a:solidFill>
              <a:srgbClr val="5EB1FF">
                <a:alpha val="40000"/>
              </a:srgbClr>
            </a:solidFill>
            <a:prstDash val="solid"/>
          </a:ln>
        </p:spPr>
      </p:sp>
      <p:sp>
        <p:nvSpPr>
          <p:cNvPr id="19" name="Shape 15"/>
          <p:cNvSpPr/>
          <p:nvPr/>
        </p:nvSpPr>
        <p:spPr>
          <a:xfrm>
            <a:off x="777240" y="4590288"/>
            <a:ext cx="566928" cy="566928"/>
          </a:xfrm>
          <a:prstGeom prst="ellipse">
            <a:avLst/>
          </a:prstGeom>
          <a:solidFill>
            <a:srgbClr val="5EB1FF">
              <a:alpha val="16000"/>
            </a:srgbClr>
          </a:solidFill>
          <a:ln w="9525">
            <a:solidFill>
              <a:srgbClr val="5EB1FF">
                <a:alpha val="50000"/>
              </a:srgbClr>
            </a:solidFill>
            <a:prstDash val="solid"/>
          </a:ln>
        </p:spPr>
      </p:sp>
      <p:pic>
        <p:nvPicPr>
          <p:cNvPr id="20" name="Image 2" descr="/private/tmp/claude-501/-Users-raja-forge/826f4f3b-77e1-484d-8167-0e3b60d97c63/scratchpad/deck/assets/icons/LuCode-5EB1FF.png">    </p:cNvPr>
          <p:cNvPicPr>
            <a:picLocks noChangeAspect="1"/>
          </p:cNvPicPr>
          <p:nvPr/>
        </p:nvPicPr>
        <p:blipFill>
          <a:blip r:embed="rId3"/>
          <a:stretch>
            <a:fillRect/>
          </a:stretch>
        </p:blipFill>
        <p:spPr>
          <a:xfrm>
            <a:off x="918972" y="4732020"/>
            <a:ext cx="283464" cy="283464"/>
          </a:xfrm>
          <a:prstGeom prst="rect">
            <a:avLst/>
          </a:prstGeom>
        </p:spPr>
      </p:pic>
      <p:sp>
        <p:nvSpPr>
          <p:cNvPr id="21" name="Text 16"/>
          <p:cNvSpPr txBox="1"/>
          <p:nvPr/>
        </p:nvSpPr>
        <p:spPr>
          <a:xfrm>
            <a:off x="1554480" y="4462272"/>
            <a:ext cx="3566160" cy="219456"/>
          </a:xfrm>
          <a:prstGeom prst="rect">
            <a:avLst/>
          </a:prstGeom>
          <a:noFill/>
          <a:ln/>
        </p:spPr>
        <p:txBody>
          <a:bodyPr wrap="square" lIns="0" tIns="0" rIns="0" bIns="0" rtlCol="0" anchor="t"/>
          <a:lstStyle/>
          <a:p>
            <a:pPr indent="0" marL="0">
              <a:buNone/>
            </a:pPr>
            <a:r>
              <a:rPr lang="en-US" sz="1000" b="1" spc="200" kern="0" dirty="0">
                <a:solidFill>
                  <a:srgbClr val="5EB1FF"/>
                </a:solidFill>
                <a:latin typeface="Arial" pitchFamily="34" charset="0"/>
                <a:ea typeface="Arial" pitchFamily="34" charset="-122"/>
                <a:cs typeface="Arial" pitchFamily="34" charset="-120"/>
              </a:rPr>
              <a:t>ROUTING</a:t>
            </a:r>
            <a:endParaRPr lang="en-US" sz="1000" dirty="0"/>
          </a:p>
        </p:txBody>
      </p:sp>
      <p:sp>
        <p:nvSpPr>
          <p:cNvPr id="22" name="Text 17"/>
          <p:cNvSpPr txBox="1"/>
          <p:nvPr/>
        </p:nvSpPr>
        <p:spPr>
          <a:xfrm>
            <a:off x="1554480" y="4663440"/>
            <a:ext cx="3611880" cy="292608"/>
          </a:xfrm>
          <a:prstGeom prst="rect">
            <a:avLst/>
          </a:prstGeom>
          <a:noFill/>
          <a:ln/>
        </p:spPr>
        <p:txBody>
          <a:bodyPr wrap="square" lIns="0" tIns="0" rIns="0" bIns="0" rtlCol="0" anchor="t"/>
          <a:lstStyle/>
          <a:p>
            <a:pPr indent="0" marL="0">
              <a:buNone/>
            </a:pPr>
            <a:r>
              <a:rPr lang="en-US" sz="1600" b="1" dirty="0">
                <a:solidFill>
                  <a:srgbClr val="5EB1FF"/>
                </a:solidFill>
                <a:latin typeface="Consolas" pitchFamily="34" charset="0"/>
                <a:ea typeface="Consolas" pitchFamily="34" charset="-122"/>
                <a:cs typeface="Consolas" pitchFamily="34" charset="-120"/>
              </a:rPr>
              <a:t>route_reviewer()</a:t>
            </a:r>
            <a:endParaRPr lang="en-US" sz="1600" dirty="0"/>
          </a:p>
        </p:txBody>
      </p:sp>
      <p:sp>
        <p:nvSpPr>
          <p:cNvPr id="23" name="Text 18"/>
          <p:cNvSpPr txBox="1"/>
          <p:nvPr/>
        </p:nvSpPr>
        <p:spPr>
          <a:xfrm>
            <a:off x="1554480" y="4965192"/>
            <a:ext cx="3703320" cy="420624"/>
          </a:xfrm>
          <a:prstGeom prst="rect">
            <a:avLst/>
          </a:prstGeom>
          <a:noFill/>
          <a:ln/>
        </p:spPr>
        <p:txBody>
          <a:bodyPr wrap="square" lIns="0" tIns="0" rIns="0" bIns="0" rtlCol="0" anchor="t"/>
          <a:lstStyle/>
          <a:p>
            <a:pPr indent="0" marL="0">
              <a:buNone/>
            </a:pPr>
            <a:r>
              <a:rPr lang="en-US" sz="1150" dirty="0">
                <a:solidFill>
                  <a:srgbClr val="AAB5C3"/>
                </a:solidFill>
                <a:latin typeface="Arial" pitchFamily="34" charset="0"/>
                <a:ea typeface="Arial" pitchFamily="34" charset="-122"/>
                <a:cs typeface="Arial" pitchFamily="34" charset="-120"/>
              </a:rPr>
              <a:t>Reads the integer. The model’s own PASS/RETRY string is recorded, never routed on.</a:t>
            </a:r>
            <a:endParaRPr lang="en-US" sz="1150" dirty="0"/>
          </a:p>
        </p:txBody>
      </p:sp>
      <p:sp>
        <p:nvSpPr>
          <p:cNvPr id="24" name="Shape 19"/>
          <p:cNvSpPr/>
          <p:nvPr/>
        </p:nvSpPr>
        <p:spPr>
          <a:xfrm>
            <a:off x="5669280" y="1645920"/>
            <a:ext cx="5973775" cy="3200400"/>
          </a:xfrm>
          <a:prstGeom prst="roundRect">
            <a:avLst>
              <a:gd name="adj" fmla="val 2857"/>
            </a:avLst>
          </a:prstGeom>
          <a:solidFill>
            <a:srgbClr val="0B0F15"/>
          </a:solidFill>
          <a:ln w="9525">
            <a:solidFill>
              <a:srgbClr val="263244"/>
            </a:solidFill>
            <a:prstDash val="solid"/>
          </a:ln>
          <a:effectLst>
            <a:outerShdw sx="100000" sy="100000" kx="0" ky="0" algn="bl" rotWithShape="0" blurRad="203200" dist="63500" dir="5400000">
              <a:srgbClr val="000000">
                <a:alpha val="50000"/>
              </a:srgbClr>
            </a:outerShdw>
          </a:effectLst>
        </p:spPr>
      </p:sp>
      <p:sp>
        <p:nvSpPr>
          <p:cNvPr id="25" name="Shape 20"/>
          <p:cNvSpPr/>
          <p:nvPr/>
        </p:nvSpPr>
        <p:spPr>
          <a:xfrm>
            <a:off x="5870448" y="1819656"/>
            <a:ext cx="100584" cy="100584"/>
          </a:xfrm>
          <a:prstGeom prst="ellipse">
            <a:avLst/>
          </a:prstGeom>
          <a:solidFill>
            <a:srgbClr val="FF5F57"/>
          </a:solidFill>
          <a:ln/>
        </p:spPr>
      </p:sp>
      <p:sp>
        <p:nvSpPr>
          <p:cNvPr id="26" name="Shape 21"/>
          <p:cNvSpPr/>
          <p:nvPr/>
        </p:nvSpPr>
        <p:spPr>
          <a:xfrm>
            <a:off x="6053328" y="1819656"/>
            <a:ext cx="100584" cy="100584"/>
          </a:xfrm>
          <a:prstGeom prst="ellipse">
            <a:avLst/>
          </a:prstGeom>
          <a:solidFill>
            <a:srgbClr val="FEBC2E"/>
          </a:solidFill>
          <a:ln/>
        </p:spPr>
      </p:sp>
      <p:sp>
        <p:nvSpPr>
          <p:cNvPr id="27" name="Shape 22"/>
          <p:cNvSpPr/>
          <p:nvPr/>
        </p:nvSpPr>
        <p:spPr>
          <a:xfrm>
            <a:off x="6236208" y="1819656"/>
            <a:ext cx="100584" cy="100584"/>
          </a:xfrm>
          <a:prstGeom prst="ellipse">
            <a:avLst/>
          </a:prstGeom>
          <a:solidFill>
            <a:srgbClr val="28C840"/>
          </a:solidFill>
          <a:ln/>
        </p:spPr>
      </p:sp>
      <p:sp>
        <p:nvSpPr>
          <p:cNvPr id="28" name="Text 23"/>
          <p:cNvSpPr txBox="1"/>
          <p:nvPr/>
        </p:nvSpPr>
        <p:spPr>
          <a:xfrm>
            <a:off x="6492240" y="1764792"/>
            <a:ext cx="4967935" cy="219456"/>
          </a:xfrm>
          <a:prstGeom prst="rect">
            <a:avLst/>
          </a:prstGeom>
          <a:noFill/>
          <a:ln/>
        </p:spPr>
        <p:txBody>
          <a:bodyPr wrap="square" lIns="0" tIns="0" rIns="0" bIns="0" rtlCol="0" anchor="t"/>
          <a:lstStyle/>
          <a:p>
            <a:pPr indent="0" marL="0">
              <a:buNone/>
            </a:pPr>
            <a:r>
              <a:rPr lang="en-US" sz="1000" dirty="0">
                <a:solidFill>
                  <a:srgbClr val="738191"/>
                </a:solidFill>
                <a:latin typeface="Consolas" pitchFamily="34" charset="0"/>
                <a:ea typeface="Consolas" pitchFamily="34" charset="-122"/>
                <a:cs typeface="Consolas" pitchFamily="34" charset="-120"/>
              </a:rPr>
              <a:t>forge/graph.py</a:t>
            </a:r>
            <a:endParaRPr lang="en-US" sz="1000" dirty="0"/>
          </a:p>
        </p:txBody>
      </p:sp>
      <p:sp>
        <p:nvSpPr>
          <p:cNvPr id="29" name="Text 24"/>
          <p:cNvSpPr txBox="1"/>
          <p:nvPr/>
        </p:nvSpPr>
        <p:spPr>
          <a:xfrm>
            <a:off x="5943600" y="2148840"/>
            <a:ext cx="5562295" cy="2560320"/>
          </a:xfrm>
          <a:prstGeom prst="rect">
            <a:avLst/>
          </a:prstGeom>
          <a:noFill/>
          <a:ln/>
        </p:spPr>
        <p:txBody>
          <a:bodyPr wrap="square" lIns="0" tIns="0" rIns="0" bIns="0" rtlCol="0" anchor="t"/>
          <a:lstStyle/>
          <a:p>
            <a:pPr indent="0" marL="0">
              <a:lnSpc>
                <a:spcPct val="108000"/>
              </a:lnSpc>
              <a:buNone/>
            </a:pPr>
            <a:r>
              <a:rPr lang="en-US" sz="1150" b="1" dirty="0">
                <a:solidFill>
                  <a:srgbClr val="FF7B5C"/>
                </a:solidFill>
                <a:latin typeface="Consolas" pitchFamily="34" charset="0"/>
                <a:ea typeface="Consolas" pitchFamily="34" charset="-122"/>
                <a:cs typeface="Consolas" pitchFamily="34" charset="-120"/>
              </a:rPr>
              <a:t>def</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50" dirty="0">
                <a:solidFill>
                  <a:srgbClr val="D2A8FF"/>
                </a:solidFill>
                <a:latin typeface="Consolas" pitchFamily="34" charset="0"/>
                <a:ea typeface="Consolas" pitchFamily="34" charset="-122"/>
                <a:cs typeface="Consolas" pitchFamily="34" charset="-120"/>
              </a:rPr>
              <a:t>route_reviewer</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state</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ForgeState</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-&gt;</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str</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a:t>
            </a:r>
            <a:endParaRPr lang="en-US" sz="1150" dirty="0"/>
          </a:p>
          <a:p>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fs</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state</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a:t>
            </a:r>
            <a:pPr indent="0" marL="0">
              <a:lnSpc>
                <a:spcPct val="108000"/>
              </a:lnSpc>
              <a:buNone/>
            </a:pPr>
            <a:r>
              <a:rPr lang="en-US" sz="1150" dirty="0">
                <a:solidFill>
                  <a:srgbClr val="FFC98A"/>
                </a:solidFill>
                <a:latin typeface="Consolas" pitchFamily="34" charset="0"/>
                <a:ea typeface="Consolas" pitchFamily="34" charset="-122"/>
                <a:cs typeface="Consolas" pitchFamily="34" charset="-120"/>
              </a:rPr>
              <a:t>"current_file"</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a:t>
            </a:r>
            <a:endParaRPr lang="en-US" sz="1150" dirty="0"/>
          </a:p>
          <a:p>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score</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fs</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a:t>
            </a:r>
            <a:pPr indent="0" marL="0">
              <a:lnSpc>
                <a:spcPct val="108000"/>
              </a:lnSpc>
              <a:buNone/>
            </a:pPr>
            <a:r>
              <a:rPr lang="en-US" sz="1150" dirty="0">
                <a:solidFill>
                  <a:srgbClr val="D2A8FF"/>
                </a:solidFill>
                <a:latin typeface="Consolas" pitchFamily="34" charset="0"/>
                <a:ea typeface="Consolas" pitchFamily="34" charset="-122"/>
                <a:cs typeface="Consolas" pitchFamily="34" charset="-120"/>
              </a:rPr>
              <a:t>get</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a:t>
            </a:r>
            <a:pPr indent="0" marL="0">
              <a:lnSpc>
                <a:spcPct val="108000"/>
              </a:lnSpc>
              <a:buNone/>
            </a:pPr>
            <a:r>
              <a:rPr lang="en-US" sz="1150" dirty="0">
                <a:solidFill>
                  <a:srgbClr val="FFC98A"/>
                </a:solidFill>
                <a:latin typeface="Consolas" pitchFamily="34" charset="0"/>
                <a:ea typeface="Consolas" pitchFamily="34" charset="-122"/>
                <a:cs typeface="Consolas" pitchFamily="34" charset="-120"/>
              </a:rPr>
              <a:t>"review_score"</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50" dirty="0">
                <a:solidFill>
                  <a:srgbClr val="FFB547"/>
                </a:solidFill>
                <a:latin typeface="Consolas" pitchFamily="34" charset="0"/>
                <a:ea typeface="Consolas" pitchFamily="34" charset="-122"/>
                <a:cs typeface="Consolas" pitchFamily="34" charset="-120"/>
              </a:rPr>
              <a:t>0</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50" b="1" dirty="0">
                <a:solidFill>
                  <a:srgbClr val="FF7B5C"/>
                </a:solidFill>
                <a:latin typeface="Consolas" pitchFamily="34" charset="0"/>
                <a:ea typeface="Consolas" pitchFamily="34" charset="-122"/>
                <a:cs typeface="Consolas" pitchFamily="34" charset="-120"/>
              </a:rPr>
              <a:t>or</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50" dirty="0">
                <a:solidFill>
                  <a:srgbClr val="FFB547"/>
                </a:solidFill>
                <a:latin typeface="Consolas" pitchFamily="34" charset="0"/>
                <a:ea typeface="Consolas" pitchFamily="34" charset="-122"/>
                <a:cs typeface="Consolas" pitchFamily="34" charset="-120"/>
              </a:rPr>
              <a:t>0</a:t>
            </a:r>
            <a:endParaRPr lang="en-US" sz="1150" dirty="0"/>
          </a:p>
          <a:p>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retry_count</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fs</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a:t>
            </a:r>
            <a:pPr indent="0" marL="0">
              <a:lnSpc>
                <a:spcPct val="108000"/>
              </a:lnSpc>
              <a:buNone/>
            </a:pPr>
            <a:r>
              <a:rPr lang="en-US" sz="1150" dirty="0">
                <a:solidFill>
                  <a:srgbClr val="D2A8FF"/>
                </a:solidFill>
                <a:latin typeface="Consolas" pitchFamily="34" charset="0"/>
                <a:ea typeface="Consolas" pitchFamily="34" charset="-122"/>
                <a:cs typeface="Consolas" pitchFamily="34" charset="-120"/>
              </a:rPr>
              <a:t>get</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a:t>
            </a:r>
            <a:pPr indent="0" marL="0">
              <a:lnSpc>
                <a:spcPct val="108000"/>
              </a:lnSpc>
              <a:buNone/>
            </a:pPr>
            <a:r>
              <a:rPr lang="en-US" sz="1150" dirty="0">
                <a:solidFill>
                  <a:srgbClr val="FFC98A"/>
                </a:solidFill>
                <a:latin typeface="Consolas" pitchFamily="34" charset="0"/>
                <a:ea typeface="Consolas" pitchFamily="34" charset="-122"/>
                <a:cs typeface="Consolas" pitchFamily="34" charset="-120"/>
              </a:rPr>
              <a:t>"retry_count"</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50" dirty="0">
                <a:solidFill>
                  <a:srgbClr val="FFB547"/>
                </a:solidFill>
                <a:latin typeface="Consolas" pitchFamily="34" charset="0"/>
                <a:ea typeface="Consolas" pitchFamily="34" charset="-122"/>
                <a:cs typeface="Consolas" pitchFamily="34" charset="-120"/>
              </a:rPr>
              <a:t>0</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50" b="1" dirty="0">
                <a:solidFill>
                  <a:srgbClr val="FF7B5C"/>
                </a:solidFill>
                <a:latin typeface="Consolas" pitchFamily="34" charset="0"/>
                <a:ea typeface="Consolas" pitchFamily="34" charset="-122"/>
                <a:cs typeface="Consolas" pitchFamily="34" charset="-120"/>
              </a:rPr>
              <a:t>or</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50" dirty="0">
                <a:solidFill>
                  <a:srgbClr val="FFB547"/>
                </a:solidFill>
                <a:latin typeface="Consolas" pitchFamily="34" charset="0"/>
                <a:ea typeface="Consolas" pitchFamily="34" charset="-122"/>
                <a:cs typeface="Consolas" pitchFamily="34" charset="-120"/>
              </a:rPr>
              <a:t>0</a:t>
            </a:r>
            <a:endParaRPr lang="en-US" sz="1150" dirty="0"/>
          </a:p>
          <a:p>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pass_threshold</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config</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a:t>
            </a:r>
            <a:pPr indent="0" marL="0">
              <a:lnSpc>
                <a:spcPct val="108000"/>
              </a:lnSpc>
              <a:buNone/>
            </a:pPr>
            <a:r>
              <a:rPr lang="en-US" sz="1150" dirty="0">
                <a:solidFill>
                  <a:srgbClr val="D2A8FF"/>
                </a:solidFill>
                <a:latin typeface="Consolas" pitchFamily="34" charset="0"/>
                <a:ea typeface="Consolas" pitchFamily="34" charset="-122"/>
                <a:cs typeface="Consolas" pitchFamily="34" charset="-120"/>
              </a:rPr>
              <a:t>get</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a:t>
            </a:r>
            <a:pPr indent="0" marL="0">
              <a:lnSpc>
                <a:spcPct val="108000"/>
              </a:lnSpc>
              <a:buNone/>
            </a:pPr>
            <a:r>
              <a:rPr lang="en-US" sz="1150" dirty="0">
                <a:solidFill>
                  <a:srgbClr val="FFC98A"/>
                </a:solidFill>
                <a:latin typeface="Consolas" pitchFamily="34" charset="0"/>
                <a:ea typeface="Consolas" pitchFamily="34" charset="-122"/>
                <a:cs typeface="Consolas" pitchFamily="34" charset="-120"/>
              </a:rPr>
              <a:t>"pass_threshold"</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50" dirty="0">
                <a:solidFill>
                  <a:srgbClr val="FFB547"/>
                </a:solidFill>
                <a:latin typeface="Consolas" pitchFamily="34" charset="0"/>
                <a:ea typeface="Consolas" pitchFamily="34" charset="-122"/>
                <a:cs typeface="Consolas" pitchFamily="34" charset="-120"/>
              </a:rPr>
              <a:t>80</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a:t>
            </a:r>
            <a:endParaRPr lang="en-US" sz="1150" dirty="0"/>
          </a:p>
          <a:p>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retry_threshold</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config</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a:t>
            </a:r>
            <a:pPr indent="0" marL="0">
              <a:lnSpc>
                <a:spcPct val="108000"/>
              </a:lnSpc>
              <a:buNone/>
            </a:pPr>
            <a:r>
              <a:rPr lang="en-US" sz="1150" dirty="0">
                <a:solidFill>
                  <a:srgbClr val="D2A8FF"/>
                </a:solidFill>
                <a:latin typeface="Consolas" pitchFamily="34" charset="0"/>
                <a:ea typeface="Consolas" pitchFamily="34" charset="-122"/>
                <a:cs typeface="Consolas" pitchFamily="34" charset="-120"/>
              </a:rPr>
              <a:t>get</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a:t>
            </a:r>
            <a:pPr indent="0" marL="0">
              <a:lnSpc>
                <a:spcPct val="108000"/>
              </a:lnSpc>
              <a:buNone/>
            </a:pPr>
            <a:r>
              <a:rPr lang="en-US" sz="1150" dirty="0">
                <a:solidFill>
                  <a:srgbClr val="FFC98A"/>
                </a:solidFill>
                <a:latin typeface="Consolas" pitchFamily="34" charset="0"/>
                <a:ea typeface="Consolas" pitchFamily="34" charset="-122"/>
                <a:cs typeface="Consolas" pitchFamily="34" charset="-120"/>
              </a:rPr>
              <a:t>"retry_threshold"</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50" dirty="0">
                <a:solidFill>
                  <a:srgbClr val="FFB547"/>
                </a:solidFill>
                <a:latin typeface="Consolas" pitchFamily="34" charset="0"/>
                <a:ea typeface="Consolas" pitchFamily="34" charset="-122"/>
                <a:cs typeface="Consolas" pitchFamily="34" charset="-120"/>
              </a:rPr>
              <a:t>50</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a:t>
            </a:r>
            <a:endParaRPr lang="en-US" sz="1150" dirty="0"/>
          </a:p>
          <a:p>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max_retries</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config</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a:t>
            </a:r>
            <a:pPr indent="0" marL="0">
              <a:lnSpc>
                <a:spcPct val="108000"/>
              </a:lnSpc>
              <a:buNone/>
            </a:pPr>
            <a:r>
              <a:rPr lang="en-US" sz="1150" dirty="0">
                <a:solidFill>
                  <a:srgbClr val="D2A8FF"/>
                </a:solidFill>
                <a:latin typeface="Consolas" pitchFamily="34" charset="0"/>
                <a:ea typeface="Consolas" pitchFamily="34" charset="-122"/>
                <a:cs typeface="Consolas" pitchFamily="34" charset="-120"/>
              </a:rPr>
              <a:t>get</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a:t>
            </a:r>
            <a:pPr indent="0" marL="0">
              <a:lnSpc>
                <a:spcPct val="108000"/>
              </a:lnSpc>
              <a:buNone/>
            </a:pPr>
            <a:r>
              <a:rPr lang="en-US" sz="1150" dirty="0">
                <a:solidFill>
                  <a:srgbClr val="FFC98A"/>
                </a:solidFill>
                <a:latin typeface="Consolas" pitchFamily="34" charset="0"/>
                <a:ea typeface="Consolas" pitchFamily="34" charset="-122"/>
                <a:cs typeface="Consolas" pitchFamily="34" charset="-120"/>
              </a:rPr>
              <a:t>"max_retries"</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50" dirty="0">
                <a:solidFill>
                  <a:srgbClr val="FFB547"/>
                </a:solidFill>
                <a:latin typeface="Consolas" pitchFamily="34" charset="0"/>
                <a:ea typeface="Consolas" pitchFamily="34" charset="-122"/>
                <a:cs typeface="Consolas" pitchFamily="34" charset="-120"/>
              </a:rPr>
              <a:t>2</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a:t>
            </a:r>
            <a:endParaRPr lang="en-US" sz="1150" dirty="0"/>
          </a:p>
          <a:p>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 </a:t>
            </a:r>
            <a:endParaRPr lang="en-US" sz="1150" dirty="0"/>
          </a:p>
          <a:p>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50" b="1" dirty="0">
                <a:solidFill>
                  <a:srgbClr val="FF7B5C"/>
                </a:solidFill>
                <a:latin typeface="Consolas" pitchFamily="34" charset="0"/>
                <a:ea typeface="Consolas" pitchFamily="34" charset="-122"/>
                <a:cs typeface="Consolas" pitchFamily="34" charset="-120"/>
              </a:rPr>
              <a:t>if</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score</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&gt;=</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pass_threshold</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a:t>
            </a:r>
            <a:endParaRPr lang="en-US" sz="1150" dirty="0"/>
          </a:p>
          <a:p>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50" b="1" dirty="0">
                <a:solidFill>
                  <a:srgbClr val="FF7B5C"/>
                </a:solidFill>
                <a:latin typeface="Consolas" pitchFamily="34" charset="0"/>
                <a:ea typeface="Consolas" pitchFamily="34" charset="-122"/>
                <a:cs typeface="Consolas" pitchFamily="34" charset="-120"/>
              </a:rPr>
              <a:t>return</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50" dirty="0">
                <a:solidFill>
                  <a:srgbClr val="FFC98A"/>
                </a:solidFill>
                <a:latin typeface="Consolas" pitchFamily="34" charset="0"/>
                <a:ea typeface="Consolas" pitchFamily="34" charset="-122"/>
                <a:cs typeface="Consolas" pitchFamily="34" charset="-120"/>
              </a:rPr>
              <a:t>"guardrails_post"</a:t>
            </a:r>
            <a:endParaRPr lang="en-US" sz="1150" dirty="0"/>
          </a:p>
          <a:p>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50" b="1" dirty="0">
                <a:solidFill>
                  <a:srgbClr val="FF7B5C"/>
                </a:solidFill>
                <a:latin typeface="Consolas" pitchFamily="34" charset="0"/>
                <a:ea typeface="Consolas" pitchFamily="34" charset="-122"/>
                <a:cs typeface="Consolas" pitchFamily="34" charset="-120"/>
              </a:rPr>
              <a:t>if</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score</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&gt;=</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retry_threshold</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50" b="1" dirty="0">
                <a:solidFill>
                  <a:srgbClr val="FF7B5C"/>
                </a:solidFill>
                <a:latin typeface="Consolas" pitchFamily="34" charset="0"/>
                <a:ea typeface="Consolas" pitchFamily="34" charset="-122"/>
                <a:cs typeface="Consolas" pitchFamily="34" charset="-120"/>
              </a:rPr>
              <a:t>and</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retry_count</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&lt;</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max_retries</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a:t>
            </a:r>
            <a:endParaRPr lang="en-US" sz="1150" dirty="0"/>
          </a:p>
          <a:p>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50" b="1" dirty="0">
                <a:solidFill>
                  <a:srgbClr val="FF7B5C"/>
                </a:solidFill>
                <a:latin typeface="Consolas" pitchFamily="34" charset="0"/>
                <a:ea typeface="Consolas" pitchFamily="34" charset="-122"/>
                <a:cs typeface="Consolas" pitchFamily="34" charset="-120"/>
              </a:rPr>
              <a:t>return</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50" dirty="0">
                <a:solidFill>
                  <a:srgbClr val="FFC98A"/>
                </a:solidFill>
                <a:latin typeface="Consolas" pitchFamily="34" charset="0"/>
                <a:ea typeface="Consolas" pitchFamily="34" charset="-122"/>
                <a:cs typeface="Consolas" pitchFamily="34" charset="-120"/>
              </a:rPr>
              <a:t>"increment_retry"</a:t>
            </a:r>
            <a:endParaRPr lang="en-US" sz="1150" dirty="0"/>
          </a:p>
          <a:p>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50" b="1" dirty="0">
                <a:solidFill>
                  <a:srgbClr val="FF7B5C"/>
                </a:solidFill>
                <a:latin typeface="Consolas" pitchFamily="34" charset="0"/>
                <a:ea typeface="Consolas" pitchFamily="34" charset="-122"/>
                <a:cs typeface="Consolas" pitchFamily="34" charset="-120"/>
              </a:rPr>
              <a:t>return</a:t>
            </a:r>
            <a:pPr indent="0" marL="0">
              <a:lnSpc>
                <a:spcPct val="108000"/>
              </a:lnSpc>
              <a:buNone/>
            </a:pPr>
            <a:r>
              <a:rPr lang="en-US" sz="11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50" dirty="0">
                <a:solidFill>
                  <a:srgbClr val="FFC98A"/>
                </a:solidFill>
                <a:latin typeface="Consolas" pitchFamily="34" charset="0"/>
                <a:ea typeface="Consolas" pitchFamily="34" charset="-122"/>
                <a:cs typeface="Consolas" pitchFamily="34" charset="-120"/>
              </a:rPr>
              <a:t>"manual_queue"</a:t>
            </a:r>
            <a:endParaRPr lang="en-US" sz="1150" dirty="0"/>
          </a:p>
        </p:txBody>
      </p:sp>
      <p:sp>
        <p:nvSpPr>
          <p:cNvPr id="30" name="Text 25"/>
          <p:cNvSpPr txBox="1"/>
          <p:nvPr/>
        </p:nvSpPr>
        <p:spPr>
          <a:xfrm>
            <a:off x="5669280" y="5074920"/>
            <a:ext cx="2986888" cy="420624"/>
          </a:xfrm>
          <a:prstGeom prst="rect">
            <a:avLst/>
          </a:prstGeom>
          <a:solidFill>
            <a:srgbClr val="FF4D5E">
              <a:alpha val="28000"/>
            </a:srgbClr>
          </a:solidFill>
          <a:ln/>
        </p:spPr>
        <p:txBody>
          <a:bodyPr wrap="square" lIns="0" tIns="0" rIns="0" bIns="0" rtlCol="0" anchor="ctr"/>
          <a:lstStyle/>
          <a:p>
            <a:pPr algn="ctr" indent="0" marL="0">
              <a:buNone/>
            </a:pPr>
            <a:r>
              <a:rPr lang="en-US" sz="1150" b="1" dirty="0">
                <a:solidFill>
                  <a:srgbClr val="F3F5F8"/>
                </a:solidFill>
                <a:latin typeface="Arial" pitchFamily="34" charset="0"/>
                <a:ea typeface="Arial" pitchFamily="34" charset="-122"/>
                <a:cs typeface="Arial" pitchFamily="34" charset="-120"/>
              </a:rPr>
              <a:t>MANUAL  &lt; 50</a:t>
            </a:r>
            <a:endParaRPr lang="en-US" sz="1150" dirty="0"/>
          </a:p>
        </p:txBody>
      </p:sp>
      <p:sp>
        <p:nvSpPr>
          <p:cNvPr id="31" name="Text 26"/>
          <p:cNvSpPr txBox="1"/>
          <p:nvPr/>
        </p:nvSpPr>
        <p:spPr>
          <a:xfrm>
            <a:off x="8656168" y="5074920"/>
            <a:ext cx="1792133" cy="420624"/>
          </a:xfrm>
          <a:prstGeom prst="rect">
            <a:avLst/>
          </a:prstGeom>
          <a:solidFill>
            <a:srgbClr val="FFB547">
              <a:alpha val="28000"/>
            </a:srgbClr>
          </a:solidFill>
          <a:ln/>
        </p:spPr>
        <p:txBody>
          <a:bodyPr wrap="square" lIns="0" tIns="0" rIns="0" bIns="0" rtlCol="0" anchor="ctr"/>
          <a:lstStyle/>
          <a:p>
            <a:pPr algn="ctr" indent="0" marL="0">
              <a:buNone/>
            </a:pPr>
            <a:r>
              <a:rPr lang="en-US" sz="1150" b="1" dirty="0">
                <a:solidFill>
                  <a:srgbClr val="F3F5F8"/>
                </a:solidFill>
                <a:latin typeface="Arial" pitchFamily="34" charset="0"/>
                <a:ea typeface="Arial" pitchFamily="34" charset="-122"/>
                <a:cs typeface="Arial" pitchFamily="34" charset="-120"/>
              </a:rPr>
              <a:t>RETRY  50–79</a:t>
            </a:r>
            <a:endParaRPr lang="en-US" sz="1150" dirty="0"/>
          </a:p>
        </p:txBody>
      </p:sp>
      <p:sp>
        <p:nvSpPr>
          <p:cNvPr id="32" name="Text 27"/>
          <p:cNvSpPr txBox="1"/>
          <p:nvPr/>
        </p:nvSpPr>
        <p:spPr>
          <a:xfrm>
            <a:off x="10448300" y="5074920"/>
            <a:ext cx="1194755" cy="420624"/>
          </a:xfrm>
          <a:prstGeom prst="rect">
            <a:avLst/>
          </a:prstGeom>
          <a:solidFill>
            <a:srgbClr val="35D07F">
              <a:alpha val="28000"/>
            </a:srgbClr>
          </a:solidFill>
          <a:ln/>
        </p:spPr>
        <p:txBody>
          <a:bodyPr wrap="square" lIns="0" tIns="0" rIns="0" bIns="0" rtlCol="0" anchor="ctr"/>
          <a:lstStyle/>
          <a:p>
            <a:pPr algn="ctr" indent="0" marL="0">
              <a:buNone/>
            </a:pPr>
            <a:r>
              <a:rPr lang="en-US" sz="1150" b="1" dirty="0">
                <a:solidFill>
                  <a:srgbClr val="F3F5F8"/>
                </a:solidFill>
                <a:latin typeface="Arial" pitchFamily="34" charset="0"/>
                <a:ea typeface="Arial" pitchFamily="34" charset="-122"/>
                <a:cs typeface="Arial" pitchFamily="34" charset="-120"/>
              </a:rPr>
              <a:t>PASS  ≥ 80</a:t>
            </a:r>
            <a:endParaRPr lang="en-US" sz="1150" dirty="0"/>
          </a:p>
        </p:txBody>
      </p:sp>
      <p:sp>
        <p:nvSpPr>
          <p:cNvPr id="33" name="Text 28"/>
          <p:cNvSpPr txBox="1"/>
          <p:nvPr/>
        </p:nvSpPr>
        <p:spPr>
          <a:xfrm>
            <a:off x="5669280" y="5541264"/>
            <a:ext cx="548640" cy="201168"/>
          </a:xfrm>
          <a:prstGeom prst="rect">
            <a:avLst/>
          </a:prstGeom>
          <a:noFill/>
          <a:ln/>
        </p:spPr>
        <p:txBody>
          <a:bodyPr wrap="square" lIns="0" tIns="0" rIns="0" bIns="0" rtlCol="0" anchor="t"/>
          <a:lstStyle/>
          <a:p>
            <a:pPr algn="l" indent="0" marL="0">
              <a:buNone/>
            </a:pPr>
            <a:r>
              <a:rPr lang="en-US" sz="1000" dirty="0">
                <a:solidFill>
                  <a:srgbClr val="738191"/>
                </a:solidFill>
                <a:latin typeface="Arial" pitchFamily="34" charset="0"/>
                <a:ea typeface="Arial" pitchFamily="34" charset="-122"/>
                <a:cs typeface="Arial" pitchFamily="34" charset="-120"/>
              </a:rPr>
              <a:t>0</a:t>
            </a:r>
            <a:endParaRPr lang="en-US" sz="1000" dirty="0"/>
          </a:p>
        </p:txBody>
      </p:sp>
      <p:sp>
        <p:nvSpPr>
          <p:cNvPr id="34" name="Text 29"/>
          <p:cNvSpPr txBox="1"/>
          <p:nvPr/>
        </p:nvSpPr>
        <p:spPr>
          <a:xfrm>
            <a:off x="8381848" y="5541264"/>
            <a:ext cx="548640" cy="201168"/>
          </a:xfrm>
          <a:prstGeom prst="rect">
            <a:avLst/>
          </a:prstGeom>
          <a:noFill/>
          <a:ln/>
        </p:spPr>
        <p:txBody>
          <a:bodyPr wrap="square" lIns="0" tIns="0" rIns="0" bIns="0" rtlCol="0" anchor="t"/>
          <a:lstStyle/>
          <a:p>
            <a:pPr algn="ctr" indent="0" marL="0">
              <a:buNone/>
            </a:pPr>
            <a:r>
              <a:rPr lang="en-US" sz="1000" dirty="0">
                <a:solidFill>
                  <a:srgbClr val="738191"/>
                </a:solidFill>
                <a:latin typeface="Arial" pitchFamily="34" charset="0"/>
                <a:ea typeface="Arial" pitchFamily="34" charset="-122"/>
                <a:cs typeface="Arial" pitchFamily="34" charset="-120"/>
              </a:rPr>
              <a:t>50</a:t>
            </a:r>
            <a:endParaRPr lang="en-US" sz="1000" dirty="0"/>
          </a:p>
        </p:txBody>
      </p:sp>
      <p:sp>
        <p:nvSpPr>
          <p:cNvPr id="35" name="Text 30"/>
          <p:cNvSpPr txBox="1"/>
          <p:nvPr/>
        </p:nvSpPr>
        <p:spPr>
          <a:xfrm>
            <a:off x="10173980" y="5541264"/>
            <a:ext cx="548640" cy="201168"/>
          </a:xfrm>
          <a:prstGeom prst="rect">
            <a:avLst/>
          </a:prstGeom>
          <a:noFill/>
          <a:ln/>
        </p:spPr>
        <p:txBody>
          <a:bodyPr wrap="square" lIns="0" tIns="0" rIns="0" bIns="0" rtlCol="0" anchor="t"/>
          <a:lstStyle/>
          <a:p>
            <a:pPr algn="ctr" indent="0" marL="0">
              <a:buNone/>
            </a:pPr>
            <a:r>
              <a:rPr lang="en-US" sz="1000" dirty="0">
                <a:solidFill>
                  <a:srgbClr val="738191"/>
                </a:solidFill>
                <a:latin typeface="Arial" pitchFamily="34" charset="0"/>
                <a:ea typeface="Arial" pitchFamily="34" charset="-122"/>
                <a:cs typeface="Arial" pitchFamily="34" charset="-120"/>
              </a:rPr>
              <a:t>80</a:t>
            </a:r>
            <a:endParaRPr lang="en-US" sz="1000" dirty="0"/>
          </a:p>
        </p:txBody>
      </p:sp>
      <p:sp>
        <p:nvSpPr>
          <p:cNvPr id="36" name="Text 31"/>
          <p:cNvSpPr txBox="1"/>
          <p:nvPr/>
        </p:nvSpPr>
        <p:spPr>
          <a:xfrm>
            <a:off x="11094415" y="5541264"/>
            <a:ext cx="548640" cy="201168"/>
          </a:xfrm>
          <a:prstGeom prst="rect">
            <a:avLst/>
          </a:prstGeom>
          <a:noFill/>
          <a:ln/>
        </p:spPr>
        <p:txBody>
          <a:bodyPr wrap="square" lIns="0" tIns="0" rIns="0" bIns="0" rtlCol="0" anchor="t"/>
          <a:lstStyle/>
          <a:p>
            <a:pPr algn="r" indent="0" marL="0">
              <a:buNone/>
            </a:pPr>
            <a:r>
              <a:rPr lang="en-US" sz="1000" dirty="0">
                <a:solidFill>
                  <a:srgbClr val="738191"/>
                </a:solidFill>
                <a:latin typeface="Arial" pitchFamily="34" charset="0"/>
                <a:ea typeface="Arial" pitchFamily="34" charset="-122"/>
                <a:cs typeface="Arial" pitchFamily="34" charset="-120"/>
              </a:rPr>
              <a:t>100</a:t>
            </a:r>
            <a:endParaRPr lang="en-US" sz="1000" dirty="0"/>
          </a:p>
        </p:txBody>
      </p:sp>
      <p:sp>
        <p:nvSpPr>
          <p:cNvPr id="37" name="Text 32"/>
          <p:cNvSpPr txBox="1"/>
          <p:nvPr/>
        </p:nvSpPr>
        <p:spPr>
          <a:xfrm>
            <a:off x="5669280" y="5806440"/>
            <a:ext cx="5973775" cy="256032"/>
          </a:xfrm>
          <a:prstGeom prst="rect">
            <a:avLst/>
          </a:prstGeom>
          <a:noFill/>
          <a:ln/>
        </p:spPr>
        <p:txBody>
          <a:bodyPr wrap="square" lIns="0" tIns="0" rIns="0" bIns="0" rtlCol="0" anchor="t"/>
          <a:lstStyle/>
          <a:p>
            <a:pPr indent="0" marL="0">
              <a:buNone/>
            </a:pPr>
            <a:r>
              <a:rPr lang="en-US" sz="1150" dirty="0">
                <a:solidFill>
                  <a:srgbClr val="AAB5C3"/>
                </a:solidFill>
                <a:latin typeface="Arial" pitchFamily="34" charset="0"/>
                <a:ea typeface="Arial" pitchFamily="34" charset="-122"/>
                <a:cs typeface="Arial" pitchFamily="34" charset="-120"/>
              </a:rPr>
              <a:t>Rubric weights must total 100. The loader rejects a pack whose rubric doesn’t.</a:t>
            </a:r>
            <a:endParaRPr lang="en-US" sz="1150" dirty="0"/>
          </a:p>
        </p:txBody>
      </p:sp>
      <p:sp>
        <p:nvSpPr>
          <p:cNvPr id="38" name="Text 33"/>
          <p:cNvSpPr txBox="1"/>
          <p:nvPr/>
        </p:nvSpPr>
        <p:spPr>
          <a:xfrm>
            <a:off x="548640" y="6455664"/>
            <a:ext cx="5486400" cy="219456"/>
          </a:xfrm>
          <a:prstGeom prst="rect">
            <a:avLst/>
          </a:prstGeom>
          <a:noFill/>
          <a:ln/>
        </p:spPr>
        <p:txBody>
          <a:bodyPr wrap="square" lIns="0" tIns="0" rIns="0" bIns="0" rtlCol="0" anchor="t"/>
          <a:lstStyle/>
          <a:p>
            <a:pPr indent="0" marL="0">
              <a:buNone/>
            </a:pPr>
            <a:r>
              <a:rPr lang="en-US" sz="900" dirty="0">
                <a:solidFill>
                  <a:srgbClr val="738191"/>
                </a:solidFill>
                <a:latin typeface="Arial" pitchFamily="34" charset="0"/>
                <a:ea typeface="Arial" pitchFamily="34" charset="-122"/>
                <a:cs typeface="Arial" pitchFamily="34" charset="-120"/>
              </a:rPr>
              <a:t>FORGE  ·  Software Development Conference 2026</a:t>
            </a:r>
            <a:endParaRPr lang="en-US" sz="900" dirty="0"/>
          </a:p>
        </p:txBody>
      </p:sp>
      <p:sp>
        <p:nvSpPr>
          <p:cNvPr id="39" name="Text 34"/>
          <p:cNvSpPr txBox="1"/>
          <p:nvPr/>
        </p:nvSpPr>
        <p:spPr>
          <a:xfrm>
            <a:off x="11094415" y="6455664"/>
            <a:ext cx="548640" cy="219456"/>
          </a:xfrm>
          <a:prstGeom prst="rect">
            <a:avLst/>
          </a:prstGeom>
          <a:noFill/>
          <a:ln/>
        </p:spPr>
        <p:txBody>
          <a:bodyPr wrap="square" lIns="0" tIns="0" rIns="0" bIns="0" rtlCol="0" anchor="t"/>
          <a:lstStyle/>
          <a:p>
            <a:pPr algn="r" indent="0" marL="0">
              <a:buNone/>
            </a:pPr>
            <a:r>
              <a:rPr lang="en-US" sz="900" dirty="0">
                <a:solidFill>
                  <a:srgbClr val="738191"/>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t"/>
          <a:lstStyle/>
          <a:p>
            <a:pPr indent="0" marL="0">
              <a:buNone/>
            </a:pPr>
            <a:r>
              <a:rPr lang="en-US" sz="1100" b="1" spc="300" kern="0" dirty="0">
                <a:solidFill>
                  <a:srgbClr val="FF6A2B"/>
                </a:solidFill>
                <a:latin typeface="Arial" pitchFamily="34" charset="0"/>
                <a:ea typeface="Arial" pitchFamily="34" charset="-122"/>
                <a:cs typeface="Arial" pitchFamily="34" charset="-120"/>
              </a:rPr>
              <a:t>03  ·  THE ENGINE</a:t>
            </a:r>
            <a:endParaRPr lang="en-US" sz="1100" dirty="0"/>
          </a:p>
        </p:txBody>
      </p:sp>
      <p:sp>
        <p:nvSpPr>
          <p:cNvPr id="3" name="Text 1"/>
          <p:cNvSpPr txBox="1"/>
          <p:nvPr/>
        </p:nvSpPr>
        <p:spPr>
          <a:xfrm>
            <a:off x="548640" y="676656"/>
            <a:ext cx="11094415" cy="658368"/>
          </a:xfrm>
          <a:prstGeom prst="rect">
            <a:avLst/>
          </a:prstGeom>
          <a:noFill/>
          <a:ln/>
        </p:spPr>
        <p:txBody>
          <a:bodyPr wrap="square" lIns="0" tIns="0" rIns="0" bIns="0" rtlCol="0" anchor="t"/>
          <a:lstStyle/>
          <a:p>
            <a:pPr indent="0" marL="0">
              <a:buNone/>
            </a:pPr>
            <a:r>
              <a:rPr lang="en-US" sz="3200" b="1" dirty="0">
                <a:solidFill>
                  <a:srgbClr val="F3F5F8"/>
                </a:solidFill>
                <a:latin typeface="Arial" pitchFamily="34" charset="0"/>
                <a:ea typeface="Arial" pitchFamily="34" charset="-122"/>
                <a:cs typeface="Arial" pitchFamily="34" charset="-120"/>
              </a:rPr>
              <a:t>Six checks plus javac, cheapest and most private first</a:t>
            </a:r>
            <a:endParaRPr lang="en-US" sz="3200" dirty="0"/>
          </a:p>
        </p:txBody>
      </p:sp>
      <p:sp>
        <p:nvSpPr>
          <p:cNvPr id="4" name="Text 2"/>
          <p:cNvSpPr txBox="1"/>
          <p:nvPr/>
        </p:nvSpPr>
        <p:spPr>
          <a:xfrm>
            <a:off x="2971800" y="1627632"/>
            <a:ext cx="2926080" cy="237744"/>
          </a:xfrm>
          <a:prstGeom prst="rect">
            <a:avLst/>
          </a:prstGeom>
          <a:noFill/>
          <a:ln/>
        </p:spPr>
        <p:txBody>
          <a:bodyPr wrap="square" lIns="0" tIns="0" rIns="0" bIns="0" rtlCol="0" anchor="t"/>
          <a:lstStyle/>
          <a:p>
            <a:pPr algn="ctr" indent="0" marL="0">
              <a:buNone/>
            </a:pPr>
            <a:r>
              <a:rPr lang="en-US" sz="1050" b="1" spc="200" kern="0" dirty="0">
                <a:solidFill>
                  <a:srgbClr val="738191"/>
                </a:solidFill>
                <a:latin typeface="Arial" pitchFamily="34" charset="0"/>
                <a:ea typeface="Arial" pitchFamily="34" charset="-122"/>
                <a:cs typeface="Arial" pitchFamily="34" charset="-120"/>
              </a:rPr>
              <a:t>BEFORE THE TRANSFORM</a:t>
            </a:r>
            <a:endParaRPr lang="en-US" sz="1050" dirty="0"/>
          </a:p>
        </p:txBody>
      </p:sp>
      <p:sp>
        <p:nvSpPr>
          <p:cNvPr id="5" name="Text 3"/>
          <p:cNvSpPr txBox="1"/>
          <p:nvPr/>
        </p:nvSpPr>
        <p:spPr>
          <a:xfrm>
            <a:off x="6080760" y="1627632"/>
            <a:ext cx="2468880" cy="237744"/>
          </a:xfrm>
          <a:prstGeom prst="rect">
            <a:avLst/>
          </a:prstGeom>
          <a:noFill/>
          <a:ln/>
        </p:spPr>
        <p:txBody>
          <a:bodyPr wrap="square" lIns="0" tIns="0" rIns="0" bIns="0" rtlCol="0" anchor="t"/>
          <a:lstStyle/>
          <a:p>
            <a:pPr algn="ctr" indent="0" marL="0">
              <a:buNone/>
            </a:pPr>
            <a:r>
              <a:rPr lang="en-US" sz="1050" b="1" spc="200" kern="0" dirty="0">
                <a:solidFill>
                  <a:srgbClr val="738191"/>
                </a:solidFill>
                <a:latin typeface="Arial" pitchFamily="34" charset="0"/>
                <a:ea typeface="Arial" pitchFamily="34" charset="-122"/>
                <a:cs typeface="Arial" pitchFamily="34" charset="-120"/>
              </a:rPr>
              <a:t>THE TRANSFORM</a:t>
            </a:r>
            <a:endParaRPr lang="en-US" sz="1050" dirty="0"/>
          </a:p>
        </p:txBody>
      </p:sp>
      <p:sp>
        <p:nvSpPr>
          <p:cNvPr id="6" name="Text 4"/>
          <p:cNvSpPr txBox="1"/>
          <p:nvPr/>
        </p:nvSpPr>
        <p:spPr>
          <a:xfrm>
            <a:off x="8732520" y="1627632"/>
            <a:ext cx="2910535" cy="237744"/>
          </a:xfrm>
          <a:prstGeom prst="rect">
            <a:avLst/>
          </a:prstGeom>
          <a:noFill/>
          <a:ln/>
        </p:spPr>
        <p:txBody>
          <a:bodyPr wrap="square" lIns="0" tIns="0" rIns="0" bIns="0" rtlCol="0" anchor="t"/>
          <a:lstStyle/>
          <a:p>
            <a:pPr algn="ctr" indent="0" marL="0">
              <a:buNone/>
            </a:pPr>
            <a:r>
              <a:rPr lang="en-US" sz="1050" b="1" spc="200" kern="0" dirty="0">
                <a:solidFill>
                  <a:srgbClr val="738191"/>
                </a:solidFill>
                <a:latin typeface="Arial" pitchFamily="34" charset="0"/>
                <a:ea typeface="Arial" pitchFamily="34" charset="-122"/>
                <a:cs typeface="Arial" pitchFamily="34" charset="-120"/>
              </a:rPr>
              <a:t>AFTER THE TRANSFORM</a:t>
            </a:r>
            <a:endParaRPr lang="en-US" sz="1050" dirty="0"/>
          </a:p>
        </p:txBody>
      </p:sp>
      <p:sp>
        <p:nvSpPr>
          <p:cNvPr id="7" name="Shape 5"/>
          <p:cNvSpPr/>
          <p:nvPr/>
        </p:nvSpPr>
        <p:spPr>
          <a:xfrm>
            <a:off x="548640" y="1965960"/>
            <a:ext cx="2240280" cy="1051560"/>
          </a:xfrm>
          <a:prstGeom prst="roundRect">
            <a:avLst>
              <a:gd name="adj" fmla="val 10435"/>
            </a:avLst>
          </a:prstGeom>
          <a:solidFill>
            <a:srgbClr val="5EB1FF">
              <a:alpha val="12000"/>
            </a:srgbClr>
          </a:solidFill>
          <a:ln w="9525">
            <a:solidFill>
              <a:srgbClr val="5EB1FF">
                <a:alpha val="50000"/>
              </a:srgbClr>
            </a:solidFill>
            <a:prstDash val="solid"/>
          </a:ln>
        </p:spPr>
      </p:sp>
      <p:sp>
        <p:nvSpPr>
          <p:cNvPr id="8" name="Shape 6"/>
          <p:cNvSpPr/>
          <p:nvPr/>
        </p:nvSpPr>
        <p:spPr>
          <a:xfrm>
            <a:off x="731520" y="2212848"/>
            <a:ext cx="548640" cy="548640"/>
          </a:xfrm>
          <a:prstGeom prst="ellipse">
            <a:avLst/>
          </a:prstGeom>
          <a:solidFill>
            <a:srgbClr val="5EB1FF">
              <a:alpha val="16000"/>
            </a:srgbClr>
          </a:solidFill>
          <a:ln w="9525">
            <a:solidFill>
              <a:srgbClr val="5EB1FF">
                <a:alpha val="50000"/>
              </a:srgbClr>
            </a:solidFill>
            <a:prstDash val="solid"/>
          </a:ln>
        </p:spPr>
      </p:sp>
      <p:pic>
        <p:nvPicPr>
          <p:cNvPr id="9" name="Image 0" descr="/private/tmp/claude-501/-Users-raja-forge/826f4f3b-77e1-484d-8167-0e3b60d97c63/scratchpad/deck/assets/icons/LuLock-5EB1FF.png">    </p:cNvPr>
          <p:cNvPicPr>
            <a:picLocks noChangeAspect="1"/>
          </p:cNvPicPr>
          <p:nvPr/>
        </p:nvPicPr>
        <p:blipFill>
          <a:blip r:embed="rId1"/>
          <a:stretch>
            <a:fillRect/>
          </a:stretch>
        </p:blipFill>
        <p:spPr>
          <a:xfrm>
            <a:off x="868680" y="2350008"/>
            <a:ext cx="274320" cy="274320"/>
          </a:xfrm>
          <a:prstGeom prst="rect">
            <a:avLst/>
          </a:prstGeom>
        </p:spPr>
      </p:pic>
      <p:sp>
        <p:nvSpPr>
          <p:cNvPr id="10" name="Text 7"/>
          <p:cNvSpPr txBox="1"/>
          <p:nvPr/>
        </p:nvSpPr>
        <p:spPr>
          <a:xfrm>
            <a:off x="1417320" y="2240280"/>
            <a:ext cx="1325880" cy="274320"/>
          </a:xfrm>
          <a:prstGeom prst="rect">
            <a:avLst/>
          </a:prstGeom>
          <a:noFill/>
          <a:ln/>
        </p:spPr>
        <p:txBody>
          <a:bodyPr wrap="square" lIns="0" tIns="0" rIns="0" bIns="0" rtlCol="0" anchor="t"/>
          <a:lstStyle/>
          <a:p>
            <a:pPr indent="0" marL="0">
              <a:buNone/>
            </a:pPr>
            <a:r>
              <a:rPr lang="en-US" sz="1400" b="1" dirty="0">
                <a:solidFill>
                  <a:srgbClr val="5EB1FF"/>
                </a:solidFill>
                <a:latin typeface="Arial" pitchFamily="34" charset="0"/>
                <a:ea typeface="Arial" pitchFamily="34" charset="-122"/>
                <a:cs typeface="Arial" pitchFamily="34" charset="-120"/>
              </a:rPr>
              <a:t>LOCAL</a:t>
            </a:r>
            <a:endParaRPr lang="en-US" sz="1400" dirty="0"/>
          </a:p>
        </p:txBody>
      </p:sp>
      <p:sp>
        <p:nvSpPr>
          <p:cNvPr id="11" name="Text 8"/>
          <p:cNvSpPr txBox="1"/>
          <p:nvPr/>
        </p:nvSpPr>
        <p:spPr>
          <a:xfrm>
            <a:off x="1417320" y="2514600"/>
            <a:ext cx="1325880" cy="411480"/>
          </a:xfrm>
          <a:prstGeom prst="rect">
            <a:avLst/>
          </a:prstGeom>
          <a:noFill/>
          <a:ln/>
        </p:spPr>
        <p:txBody>
          <a:bodyPr wrap="square" lIns="0" tIns="0" rIns="0" bIns="0" rtlCol="0" anchor="t"/>
          <a:lstStyle/>
          <a:p>
            <a:pPr indent="0" marL="0">
              <a:buNone/>
            </a:pPr>
            <a:r>
              <a:rPr lang="en-US" sz="1050" dirty="0">
                <a:solidFill>
                  <a:srgbClr val="AAB5C3"/>
                </a:solidFill>
                <a:latin typeface="Arial" pitchFamily="34" charset="0"/>
                <a:ea typeface="Arial" pitchFamily="34" charset="-122"/>
                <a:cs typeface="Arial" pitchFamily="34" charset="-120"/>
              </a:rPr>
              <a:t>no network · $0</a:t>
            </a:r>
            <a:endParaRPr lang="en-US" sz="1050" dirty="0"/>
          </a:p>
        </p:txBody>
      </p:sp>
      <p:sp>
        <p:nvSpPr>
          <p:cNvPr id="12" name="Shape 9"/>
          <p:cNvSpPr/>
          <p:nvPr/>
        </p:nvSpPr>
        <p:spPr>
          <a:xfrm>
            <a:off x="2971800" y="1965960"/>
            <a:ext cx="2926080" cy="1051560"/>
          </a:xfrm>
          <a:prstGeom prst="roundRect">
            <a:avLst>
              <a:gd name="adj" fmla="val 10435"/>
            </a:avLst>
          </a:prstGeom>
          <a:solidFill>
            <a:srgbClr val="121821">
              <a:alpha val="55000"/>
            </a:srgbClr>
          </a:solidFill>
          <a:ln w="9525">
            <a:solidFill>
              <a:srgbClr val="1E2835"/>
            </a:solidFill>
            <a:prstDash val="solid"/>
          </a:ln>
        </p:spPr>
      </p:sp>
      <p:sp>
        <p:nvSpPr>
          <p:cNvPr id="13" name="Shape 10"/>
          <p:cNvSpPr/>
          <p:nvPr/>
        </p:nvSpPr>
        <p:spPr>
          <a:xfrm>
            <a:off x="6080760" y="1965960"/>
            <a:ext cx="2468880" cy="1051560"/>
          </a:xfrm>
          <a:prstGeom prst="roundRect">
            <a:avLst>
              <a:gd name="adj" fmla="val 10435"/>
            </a:avLst>
          </a:prstGeom>
          <a:solidFill>
            <a:srgbClr val="121821">
              <a:alpha val="55000"/>
            </a:srgbClr>
          </a:solidFill>
          <a:ln w="9525">
            <a:solidFill>
              <a:srgbClr val="1E2835"/>
            </a:solidFill>
            <a:prstDash val="solid"/>
          </a:ln>
        </p:spPr>
      </p:sp>
      <p:sp>
        <p:nvSpPr>
          <p:cNvPr id="14" name="Shape 11"/>
          <p:cNvSpPr/>
          <p:nvPr/>
        </p:nvSpPr>
        <p:spPr>
          <a:xfrm>
            <a:off x="8732520" y="1965960"/>
            <a:ext cx="2910535" cy="1051560"/>
          </a:xfrm>
          <a:prstGeom prst="roundRect">
            <a:avLst>
              <a:gd name="adj" fmla="val 10435"/>
            </a:avLst>
          </a:prstGeom>
          <a:solidFill>
            <a:srgbClr val="121821">
              <a:alpha val="55000"/>
            </a:srgbClr>
          </a:solidFill>
          <a:ln w="9525">
            <a:solidFill>
              <a:srgbClr val="1E2835"/>
            </a:solidFill>
            <a:prstDash val="solid"/>
          </a:ln>
        </p:spPr>
      </p:sp>
      <p:sp>
        <p:nvSpPr>
          <p:cNvPr id="15" name="Shape 12"/>
          <p:cNvSpPr/>
          <p:nvPr/>
        </p:nvSpPr>
        <p:spPr>
          <a:xfrm>
            <a:off x="548640" y="3154680"/>
            <a:ext cx="2240280" cy="1051560"/>
          </a:xfrm>
          <a:prstGeom prst="roundRect">
            <a:avLst>
              <a:gd name="adj" fmla="val 10435"/>
            </a:avLst>
          </a:prstGeom>
          <a:solidFill>
            <a:srgbClr val="FFB547">
              <a:alpha val="12000"/>
            </a:srgbClr>
          </a:solidFill>
          <a:ln w="9525">
            <a:solidFill>
              <a:srgbClr val="FFB547">
                <a:alpha val="50000"/>
              </a:srgbClr>
            </a:solidFill>
            <a:prstDash val="solid"/>
          </a:ln>
        </p:spPr>
      </p:sp>
      <p:sp>
        <p:nvSpPr>
          <p:cNvPr id="16" name="Shape 13"/>
          <p:cNvSpPr/>
          <p:nvPr/>
        </p:nvSpPr>
        <p:spPr>
          <a:xfrm>
            <a:off x="731520" y="3401568"/>
            <a:ext cx="548640" cy="548640"/>
          </a:xfrm>
          <a:prstGeom prst="ellipse">
            <a:avLst/>
          </a:prstGeom>
          <a:solidFill>
            <a:srgbClr val="FFB547">
              <a:alpha val="16000"/>
            </a:srgbClr>
          </a:solidFill>
          <a:ln w="9525">
            <a:solidFill>
              <a:srgbClr val="FFB547">
                <a:alpha val="50000"/>
              </a:srgbClr>
            </a:solidFill>
            <a:prstDash val="solid"/>
          </a:ln>
        </p:spPr>
      </p:sp>
      <p:pic>
        <p:nvPicPr>
          <p:cNvPr id="17" name="Image 1" descr="/private/tmp/claude-501/-Users-raja-forge/826f4f3b-77e1-484d-8167-0e3b60d97c63/scratchpad/deck/assets/icons/LuShield-FFB547.png">    </p:cNvPr>
          <p:cNvPicPr>
            <a:picLocks noChangeAspect="1"/>
          </p:cNvPicPr>
          <p:nvPr/>
        </p:nvPicPr>
        <p:blipFill>
          <a:blip r:embed="rId2"/>
          <a:stretch>
            <a:fillRect/>
          </a:stretch>
        </p:blipFill>
        <p:spPr>
          <a:xfrm>
            <a:off x="868680" y="3538728"/>
            <a:ext cx="274320" cy="274320"/>
          </a:xfrm>
          <a:prstGeom prst="rect">
            <a:avLst/>
          </a:prstGeom>
        </p:spPr>
      </p:pic>
      <p:sp>
        <p:nvSpPr>
          <p:cNvPr id="18" name="Text 14"/>
          <p:cNvSpPr txBox="1"/>
          <p:nvPr/>
        </p:nvSpPr>
        <p:spPr>
          <a:xfrm>
            <a:off x="1417320" y="3429000"/>
            <a:ext cx="1325880" cy="274320"/>
          </a:xfrm>
          <a:prstGeom prst="rect">
            <a:avLst/>
          </a:prstGeom>
          <a:noFill/>
          <a:ln/>
        </p:spPr>
        <p:txBody>
          <a:bodyPr wrap="square" lIns="0" tIns="0" rIns="0" bIns="0" rtlCol="0" anchor="t"/>
          <a:lstStyle/>
          <a:p>
            <a:pPr indent="0" marL="0">
              <a:buNone/>
            </a:pPr>
            <a:r>
              <a:rPr lang="en-US" sz="1400" b="1" dirty="0">
                <a:solidFill>
                  <a:srgbClr val="FFB547"/>
                </a:solidFill>
                <a:latin typeface="Arial" pitchFamily="34" charset="0"/>
                <a:ea typeface="Arial" pitchFamily="34" charset="-122"/>
                <a:cs typeface="Arial" pitchFamily="34" charset="-120"/>
              </a:rPr>
              <a:t>AWS POLICY</a:t>
            </a:r>
            <a:endParaRPr lang="en-US" sz="1400" dirty="0"/>
          </a:p>
        </p:txBody>
      </p:sp>
      <p:sp>
        <p:nvSpPr>
          <p:cNvPr id="19" name="Text 15"/>
          <p:cNvSpPr txBox="1"/>
          <p:nvPr/>
        </p:nvSpPr>
        <p:spPr>
          <a:xfrm>
            <a:off x="1417320" y="3703320"/>
            <a:ext cx="1325880" cy="411480"/>
          </a:xfrm>
          <a:prstGeom prst="rect">
            <a:avLst/>
          </a:prstGeom>
          <a:noFill/>
          <a:ln/>
        </p:spPr>
        <p:txBody>
          <a:bodyPr wrap="square" lIns="0" tIns="0" rIns="0" bIns="0" rtlCol="0" anchor="t"/>
          <a:lstStyle/>
          <a:p>
            <a:pPr indent="0" marL="0">
              <a:buNone/>
            </a:pPr>
            <a:r>
              <a:rPr lang="en-US" sz="1050" dirty="0">
                <a:solidFill>
                  <a:srgbClr val="AAB5C3"/>
                </a:solidFill>
                <a:latin typeface="Arial" pitchFamily="34" charset="0"/>
                <a:ea typeface="Arial" pitchFamily="34" charset="-122"/>
                <a:cs typeface="Arial" pitchFamily="34" charset="-120"/>
              </a:rPr>
              <a:t>no model invoked</a:t>
            </a:r>
            <a:endParaRPr lang="en-US" sz="1050" dirty="0"/>
          </a:p>
        </p:txBody>
      </p:sp>
      <p:sp>
        <p:nvSpPr>
          <p:cNvPr id="20" name="Shape 16"/>
          <p:cNvSpPr/>
          <p:nvPr/>
        </p:nvSpPr>
        <p:spPr>
          <a:xfrm>
            <a:off x="2971800" y="3154680"/>
            <a:ext cx="2926080" cy="1051560"/>
          </a:xfrm>
          <a:prstGeom prst="roundRect">
            <a:avLst>
              <a:gd name="adj" fmla="val 10435"/>
            </a:avLst>
          </a:prstGeom>
          <a:solidFill>
            <a:srgbClr val="121821">
              <a:alpha val="55000"/>
            </a:srgbClr>
          </a:solidFill>
          <a:ln w="9525">
            <a:solidFill>
              <a:srgbClr val="1E2835"/>
            </a:solidFill>
            <a:prstDash val="solid"/>
          </a:ln>
        </p:spPr>
      </p:sp>
      <p:sp>
        <p:nvSpPr>
          <p:cNvPr id="21" name="Shape 17"/>
          <p:cNvSpPr/>
          <p:nvPr/>
        </p:nvSpPr>
        <p:spPr>
          <a:xfrm>
            <a:off x="6080760" y="3154680"/>
            <a:ext cx="2468880" cy="1051560"/>
          </a:xfrm>
          <a:prstGeom prst="roundRect">
            <a:avLst>
              <a:gd name="adj" fmla="val 10435"/>
            </a:avLst>
          </a:prstGeom>
          <a:solidFill>
            <a:srgbClr val="121821">
              <a:alpha val="55000"/>
            </a:srgbClr>
          </a:solidFill>
          <a:ln w="9525">
            <a:solidFill>
              <a:srgbClr val="1E2835"/>
            </a:solidFill>
            <a:prstDash val="solid"/>
          </a:ln>
        </p:spPr>
      </p:sp>
      <p:sp>
        <p:nvSpPr>
          <p:cNvPr id="22" name="Shape 18"/>
          <p:cNvSpPr/>
          <p:nvPr/>
        </p:nvSpPr>
        <p:spPr>
          <a:xfrm>
            <a:off x="8732520" y="3154680"/>
            <a:ext cx="2910535" cy="1051560"/>
          </a:xfrm>
          <a:prstGeom prst="roundRect">
            <a:avLst>
              <a:gd name="adj" fmla="val 10435"/>
            </a:avLst>
          </a:prstGeom>
          <a:solidFill>
            <a:srgbClr val="121821">
              <a:alpha val="55000"/>
            </a:srgbClr>
          </a:solidFill>
          <a:ln w="9525">
            <a:solidFill>
              <a:srgbClr val="1E2835"/>
            </a:solidFill>
            <a:prstDash val="solid"/>
          </a:ln>
        </p:spPr>
      </p:sp>
      <p:sp>
        <p:nvSpPr>
          <p:cNvPr id="23" name="Shape 19"/>
          <p:cNvSpPr/>
          <p:nvPr/>
        </p:nvSpPr>
        <p:spPr>
          <a:xfrm>
            <a:off x="548640" y="4343400"/>
            <a:ext cx="2240280" cy="1051560"/>
          </a:xfrm>
          <a:prstGeom prst="roundRect">
            <a:avLst>
              <a:gd name="adj" fmla="val 10435"/>
            </a:avLst>
          </a:prstGeom>
          <a:solidFill>
            <a:srgbClr val="FF6A2B">
              <a:alpha val="12000"/>
            </a:srgbClr>
          </a:solidFill>
          <a:ln w="9525">
            <a:solidFill>
              <a:srgbClr val="FF6A2B">
                <a:alpha val="50000"/>
              </a:srgbClr>
            </a:solidFill>
            <a:prstDash val="solid"/>
          </a:ln>
        </p:spPr>
      </p:sp>
      <p:sp>
        <p:nvSpPr>
          <p:cNvPr id="24" name="Shape 20"/>
          <p:cNvSpPr/>
          <p:nvPr/>
        </p:nvSpPr>
        <p:spPr>
          <a:xfrm>
            <a:off x="731520" y="4590288"/>
            <a:ext cx="548640" cy="548640"/>
          </a:xfrm>
          <a:prstGeom prst="ellipse">
            <a:avLst/>
          </a:prstGeom>
          <a:solidFill>
            <a:srgbClr val="FF6A2B">
              <a:alpha val="16000"/>
            </a:srgbClr>
          </a:solidFill>
          <a:ln w="9525">
            <a:solidFill>
              <a:srgbClr val="FF6A2B">
                <a:alpha val="50000"/>
              </a:srgbClr>
            </a:solidFill>
            <a:prstDash val="solid"/>
          </a:ln>
        </p:spPr>
      </p:sp>
      <p:pic>
        <p:nvPicPr>
          <p:cNvPr id="25" name="Image 2" descr="/private/tmp/claude-501/-Users-raja-forge/826f4f3b-77e1-484d-8167-0e3b60d97c63/scratchpad/deck/assets/icons/LuSparkles-FF6A2B.png">    </p:cNvPr>
          <p:cNvPicPr>
            <a:picLocks noChangeAspect="1"/>
          </p:cNvPicPr>
          <p:nvPr/>
        </p:nvPicPr>
        <p:blipFill>
          <a:blip r:embed="rId3"/>
          <a:stretch>
            <a:fillRect/>
          </a:stretch>
        </p:blipFill>
        <p:spPr>
          <a:xfrm>
            <a:off x="868680" y="4727448"/>
            <a:ext cx="274320" cy="274320"/>
          </a:xfrm>
          <a:prstGeom prst="rect">
            <a:avLst/>
          </a:prstGeom>
        </p:spPr>
      </p:pic>
      <p:sp>
        <p:nvSpPr>
          <p:cNvPr id="26" name="Text 21"/>
          <p:cNvSpPr txBox="1"/>
          <p:nvPr/>
        </p:nvSpPr>
        <p:spPr>
          <a:xfrm>
            <a:off x="1417320" y="4617720"/>
            <a:ext cx="1325880" cy="274320"/>
          </a:xfrm>
          <a:prstGeom prst="rect">
            <a:avLst/>
          </a:prstGeom>
          <a:noFill/>
          <a:ln/>
        </p:spPr>
        <p:txBody>
          <a:bodyPr wrap="square" lIns="0" tIns="0" rIns="0" bIns="0" rtlCol="0" anchor="t"/>
          <a:lstStyle/>
          <a:p>
            <a:pPr indent="0" marL="0">
              <a:buNone/>
            </a:pPr>
            <a:r>
              <a:rPr lang="en-US" sz="1400" b="1" dirty="0">
                <a:solidFill>
                  <a:srgbClr val="FF6A2B"/>
                </a:solidFill>
                <a:latin typeface="Arial" pitchFamily="34" charset="0"/>
                <a:ea typeface="Arial" pitchFamily="34" charset="-122"/>
                <a:cs typeface="Arial" pitchFamily="34" charset="-120"/>
              </a:rPr>
              <a:t>MODEL</a:t>
            </a:r>
            <a:endParaRPr lang="en-US" sz="1400" dirty="0"/>
          </a:p>
        </p:txBody>
      </p:sp>
      <p:sp>
        <p:nvSpPr>
          <p:cNvPr id="27" name="Text 22"/>
          <p:cNvSpPr txBox="1"/>
          <p:nvPr/>
        </p:nvSpPr>
        <p:spPr>
          <a:xfrm>
            <a:off x="1417320" y="4892040"/>
            <a:ext cx="1325880" cy="411480"/>
          </a:xfrm>
          <a:prstGeom prst="rect">
            <a:avLst/>
          </a:prstGeom>
          <a:noFill/>
          <a:ln/>
        </p:spPr>
        <p:txBody>
          <a:bodyPr wrap="square" lIns="0" tIns="0" rIns="0" bIns="0" rtlCol="0" anchor="t"/>
          <a:lstStyle/>
          <a:p>
            <a:pPr indent="0" marL="0">
              <a:buNone/>
            </a:pPr>
            <a:r>
              <a:rPr lang="en-US" sz="1050" dirty="0">
                <a:solidFill>
                  <a:srgbClr val="AAB5C3"/>
                </a:solidFill>
                <a:latin typeface="Arial" pitchFamily="34" charset="0"/>
                <a:ea typeface="Arial" pitchFamily="34" charset="-122"/>
                <a:cs typeface="Arial" pitchFamily="34" charset="-120"/>
              </a:rPr>
              <a:t>judgment only</a:t>
            </a:r>
            <a:endParaRPr lang="en-US" sz="1050" dirty="0"/>
          </a:p>
        </p:txBody>
      </p:sp>
      <p:sp>
        <p:nvSpPr>
          <p:cNvPr id="28" name="Shape 23"/>
          <p:cNvSpPr/>
          <p:nvPr/>
        </p:nvSpPr>
        <p:spPr>
          <a:xfrm>
            <a:off x="2971800" y="4343400"/>
            <a:ext cx="2926080" cy="1051560"/>
          </a:xfrm>
          <a:prstGeom prst="roundRect">
            <a:avLst>
              <a:gd name="adj" fmla="val 10435"/>
            </a:avLst>
          </a:prstGeom>
          <a:solidFill>
            <a:srgbClr val="121821">
              <a:alpha val="55000"/>
            </a:srgbClr>
          </a:solidFill>
          <a:ln w="9525">
            <a:solidFill>
              <a:srgbClr val="1E2835"/>
            </a:solidFill>
            <a:prstDash val="solid"/>
          </a:ln>
        </p:spPr>
      </p:sp>
      <p:sp>
        <p:nvSpPr>
          <p:cNvPr id="29" name="Shape 24"/>
          <p:cNvSpPr/>
          <p:nvPr/>
        </p:nvSpPr>
        <p:spPr>
          <a:xfrm>
            <a:off x="6080760" y="4343400"/>
            <a:ext cx="2468880" cy="1051560"/>
          </a:xfrm>
          <a:prstGeom prst="roundRect">
            <a:avLst>
              <a:gd name="adj" fmla="val 10435"/>
            </a:avLst>
          </a:prstGeom>
          <a:solidFill>
            <a:srgbClr val="121821">
              <a:alpha val="55000"/>
            </a:srgbClr>
          </a:solidFill>
          <a:ln w="9525">
            <a:solidFill>
              <a:srgbClr val="1E2835"/>
            </a:solidFill>
            <a:prstDash val="solid"/>
          </a:ln>
        </p:spPr>
      </p:sp>
      <p:sp>
        <p:nvSpPr>
          <p:cNvPr id="30" name="Shape 25"/>
          <p:cNvSpPr/>
          <p:nvPr/>
        </p:nvSpPr>
        <p:spPr>
          <a:xfrm>
            <a:off x="8732520" y="4343400"/>
            <a:ext cx="2910535" cy="1051560"/>
          </a:xfrm>
          <a:prstGeom prst="roundRect">
            <a:avLst>
              <a:gd name="adj" fmla="val 10435"/>
            </a:avLst>
          </a:prstGeom>
          <a:solidFill>
            <a:srgbClr val="121821">
              <a:alpha val="55000"/>
            </a:srgbClr>
          </a:solidFill>
          <a:ln w="9525">
            <a:solidFill>
              <a:srgbClr val="1E2835"/>
            </a:solidFill>
            <a:prstDash val="solid"/>
          </a:ln>
        </p:spPr>
      </p:sp>
      <p:sp>
        <p:nvSpPr>
          <p:cNvPr id="31" name="Text 26"/>
          <p:cNvSpPr txBox="1"/>
          <p:nvPr/>
        </p:nvSpPr>
        <p:spPr>
          <a:xfrm>
            <a:off x="3200400" y="2148840"/>
            <a:ext cx="329184" cy="329184"/>
          </a:xfrm>
          <a:prstGeom prst="ellipse">
            <a:avLst/>
          </a:prstGeom>
          <a:solidFill>
            <a:srgbClr val="5EB1FF"/>
          </a:solidFill>
          <a:ln/>
        </p:spPr>
        <p:txBody>
          <a:bodyPr wrap="square" lIns="0" tIns="0" rIns="0" bIns="0" rtlCol="0" anchor="ctr"/>
          <a:lstStyle/>
          <a:p>
            <a:pPr algn="ctr" indent="0" marL="0">
              <a:buNone/>
            </a:pPr>
            <a:r>
              <a:rPr lang="en-US" sz="1200" b="1" dirty="0">
                <a:solidFill>
                  <a:srgbClr val="0A0E13"/>
                </a:solidFill>
                <a:latin typeface="Arial" pitchFamily="34" charset="0"/>
                <a:ea typeface="Arial" pitchFamily="34" charset="-122"/>
                <a:cs typeface="Arial" pitchFamily="34" charset="-120"/>
              </a:rPr>
              <a:t>1</a:t>
            </a:r>
            <a:endParaRPr lang="en-US" sz="1200" dirty="0"/>
          </a:p>
        </p:txBody>
      </p:sp>
      <p:sp>
        <p:nvSpPr>
          <p:cNvPr id="32" name="Text 27"/>
          <p:cNvSpPr txBox="1"/>
          <p:nvPr/>
        </p:nvSpPr>
        <p:spPr>
          <a:xfrm>
            <a:off x="3657600" y="2167128"/>
            <a:ext cx="2377440" cy="310896"/>
          </a:xfrm>
          <a:prstGeom prst="rect">
            <a:avLst/>
          </a:prstGeom>
          <a:noFill/>
          <a:ln/>
        </p:spPr>
        <p:txBody>
          <a:bodyPr wrap="square" lIns="0" tIns="0" rIns="0" bIns="0" rtlCol="0" anchor="ctr"/>
          <a:lstStyle/>
          <a:p>
            <a:pPr indent="0" marL="0">
              <a:buNone/>
            </a:pPr>
            <a:r>
              <a:rPr lang="en-US" sz="1300" b="1" dirty="0">
                <a:solidFill>
                  <a:srgbClr val="F3F5F8"/>
                </a:solidFill>
                <a:latin typeface="Arial" pitchFamily="34" charset="0"/>
                <a:ea typeface="Arial" pitchFamily="34" charset="-122"/>
                <a:cs typeface="Arial" pitchFamily="34" charset="-120"/>
              </a:rPr>
              <a:t>Secret scan</a:t>
            </a:r>
            <a:endParaRPr lang="en-US" sz="1300" dirty="0"/>
          </a:p>
        </p:txBody>
      </p:sp>
      <p:sp>
        <p:nvSpPr>
          <p:cNvPr id="33" name="Text 28"/>
          <p:cNvSpPr txBox="1"/>
          <p:nvPr/>
        </p:nvSpPr>
        <p:spPr>
          <a:xfrm>
            <a:off x="3200400" y="2551176"/>
            <a:ext cx="329184" cy="329184"/>
          </a:xfrm>
          <a:prstGeom prst="ellipse">
            <a:avLst/>
          </a:prstGeom>
          <a:solidFill>
            <a:srgbClr val="5EB1FF"/>
          </a:solidFill>
          <a:ln/>
        </p:spPr>
        <p:txBody>
          <a:bodyPr wrap="square" lIns="0" tIns="0" rIns="0" bIns="0" rtlCol="0" anchor="ctr"/>
          <a:lstStyle/>
          <a:p>
            <a:pPr algn="ctr" indent="0" marL="0">
              <a:buNone/>
            </a:pPr>
            <a:r>
              <a:rPr lang="en-US" sz="1200" b="1" dirty="0">
                <a:solidFill>
                  <a:srgbClr val="0A0E13"/>
                </a:solidFill>
                <a:latin typeface="Arial" pitchFamily="34" charset="0"/>
                <a:ea typeface="Arial" pitchFamily="34" charset="-122"/>
                <a:cs typeface="Arial" pitchFamily="34" charset="-120"/>
              </a:rPr>
              <a:t>2</a:t>
            </a:r>
            <a:endParaRPr lang="en-US" sz="1200" dirty="0"/>
          </a:p>
        </p:txBody>
      </p:sp>
      <p:sp>
        <p:nvSpPr>
          <p:cNvPr id="34" name="Text 29"/>
          <p:cNvSpPr txBox="1"/>
          <p:nvPr/>
        </p:nvSpPr>
        <p:spPr>
          <a:xfrm>
            <a:off x="3657600" y="2569464"/>
            <a:ext cx="2377440" cy="310896"/>
          </a:xfrm>
          <a:prstGeom prst="rect">
            <a:avLst/>
          </a:prstGeom>
          <a:noFill/>
          <a:ln/>
        </p:spPr>
        <p:txBody>
          <a:bodyPr wrap="square" lIns="0" tIns="0" rIns="0" bIns="0" rtlCol="0" anchor="ctr"/>
          <a:lstStyle/>
          <a:p>
            <a:pPr indent="0" marL="0">
              <a:buNone/>
            </a:pPr>
            <a:r>
              <a:rPr lang="en-US" sz="1300" b="1" dirty="0">
                <a:solidFill>
                  <a:srgbClr val="F3F5F8"/>
                </a:solidFill>
                <a:latin typeface="Arial" pitchFamily="34" charset="0"/>
                <a:ea typeface="Arial" pitchFamily="34" charset="-122"/>
                <a:cs typeface="Arial" pitchFamily="34" charset="-120"/>
              </a:rPr>
              <a:t>File size</a:t>
            </a:r>
            <a:endParaRPr lang="en-US" sz="1300" dirty="0"/>
          </a:p>
        </p:txBody>
      </p:sp>
      <p:sp>
        <p:nvSpPr>
          <p:cNvPr id="35" name="Text 30"/>
          <p:cNvSpPr txBox="1"/>
          <p:nvPr/>
        </p:nvSpPr>
        <p:spPr>
          <a:xfrm>
            <a:off x="8961120" y="2331720"/>
            <a:ext cx="329184" cy="329184"/>
          </a:xfrm>
          <a:prstGeom prst="ellipse">
            <a:avLst/>
          </a:prstGeom>
          <a:solidFill>
            <a:srgbClr val="5EB1FF"/>
          </a:solidFill>
          <a:ln/>
        </p:spPr>
        <p:txBody>
          <a:bodyPr wrap="square" lIns="0" tIns="0" rIns="0" bIns="0" rtlCol="0" anchor="ctr"/>
          <a:lstStyle/>
          <a:p>
            <a:pPr algn="ctr" indent="0" marL="0">
              <a:buNone/>
            </a:pPr>
            <a:r>
              <a:rPr lang="en-US" sz="1200" b="1" dirty="0">
                <a:solidFill>
                  <a:srgbClr val="0A0E13"/>
                </a:solidFill>
                <a:latin typeface="Arial" pitchFamily="34" charset="0"/>
                <a:ea typeface="Arial" pitchFamily="34" charset="-122"/>
                <a:cs typeface="Arial" pitchFamily="34" charset="-120"/>
              </a:rPr>
              <a:t>5</a:t>
            </a:r>
            <a:endParaRPr lang="en-US" sz="1200" dirty="0"/>
          </a:p>
        </p:txBody>
      </p:sp>
      <p:sp>
        <p:nvSpPr>
          <p:cNvPr id="36" name="Text 31"/>
          <p:cNvSpPr txBox="1"/>
          <p:nvPr/>
        </p:nvSpPr>
        <p:spPr>
          <a:xfrm>
            <a:off x="9418320" y="2350008"/>
            <a:ext cx="2468880" cy="310896"/>
          </a:xfrm>
          <a:prstGeom prst="rect">
            <a:avLst/>
          </a:prstGeom>
          <a:noFill/>
          <a:ln/>
        </p:spPr>
        <p:txBody>
          <a:bodyPr wrap="square" lIns="0" tIns="0" rIns="0" bIns="0" rtlCol="0" anchor="ctr"/>
          <a:lstStyle/>
          <a:p>
            <a:pPr indent="0" marL="0">
              <a:buNone/>
            </a:pPr>
            <a:r>
              <a:rPr lang="en-US" sz="1300" b="1" dirty="0">
                <a:solidFill>
                  <a:srgbClr val="F3F5F8"/>
                </a:solidFill>
                <a:latin typeface="Arial" pitchFamily="34" charset="0"/>
                <a:ea typeface="Arial" pitchFamily="34" charset="-122"/>
                <a:cs typeface="Arial" pitchFamily="34" charset="-120"/>
              </a:rPr>
              <a:t>Zero javax.*, by regex</a:t>
            </a:r>
            <a:endParaRPr lang="en-US" sz="1300" dirty="0"/>
          </a:p>
        </p:txBody>
      </p:sp>
      <p:sp>
        <p:nvSpPr>
          <p:cNvPr id="37" name="Text 32"/>
          <p:cNvSpPr txBox="1"/>
          <p:nvPr/>
        </p:nvSpPr>
        <p:spPr>
          <a:xfrm>
            <a:off x="3200400" y="3520440"/>
            <a:ext cx="329184" cy="329184"/>
          </a:xfrm>
          <a:prstGeom prst="ellipse">
            <a:avLst/>
          </a:prstGeom>
          <a:solidFill>
            <a:srgbClr val="FFB547"/>
          </a:solidFill>
          <a:ln/>
        </p:spPr>
        <p:txBody>
          <a:bodyPr wrap="square" lIns="0" tIns="0" rIns="0" bIns="0" rtlCol="0" anchor="ctr"/>
          <a:lstStyle/>
          <a:p>
            <a:pPr algn="ctr" indent="0" marL="0">
              <a:buNone/>
            </a:pPr>
            <a:r>
              <a:rPr lang="en-US" sz="1200" b="1" dirty="0">
                <a:solidFill>
                  <a:srgbClr val="0A0E13"/>
                </a:solidFill>
                <a:latin typeface="Arial" pitchFamily="34" charset="0"/>
                <a:ea typeface="Arial" pitchFamily="34" charset="-122"/>
                <a:cs typeface="Arial" pitchFamily="34" charset="-120"/>
              </a:rPr>
              <a:t>3</a:t>
            </a:r>
            <a:endParaRPr lang="en-US" sz="1200" dirty="0"/>
          </a:p>
        </p:txBody>
      </p:sp>
      <p:sp>
        <p:nvSpPr>
          <p:cNvPr id="38" name="Text 33"/>
          <p:cNvSpPr txBox="1"/>
          <p:nvPr/>
        </p:nvSpPr>
        <p:spPr>
          <a:xfrm>
            <a:off x="3657600" y="3538728"/>
            <a:ext cx="2377440" cy="310896"/>
          </a:xfrm>
          <a:prstGeom prst="rect">
            <a:avLst/>
          </a:prstGeom>
          <a:noFill/>
          <a:ln/>
        </p:spPr>
        <p:txBody>
          <a:bodyPr wrap="square" lIns="0" tIns="0" rIns="0" bIns="0" rtlCol="0" anchor="ctr"/>
          <a:lstStyle/>
          <a:p>
            <a:pPr indent="0" marL="0">
              <a:buNone/>
            </a:pPr>
            <a:r>
              <a:rPr lang="en-US" sz="1300" b="1" dirty="0">
                <a:solidFill>
                  <a:srgbClr val="F3F5F8"/>
                </a:solidFill>
                <a:latin typeface="Arial" pitchFamily="34" charset="0"/>
                <a:ea typeface="Arial" pitchFamily="34" charset="-122"/>
                <a:cs typeface="Arial" pitchFamily="34" charset="-120"/>
              </a:rPr>
              <a:t>Guardrail on INPUT</a:t>
            </a:r>
            <a:endParaRPr lang="en-US" sz="1300" dirty="0"/>
          </a:p>
        </p:txBody>
      </p:sp>
      <p:sp>
        <p:nvSpPr>
          <p:cNvPr id="39" name="Text 34"/>
          <p:cNvSpPr txBox="1"/>
          <p:nvPr/>
        </p:nvSpPr>
        <p:spPr>
          <a:xfrm>
            <a:off x="8961120" y="3520440"/>
            <a:ext cx="329184" cy="329184"/>
          </a:xfrm>
          <a:prstGeom prst="ellipse">
            <a:avLst/>
          </a:prstGeom>
          <a:solidFill>
            <a:srgbClr val="FFB547"/>
          </a:solidFill>
          <a:ln/>
        </p:spPr>
        <p:txBody>
          <a:bodyPr wrap="square" lIns="0" tIns="0" rIns="0" bIns="0" rtlCol="0" anchor="ctr"/>
          <a:lstStyle/>
          <a:p>
            <a:pPr algn="ctr" indent="0" marL="0">
              <a:buNone/>
            </a:pPr>
            <a:r>
              <a:rPr lang="en-US" sz="1200" b="1" dirty="0">
                <a:solidFill>
                  <a:srgbClr val="0A0E13"/>
                </a:solidFill>
                <a:latin typeface="Arial" pitchFamily="34" charset="0"/>
                <a:ea typeface="Arial" pitchFamily="34" charset="-122"/>
                <a:cs typeface="Arial" pitchFamily="34" charset="-120"/>
              </a:rPr>
              <a:t>4</a:t>
            </a:r>
            <a:endParaRPr lang="en-US" sz="1200" dirty="0"/>
          </a:p>
        </p:txBody>
      </p:sp>
      <p:sp>
        <p:nvSpPr>
          <p:cNvPr id="40" name="Text 35"/>
          <p:cNvSpPr txBox="1"/>
          <p:nvPr/>
        </p:nvSpPr>
        <p:spPr>
          <a:xfrm>
            <a:off x="9418320" y="3538728"/>
            <a:ext cx="2468880" cy="310896"/>
          </a:xfrm>
          <a:prstGeom prst="rect">
            <a:avLst/>
          </a:prstGeom>
          <a:noFill/>
          <a:ln/>
        </p:spPr>
        <p:txBody>
          <a:bodyPr wrap="square" lIns="0" tIns="0" rIns="0" bIns="0" rtlCol="0" anchor="ctr"/>
          <a:lstStyle/>
          <a:p>
            <a:pPr indent="0" marL="0">
              <a:buNone/>
            </a:pPr>
            <a:r>
              <a:rPr lang="en-US" sz="1300" b="1" dirty="0">
                <a:solidFill>
                  <a:srgbClr val="F3F5F8"/>
                </a:solidFill>
                <a:latin typeface="Arial" pitchFamily="34" charset="0"/>
                <a:ea typeface="Arial" pitchFamily="34" charset="-122"/>
                <a:cs typeface="Arial" pitchFamily="34" charset="-120"/>
              </a:rPr>
              <a:t>Guardrail on OUTPUT</a:t>
            </a:r>
            <a:endParaRPr lang="en-US" sz="1300" dirty="0"/>
          </a:p>
        </p:txBody>
      </p:sp>
      <p:sp>
        <p:nvSpPr>
          <p:cNvPr id="41" name="Text 36"/>
          <p:cNvSpPr txBox="1"/>
          <p:nvPr/>
        </p:nvSpPr>
        <p:spPr>
          <a:xfrm>
            <a:off x="8961120" y="4562856"/>
            <a:ext cx="329184" cy="329184"/>
          </a:xfrm>
          <a:prstGeom prst="ellipse">
            <a:avLst/>
          </a:prstGeom>
          <a:solidFill>
            <a:srgbClr val="FF6A2B"/>
          </a:solidFill>
          <a:ln/>
        </p:spPr>
        <p:txBody>
          <a:bodyPr wrap="square" lIns="0" tIns="0" rIns="0" bIns="0" rtlCol="0" anchor="ctr"/>
          <a:lstStyle/>
          <a:p>
            <a:pPr algn="ctr" indent="0" marL="0">
              <a:buNone/>
            </a:pPr>
            <a:r>
              <a:rPr lang="en-US" sz="1200" b="1" dirty="0">
                <a:solidFill>
                  <a:srgbClr val="0A0E13"/>
                </a:solidFill>
                <a:latin typeface="Arial" pitchFamily="34" charset="0"/>
                <a:ea typeface="Arial" pitchFamily="34" charset="-122"/>
                <a:cs typeface="Arial" pitchFamily="34" charset="-120"/>
              </a:rPr>
              <a:t>6</a:t>
            </a:r>
            <a:endParaRPr lang="en-US" sz="1200" dirty="0"/>
          </a:p>
        </p:txBody>
      </p:sp>
      <p:sp>
        <p:nvSpPr>
          <p:cNvPr id="42" name="Text 37"/>
          <p:cNvSpPr txBox="1"/>
          <p:nvPr/>
        </p:nvSpPr>
        <p:spPr>
          <a:xfrm>
            <a:off x="9418320" y="4581144"/>
            <a:ext cx="2468880" cy="310896"/>
          </a:xfrm>
          <a:prstGeom prst="rect">
            <a:avLst/>
          </a:prstGeom>
          <a:noFill/>
          <a:ln/>
        </p:spPr>
        <p:txBody>
          <a:bodyPr wrap="square" lIns="0" tIns="0" rIns="0" bIns="0" rtlCol="0" anchor="ctr"/>
          <a:lstStyle/>
          <a:p>
            <a:pPr indent="0" marL="0">
              <a:buNone/>
            </a:pPr>
            <a:r>
              <a:rPr lang="en-US" sz="1300" b="1" dirty="0">
                <a:solidFill>
                  <a:srgbClr val="F3F5F8"/>
                </a:solidFill>
                <a:latin typeface="Arial" pitchFamily="34" charset="0"/>
                <a:ea typeface="Arial" pitchFamily="34" charset="-122"/>
                <a:cs typeface="Arial" pitchFamily="34" charset="-120"/>
              </a:rPr>
              <a:t>Post-check: regressions</a:t>
            </a:r>
            <a:endParaRPr lang="en-US" sz="1300" dirty="0"/>
          </a:p>
        </p:txBody>
      </p:sp>
      <p:sp>
        <p:nvSpPr>
          <p:cNvPr id="43" name="Text 38"/>
          <p:cNvSpPr txBox="1"/>
          <p:nvPr/>
        </p:nvSpPr>
        <p:spPr>
          <a:xfrm>
            <a:off x="9418320" y="4892040"/>
            <a:ext cx="2103120" cy="274320"/>
          </a:xfrm>
          <a:prstGeom prst="rect">
            <a:avLst/>
          </a:prstGeom>
          <a:noFill/>
          <a:ln/>
        </p:spPr>
        <p:txBody>
          <a:bodyPr wrap="square" lIns="0" tIns="0" rIns="0" bIns="0" rtlCol="0" anchor="t"/>
          <a:lstStyle/>
          <a:p>
            <a:pPr indent="0" marL="0">
              <a:buNone/>
            </a:pPr>
            <a:r>
              <a:rPr lang="en-US" sz="1100" dirty="0">
                <a:solidFill>
                  <a:srgbClr val="AAB5C3"/>
                </a:solidFill>
                <a:latin typeface="Arial" pitchFamily="34" charset="0"/>
                <a:ea typeface="Arial" pitchFamily="34" charset="-122"/>
                <a:cs typeface="Arial" pitchFamily="34" charset="-120"/>
              </a:rPr>
              <a:t>and lost logic, advisory</a:t>
            </a:r>
            <a:endParaRPr lang="en-US" sz="1100" dirty="0"/>
          </a:p>
        </p:txBody>
      </p:sp>
      <p:sp>
        <p:nvSpPr>
          <p:cNvPr id="44" name="Shape 39"/>
          <p:cNvSpPr/>
          <p:nvPr/>
        </p:nvSpPr>
        <p:spPr>
          <a:xfrm>
            <a:off x="6263640" y="2148840"/>
            <a:ext cx="2103120" cy="685800"/>
          </a:xfrm>
          <a:prstGeom prst="roundRect">
            <a:avLst>
              <a:gd name="adj" fmla="val 13333"/>
            </a:avLst>
          </a:prstGeom>
          <a:ln w="9525">
            <a:solidFill>
              <a:srgbClr val="5EB1FF">
                <a:alpha val="60000"/>
              </a:srgbClr>
            </a:solidFill>
            <a:prstDash val="dash"/>
          </a:ln>
        </p:spPr>
      </p:sp>
      <p:sp>
        <p:nvSpPr>
          <p:cNvPr id="45" name="Text 40"/>
          <p:cNvSpPr txBox="1"/>
          <p:nvPr/>
        </p:nvSpPr>
        <p:spPr>
          <a:xfrm>
            <a:off x="6263640" y="2148840"/>
            <a:ext cx="2103120" cy="685800"/>
          </a:xfrm>
          <a:prstGeom prst="rect">
            <a:avLst/>
          </a:prstGeom>
          <a:noFill/>
          <a:ln/>
        </p:spPr>
        <p:txBody>
          <a:bodyPr wrap="square" lIns="0" tIns="0" rIns="0" bIns="0" rtlCol="0" anchor="ctr"/>
          <a:lstStyle/>
          <a:p>
            <a:pPr algn="ctr" indent="0" marL="0">
              <a:buNone/>
            </a:pPr>
            <a:r>
              <a:rPr lang="en-US" sz="1300" b="1" dirty="0">
                <a:solidFill>
                  <a:srgbClr val="5EB1FF"/>
                </a:solidFill>
                <a:latin typeface="Arial" pitchFamily="34" charset="0"/>
                <a:ea typeface="Arial" pitchFamily="34" charset="-122"/>
                <a:cs typeface="Arial" pitchFamily="34" charset="-120"/>
              </a:rPr>
              <a:t>javac parse</a:t>
            </a:r>
            <a:endParaRPr lang="en-US" sz="1300" dirty="0"/>
          </a:p>
          <a:p>
            <a:pPr algn="ctr" indent="0" marL="0">
              <a:buNone/>
            </a:pPr>
            <a:r>
              <a:rPr lang="en-US" sz="1050" dirty="0">
                <a:solidFill>
                  <a:srgbClr val="AAB5C3"/>
                </a:solidFill>
                <a:latin typeface="Arial" pitchFamily="34" charset="0"/>
                <a:ea typeface="Arial" pitchFamily="34" charset="-122"/>
                <a:cs typeface="Arial" pitchFamily="34" charset="-120"/>
              </a:rPr>
              <a:t>no review for a broken file</a:t>
            </a:r>
            <a:endParaRPr lang="en-US" sz="1300" dirty="0"/>
          </a:p>
        </p:txBody>
      </p:sp>
      <p:sp>
        <p:nvSpPr>
          <p:cNvPr id="46" name="Text 41"/>
          <p:cNvSpPr txBox="1"/>
          <p:nvPr/>
        </p:nvSpPr>
        <p:spPr>
          <a:xfrm>
            <a:off x="2971800" y="4343400"/>
            <a:ext cx="2926080" cy="1051560"/>
          </a:xfrm>
          <a:prstGeom prst="rect">
            <a:avLst/>
          </a:prstGeom>
          <a:noFill/>
          <a:ln/>
        </p:spPr>
        <p:txBody>
          <a:bodyPr wrap="square" lIns="0" tIns="0" rIns="0" bIns="0" rtlCol="0" anchor="ctr"/>
          <a:lstStyle/>
          <a:p>
            <a:pPr algn="ctr" indent="0" marL="0">
              <a:buNone/>
            </a:pPr>
            <a:r>
              <a:rPr lang="en-US" sz="1200" i="1" dirty="0">
                <a:solidFill>
                  <a:srgbClr val="738191"/>
                </a:solidFill>
                <a:latin typeface="Arial" pitchFamily="34" charset="0"/>
                <a:ea typeface="Arial" pitchFamily="34" charset="-122"/>
                <a:cs typeface="Arial" pitchFamily="34" charset="-120"/>
              </a:rPr>
              <a:t>no model call, by design</a:t>
            </a:r>
            <a:endParaRPr lang="en-US" sz="1200" dirty="0"/>
          </a:p>
        </p:txBody>
      </p:sp>
      <p:sp>
        <p:nvSpPr>
          <p:cNvPr id="47" name="Shape 42"/>
          <p:cNvSpPr/>
          <p:nvPr/>
        </p:nvSpPr>
        <p:spPr>
          <a:xfrm>
            <a:off x="6263640" y="4562856"/>
            <a:ext cx="2103120" cy="621792"/>
          </a:xfrm>
          <a:prstGeom prst="roundRect">
            <a:avLst>
              <a:gd name="adj" fmla="val 14706"/>
            </a:avLst>
          </a:prstGeom>
          <a:ln w="9525">
            <a:solidFill>
              <a:srgbClr val="FF6A2B">
                <a:alpha val="60000"/>
              </a:srgbClr>
            </a:solidFill>
            <a:prstDash val="dash"/>
          </a:ln>
        </p:spPr>
      </p:sp>
      <p:sp>
        <p:nvSpPr>
          <p:cNvPr id="48" name="Text 43"/>
          <p:cNvSpPr txBox="1"/>
          <p:nvPr/>
        </p:nvSpPr>
        <p:spPr>
          <a:xfrm>
            <a:off x="6263640" y="4581144"/>
            <a:ext cx="2103120" cy="585216"/>
          </a:xfrm>
          <a:prstGeom prst="rect">
            <a:avLst/>
          </a:prstGeom>
          <a:noFill/>
          <a:ln/>
        </p:spPr>
        <p:txBody>
          <a:bodyPr wrap="square" lIns="0" tIns="0" rIns="0" bIns="0" rtlCol="0" anchor="ctr"/>
          <a:lstStyle/>
          <a:p>
            <a:pPr algn="ctr" indent="0" marL="0">
              <a:buNone/>
            </a:pPr>
            <a:r>
              <a:rPr lang="en-US" sz="1150" i="1" dirty="0">
                <a:solidFill>
                  <a:srgbClr val="AAB5C3"/>
                </a:solidFill>
                <a:latin typeface="Arial" pitchFamily="34" charset="0"/>
                <a:ea typeface="Arial" pitchFamily="34" charset="-122"/>
                <a:cs typeface="Arial" pitchFamily="34" charset="-120"/>
              </a:rPr>
              <a:t>Opus transforms</a:t>
            </a:r>
            <a:endParaRPr lang="en-US" sz="1150" dirty="0"/>
          </a:p>
          <a:p>
            <a:pPr algn="ctr" indent="0" marL="0">
              <a:buNone/>
            </a:pPr>
            <a:r>
              <a:rPr lang="en-US" sz="1150" i="1" dirty="0">
                <a:solidFill>
                  <a:srgbClr val="AAB5C3"/>
                </a:solidFill>
                <a:latin typeface="Arial" pitchFamily="34" charset="0"/>
                <a:ea typeface="Arial" pitchFamily="34" charset="-122"/>
                <a:cs typeface="Arial" pitchFamily="34" charset="-120"/>
              </a:rPr>
              <a:t>Nova reviews</a:t>
            </a:r>
            <a:endParaRPr lang="en-US" sz="1150" dirty="0"/>
          </a:p>
        </p:txBody>
      </p:sp>
      <p:sp>
        <p:nvSpPr>
          <p:cNvPr id="49" name="Shape 44"/>
          <p:cNvSpPr/>
          <p:nvPr/>
        </p:nvSpPr>
        <p:spPr>
          <a:xfrm>
            <a:off x="548640" y="5577840"/>
            <a:ext cx="11094415" cy="548640"/>
          </a:xfrm>
          <a:prstGeom prst="roundRect">
            <a:avLst>
              <a:gd name="adj" fmla="val 20000"/>
            </a:avLst>
          </a:prstGeom>
          <a:solidFill>
            <a:srgbClr val="FF6A2B">
              <a:alpha val="10000"/>
            </a:srgbClr>
          </a:solidFill>
          <a:ln w="9525">
            <a:solidFill>
              <a:srgbClr val="FF6A2B">
                <a:alpha val="40000"/>
              </a:srgbClr>
            </a:solidFill>
            <a:prstDash val="solid"/>
          </a:ln>
        </p:spPr>
      </p:sp>
      <p:sp>
        <p:nvSpPr>
          <p:cNvPr id="50" name="Text 45"/>
          <p:cNvSpPr txBox="1"/>
          <p:nvPr/>
        </p:nvSpPr>
        <p:spPr>
          <a:xfrm>
            <a:off x="868680" y="5641848"/>
            <a:ext cx="10454335" cy="420624"/>
          </a:xfrm>
          <a:prstGeom prst="rect">
            <a:avLst/>
          </a:prstGeom>
          <a:noFill/>
          <a:ln/>
        </p:spPr>
        <p:txBody>
          <a:bodyPr wrap="square" lIns="0" tIns="0" rIns="0" bIns="0" rtlCol="0" anchor="ctr"/>
          <a:lstStyle/>
          <a:p>
            <a:pPr indent="0" marL="0">
              <a:buNone/>
            </a:pPr>
            <a:r>
              <a:rPr lang="en-US" sz="1400" b="1" dirty="0">
                <a:solidFill>
                  <a:srgbClr val="F3F5F8"/>
                </a:solidFill>
                <a:latin typeface="Arial" pitchFamily="34" charset="0"/>
                <a:ea typeface="Arial" pitchFamily="34" charset="-122"/>
                <a:cs typeface="Arial" pitchFamily="34" charset="-120"/>
              </a:rPr>
              <a:t>Nothing is asked of a model before the transform. </a:t>
            </a:r>
            <a:pPr indent="0" marL="0">
              <a:buNone/>
            </a:pPr>
            <a:r>
              <a:rPr lang="en-US" sz="1400" dirty="0">
                <a:solidFill>
                  <a:srgbClr val="AAB5C3"/>
                </a:solidFill>
                <a:latin typeface="Arial" pitchFamily="34" charset="0"/>
                <a:ea typeface="Arial" pitchFamily="34" charset="-122"/>
                <a:cs typeface="Arial" pitchFamily="34" charset="-120"/>
              </a:rPr>
              <a:t>If check 1 or 2 fires, the file costs zero Bedrock calls.</a:t>
            </a:r>
            <a:endParaRPr lang="en-US" sz="1400" dirty="0"/>
          </a:p>
        </p:txBody>
      </p:sp>
      <p:sp>
        <p:nvSpPr>
          <p:cNvPr id="51" name="Text 46"/>
          <p:cNvSpPr txBox="1"/>
          <p:nvPr/>
        </p:nvSpPr>
        <p:spPr>
          <a:xfrm>
            <a:off x="548640" y="6455664"/>
            <a:ext cx="5486400" cy="219456"/>
          </a:xfrm>
          <a:prstGeom prst="rect">
            <a:avLst/>
          </a:prstGeom>
          <a:noFill/>
          <a:ln/>
        </p:spPr>
        <p:txBody>
          <a:bodyPr wrap="square" lIns="0" tIns="0" rIns="0" bIns="0" rtlCol="0" anchor="t"/>
          <a:lstStyle/>
          <a:p>
            <a:pPr indent="0" marL="0">
              <a:buNone/>
            </a:pPr>
            <a:r>
              <a:rPr lang="en-US" sz="900" dirty="0">
                <a:solidFill>
                  <a:srgbClr val="738191"/>
                </a:solidFill>
                <a:latin typeface="Arial" pitchFamily="34" charset="0"/>
                <a:ea typeface="Arial" pitchFamily="34" charset="-122"/>
                <a:cs typeface="Arial" pitchFamily="34" charset="-120"/>
              </a:rPr>
              <a:t>FORGE  ·  Software Development Conference 2026</a:t>
            </a:r>
            <a:endParaRPr lang="en-US" sz="900" dirty="0"/>
          </a:p>
        </p:txBody>
      </p:sp>
      <p:sp>
        <p:nvSpPr>
          <p:cNvPr id="52" name="Text 47"/>
          <p:cNvSpPr txBox="1"/>
          <p:nvPr/>
        </p:nvSpPr>
        <p:spPr>
          <a:xfrm>
            <a:off x="11094415" y="6455664"/>
            <a:ext cx="548640" cy="219456"/>
          </a:xfrm>
          <a:prstGeom prst="rect">
            <a:avLst/>
          </a:prstGeom>
          <a:noFill/>
          <a:ln/>
        </p:spPr>
        <p:txBody>
          <a:bodyPr wrap="square" lIns="0" tIns="0" rIns="0" bIns="0" rtlCol="0" anchor="t"/>
          <a:lstStyle/>
          <a:p>
            <a:pPr algn="r" indent="0" marL="0">
              <a:buNone/>
            </a:pPr>
            <a:r>
              <a:rPr lang="en-US" sz="900" dirty="0">
                <a:solidFill>
                  <a:srgbClr val="738191"/>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t"/>
          <a:lstStyle/>
          <a:p>
            <a:pPr indent="0" marL="0">
              <a:buNone/>
            </a:pPr>
            <a:r>
              <a:rPr lang="en-US" sz="1100" b="1" spc="300" kern="0" dirty="0">
                <a:solidFill>
                  <a:srgbClr val="FF6A2B"/>
                </a:solidFill>
                <a:latin typeface="Arial" pitchFamily="34" charset="0"/>
                <a:ea typeface="Arial" pitchFamily="34" charset="-122"/>
                <a:cs typeface="Arial" pitchFamily="34" charset="-120"/>
              </a:rPr>
              <a:t>03  ·  THE ENGINE</a:t>
            </a:r>
            <a:endParaRPr lang="en-US" sz="1100" dirty="0"/>
          </a:p>
        </p:txBody>
      </p:sp>
      <p:sp>
        <p:nvSpPr>
          <p:cNvPr id="3" name="Text 1"/>
          <p:cNvSpPr txBox="1"/>
          <p:nvPr/>
        </p:nvSpPr>
        <p:spPr>
          <a:xfrm>
            <a:off x="548640" y="676656"/>
            <a:ext cx="11094415" cy="658368"/>
          </a:xfrm>
          <a:prstGeom prst="rect">
            <a:avLst/>
          </a:prstGeom>
          <a:noFill/>
          <a:ln/>
        </p:spPr>
        <p:txBody>
          <a:bodyPr wrap="square" lIns="0" tIns="0" rIns="0" bIns="0" rtlCol="0" anchor="t"/>
          <a:lstStyle/>
          <a:p>
            <a:pPr indent="0" marL="0">
              <a:buNone/>
            </a:pPr>
            <a:r>
              <a:rPr lang="en-US" sz="3200" b="1" dirty="0">
                <a:solidFill>
                  <a:srgbClr val="F3F5F8"/>
                </a:solidFill>
                <a:latin typeface="Arial" pitchFamily="34" charset="0"/>
                <a:ea typeface="Arial" pitchFamily="34" charset="-122"/>
                <a:cs typeface="Arial" pitchFamily="34" charset="-120"/>
              </a:rPr>
              <a:t>The secret gate: recall over precision</a:t>
            </a:r>
            <a:endParaRPr lang="en-US" sz="3200" dirty="0"/>
          </a:p>
        </p:txBody>
      </p:sp>
      <p:sp>
        <p:nvSpPr>
          <p:cNvPr id="4" name="Text 2"/>
          <p:cNvSpPr txBox="1"/>
          <p:nvPr/>
        </p:nvSpPr>
        <p:spPr>
          <a:xfrm>
            <a:off x="548640" y="1316736"/>
            <a:ext cx="10607040" cy="512064"/>
          </a:xfrm>
          <a:prstGeom prst="rect">
            <a:avLst/>
          </a:prstGeom>
          <a:noFill/>
          <a:ln/>
        </p:spPr>
        <p:txBody>
          <a:bodyPr wrap="square" lIns="0" tIns="0" rIns="0" bIns="0" rtlCol="0" anchor="t"/>
          <a:lstStyle/>
          <a:p>
            <a:pPr indent="0" marL="0">
              <a:lnSpc>
                <a:spcPct val="105000"/>
              </a:lnSpc>
              <a:buNone/>
            </a:pPr>
            <a:r>
              <a:rPr lang="en-US" sz="1500" dirty="0">
                <a:solidFill>
                  <a:srgbClr val="AAB5C3"/>
                </a:solidFill>
                <a:latin typeface="Arial" pitchFamily="34" charset="0"/>
                <a:ea typeface="Arial" pitchFamily="34" charset="-122"/>
                <a:cs typeface="Arial" pitchFamily="34" charset="-120"/>
              </a:rPr>
              <a:t>It runs first, locally, before any network call. When in doubt, it blocks.</a:t>
            </a:r>
            <a:endParaRPr lang="en-US" sz="1500" dirty="0"/>
          </a:p>
        </p:txBody>
      </p:sp>
      <p:sp>
        <p:nvSpPr>
          <p:cNvPr id="5" name="Shape 3"/>
          <p:cNvSpPr/>
          <p:nvPr/>
        </p:nvSpPr>
        <p:spPr>
          <a:xfrm>
            <a:off x="548640" y="2011680"/>
            <a:ext cx="5120640" cy="1691640"/>
          </a:xfrm>
          <a:prstGeom prst="roundRect">
            <a:avLst>
              <a:gd name="adj" fmla="val 6486"/>
            </a:avLst>
          </a:prstGeom>
          <a:solidFill>
            <a:srgbClr val="5EB1FF">
              <a:alpha val="12000"/>
            </a:srgbClr>
          </a:solidFill>
          <a:ln w="9525">
            <a:solidFill>
              <a:srgbClr val="5EB1FF">
                <a:alpha val="50000"/>
              </a:srgbClr>
            </a:solidFill>
            <a:prstDash val="solid"/>
          </a:ln>
        </p:spPr>
      </p:sp>
      <p:sp>
        <p:nvSpPr>
          <p:cNvPr id="6" name="Text 4"/>
          <p:cNvSpPr txBox="1"/>
          <p:nvPr/>
        </p:nvSpPr>
        <p:spPr>
          <a:xfrm>
            <a:off x="868680" y="2240280"/>
            <a:ext cx="4572000" cy="237744"/>
          </a:xfrm>
          <a:prstGeom prst="rect">
            <a:avLst/>
          </a:prstGeom>
          <a:noFill/>
          <a:ln/>
        </p:spPr>
        <p:txBody>
          <a:bodyPr wrap="square" lIns="0" tIns="0" rIns="0" bIns="0" rtlCol="0" anchor="t"/>
          <a:lstStyle/>
          <a:p>
            <a:pPr indent="0" marL="0">
              <a:buNone/>
            </a:pPr>
            <a:r>
              <a:rPr lang="en-US" sz="1100" b="1" spc="200" kern="0" dirty="0">
                <a:solidFill>
                  <a:srgbClr val="5EB1FF"/>
                </a:solidFill>
                <a:latin typeface="Arial" pitchFamily="34" charset="0"/>
                <a:ea typeface="Arial" pitchFamily="34" charset="-122"/>
                <a:cs typeface="Arial" pitchFamily="34" charset="-120"/>
              </a:rPr>
              <a:t>A FALSE POSITIVE COSTS</a:t>
            </a:r>
            <a:endParaRPr lang="en-US" sz="1100" dirty="0"/>
          </a:p>
        </p:txBody>
      </p:sp>
      <p:sp>
        <p:nvSpPr>
          <p:cNvPr id="7" name="Text 5"/>
          <p:cNvSpPr txBox="1"/>
          <p:nvPr/>
        </p:nvSpPr>
        <p:spPr>
          <a:xfrm>
            <a:off x="868680" y="2514600"/>
            <a:ext cx="4572000" cy="548640"/>
          </a:xfrm>
          <a:prstGeom prst="rect">
            <a:avLst/>
          </a:prstGeom>
          <a:noFill/>
          <a:ln/>
        </p:spPr>
        <p:txBody>
          <a:bodyPr wrap="square" lIns="0" tIns="0" rIns="0" bIns="0" rtlCol="0" anchor="t"/>
          <a:lstStyle/>
          <a:p>
            <a:pPr indent="0" marL="0">
              <a:buNone/>
            </a:pPr>
            <a:r>
              <a:rPr lang="en-US" sz="3000" b="1" dirty="0">
                <a:solidFill>
                  <a:srgbClr val="F3F5F8"/>
                </a:solidFill>
                <a:latin typeface="Arial" pitchFamily="34" charset="0"/>
                <a:ea typeface="Arial" pitchFamily="34" charset="-122"/>
                <a:cs typeface="Arial" pitchFamily="34" charset="-120"/>
              </a:rPr>
              <a:t>One file</a:t>
            </a:r>
            <a:endParaRPr lang="en-US" sz="3000" dirty="0"/>
          </a:p>
        </p:txBody>
      </p:sp>
      <p:sp>
        <p:nvSpPr>
          <p:cNvPr id="8" name="Text 6"/>
          <p:cNvSpPr txBox="1"/>
          <p:nvPr/>
        </p:nvSpPr>
        <p:spPr>
          <a:xfrm>
            <a:off x="868680" y="3108960"/>
            <a:ext cx="4572000" cy="502920"/>
          </a:xfrm>
          <a:prstGeom prst="rect">
            <a:avLst/>
          </a:prstGeom>
          <a:noFill/>
          <a:ln/>
        </p:spPr>
        <p:txBody>
          <a:bodyPr wrap="square" lIns="0" tIns="0" rIns="0" bIns="0" rtlCol="0" anchor="t"/>
          <a:lstStyle/>
          <a:p>
            <a:pPr indent="0" marL="0">
              <a:buNone/>
            </a:pPr>
            <a:r>
              <a:rPr lang="en-US" sz="1300" dirty="0">
                <a:solidFill>
                  <a:srgbClr val="AAB5C3"/>
                </a:solidFill>
                <a:latin typeface="Arial" pitchFamily="34" charset="0"/>
                <a:ea typeface="Arial" pitchFamily="34" charset="-122"/>
                <a:cs typeface="Arial" pitchFamily="34" charset="-120"/>
              </a:rPr>
              <a:t>Blocked and named in the report. A human clears it with secret_scan.allow.</a:t>
            </a:r>
            <a:endParaRPr lang="en-US" sz="1300" dirty="0"/>
          </a:p>
        </p:txBody>
      </p:sp>
      <p:sp>
        <p:nvSpPr>
          <p:cNvPr id="9" name="Shape 7"/>
          <p:cNvSpPr/>
          <p:nvPr/>
        </p:nvSpPr>
        <p:spPr>
          <a:xfrm>
            <a:off x="548640" y="3886200"/>
            <a:ext cx="5120640" cy="1691640"/>
          </a:xfrm>
          <a:prstGeom prst="roundRect">
            <a:avLst>
              <a:gd name="adj" fmla="val 6486"/>
            </a:avLst>
          </a:prstGeom>
          <a:solidFill>
            <a:srgbClr val="FF4D5E">
              <a:alpha val="12000"/>
            </a:srgbClr>
          </a:solidFill>
          <a:ln w="9525">
            <a:solidFill>
              <a:srgbClr val="FF4D5E">
                <a:alpha val="50000"/>
              </a:srgbClr>
            </a:solidFill>
            <a:prstDash val="solid"/>
          </a:ln>
        </p:spPr>
      </p:sp>
      <p:sp>
        <p:nvSpPr>
          <p:cNvPr id="10" name="Text 8"/>
          <p:cNvSpPr txBox="1"/>
          <p:nvPr/>
        </p:nvSpPr>
        <p:spPr>
          <a:xfrm>
            <a:off x="868680" y="4114800"/>
            <a:ext cx="4572000" cy="237744"/>
          </a:xfrm>
          <a:prstGeom prst="rect">
            <a:avLst/>
          </a:prstGeom>
          <a:noFill/>
          <a:ln/>
        </p:spPr>
        <p:txBody>
          <a:bodyPr wrap="square" lIns="0" tIns="0" rIns="0" bIns="0" rtlCol="0" anchor="t"/>
          <a:lstStyle/>
          <a:p>
            <a:pPr indent="0" marL="0">
              <a:buNone/>
            </a:pPr>
            <a:r>
              <a:rPr lang="en-US" sz="1100" b="1" spc="200" kern="0" dirty="0">
                <a:solidFill>
                  <a:srgbClr val="FF4D5E"/>
                </a:solidFill>
                <a:latin typeface="Arial" pitchFamily="34" charset="0"/>
                <a:ea typeface="Arial" pitchFamily="34" charset="-122"/>
                <a:cs typeface="Arial" pitchFamily="34" charset="-120"/>
              </a:rPr>
              <a:t>A FALSE NEGATIVE COSTS</a:t>
            </a:r>
            <a:endParaRPr lang="en-US" sz="1100" dirty="0"/>
          </a:p>
        </p:txBody>
      </p:sp>
      <p:sp>
        <p:nvSpPr>
          <p:cNvPr id="11" name="Text 9"/>
          <p:cNvSpPr txBox="1"/>
          <p:nvPr/>
        </p:nvSpPr>
        <p:spPr>
          <a:xfrm>
            <a:off x="868680" y="4389120"/>
            <a:ext cx="4572000" cy="548640"/>
          </a:xfrm>
          <a:prstGeom prst="rect">
            <a:avLst/>
          </a:prstGeom>
          <a:noFill/>
          <a:ln/>
        </p:spPr>
        <p:txBody>
          <a:bodyPr wrap="square" lIns="0" tIns="0" rIns="0" bIns="0" rtlCol="0" anchor="t"/>
          <a:lstStyle/>
          <a:p>
            <a:pPr indent="0" marL="0">
              <a:buNone/>
            </a:pPr>
            <a:r>
              <a:rPr lang="en-US" sz="3000" b="1" dirty="0">
                <a:solidFill>
                  <a:srgbClr val="F3F5F8"/>
                </a:solidFill>
                <a:latin typeface="Arial" pitchFamily="34" charset="0"/>
                <a:ea typeface="Arial" pitchFamily="34" charset="-122"/>
                <a:cs typeface="Arial" pitchFamily="34" charset="-120"/>
              </a:rPr>
              <a:t>Your credential</a:t>
            </a:r>
            <a:endParaRPr lang="en-US" sz="3000" dirty="0"/>
          </a:p>
        </p:txBody>
      </p:sp>
      <p:sp>
        <p:nvSpPr>
          <p:cNvPr id="12" name="Text 10"/>
          <p:cNvSpPr txBox="1"/>
          <p:nvPr/>
        </p:nvSpPr>
        <p:spPr>
          <a:xfrm>
            <a:off x="868680" y="4983480"/>
            <a:ext cx="4572000" cy="502920"/>
          </a:xfrm>
          <a:prstGeom prst="rect">
            <a:avLst/>
          </a:prstGeom>
          <a:noFill/>
          <a:ln/>
        </p:spPr>
        <p:txBody>
          <a:bodyPr wrap="square" lIns="0" tIns="0" rIns="0" bIns="0" rtlCol="0" anchor="t"/>
          <a:lstStyle/>
          <a:p>
            <a:pPr indent="0" marL="0">
              <a:buNone/>
            </a:pPr>
            <a:r>
              <a:rPr lang="en-US" sz="1300" dirty="0">
                <a:solidFill>
                  <a:srgbClr val="AAB5C3"/>
                </a:solidFill>
                <a:latin typeface="Arial" pitchFamily="34" charset="0"/>
                <a:ea typeface="Arial" pitchFamily="34" charset="-122"/>
                <a:cs typeface="Arial" pitchFamily="34" charset="-120"/>
              </a:rPr>
              <a:t>Sent to a third party. There is no undo.</a:t>
            </a:r>
            <a:endParaRPr lang="en-US" sz="1300" dirty="0"/>
          </a:p>
        </p:txBody>
      </p:sp>
      <p:sp>
        <p:nvSpPr>
          <p:cNvPr id="13" name="Text 11"/>
          <p:cNvSpPr txBox="1"/>
          <p:nvPr/>
        </p:nvSpPr>
        <p:spPr>
          <a:xfrm>
            <a:off x="6035040" y="2011680"/>
            <a:ext cx="5486400" cy="237744"/>
          </a:xfrm>
          <a:prstGeom prst="rect">
            <a:avLst/>
          </a:prstGeom>
          <a:noFill/>
          <a:ln/>
        </p:spPr>
        <p:txBody>
          <a:bodyPr wrap="square" lIns="0" tIns="0" rIns="0" bIns="0" rtlCol="0" anchor="t"/>
          <a:lstStyle/>
          <a:p>
            <a:pPr indent="0" marL="0">
              <a:buNone/>
            </a:pPr>
            <a:r>
              <a:rPr lang="en-US" sz="1100" b="1" spc="200" kern="0" dirty="0">
                <a:solidFill>
                  <a:srgbClr val="738191"/>
                </a:solidFill>
                <a:latin typeface="Arial" pitchFamily="34" charset="0"/>
                <a:ea typeface="Arial" pitchFamily="34" charset="-122"/>
                <a:cs typeface="Arial" pitchFamily="34" charset="-120"/>
              </a:rPr>
              <a:t>WHAT IT CATCHES</a:t>
            </a:r>
            <a:endParaRPr lang="en-US" sz="1100" dirty="0"/>
          </a:p>
        </p:txBody>
      </p:sp>
      <p:pic>
        <p:nvPicPr>
          <p:cNvPr id="14" name="Image 0" descr="/private/tmp/claude-501/-Users-raja-forge/826f4f3b-77e1-484d-8167-0e3b60d97c63/scratchpad/deck/assets/icons/LuKeyRound-5EB1FF.png">    </p:cNvPr>
          <p:cNvPicPr>
            <a:picLocks noChangeAspect="1"/>
          </p:cNvPicPr>
          <p:nvPr/>
        </p:nvPicPr>
        <p:blipFill>
          <a:blip r:embed="rId1"/>
          <a:stretch>
            <a:fillRect/>
          </a:stretch>
        </p:blipFill>
        <p:spPr>
          <a:xfrm>
            <a:off x="6035040" y="2350008"/>
            <a:ext cx="219456" cy="219456"/>
          </a:xfrm>
          <a:prstGeom prst="rect">
            <a:avLst/>
          </a:prstGeom>
        </p:spPr>
      </p:pic>
      <p:sp>
        <p:nvSpPr>
          <p:cNvPr id="15" name="Text 12"/>
          <p:cNvSpPr txBox="1"/>
          <p:nvPr/>
        </p:nvSpPr>
        <p:spPr>
          <a:xfrm>
            <a:off x="6382512" y="2331720"/>
            <a:ext cx="5257800" cy="274320"/>
          </a:xfrm>
          <a:prstGeom prst="rect">
            <a:avLst/>
          </a:prstGeom>
          <a:noFill/>
          <a:ln/>
        </p:spPr>
        <p:txBody>
          <a:bodyPr wrap="square" lIns="0" tIns="0" rIns="0" bIns="0" rtlCol="0" anchor="t"/>
          <a:lstStyle/>
          <a:p>
            <a:pPr indent="0" marL="0">
              <a:buNone/>
            </a:pPr>
            <a:r>
              <a:rPr lang="en-US" sz="1250" dirty="0">
                <a:solidFill>
                  <a:srgbClr val="F3F5F8"/>
                </a:solidFill>
                <a:latin typeface="Arial" pitchFamily="34" charset="0"/>
                <a:ea typeface="Arial" pitchFamily="34" charset="-122"/>
                <a:cs typeface="Arial" pitchFamily="34" charset="-120"/>
              </a:rPr>
              <a:t>Key material: PEM and PGP blocks, keys fed to SecretKeySpec</a:t>
            </a:r>
            <a:endParaRPr lang="en-US" sz="1250" dirty="0"/>
          </a:p>
        </p:txBody>
      </p:sp>
      <p:pic>
        <p:nvPicPr>
          <p:cNvPr id="16" name="Image 1" descr="/private/tmp/claude-501/-Users-raja-forge/826f4f3b-77e1-484d-8167-0e3b60d97c63/scratchpad/deck/assets/icons/LuBadgeCheck-5EB1FF.png">    </p:cNvPr>
          <p:cNvPicPr>
            <a:picLocks noChangeAspect="1"/>
          </p:cNvPicPr>
          <p:nvPr/>
        </p:nvPicPr>
        <p:blipFill>
          <a:blip r:embed="rId2"/>
          <a:stretch>
            <a:fillRect/>
          </a:stretch>
        </p:blipFill>
        <p:spPr>
          <a:xfrm>
            <a:off x="6035040" y="2688336"/>
            <a:ext cx="219456" cy="219456"/>
          </a:xfrm>
          <a:prstGeom prst="rect">
            <a:avLst/>
          </a:prstGeom>
        </p:spPr>
      </p:pic>
      <p:sp>
        <p:nvSpPr>
          <p:cNvPr id="17" name="Text 13"/>
          <p:cNvSpPr txBox="1"/>
          <p:nvPr/>
        </p:nvSpPr>
        <p:spPr>
          <a:xfrm>
            <a:off x="6382512" y="2670048"/>
            <a:ext cx="5257800" cy="274320"/>
          </a:xfrm>
          <a:prstGeom prst="rect">
            <a:avLst/>
          </a:prstGeom>
          <a:noFill/>
          <a:ln/>
        </p:spPr>
        <p:txBody>
          <a:bodyPr wrap="square" lIns="0" tIns="0" rIns="0" bIns="0" rtlCol="0" anchor="t"/>
          <a:lstStyle/>
          <a:p>
            <a:pPr indent="0" marL="0">
              <a:buNone/>
            </a:pPr>
            <a:r>
              <a:rPr lang="en-US" sz="1250" dirty="0">
                <a:solidFill>
                  <a:srgbClr val="F3F5F8"/>
                </a:solidFill>
                <a:latin typeface="Arial" pitchFamily="34" charset="0"/>
                <a:ea typeface="Arial" pitchFamily="34" charset="-122"/>
                <a:cs typeface="Arial" pitchFamily="34" charset="-120"/>
              </a:rPr>
              <a:t>Vendor tokens: AWS, GitHub, Slack, Stripe, Google, JWTs</a:t>
            </a:r>
            <a:endParaRPr lang="en-US" sz="1250" dirty="0"/>
          </a:p>
        </p:txBody>
      </p:sp>
      <p:pic>
        <p:nvPicPr>
          <p:cNvPr id="18" name="Image 2" descr="/private/tmp/claude-501/-Users-raja-forge/826f4f3b-77e1-484d-8167-0e3b60d97c63/scratchpad/deck/assets/icons/LuLink-5EB1FF.png">    </p:cNvPr>
          <p:cNvPicPr>
            <a:picLocks noChangeAspect="1"/>
          </p:cNvPicPr>
          <p:nvPr/>
        </p:nvPicPr>
        <p:blipFill>
          <a:blip r:embed="rId3"/>
          <a:stretch>
            <a:fillRect/>
          </a:stretch>
        </p:blipFill>
        <p:spPr>
          <a:xfrm>
            <a:off x="6035040" y="3026664"/>
            <a:ext cx="219456" cy="219456"/>
          </a:xfrm>
          <a:prstGeom prst="rect">
            <a:avLst/>
          </a:prstGeom>
        </p:spPr>
      </p:pic>
      <p:sp>
        <p:nvSpPr>
          <p:cNvPr id="19" name="Text 14"/>
          <p:cNvSpPr txBox="1"/>
          <p:nvPr/>
        </p:nvSpPr>
        <p:spPr>
          <a:xfrm>
            <a:off x="6382512" y="3008376"/>
            <a:ext cx="5257800" cy="274320"/>
          </a:xfrm>
          <a:prstGeom prst="rect">
            <a:avLst/>
          </a:prstGeom>
          <a:noFill/>
          <a:ln/>
        </p:spPr>
        <p:txBody>
          <a:bodyPr wrap="square" lIns="0" tIns="0" rIns="0" bIns="0" rtlCol="0" anchor="t"/>
          <a:lstStyle/>
          <a:p>
            <a:pPr indent="0" marL="0">
              <a:buNone/>
            </a:pPr>
            <a:r>
              <a:rPr lang="en-US" sz="1250" dirty="0">
                <a:solidFill>
                  <a:srgbClr val="F3F5F8"/>
                </a:solidFill>
                <a:latin typeface="Arial" pitchFamily="34" charset="0"/>
                <a:ea typeface="Arial" pitchFamily="34" charset="-122"/>
                <a:cs typeface="Arial" pitchFamily="34" charset="-120"/>
              </a:rPr>
              <a:t>Credentials in URLs and connection strings</a:t>
            </a:r>
            <a:endParaRPr lang="en-US" sz="1250" dirty="0"/>
          </a:p>
        </p:txBody>
      </p:sp>
      <p:pic>
        <p:nvPicPr>
          <p:cNvPr id="20" name="Image 3" descr="/private/tmp/claude-501/-Users-raja-forge/826f4f3b-77e1-484d-8167-0e3b60d97c63/scratchpad/deck/assets/icons/LuBraces-5EB1FF.png">    </p:cNvPr>
          <p:cNvPicPr>
            <a:picLocks noChangeAspect="1"/>
          </p:cNvPicPr>
          <p:nvPr/>
        </p:nvPicPr>
        <p:blipFill>
          <a:blip r:embed="rId4"/>
          <a:stretch>
            <a:fillRect/>
          </a:stretch>
        </p:blipFill>
        <p:spPr>
          <a:xfrm>
            <a:off x="6035040" y="3364992"/>
            <a:ext cx="219456" cy="219456"/>
          </a:xfrm>
          <a:prstGeom prst="rect">
            <a:avLst/>
          </a:prstGeom>
        </p:spPr>
      </p:pic>
      <p:sp>
        <p:nvSpPr>
          <p:cNvPr id="21" name="Text 15"/>
          <p:cNvSpPr txBox="1"/>
          <p:nvPr/>
        </p:nvSpPr>
        <p:spPr>
          <a:xfrm>
            <a:off x="6382512" y="3346704"/>
            <a:ext cx="5257800" cy="274320"/>
          </a:xfrm>
          <a:prstGeom prst="rect">
            <a:avLst/>
          </a:prstGeom>
          <a:noFill/>
          <a:ln/>
        </p:spPr>
        <p:txBody>
          <a:bodyPr wrap="square" lIns="0" tIns="0" rIns="0" bIns="0" rtlCol="0" anchor="t"/>
          <a:lstStyle/>
          <a:p>
            <a:pPr indent="0" marL="0">
              <a:buNone/>
            </a:pPr>
            <a:r>
              <a:rPr lang="en-US" sz="1250" dirty="0">
                <a:solidFill>
                  <a:srgbClr val="F3F5F8"/>
                </a:solidFill>
                <a:latin typeface="Arial" pitchFamily="34" charset="0"/>
                <a:ea typeface="Arial" pitchFamily="34" charset="-122"/>
                <a:cs typeface="Arial" pitchFamily="34" charset="-120"/>
              </a:rPr>
              <a:t>Credential-named values in Java, XML, properties, YAML</a:t>
            </a:r>
            <a:endParaRPr lang="en-US" sz="1250" dirty="0"/>
          </a:p>
        </p:txBody>
      </p:sp>
      <p:pic>
        <p:nvPicPr>
          <p:cNvPr id="22" name="Image 4" descr="/private/tmp/claude-501/-Users-raja-forge/826f4f3b-77e1-484d-8167-0e3b60d97c63/scratchpad/deck/assets/icons/LuBinary-5EB1FF.png">    </p:cNvPr>
          <p:cNvPicPr>
            <a:picLocks noChangeAspect="1"/>
          </p:cNvPicPr>
          <p:nvPr/>
        </p:nvPicPr>
        <p:blipFill>
          <a:blip r:embed="rId5"/>
          <a:stretch>
            <a:fillRect/>
          </a:stretch>
        </p:blipFill>
        <p:spPr>
          <a:xfrm>
            <a:off x="6035040" y="3703320"/>
            <a:ext cx="219456" cy="219456"/>
          </a:xfrm>
          <a:prstGeom prst="rect">
            <a:avLst/>
          </a:prstGeom>
        </p:spPr>
      </p:pic>
      <p:sp>
        <p:nvSpPr>
          <p:cNvPr id="23" name="Text 16"/>
          <p:cNvSpPr txBox="1"/>
          <p:nvPr/>
        </p:nvSpPr>
        <p:spPr>
          <a:xfrm>
            <a:off x="6382512" y="3685032"/>
            <a:ext cx="5257800" cy="274320"/>
          </a:xfrm>
          <a:prstGeom prst="rect">
            <a:avLst/>
          </a:prstGeom>
          <a:noFill/>
          <a:ln/>
        </p:spPr>
        <p:txBody>
          <a:bodyPr wrap="square" lIns="0" tIns="0" rIns="0" bIns="0" rtlCol="0" anchor="t"/>
          <a:lstStyle/>
          <a:p>
            <a:pPr indent="0" marL="0">
              <a:buNone/>
            </a:pPr>
            <a:r>
              <a:rPr lang="en-US" sz="1250" dirty="0">
                <a:solidFill>
                  <a:srgbClr val="F3F5F8"/>
                </a:solidFill>
                <a:latin typeface="Arial" pitchFamily="34" charset="0"/>
                <a:ea typeface="Arial" pitchFamily="34" charset="-122"/>
                <a:cs typeface="Arial" pitchFamily="34" charset="-120"/>
              </a:rPr>
              <a:t>High-entropy literals: 20+ chars at 4+ bits per char</a:t>
            </a:r>
            <a:endParaRPr lang="en-US" sz="1250" dirty="0"/>
          </a:p>
        </p:txBody>
      </p:sp>
      <p:sp>
        <p:nvSpPr>
          <p:cNvPr id="24" name="Text 17"/>
          <p:cNvSpPr txBox="1"/>
          <p:nvPr/>
        </p:nvSpPr>
        <p:spPr>
          <a:xfrm>
            <a:off x="6035040" y="4114800"/>
            <a:ext cx="5486400" cy="237744"/>
          </a:xfrm>
          <a:prstGeom prst="rect">
            <a:avLst/>
          </a:prstGeom>
          <a:noFill/>
          <a:ln/>
        </p:spPr>
        <p:txBody>
          <a:bodyPr wrap="square" lIns="0" tIns="0" rIns="0" bIns="0" rtlCol="0" anchor="t"/>
          <a:lstStyle/>
          <a:p>
            <a:pPr indent="0" marL="0">
              <a:buNone/>
            </a:pPr>
            <a:r>
              <a:rPr lang="en-US" sz="1100" b="1" spc="200" kern="0" dirty="0">
                <a:solidFill>
                  <a:srgbClr val="738191"/>
                </a:solidFill>
                <a:latin typeface="Arial" pitchFamily="34" charset="0"/>
                <a:ea typeface="Arial" pitchFamily="34" charset="-122"/>
                <a:cs typeface="Arial" pitchFamily="34" charset="-120"/>
              </a:rPr>
              <a:t>WHAT IT GETS RIGHT ON PURPOSE</a:t>
            </a:r>
            <a:endParaRPr lang="en-US" sz="1100" dirty="0"/>
          </a:p>
        </p:txBody>
      </p:sp>
      <p:sp>
        <p:nvSpPr>
          <p:cNvPr id="25" name="Text 18"/>
          <p:cNvSpPr txBox="1"/>
          <p:nvPr/>
        </p:nvSpPr>
        <p:spPr>
          <a:xfrm>
            <a:off x="6035040" y="4434840"/>
            <a:ext cx="5577840" cy="274320"/>
          </a:xfrm>
          <a:prstGeom prst="rect">
            <a:avLst/>
          </a:prstGeom>
          <a:noFill/>
          <a:ln/>
        </p:spPr>
        <p:txBody>
          <a:bodyPr wrap="square" lIns="0" tIns="0" rIns="0" bIns="0" rtlCol="0" anchor="t"/>
          <a:lstStyle/>
          <a:p>
            <a:pPr indent="0" marL="0">
              <a:buNone/>
            </a:pPr>
            <a:r>
              <a:rPr lang="en-US" sz="1250" b="1" dirty="0">
                <a:solidFill>
                  <a:srgbClr val="FFB547"/>
                </a:solidFill>
                <a:latin typeface="Consolas" pitchFamily="34" charset="0"/>
                <a:ea typeface="Consolas" pitchFamily="34" charset="-122"/>
                <a:cs typeface="Consolas" pitchFamily="34" charset="-120"/>
              </a:rPr>
              <a:t>monkeyCount</a:t>
            </a:r>
            <a:pPr indent="0" marL="0">
              <a:buNone/>
            </a:pPr>
            <a:r>
              <a:rPr lang="en-US" sz="1250" dirty="0">
                <a:solidFill>
                  <a:srgbClr val="AAB5C3"/>
                </a:solidFill>
                <a:latin typeface="Arial" pitchFamily="34" charset="0"/>
                <a:ea typeface="Arial" pitchFamily="34" charset="-122"/>
                <a:cs typeface="Arial" pitchFamily="34" charset="-120"/>
              </a:rPr>
              <a:t> isn’t a key: identifiers are tokenized</a:t>
            </a:r>
            <a:endParaRPr lang="en-US" sz="1250" dirty="0"/>
          </a:p>
        </p:txBody>
      </p:sp>
      <p:sp>
        <p:nvSpPr>
          <p:cNvPr id="26" name="Text 19"/>
          <p:cNvSpPr txBox="1"/>
          <p:nvPr/>
        </p:nvSpPr>
        <p:spPr>
          <a:xfrm>
            <a:off x="6035040" y="4754880"/>
            <a:ext cx="5577840" cy="274320"/>
          </a:xfrm>
          <a:prstGeom prst="rect">
            <a:avLst/>
          </a:prstGeom>
          <a:noFill/>
          <a:ln/>
        </p:spPr>
        <p:txBody>
          <a:bodyPr wrap="square" lIns="0" tIns="0" rIns="0" bIns="0" rtlCol="0" anchor="t"/>
          <a:lstStyle/>
          <a:p>
            <a:pPr indent="0" marL="0">
              <a:buNone/>
            </a:pPr>
            <a:r>
              <a:rPr lang="en-US" sz="1250" b="1" dirty="0">
                <a:solidFill>
                  <a:srgbClr val="FFB547"/>
                </a:solidFill>
                <a:latin typeface="Consolas" pitchFamily="34" charset="0"/>
                <a:ea typeface="Consolas" pitchFamily="34" charset="-122"/>
                <a:cs typeface="Consolas" pitchFamily="34" charset="-120"/>
              </a:rPr>
              <a:t>sortKey</a:t>
            </a:r>
            <a:pPr indent="0" marL="0">
              <a:buNone/>
            </a:pPr>
            <a:r>
              <a:rPr lang="en-US" sz="1250" dirty="0">
                <a:solidFill>
                  <a:srgbClr val="AAB5C3"/>
                </a:solidFill>
                <a:latin typeface="Arial" pitchFamily="34" charset="0"/>
                <a:ea typeface="Arial" pitchFamily="34" charset="-122"/>
                <a:cs typeface="Arial" pitchFamily="34" charset="-120"/>
              </a:rPr>
              <a:t> isn’t a credential without a qualifier</a:t>
            </a:r>
            <a:endParaRPr lang="en-US" sz="1250" dirty="0"/>
          </a:p>
        </p:txBody>
      </p:sp>
      <p:sp>
        <p:nvSpPr>
          <p:cNvPr id="27" name="Text 20"/>
          <p:cNvSpPr txBox="1"/>
          <p:nvPr/>
        </p:nvSpPr>
        <p:spPr>
          <a:xfrm>
            <a:off x="6035040" y="5074920"/>
            <a:ext cx="5577840" cy="274320"/>
          </a:xfrm>
          <a:prstGeom prst="rect">
            <a:avLst/>
          </a:prstGeom>
          <a:noFill/>
          <a:ln/>
        </p:spPr>
        <p:txBody>
          <a:bodyPr wrap="square" lIns="0" tIns="0" rIns="0" bIns="0" rtlCol="0" anchor="t"/>
          <a:lstStyle/>
          <a:p>
            <a:pPr indent="0" marL="0">
              <a:buNone/>
            </a:pPr>
            <a:r>
              <a:rPr lang="en-US" sz="1250" b="1" dirty="0">
                <a:solidFill>
                  <a:srgbClr val="FFB547"/>
                </a:solidFill>
                <a:latin typeface="Consolas" pitchFamily="34" charset="0"/>
                <a:ea typeface="Consolas" pitchFamily="34" charset="-122"/>
                <a:cs typeface="Consolas" pitchFamily="34" charset="-120"/>
              </a:rPr>
              <a:t>${db.password}</a:t>
            </a:r>
            <a:pPr indent="0" marL="0">
              <a:buNone/>
            </a:pPr>
            <a:r>
              <a:rPr lang="en-US" sz="1250" dirty="0">
                <a:solidFill>
                  <a:srgbClr val="AAB5C3"/>
                </a:solidFill>
                <a:latin typeface="Arial" pitchFamily="34" charset="0"/>
                <a:ea typeface="Arial" pitchFamily="34" charset="-122"/>
                <a:cs typeface="Arial" pitchFamily="34" charset="-120"/>
              </a:rPr>
              <a:t> is a reference, not a secret</a:t>
            </a:r>
            <a:endParaRPr lang="en-US" sz="1250" dirty="0"/>
          </a:p>
        </p:txBody>
      </p:sp>
      <p:sp>
        <p:nvSpPr>
          <p:cNvPr id="28" name="Text 21"/>
          <p:cNvSpPr txBox="1"/>
          <p:nvPr/>
        </p:nvSpPr>
        <p:spPr>
          <a:xfrm>
            <a:off x="6035040" y="5394960"/>
            <a:ext cx="5577840" cy="274320"/>
          </a:xfrm>
          <a:prstGeom prst="rect">
            <a:avLst/>
          </a:prstGeom>
          <a:noFill/>
          <a:ln/>
        </p:spPr>
        <p:txBody>
          <a:bodyPr wrap="square" lIns="0" tIns="0" rIns="0" bIns="0" rtlCol="0" anchor="t"/>
          <a:lstStyle/>
          <a:p>
            <a:pPr indent="0" marL="0">
              <a:buNone/>
            </a:pPr>
            <a:r>
              <a:rPr lang="en-US" sz="1250" b="1" dirty="0">
                <a:solidFill>
                  <a:srgbClr val="FFB547"/>
                </a:solidFill>
                <a:latin typeface="Consolas" pitchFamily="34" charset="0"/>
                <a:ea typeface="Consolas" pitchFamily="34" charset="-122"/>
                <a:cs typeface="Consolas" pitchFamily="34" charset="-120"/>
              </a:rPr>
              <a:t>UUIDs, checksums</a:t>
            </a:r>
            <a:pPr indent="0" marL="0">
              <a:buNone/>
            </a:pPr>
            <a:r>
              <a:rPr lang="en-US" sz="1250" dirty="0">
                <a:solidFill>
                  <a:srgbClr val="AAB5C3"/>
                </a:solidFill>
                <a:latin typeface="Arial" pitchFamily="34" charset="0"/>
                <a:ea typeface="Arial" pitchFamily="34" charset="-122"/>
                <a:cs typeface="Arial" pitchFamily="34" charset="-120"/>
              </a:rPr>
              <a:t> are dense, not secret</a:t>
            </a:r>
            <a:endParaRPr lang="en-US" sz="1250" dirty="0"/>
          </a:p>
        </p:txBody>
      </p:sp>
      <p:pic>
        <p:nvPicPr>
          <p:cNvPr id="29" name="Image 5" descr="/private/tmp/claude-501/-Users-raja-forge/826f4f3b-77e1-484d-8167-0e3b60d97c63/scratchpad/deck/assets/icons/LuFingerprint-FFB547.png">    </p:cNvPr>
          <p:cNvPicPr>
            <a:picLocks noChangeAspect="1"/>
          </p:cNvPicPr>
          <p:nvPr/>
        </p:nvPicPr>
        <p:blipFill>
          <a:blip r:embed="rId6"/>
          <a:stretch>
            <a:fillRect/>
          </a:stretch>
        </p:blipFill>
        <p:spPr>
          <a:xfrm>
            <a:off x="548640" y="5788152"/>
            <a:ext cx="256032" cy="256032"/>
          </a:xfrm>
          <a:prstGeom prst="rect">
            <a:avLst/>
          </a:prstGeom>
        </p:spPr>
      </p:pic>
      <p:sp>
        <p:nvSpPr>
          <p:cNvPr id="30" name="Text 22"/>
          <p:cNvSpPr txBox="1"/>
          <p:nvPr/>
        </p:nvSpPr>
        <p:spPr>
          <a:xfrm>
            <a:off x="932688" y="5788152"/>
            <a:ext cx="10682935" cy="274320"/>
          </a:xfrm>
          <a:prstGeom prst="rect">
            <a:avLst/>
          </a:prstGeom>
          <a:noFill/>
          <a:ln/>
        </p:spPr>
        <p:txBody>
          <a:bodyPr wrap="square" lIns="0" tIns="0" rIns="0" bIns="0" rtlCol="0" anchor="t"/>
          <a:lstStyle/>
          <a:p>
            <a:pPr indent="0" marL="0">
              <a:buNone/>
            </a:pPr>
            <a:r>
              <a:rPr lang="en-US" sz="1200" dirty="0">
                <a:solidFill>
                  <a:srgbClr val="AAB5C3"/>
                </a:solidFill>
                <a:latin typeface="Arial" pitchFamily="34" charset="0"/>
                <a:ea typeface="Arial" pitchFamily="34" charset="-122"/>
                <a:cs typeface="Arial" pitchFamily="34" charset="-120"/>
              </a:rPr>
              <a:t>Findings carry a kind and a line number, never the matched bytes: they travel to DynamoDB, CloudWatch and the review page.</a:t>
            </a:r>
            <a:endParaRPr lang="en-US" sz="1200" dirty="0"/>
          </a:p>
        </p:txBody>
      </p:sp>
      <p:sp>
        <p:nvSpPr>
          <p:cNvPr id="31" name="Text 23"/>
          <p:cNvSpPr txBox="1"/>
          <p:nvPr/>
        </p:nvSpPr>
        <p:spPr>
          <a:xfrm>
            <a:off x="548640" y="6455664"/>
            <a:ext cx="5486400" cy="219456"/>
          </a:xfrm>
          <a:prstGeom prst="rect">
            <a:avLst/>
          </a:prstGeom>
          <a:noFill/>
          <a:ln/>
        </p:spPr>
        <p:txBody>
          <a:bodyPr wrap="square" lIns="0" tIns="0" rIns="0" bIns="0" rtlCol="0" anchor="t"/>
          <a:lstStyle/>
          <a:p>
            <a:pPr indent="0" marL="0">
              <a:buNone/>
            </a:pPr>
            <a:r>
              <a:rPr lang="en-US" sz="900" dirty="0">
                <a:solidFill>
                  <a:srgbClr val="738191"/>
                </a:solidFill>
                <a:latin typeface="Arial" pitchFamily="34" charset="0"/>
                <a:ea typeface="Arial" pitchFamily="34" charset="-122"/>
                <a:cs typeface="Arial" pitchFamily="34" charset="-120"/>
              </a:rPr>
              <a:t>FORGE  ·  Software Development Conference 2026</a:t>
            </a:r>
            <a:endParaRPr lang="en-US" sz="900" dirty="0"/>
          </a:p>
        </p:txBody>
      </p:sp>
      <p:sp>
        <p:nvSpPr>
          <p:cNvPr id="32" name="Text 24"/>
          <p:cNvSpPr txBox="1"/>
          <p:nvPr/>
        </p:nvSpPr>
        <p:spPr>
          <a:xfrm>
            <a:off x="11094415" y="6455664"/>
            <a:ext cx="548640" cy="219456"/>
          </a:xfrm>
          <a:prstGeom prst="rect">
            <a:avLst/>
          </a:prstGeom>
          <a:noFill/>
          <a:ln/>
        </p:spPr>
        <p:txBody>
          <a:bodyPr wrap="square" lIns="0" tIns="0" rIns="0" bIns="0" rtlCol="0" anchor="t"/>
          <a:lstStyle/>
          <a:p>
            <a:pPr algn="r" indent="0" marL="0">
              <a:buNone/>
            </a:pPr>
            <a:r>
              <a:rPr lang="en-US" sz="900" dirty="0">
                <a:solidFill>
                  <a:srgbClr val="738191"/>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t"/>
          <a:lstStyle/>
          <a:p>
            <a:pPr indent="0" marL="0">
              <a:buNone/>
            </a:pPr>
            <a:r>
              <a:rPr lang="en-US" sz="1100" b="1" spc="300" kern="0" dirty="0">
                <a:solidFill>
                  <a:srgbClr val="FF6A2B"/>
                </a:solidFill>
                <a:latin typeface="Arial" pitchFamily="34" charset="0"/>
                <a:ea typeface="Arial" pitchFamily="34" charset="-122"/>
                <a:cs typeface="Arial" pitchFamily="34" charset="-120"/>
              </a:rPr>
              <a:t>03  ·  THE ENGINE</a:t>
            </a:r>
            <a:endParaRPr lang="en-US" sz="1100" dirty="0"/>
          </a:p>
        </p:txBody>
      </p:sp>
      <p:sp>
        <p:nvSpPr>
          <p:cNvPr id="3" name="Text 1"/>
          <p:cNvSpPr txBox="1"/>
          <p:nvPr/>
        </p:nvSpPr>
        <p:spPr>
          <a:xfrm>
            <a:off x="548640" y="676656"/>
            <a:ext cx="11094415" cy="658368"/>
          </a:xfrm>
          <a:prstGeom prst="rect">
            <a:avLst/>
          </a:prstGeom>
          <a:noFill/>
          <a:ln/>
        </p:spPr>
        <p:txBody>
          <a:bodyPr wrap="square" lIns="0" tIns="0" rIns="0" bIns="0" rtlCol="0" anchor="t"/>
          <a:lstStyle/>
          <a:p>
            <a:pPr indent="0" marL="0">
              <a:buNone/>
            </a:pPr>
            <a:r>
              <a:rPr lang="en-US" sz="3200" b="1" dirty="0">
                <a:solidFill>
                  <a:srgbClr val="F3F5F8"/>
                </a:solidFill>
                <a:latin typeface="Arial" pitchFamily="34" charset="0"/>
                <a:ea typeface="Arial" pitchFamily="34" charset="-122"/>
                <a:cs typeface="Arial" pitchFamily="34" charset="-120"/>
              </a:rPr>
              <a:t>A technology transition is one markdown file</a:t>
            </a:r>
            <a:endParaRPr lang="en-US" sz="3200" dirty="0"/>
          </a:p>
        </p:txBody>
      </p:sp>
      <p:sp>
        <p:nvSpPr>
          <p:cNvPr id="4" name="Text 2"/>
          <p:cNvSpPr txBox="1"/>
          <p:nvPr/>
        </p:nvSpPr>
        <p:spPr>
          <a:xfrm>
            <a:off x="548640" y="1316736"/>
            <a:ext cx="10607040" cy="512064"/>
          </a:xfrm>
          <a:prstGeom prst="rect">
            <a:avLst/>
          </a:prstGeom>
          <a:noFill/>
          <a:ln/>
        </p:spPr>
        <p:txBody>
          <a:bodyPr wrap="square" lIns="0" tIns="0" rIns="0" bIns="0" rtlCol="0" anchor="t"/>
          <a:lstStyle/>
          <a:p>
            <a:pPr indent="0" marL="0">
              <a:lnSpc>
                <a:spcPct val="105000"/>
              </a:lnSpc>
              <a:buNone/>
            </a:pPr>
            <a:r>
              <a:rPr lang="en-US" sz="1500" dirty="0">
                <a:solidFill>
                  <a:srgbClr val="AAB5C3"/>
                </a:solidFill>
                <a:latin typeface="Arial" pitchFamily="34" charset="0"/>
                <a:ea typeface="Arial" pitchFamily="34" charset="-122"/>
                <a:cs typeface="Arial" pitchFamily="34" charset="-120"/>
              </a:rPr>
              <a:t>Packs are data: detection, rules, rubric and acceptance, validated at startup. Adding one needs no Python.</a:t>
            </a:r>
            <a:endParaRPr lang="en-US" sz="1500" dirty="0"/>
          </a:p>
        </p:txBody>
      </p:sp>
      <p:sp>
        <p:nvSpPr>
          <p:cNvPr id="5" name="Shape 3"/>
          <p:cNvSpPr/>
          <p:nvPr/>
        </p:nvSpPr>
        <p:spPr>
          <a:xfrm>
            <a:off x="548640" y="1965960"/>
            <a:ext cx="5897880" cy="4114800"/>
          </a:xfrm>
          <a:prstGeom prst="roundRect">
            <a:avLst>
              <a:gd name="adj" fmla="val 2222"/>
            </a:avLst>
          </a:prstGeom>
          <a:solidFill>
            <a:srgbClr val="0B0F15"/>
          </a:solidFill>
          <a:ln w="9525">
            <a:solidFill>
              <a:srgbClr val="263244"/>
            </a:solidFill>
            <a:prstDash val="solid"/>
          </a:ln>
          <a:effectLst>
            <a:outerShdw sx="100000" sy="100000" kx="0" ky="0" algn="bl" rotWithShape="0" blurRad="203200" dist="63500" dir="5400000">
              <a:srgbClr val="000000">
                <a:alpha val="50000"/>
              </a:srgbClr>
            </a:outerShdw>
          </a:effectLst>
        </p:spPr>
      </p:sp>
      <p:sp>
        <p:nvSpPr>
          <p:cNvPr id="6" name="Shape 4"/>
          <p:cNvSpPr/>
          <p:nvPr/>
        </p:nvSpPr>
        <p:spPr>
          <a:xfrm>
            <a:off x="749808" y="2139696"/>
            <a:ext cx="100584" cy="100584"/>
          </a:xfrm>
          <a:prstGeom prst="ellipse">
            <a:avLst/>
          </a:prstGeom>
          <a:solidFill>
            <a:srgbClr val="FF5F57"/>
          </a:solidFill>
          <a:ln/>
        </p:spPr>
      </p:sp>
      <p:sp>
        <p:nvSpPr>
          <p:cNvPr id="7" name="Shape 5"/>
          <p:cNvSpPr/>
          <p:nvPr/>
        </p:nvSpPr>
        <p:spPr>
          <a:xfrm>
            <a:off x="932688" y="2139696"/>
            <a:ext cx="100584" cy="100584"/>
          </a:xfrm>
          <a:prstGeom prst="ellipse">
            <a:avLst/>
          </a:prstGeom>
          <a:solidFill>
            <a:srgbClr val="FEBC2E"/>
          </a:solidFill>
          <a:ln/>
        </p:spPr>
      </p:sp>
      <p:sp>
        <p:nvSpPr>
          <p:cNvPr id="8" name="Shape 6"/>
          <p:cNvSpPr/>
          <p:nvPr/>
        </p:nvSpPr>
        <p:spPr>
          <a:xfrm>
            <a:off x="1115568" y="2139696"/>
            <a:ext cx="100584" cy="100584"/>
          </a:xfrm>
          <a:prstGeom prst="ellipse">
            <a:avLst/>
          </a:prstGeom>
          <a:solidFill>
            <a:srgbClr val="28C840"/>
          </a:solidFill>
          <a:ln/>
        </p:spPr>
      </p:sp>
      <p:sp>
        <p:nvSpPr>
          <p:cNvPr id="9" name="Text 7"/>
          <p:cNvSpPr txBox="1"/>
          <p:nvPr/>
        </p:nvSpPr>
        <p:spPr>
          <a:xfrm>
            <a:off x="1371600" y="2084832"/>
            <a:ext cx="4892040" cy="219456"/>
          </a:xfrm>
          <a:prstGeom prst="rect">
            <a:avLst/>
          </a:prstGeom>
          <a:noFill/>
          <a:ln/>
        </p:spPr>
        <p:txBody>
          <a:bodyPr wrap="square" lIns="0" tIns="0" rIns="0" bIns="0" rtlCol="0" anchor="t"/>
          <a:lstStyle/>
          <a:p>
            <a:pPr indent="0" marL="0">
              <a:buNone/>
            </a:pPr>
            <a:r>
              <a:rPr lang="en-US" sz="1000" dirty="0">
                <a:solidFill>
                  <a:srgbClr val="738191"/>
                </a:solidFill>
                <a:latin typeface="Consolas" pitchFamily="34" charset="0"/>
                <a:ea typeface="Consolas" pitchFamily="34" charset="-122"/>
                <a:cs typeface="Consolas" pitchFamily="34" charset="-120"/>
              </a:rPr>
              <a:t>prompts/packs/javax-to-jakarta.pack.md</a:t>
            </a:r>
            <a:endParaRPr lang="en-US" sz="1000" dirty="0"/>
          </a:p>
        </p:txBody>
      </p:sp>
      <p:sp>
        <p:nvSpPr>
          <p:cNvPr id="10" name="Text 8"/>
          <p:cNvSpPr txBox="1"/>
          <p:nvPr/>
        </p:nvSpPr>
        <p:spPr>
          <a:xfrm>
            <a:off x="822960" y="2468880"/>
            <a:ext cx="5486400" cy="3474720"/>
          </a:xfrm>
          <a:prstGeom prst="rect">
            <a:avLst/>
          </a:prstGeom>
          <a:noFill/>
          <a:ln/>
        </p:spPr>
        <p:txBody>
          <a:bodyPr wrap="square" lIns="0" tIns="0" rIns="0" bIns="0" rtlCol="0" anchor="t"/>
          <a:lstStyle/>
          <a:p>
            <a:pPr indent="0" marL="0">
              <a:lnSpc>
                <a:spcPct val="108000"/>
              </a:lnSpc>
              <a:buNone/>
            </a:pPr>
            <a:r>
              <a:rPr lang="en-US" sz="1050" dirty="0">
                <a:solidFill>
                  <a:srgbClr val="5B6878"/>
                </a:solidFill>
                <a:latin typeface="Consolas" pitchFamily="34" charset="0"/>
                <a:ea typeface="Consolas" pitchFamily="34" charset="-122"/>
                <a:cs typeface="Consolas" pitchFamily="34" charset="-120"/>
              </a:rPr>
              <a:t>---</a:t>
            </a:r>
            <a:endParaRPr lang="en-US" sz="1050" dirty="0"/>
          </a:p>
          <a:p>
            <a:pPr indent="0" marL="0">
              <a:lnSpc>
                <a:spcPct val="108000"/>
              </a:lnSpc>
              <a:buNone/>
            </a:pPr>
            <a:r>
              <a:rPr lang="en-US" sz="1050" dirty="0">
                <a:solidFill>
                  <a:srgbClr val="7CC4FF"/>
                </a:solidFill>
                <a:latin typeface="Consolas" pitchFamily="34" charset="0"/>
                <a:ea typeface="Consolas" pitchFamily="34" charset="-122"/>
                <a:cs typeface="Consolas" pitchFamily="34" charset="-120"/>
              </a:rPr>
              <a:t>id</a:t>
            </a:r>
            <a:pPr indent="0" marL="0">
              <a:lnSpc>
                <a:spcPct val="108000"/>
              </a:lnSpc>
              <a:buNone/>
            </a:pPr>
            <a:r>
              <a:rPr lang="en-US" sz="10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050" dirty="0">
                <a:solidFill>
                  <a:srgbClr val="FFC98A"/>
                </a:solidFill>
                <a:latin typeface="Consolas" pitchFamily="34" charset="0"/>
                <a:ea typeface="Consolas" pitchFamily="34" charset="-122"/>
                <a:cs typeface="Consolas" pitchFamily="34" charset="-120"/>
              </a:rPr>
              <a:t>javax-to-jakarta</a:t>
            </a:r>
            <a:endParaRPr lang="en-US" sz="1050" dirty="0"/>
          </a:p>
          <a:p>
            <a:pPr indent="0" marL="0">
              <a:lnSpc>
                <a:spcPct val="108000"/>
              </a:lnSpc>
              <a:buNone/>
            </a:pPr>
            <a:r>
              <a:rPr lang="en-US" sz="1050" dirty="0">
                <a:solidFill>
                  <a:srgbClr val="7CC4FF"/>
                </a:solidFill>
                <a:latin typeface="Consolas" pitchFamily="34" charset="0"/>
                <a:ea typeface="Consolas" pitchFamily="34" charset="-122"/>
                <a:cs typeface="Consolas" pitchFamily="34" charset="-120"/>
              </a:rPr>
              <a:t>tier</a:t>
            </a:r>
            <a:pPr indent="0" marL="0">
              <a:lnSpc>
                <a:spcPct val="108000"/>
              </a:lnSpc>
              <a:buNone/>
            </a:pPr>
            <a:r>
              <a:rPr lang="en-US" sz="10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050" dirty="0">
                <a:solidFill>
                  <a:srgbClr val="FFC98A"/>
                </a:solidFill>
                <a:latin typeface="Consolas" pitchFamily="34" charset="0"/>
                <a:ea typeface="Consolas" pitchFamily="34" charset="-122"/>
                <a:cs typeface="Consolas" pitchFamily="34" charset="-120"/>
              </a:rPr>
              <a:t>namespace</a:t>
            </a:r>
            <a:endParaRPr lang="en-US" sz="1050" dirty="0"/>
          </a:p>
          <a:p>
            <a:pPr indent="0" marL="0">
              <a:lnSpc>
                <a:spcPct val="108000"/>
              </a:lnSpc>
              <a:buNone/>
            </a:pPr>
            <a:r>
              <a:rPr lang="en-US" sz="1050" dirty="0">
                <a:solidFill>
                  <a:srgbClr val="7CC4FF"/>
                </a:solidFill>
                <a:latin typeface="Consolas" pitchFamily="34" charset="0"/>
                <a:ea typeface="Consolas" pitchFamily="34" charset="-122"/>
                <a:cs typeface="Consolas" pitchFamily="34" charset="-120"/>
              </a:rPr>
              <a:t>detect</a:t>
            </a:r>
            <a:pPr indent="0" marL="0">
              <a:lnSpc>
                <a:spcPct val="108000"/>
              </a:lnSpc>
              <a:buNone/>
            </a:pPr>
            <a:r>
              <a:rPr lang="en-US" sz="1050" dirty="0">
                <a:solidFill>
                  <a:srgbClr val="E6EDF3"/>
                </a:solidFill>
                <a:latin typeface="Consolas" pitchFamily="34" charset="0"/>
                <a:ea typeface="Consolas" pitchFamily="34" charset="-122"/>
                <a:cs typeface="Consolas" pitchFamily="34" charset="-120"/>
              </a:rPr>
              <a:t>:</a:t>
            </a:r>
            <a:endParaRPr lang="en-US" sz="1050" dirty="0"/>
          </a:p>
          <a:p>
            <a:pPr indent="0" marL="0">
              <a:lnSpc>
                <a:spcPct val="108000"/>
              </a:lnSpc>
              <a:buNone/>
            </a:pPr>
            <a:r>
              <a:rPr lang="en-US" sz="10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050" dirty="0">
                <a:solidFill>
                  <a:srgbClr val="7CC4FF"/>
                </a:solidFill>
                <a:latin typeface="Consolas" pitchFamily="34" charset="0"/>
                <a:ea typeface="Consolas" pitchFamily="34" charset="-122"/>
                <a:cs typeface="Consolas" pitchFamily="34" charset="-120"/>
              </a:rPr>
              <a:t>any</a:t>
            </a:r>
            <a:pPr indent="0" marL="0">
              <a:lnSpc>
                <a:spcPct val="108000"/>
              </a:lnSpc>
              <a:buNone/>
            </a:pPr>
            <a:r>
              <a:rPr lang="en-US" sz="1050" dirty="0">
                <a:solidFill>
                  <a:srgbClr val="E6EDF3"/>
                </a:solidFill>
                <a:latin typeface="Consolas" pitchFamily="34" charset="0"/>
                <a:ea typeface="Consolas" pitchFamily="34" charset="-122"/>
                <a:cs typeface="Consolas" pitchFamily="34" charset="-120"/>
              </a:rPr>
              <a:t>:</a:t>
            </a:r>
            <a:endParaRPr lang="en-US" sz="1050" dirty="0"/>
          </a:p>
          <a:p>
            <a:pPr indent="0" marL="0">
              <a:lnSpc>
                <a:spcPct val="108000"/>
              </a:lnSpc>
              <a:buNone/>
            </a:pPr>
            <a:r>
              <a:rPr lang="en-US" sz="10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0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050" dirty="0">
                <a:solidFill>
                  <a:srgbClr val="7CC4FF"/>
                </a:solidFill>
                <a:latin typeface="Consolas" pitchFamily="34" charset="0"/>
                <a:ea typeface="Consolas" pitchFamily="34" charset="-122"/>
                <a:cs typeface="Consolas" pitchFamily="34" charset="-120"/>
              </a:rPr>
              <a:t>import_prefix</a:t>
            </a:r>
            <a:pPr indent="0" marL="0">
              <a:lnSpc>
                <a:spcPct val="108000"/>
              </a:lnSpc>
              <a:buNone/>
            </a:pPr>
            <a:r>
              <a:rPr lang="en-US" sz="10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050" dirty="0">
                <a:solidFill>
                  <a:srgbClr val="FFC98A"/>
                </a:solidFill>
                <a:latin typeface="Consolas" pitchFamily="34" charset="0"/>
                <a:ea typeface="Consolas" pitchFamily="34" charset="-122"/>
                <a:cs typeface="Consolas" pitchFamily="34" charset="-120"/>
              </a:rPr>
              <a:t>"javax.servlet"</a:t>
            </a:r>
            <a:endParaRPr lang="en-US" sz="1050" dirty="0"/>
          </a:p>
          <a:p>
            <a:pPr indent="0" marL="0">
              <a:lnSpc>
                <a:spcPct val="108000"/>
              </a:lnSpc>
              <a:buNone/>
            </a:pPr>
            <a:r>
              <a:rPr lang="en-US" sz="10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0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050" dirty="0">
                <a:solidFill>
                  <a:srgbClr val="7CC4FF"/>
                </a:solidFill>
                <a:latin typeface="Consolas" pitchFamily="34" charset="0"/>
                <a:ea typeface="Consolas" pitchFamily="34" charset="-122"/>
                <a:cs typeface="Consolas" pitchFamily="34" charset="-120"/>
              </a:rPr>
              <a:t>dependency</a:t>
            </a:r>
            <a:pPr indent="0" marL="0">
              <a:lnSpc>
                <a:spcPct val="108000"/>
              </a:lnSpc>
              <a:buNone/>
            </a:pPr>
            <a:r>
              <a:rPr lang="en-US" sz="10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050" dirty="0">
                <a:solidFill>
                  <a:srgbClr val="FFC98A"/>
                </a:solidFill>
                <a:latin typeface="Consolas" pitchFamily="34" charset="0"/>
                <a:ea typeface="Consolas" pitchFamily="34" charset="-122"/>
                <a:cs typeface="Consolas" pitchFamily="34" charset="-120"/>
              </a:rPr>
              <a:t>"javax.servlet:javax.servlet-api"</a:t>
            </a:r>
            <a:endParaRPr lang="en-US" sz="1050" dirty="0"/>
          </a:p>
          <a:p>
            <a:pPr indent="0" marL="0">
              <a:lnSpc>
                <a:spcPct val="108000"/>
              </a:lnSpc>
              <a:buNone/>
            </a:pPr>
            <a:r>
              <a:rPr lang="en-US" sz="1050" dirty="0">
                <a:solidFill>
                  <a:srgbClr val="7CC4FF"/>
                </a:solidFill>
                <a:latin typeface="Consolas" pitchFamily="34" charset="0"/>
                <a:ea typeface="Consolas" pitchFamily="34" charset="-122"/>
                <a:cs typeface="Consolas" pitchFamily="34" charset="-120"/>
              </a:rPr>
              <a:t>applies_to</a:t>
            </a:r>
            <a:pPr indent="0" marL="0">
              <a:lnSpc>
                <a:spcPct val="108000"/>
              </a:lnSpc>
              <a:buNone/>
            </a:pPr>
            <a:r>
              <a:rPr lang="en-US" sz="1050" dirty="0">
                <a:solidFill>
                  <a:srgbClr val="E6EDF3"/>
                </a:solidFill>
                <a:latin typeface="Consolas" pitchFamily="34" charset="0"/>
                <a:ea typeface="Consolas" pitchFamily="34" charset="-122"/>
                <a:cs typeface="Consolas" pitchFamily="34" charset="-120"/>
              </a:rPr>
              <a:t>:</a:t>
            </a:r>
            <a:endParaRPr lang="en-US" sz="1050" dirty="0"/>
          </a:p>
          <a:p>
            <a:pPr indent="0" marL="0">
              <a:lnSpc>
                <a:spcPct val="108000"/>
              </a:lnSpc>
              <a:buNone/>
            </a:pPr>
            <a:r>
              <a:rPr lang="en-US" sz="10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050" i="1" dirty="0">
                <a:solidFill>
                  <a:srgbClr val="7D8B99"/>
                </a:solidFill>
                <a:latin typeface="Consolas" pitchFamily="34" charset="0"/>
                <a:ea typeface="Consolas" pitchFamily="34" charset="-122"/>
                <a:cs typeface="Consolas" pitchFamily="34" charset="-120"/>
              </a:rPr>
              <a:t># every javax.* that is not the JDK's</a:t>
            </a:r>
            <a:endParaRPr lang="en-US" sz="1050" dirty="0"/>
          </a:p>
          <a:p>
            <a:pPr indent="0" marL="0">
              <a:lnSpc>
                <a:spcPct val="108000"/>
              </a:lnSpc>
              <a:buNone/>
            </a:pPr>
            <a:r>
              <a:rPr lang="en-US" sz="10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0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050" dirty="0">
                <a:solidFill>
                  <a:srgbClr val="7CC4FF"/>
                </a:solidFill>
                <a:latin typeface="Consolas" pitchFamily="34" charset="0"/>
                <a:ea typeface="Consolas" pitchFamily="34" charset="-122"/>
                <a:cs typeface="Consolas" pitchFamily="34" charset="-120"/>
              </a:rPr>
              <a:t>content_match</a:t>
            </a:r>
            <a:pPr indent="0" marL="0">
              <a:lnSpc>
                <a:spcPct val="108000"/>
              </a:lnSpc>
              <a:buNone/>
            </a:pPr>
            <a:r>
              <a:rPr lang="en-US" sz="1050" dirty="0">
                <a:solidFill>
                  <a:srgbClr val="E6EDF3"/>
                </a:solidFill>
                <a:latin typeface="Consolas" pitchFamily="34" charset="0"/>
                <a:ea typeface="Consolas" pitchFamily="34" charset="-122"/>
                <a:cs typeface="Consolas" pitchFamily="34" charset="-120"/>
              </a:rPr>
              <a:t>:</a:t>
            </a:r>
            <a:endParaRPr lang="en-US" sz="1050" dirty="0"/>
          </a:p>
          <a:p>
            <a:pPr indent="0" marL="0">
              <a:lnSpc>
                <a:spcPct val="108000"/>
              </a:lnSpc>
              <a:buNone/>
            </a:pPr>
            <a:r>
              <a:rPr lang="en-US" sz="10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050" dirty="0">
                <a:solidFill>
                  <a:srgbClr val="7CC4FF"/>
                </a:solidFill>
                <a:latin typeface="Consolas" pitchFamily="34" charset="0"/>
                <a:ea typeface="Consolas" pitchFamily="34" charset="-122"/>
                <a:cs typeface="Consolas" pitchFamily="34" charset="-120"/>
              </a:rPr>
              <a:t>glob</a:t>
            </a:r>
            <a:pPr indent="0" marL="0">
              <a:lnSpc>
                <a:spcPct val="108000"/>
              </a:lnSpc>
              <a:buNone/>
            </a:pPr>
            <a:r>
              <a:rPr lang="en-US" sz="10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050" dirty="0">
                <a:solidFill>
                  <a:srgbClr val="FFC98A"/>
                </a:solidFill>
                <a:latin typeface="Consolas" pitchFamily="34" charset="0"/>
                <a:ea typeface="Consolas" pitchFamily="34" charset="-122"/>
                <a:cs typeface="Consolas" pitchFamily="34" charset="-120"/>
              </a:rPr>
              <a:t>"**/*.java"</a:t>
            </a:r>
            <a:endParaRPr lang="en-US" sz="1050" dirty="0"/>
          </a:p>
          <a:p>
            <a:pPr indent="0" marL="0">
              <a:lnSpc>
                <a:spcPct val="108000"/>
              </a:lnSpc>
              <a:buNone/>
            </a:pPr>
            <a:r>
              <a:rPr lang="en-US" sz="10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050" dirty="0">
                <a:solidFill>
                  <a:srgbClr val="7CC4FF"/>
                </a:solidFill>
                <a:latin typeface="Consolas" pitchFamily="34" charset="0"/>
                <a:ea typeface="Consolas" pitchFamily="34" charset="-122"/>
                <a:cs typeface="Consolas" pitchFamily="34" charset="-120"/>
              </a:rPr>
              <a:t>pattern</a:t>
            </a:r>
            <a:pPr indent="0" marL="0">
              <a:lnSpc>
                <a:spcPct val="108000"/>
              </a:lnSpc>
              <a:buNone/>
            </a:pPr>
            <a:r>
              <a:rPr lang="en-US" sz="10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050" dirty="0">
                <a:solidFill>
                  <a:srgbClr val="FFC98A"/>
                </a:solidFill>
                <a:latin typeface="Consolas" pitchFamily="34" charset="0"/>
                <a:ea typeface="Consolas" pitchFamily="34" charset="-122"/>
                <a:cs typeface="Consolas" pitchFamily="34" charset="-120"/>
              </a:rPr>
              <a:t>'\bjavax\.(?!(crypto|naming|sql|...))'</a:t>
            </a:r>
            <a:endParaRPr lang="en-US" sz="1050" dirty="0"/>
          </a:p>
          <a:p>
            <a:pPr indent="0" marL="0">
              <a:lnSpc>
                <a:spcPct val="108000"/>
              </a:lnSpc>
              <a:buNone/>
            </a:pPr>
            <a:r>
              <a:rPr lang="en-US" sz="1050" dirty="0">
                <a:solidFill>
                  <a:srgbClr val="7CC4FF"/>
                </a:solidFill>
                <a:latin typeface="Consolas" pitchFamily="34" charset="0"/>
                <a:ea typeface="Consolas" pitchFamily="34" charset="-122"/>
                <a:cs typeface="Consolas" pitchFamily="34" charset="-120"/>
              </a:rPr>
              <a:t>include_tests</a:t>
            </a:r>
            <a:pPr indent="0" marL="0">
              <a:lnSpc>
                <a:spcPct val="108000"/>
              </a:lnSpc>
              <a:buNone/>
            </a:pPr>
            <a:r>
              <a:rPr lang="en-US" sz="10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050" dirty="0">
                <a:solidFill>
                  <a:srgbClr val="FFC98A"/>
                </a:solidFill>
                <a:latin typeface="Consolas" pitchFamily="34" charset="0"/>
                <a:ea typeface="Consolas" pitchFamily="34" charset="-122"/>
                <a:cs typeface="Consolas" pitchFamily="34" charset="-120"/>
              </a:rPr>
              <a:t>true</a:t>
            </a:r>
            <a:endParaRPr lang="en-US" sz="1050" dirty="0"/>
          </a:p>
          <a:p>
            <a:pPr indent="0" marL="0">
              <a:lnSpc>
                <a:spcPct val="108000"/>
              </a:lnSpc>
              <a:buNone/>
            </a:pPr>
            <a:r>
              <a:rPr lang="en-US" sz="1050" dirty="0">
                <a:solidFill>
                  <a:srgbClr val="7CC4FF"/>
                </a:solidFill>
                <a:latin typeface="Consolas" pitchFamily="34" charset="0"/>
                <a:ea typeface="Consolas" pitchFamily="34" charset="-122"/>
                <a:cs typeface="Consolas" pitchFamily="34" charset="-120"/>
              </a:rPr>
              <a:t>depends_on</a:t>
            </a:r>
            <a:pPr indent="0" marL="0">
              <a:lnSpc>
                <a:spcPct val="108000"/>
              </a:lnSpc>
              <a:buNone/>
            </a:pPr>
            <a:r>
              <a:rPr lang="en-US" sz="10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050" dirty="0">
                <a:solidFill>
                  <a:srgbClr val="E6EDF3"/>
                </a:solidFill>
                <a:latin typeface="Consolas" pitchFamily="34" charset="0"/>
                <a:ea typeface="Consolas" pitchFamily="34" charset="-122"/>
                <a:cs typeface="Consolas" pitchFamily="34" charset="-120"/>
              </a:rPr>
              <a:t>[]</a:t>
            </a:r>
            <a:endParaRPr lang="en-US" sz="1050" dirty="0"/>
          </a:p>
          <a:p>
            <a:pPr indent="0" marL="0">
              <a:lnSpc>
                <a:spcPct val="108000"/>
              </a:lnSpc>
              <a:buNone/>
            </a:pPr>
            <a:r>
              <a:rPr lang="en-US" sz="1050" dirty="0">
                <a:solidFill>
                  <a:srgbClr val="7CC4FF"/>
                </a:solidFill>
                <a:latin typeface="Consolas" pitchFamily="34" charset="0"/>
                <a:ea typeface="Consolas" pitchFamily="34" charset="-122"/>
                <a:cs typeface="Consolas" pitchFamily="34" charset="-120"/>
              </a:rPr>
              <a:t>acceptance</a:t>
            </a:r>
            <a:pPr indent="0" marL="0">
              <a:lnSpc>
                <a:spcPct val="108000"/>
              </a:lnSpc>
              <a:buNone/>
            </a:pPr>
            <a:r>
              <a:rPr lang="en-US" sz="1050" dirty="0">
                <a:solidFill>
                  <a:srgbClr val="E6EDF3"/>
                </a:solidFill>
                <a:latin typeface="Consolas" pitchFamily="34" charset="0"/>
                <a:ea typeface="Consolas" pitchFamily="34" charset="-122"/>
                <a:cs typeface="Consolas" pitchFamily="34" charset="-120"/>
              </a:rPr>
              <a:t>:</a:t>
            </a:r>
            <a:endParaRPr lang="en-US" sz="1050" dirty="0"/>
          </a:p>
          <a:p>
            <a:pPr indent="0" marL="0">
              <a:lnSpc>
                <a:spcPct val="108000"/>
              </a:lnSpc>
              <a:buNone/>
            </a:pPr>
            <a:r>
              <a:rPr lang="en-US" sz="10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0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050" dirty="0">
                <a:solidFill>
                  <a:srgbClr val="7CC4FF"/>
                </a:solidFill>
                <a:latin typeface="Consolas" pitchFamily="34" charset="0"/>
                <a:ea typeface="Consolas" pitchFamily="34" charset="-122"/>
                <a:cs typeface="Consolas" pitchFamily="34" charset="-120"/>
              </a:rPr>
              <a:t>no_match</a:t>
            </a:r>
            <a:pPr indent="0" marL="0">
              <a:lnSpc>
                <a:spcPct val="108000"/>
              </a:lnSpc>
              <a:buNone/>
            </a:pPr>
            <a:r>
              <a:rPr lang="en-US" sz="10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050" dirty="0">
                <a:solidFill>
                  <a:srgbClr val="FFC98A"/>
                </a:solidFill>
                <a:latin typeface="Consolas" pitchFamily="34" charset="0"/>
                <a:ea typeface="Consolas" pitchFamily="34" charset="-122"/>
                <a:cs typeface="Consolas" pitchFamily="34" charset="-120"/>
              </a:rPr>
              <a:t>'\bjavax\.(?!(crypto|naming|sql|...))'</a:t>
            </a:r>
            <a:endParaRPr lang="en-US" sz="1050" dirty="0"/>
          </a:p>
          <a:p>
            <a:pPr indent="0" marL="0">
              <a:lnSpc>
                <a:spcPct val="108000"/>
              </a:lnSpc>
              <a:buNone/>
            </a:pPr>
            <a:r>
              <a:rPr lang="en-US" sz="10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0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050" dirty="0">
                <a:solidFill>
                  <a:srgbClr val="7CC4FF"/>
                </a:solidFill>
                <a:latin typeface="Consolas" pitchFamily="34" charset="0"/>
                <a:ea typeface="Consolas" pitchFamily="34" charset="-122"/>
                <a:cs typeface="Consolas" pitchFamily="34" charset="-120"/>
              </a:rPr>
              <a:t>count_unchanged</a:t>
            </a:r>
            <a:pPr indent="0" marL="0">
              <a:lnSpc>
                <a:spcPct val="108000"/>
              </a:lnSpc>
              <a:buNone/>
            </a:pPr>
            <a:r>
              <a:rPr lang="en-US" sz="105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050" dirty="0">
                <a:solidFill>
                  <a:srgbClr val="FFC98A"/>
                </a:solidFill>
                <a:latin typeface="Consolas" pitchFamily="34" charset="0"/>
                <a:ea typeface="Consolas" pitchFamily="34" charset="-122"/>
                <a:cs typeface="Consolas" pitchFamily="34" charset="-120"/>
              </a:rPr>
              <a:t>'^import javax\.(crypto|naming|sql|...)'</a:t>
            </a:r>
            <a:endParaRPr lang="en-US" sz="1050" dirty="0"/>
          </a:p>
          <a:p>
            <a:pPr indent="0" marL="0">
              <a:lnSpc>
                <a:spcPct val="108000"/>
              </a:lnSpc>
              <a:buNone/>
            </a:pPr>
            <a:r>
              <a:rPr lang="en-US" sz="1050" dirty="0">
                <a:solidFill>
                  <a:srgbClr val="5B6878"/>
                </a:solidFill>
                <a:latin typeface="Consolas" pitchFamily="34" charset="0"/>
                <a:ea typeface="Consolas" pitchFamily="34" charset="-122"/>
                <a:cs typeface="Consolas" pitchFamily="34" charset="-120"/>
              </a:rPr>
              <a:t>---</a:t>
            </a:r>
            <a:endParaRPr lang="en-US" sz="1050" dirty="0"/>
          </a:p>
          <a:p>
            <a:pPr indent="0" marL="0">
              <a:lnSpc>
                <a:spcPct val="108000"/>
              </a:lnSpc>
              <a:buNone/>
            </a:pPr>
            <a:r>
              <a:rPr lang="en-US" sz="1050" b="1" dirty="0">
                <a:solidFill>
                  <a:srgbClr val="FF8A55"/>
                </a:solidFill>
                <a:latin typeface="Consolas" pitchFamily="34" charset="0"/>
                <a:ea typeface="Consolas" pitchFamily="34" charset="-122"/>
                <a:cs typeface="Consolas" pitchFamily="34" charset="-120"/>
              </a:rPr>
              <a:t>## transform   </a:t>
            </a:r>
            <a:pPr indent="0" marL="0">
              <a:lnSpc>
                <a:spcPct val="108000"/>
              </a:lnSpc>
              <a:buNone/>
            </a:pPr>
            <a:r>
              <a:rPr lang="en-US" sz="1050" i="1" dirty="0">
                <a:solidFill>
                  <a:srgbClr val="7D8B99"/>
                </a:solidFill>
                <a:latin typeface="Consolas" pitchFamily="34" charset="0"/>
                <a:ea typeface="Consolas" pitchFamily="34" charset="-122"/>
                <a:cs typeface="Consolas" pitchFamily="34" charset="-120"/>
              </a:rPr>
              <a:t># six rules, sent to the model verbatim</a:t>
            </a:r>
            <a:endParaRPr lang="en-US" sz="1050" dirty="0"/>
          </a:p>
          <a:p>
            <a:pPr indent="0" marL="0">
              <a:lnSpc>
                <a:spcPct val="108000"/>
              </a:lnSpc>
              <a:buNone/>
            </a:pPr>
            <a:r>
              <a:rPr lang="en-US" sz="1050" b="1" dirty="0">
                <a:solidFill>
                  <a:srgbClr val="FF8A55"/>
                </a:solidFill>
                <a:latin typeface="Consolas" pitchFamily="34" charset="0"/>
                <a:ea typeface="Consolas" pitchFamily="34" charset="-122"/>
                <a:cs typeface="Consolas" pitchFamily="34" charset="-120"/>
              </a:rPr>
              <a:t>## review      </a:t>
            </a:r>
            <a:pPr indent="0" marL="0">
              <a:lnSpc>
                <a:spcPct val="108000"/>
              </a:lnSpc>
              <a:buNone/>
            </a:pPr>
            <a:r>
              <a:rPr lang="en-US" sz="1050" i="1" dirty="0">
                <a:solidFill>
                  <a:srgbClr val="7D8B99"/>
                </a:solidFill>
                <a:latin typeface="Consolas" pitchFamily="34" charset="0"/>
                <a:ea typeface="Consolas" pitchFamily="34" charset="-122"/>
                <a:cs typeface="Consolas" pitchFamily="34" charset="-120"/>
              </a:rPr>
              <a:t># five checks, total 100</a:t>
            </a:r>
            <a:endParaRPr lang="en-US" sz="1050" dirty="0"/>
          </a:p>
        </p:txBody>
      </p:sp>
      <p:sp>
        <p:nvSpPr>
          <p:cNvPr id="11" name="Text 9"/>
          <p:cNvSpPr txBox="1"/>
          <p:nvPr/>
        </p:nvSpPr>
        <p:spPr>
          <a:xfrm>
            <a:off x="6720840" y="2011680"/>
            <a:ext cx="1417320" cy="274320"/>
          </a:xfrm>
          <a:prstGeom prst="rect">
            <a:avLst/>
          </a:prstGeom>
          <a:noFill/>
          <a:ln/>
        </p:spPr>
        <p:txBody>
          <a:bodyPr wrap="square" lIns="0" tIns="0" rIns="0" bIns="0" rtlCol="0" anchor="t"/>
          <a:lstStyle/>
          <a:p>
            <a:pPr indent="0" marL="0">
              <a:buNone/>
            </a:pPr>
            <a:r>
              <a:rPr lang="en-US" sz="1300" b="1" dirty="0">
                <a:solidFill>
                  <a:srgbClr val="FF6A2B"/>
                </a:solidFill>
                <a:latin typeface="Consolas" pitchFamily="34" charset="0"/>
                <a:ea typeface="Consolas" pitchFamily="34" charset="-122"/>
                <a:cs typeface="Consolas" pitchFamily="34" charset="-120"/>
              </a:rPr>
              <a:t>detect</a:t>
            </a:r>
            <a:endParaRPr lang="en-US" sz="1300" dirty="0"/>
          </a:p>
        </p:txBody>
      </p:sp>
      <p:sp>
        <p:nvSpPr>
          <p:cNvPr id="12" name="Text 10"/>
          <p:cNvSpPr txBox="1"/>
          <p:nvPr/>
        </p:nvSpPr>
        <p:spPr>
          <a:xfrm>
            <a:off x="8183880" y="2011680"/>
            <a:ext cx="3456432" cy="658368"/>
          </a:xfrm>
          <a:prstGeom prst="rect">
            <a:avLst/>
          </a:prstGeom>
          <a:noFill/>
          <a:ln/>
        </p:spPr>
        <p:txBody>
          <a:bodyPr wrap="square" lIns="0" tIns="0" rIns="0" bIns="0" rtlCol="0" anchor="t"/>
          <a:lstStyle/>
          <a:p>
            <a:pPr indent="0" marL="0">
              <a:buNone/>
            </a:pPr>
            <a:r>
              <a:rPr lang="en-US" sz="1200" dirty="0">
                <a:solidFill>
                  <a:srgbClr val="AAB5C3"/>
                </a:solidFill>
                <a:latin typeface="Arial" pitchFamily="34" charset="0"/>
                <a:ea typeface="Arial" pitchFamily="34" charset="-122"/>
                <a:cs typeface="Arial" pitchFamily="34" charset="-120"/>
              </a:rPr>
              <a:t>What activates the pack: an import, a dependency or a file. Evidence, never a guess.</a:t>
            </a:r>
            <a:endParaRPr lang="en-US" sz="1200" dirty="0"/>
          </a:p>
        </p:txBody>
      </p:sp>
      <p:sp>
        <p:nvSpPr>
          <p:cNvPr id="13" name="Text 11"/>
          <p:cNvSpPr txBox="1"/>
          <p:nvPr/>
        </p:nvSpPr>
        <p:spPr>
          <a:xfrm>
            <a:off x="6720840" y="2670048"/>
            <a:ext cx="1417320" cy="274320"/>
          </a:xfrm>
          <a:prstGeom prst="rect">
            <a:avLst/>
          </a:prstGeom>
          <a:noFill/>
          <a:ln/>
        </p:spPr>
        <p:txBody>
          <a:bodyPr wrap="square" lIns="0" tIns="0" rIns="0" bIns="0" rtlCol="0" anchor="t"/>
          <a:lstStyle/>
          <a:p>
            <a:pPr indent="0" marL="0">
              <a:buNone/>
            </a:pPr>
            <a:r>
              <a:rPr lang="en-US" sz="1300" b="1" dirty="0">
                <a:solidFill>
                  <a:srgbClr val="FF6A2B"/>
                </a:solidFill>
                <a:latin typeface="Consolas" pitchFamily="34" charset="0"/>
                <a:ea typeface="Consolas" pitchFamily="34" charset="-122"/>
                <a:cs typeface="Consolas" pitchFamily="34" charset="-120"/>
              </a:rPr>
              <a:t>applies_to</a:t>
            </a:r>
            <a:endParaRPr lang="en-US" sz="1300" dirty="0"/>
          </a:p>
        </p:txBody>
      </p:sp>
      <p:sp>
        <p:nvSpPr>
          <p:cNvPr id="14" name="Text 12"/>
          <p:cNvSpPr txBox="1"/>
          <p:nvPr/>
        </p:nvSpPr>
        <p:spPr>
          <a:xfrm>
            <a:off x="8183880" y="2670048"/>
            <a:ext cx="3456432" cy="658368"/>
          </a:xfrm>
          <a:prstGeom prst="rect">
            <a:avLst/>
          </a:prstGeom>
          <a:noFill/>
          <a:ln/>
        </p:spPr>
        <p:txBody>
          <a:bodyPr wrap="square" lIns="0" tIns="0" rIns="0" bIns="0" rtlCol="0" anchor="t"/>
          <a:lstStyle/>
          <a:p>
            <a:pPr indent="0" marL="0">
              <a:buNone/>
            </a:pPr>
            <a:r>
              <a:rPr lang="en-US" sz="1200" dirty="0">
                <a:solidFill>
                  <a:srgbClr val="AAB5C3"/>
                </a:solidFill>
                <a:latin typeface="Arial" pitchFamily="34" charset="0"/>
                <a:ea typeface="Arial" pitchFamily="34" charset="-122"/>
                <a:cs typeface="Arial" pitchFamily="34" charset="-120"/>
              </a:rPr>
              <a:t>Which files it takes, by content: on AMS, 16 of 376 Java files. The pattern is a complement: any javax.* that isn’t the JDK’s.</a:t>
            </a:r>
            <a:endParaRPr lang="en-US" sz="1200" dirty="0"/>
          </a:p>
        </p:txBody>
      </p:sp>
      <p:sp>
        <p:nvSpPr>
          <p:cNvPr id="15" name="Text 13"/>
          <p:cNvSpPr txBox="1"/>
          <p:nvPr/>
        </p:nvSpPr>
        <p:spPr>
          <a:xfrm>
            <a:off x="6720840" y="3511296"/>
            <a:ext cx="1417320" cy="274320"/>
          </a:xfrm>
          <a:prstGeom prst="rect">
            <a:avLst/>
          </a:prstGeom>
          <a:noFill/>
          <a:ln/>
        </p:spPr>
        <p:txBody>
          <a:bodyPr wrap="square" lIns="0" tIns="0" rIns="0" bIns="0" rtlCol="0" anchor="t"/>
          <a:lstStyle/>
          <a:p>
            <a:pPr indent="0" marL="0">
              <a:buNone/>
            </a:pPr>
            <a:r>
              <a:rPr lang="en-US" sz="1300" b="1" dirty="0">
                <a:solidFill>
                  <a:srgbClr val="FF6A2B"/>
                </a:solidFill>
                <a:latin typeface="Consolas" pitchFamily="34" charset="0"/>
                <a:ea typeface="Consolas" pitchFamily="34" charset="-122"/>
                <a:cs typeface="Consolas" pitchFamily="34" charset="-120"/>
              </a:rPr>
              <a:t>depends_on</a:t>
            </a:r>
            <a:endParaRPr lang="en-US" sz="1300" dirty="0"/>
          </a:p>
        </p:txBody>
      </p:sp>
      <p:sp>
        <p:nvSpPr>
          <p:cNvPr id="16" name="Text 14"/>
          <p:cNvSpPr txBox="1"/>
          <p:nvPr/>
        </p:nvSpPr>
        <p:spPr>
          <a:xfrm>
            <a:off x="8183880" y="3511296"/>
            <a:ext cx="3456432" cy="658368"/>
          </a:xfrm>
          <a:prstGeom prst="rect">
            <a:avLst/>
          </a:prstGeom>
          <a:noFill/>
          <a:ln/>
        </p:spPr>
        <p:txBody>
          <a:bodyPr wrap="square" lIns="0" tIns="0" rIns="0" bIns="0" rtlCol="0" anchor="t"/>
          <a:lstStyle/>
          <a:p>
            <a:pPr indent="0" marL="0">
              <a:buNone/>
            </a:pPr>
            <a:r>
              <a:rPr lang="en-US" sz="1200" dirty="0">
                <a:solidFill>
                  <a:srgbClr val="AAB5C3"/>
                </a:solidFill>
                <a:latin typeface="Arial" pitchFamily="34" charset="0"/>
                <a:ea typeface="Arial" pitchFamily="34" charset="-122"/>
                <a:cs typeface="Arial" pitchFamily="34" charset="-120"/>
              </a:rPr>
              <a:t>An ordering edge. Packs run in topological order.</a:t>
            </a:r>
            <a:endParaRPr lang="en-US" sz="1200" dirty="0"/>
          </a:p>
        </p:txBody>
      </p:sp>
      <p:sp>
        <p:nvSpPr>
          <p:cNvPr id="17" name="Text 15"/>
          <p:cNvSpPr txBox="1"/>
          <p:nvPr/>
        </p:nvSpPr>
        <p:spPr>
          <a:xfrm>
            <a:off x="6720840" y="3977640"/>
            <a:ext cx="1417320" cy="274320"/>
          </a:xfrm>
          <a:prstGeom prst="rect">
            <a:avLst/>
          </a:prstGeom>
          <a:noFill/>
          <a:ln/>
        </p:spPr>
        <p:txBody>
          <a:bodyPr wrap="square" lIns="0" tIns="0" rIns="0" bIns="0" rtlCol="0" anchor="t"/>
          <a:lstStyle/>
          <a:p>
            <a:pPr indent="0" marL="0">
              <a:buNone/>
            </a:pPr>
            <a:r>
              <a:rPr lang="en-US" sz="1300" b="1" dirty="0">
                <a:solidFill>
                  <a:srgbClr val="FF6A2B"/>
                </a:solidFill>
                <a:latin typeface="Consolas" pitchFamily="34" charset="0"/>
                <a:ea typeface="Consolas" pitchFamily="34" charset="-122"/>
                <a:cs typeface="Consolas" pitchFamily="34" charset="-120"/>
              </a:rPr>
              <a:t>acceptance</a:t>
            </a:r>
            <a:endParaRPr lang="en-US" sz="1300" dirty="0"/>
          </a:p>
        </p:txBody>
      </p:sp>
      <p:sp>
        <p:nvSpPr>
          <p:cNvPr id="18" name="Text 16"/>
          <p:cNvSpPr txBox="1"/>
          <p:nvPr/>
        </p:nvSpPr>
        <p:spPr>
          <a:xfrm>
            <a:off x="8183880" y="3977640"/>
            <a:ext cx="3456432" cy="658368"/>
          </a:xfrm>
          <a:prstGeom prst="rect">
            <a:avLst/>
          </a:prstGeom>
          <a:noFill/>
          <a:ln/>
        </p:spPr>
        <p:txBody>
          <a:bodyPr wrap="square" lIns="0" tIns="0" rIns="0" bIns="0" rtlCol="0" anchor="t"/>
          <a:lstStyle/>
          <a:p>
            <a:pPr indent="0" marL="0">
              <a:buNone/>
            </a:pPr>
            <a:r>
              <a:rPr lang="en-US" sz="1200" dirty="0">
                <a:solidFill>
                  <a:srgbClr val="AAB5C3"/>
                </a:solidFill>
                <a:latin typeface="Arial" pitchFamily="34" charset="0"/>
                <a:ea typeface="Arial" pitchFamily="34" charset="-122"/>
                <a:cs typeface="Arial" pitchFamily="34" charset="-120"/>
              </a:rPr>
              <a:t>Mechanical proof after the run. count_unchanged catches over-migration: the JDK’s javax.* count must not move.</a:t>
            </a:r>
            <a:endParaRPr lang="en-US" sz="1200" dirty="0"/>
          </a:p>
        </p:txBody>
      </p:sp>
      <p:sp>
        <p:nvSpPr>
          <p:cNvPr id="19" name="Text 17"/>
          <p:cNvSpPr txBox="1"/>
          <p:nvPr/>
        </p:nvSpPr>
        <p:spPr>
          <a:xfrm>
            <a:off x="6720840" y="4818888"/>
            <a:ext cx="1417320" cy="274320"/>
          </a:xfrm>
          <a:prstGeom prst="rect">
            <a:avLst/>
          </a:prstGeom>
          <a:noFill/>
          <a:ln/>
        </p:spPr>
        <p:txBody>
          <a:bodyPr wrap="square" lIns="0" tIns="0" rIns="0" bIns="0" rtlCol="0" anchor="t"/>
          <a:lstStyle/>
          <a:p>
            <a:pPr indent="0" marL="0">
              <a:buNone/>
            </a:pPr>
            <a:r>
              <a:rPr lang="en-US" sz="1300" b="1" dirty="0">
                <a:solidFill>
                  <a:srgbClr val="FF6A2B"/>
                </a:solidFill>
                <a:latin typeface="Consolas" pitchFamily="34" charset="0"/>
                <a:ea typeface="Consolas" pitchFamily="34" charset="-122"/>
                <a:cs typeface="Consolas" pitchFamily="34" charset="-120"/>
              </a:rPr>
              <a:t>## review</a:t>
            </a:r>
            <a:endParaRPr lang="en-US" sz="1300" dirty="0"/>
          </a:p>
        </p:txBody>
      </p:sp>
      <p:sp>
        <p:nvSpPr>
          <p:cNvPr id="20" name="Text 18"/>
          <p:cNvSpPr txBox="1"/>
          <p:nvPr/>
        </p:nvSpPr>
        <p:spPr>
          <a:xfrm>
            <a:off x="8183880" y="4818888"/>
            <a:ext cx="3456432" cy="658368"/>
          </a:xfrm>
          <a:prstGeom prst="rect">
            <a:avLst/>
          </a:prstGeom>
          <a:noFill/>
          <a:ln/>
        </p:spPr>
        <p:txBody>
          <a:bodyPr wrap="square" lIns="0" tIns="0" rIns="0" bIns="0" rtlCol="0" anchor="t"/>
          <a:lstStyle/>
          <a:p>
            <a:pPr indent="0" marL="0">
              <a:buNone/>
            </a:pPr>
            <a:r>
              <a:rPr lang="en-US" sz="1200" dirty="0">
                <a:solidFill>
                  <a:srgbClr val="AAB5C3"/>
                </a:solidFill>
                <a:latin typeface="Arial" pitchFamily="34" charset="0"/>
                <a:ea typeface="Arial" pitchFamily="34" charset="-122"/>
                <a:cs typeface="Arial" pitchFamily="34" charset="-120"/>
              </a:rPr>
              <a:t>The rubric. Weights must total 100, and a check that doesn’t apply earns its full points.</a:t>
            </a:r>
            <a:endParaRPr lang="en-US" sz="1200" dirty="0"/>
          </a:p>
        </p:txBody>
      </p:sp>
      <p:sp>
        <p:nvSpPr>
          <p:cNvPr id="21" name="Text 19"/>
          <p:cNvSpPr txBox="1"/>
          <p:nvPr/>
        </p:nvSpPr>
        <p:spPr>
          <a:xfrm>
            <a:off x="6720840" y="5669280"/>
            <a:ext cx="4919472" cy="457200"/>
          </a:xfrm>
          <a:prstGeom prst="rect">
            <a:avLst/>
          </a:prstGeom>
          <a:noFill/>
          <a:ln/>
        </p:spPr>
        <p:txBody>
          <a:bodyPr wrap="square" lIns="0" tIns="0" rIns="0" bIns="0" rtlCol="0" anchor="t"/>
          <a:lstStyle/>
          <a:p>
            <a:pPr indent="0" marL="0">
              <a:buNone/>
            </a:pPr>
            <a:r>
              <a:rPr lang="en-US" sz="1150" b="1" dirty="0">
                <a:solidFill>
                  <a:srgbClr val="F3F5F8"/>
                </a:solidFill>
                <a:latin typeface="Arial" pitchFamily="34" charset="0"/>
                <a:ea typeface="Arial" pitchFamily="34" charset="-122"/>
                <a:cs typeface="Arial" pitchFamily="34" charset="-120"/>
              </a:rPr>
              <a:t>18 packs. </a:t>
            </a:r>
            <a:pPr indent="0" marL="0">
              <a:buNone/>
            </a:pPr>
            <a:r>
              <a:rPr lang="en-US" sz="1150" dirty="0">
                <a:solidFill>
                  <a:srgbClr val="AAB5C3"/>
                </a:solidFill>
                <a:latin typeface="Arial" pitchFamily="34" charset="0"/>
                <a:ea typeface="Arial" pitchFamily="34" charset="-122"/>
                <a:cs typeface="Arial" pitchFamily="34" charset="-120"/>
              </a:rPr>
              <a:t>10 migrate today; 8 are detected and reported: Ant, Hibernate, JAX-RS, iBATIS, EJB 2, EJB 3, JMS, JSF.</a:t>
            </a:r>
            <a:endParaRPr lang="en-US" sz="1150" dirty="0"/>
          </a:p>
        </p:txBody>
      </p:sp>
      <p:sp>
        <p:nvSpPr>
          <p:cNvPr id="22" name="Text 20"/>
          <p:cNvSpPr txBox="1"/>
          <p:nvPr/>
        </p:nvSpPr>
        <p:spPr>
          <a:xfrm>
            <a:off x="548640" y="6455664"/>
            <a:ext cx="5486400" cy="219456"/>
          </a:xfrm>
          <a:prstGeom prst="rect">
            <a:avLst/>
          </a:prstGeom>
          <a:noFill/>
          <a:ln/>
        </p:spPr>
        <p:txBody>
          <a:bodyPr wrap="square" lIns="0" tIns="0" rIns="0" bIns="0" rtlCol="0" anchor="t"/>
          <a:lstStyle/>
          <a:p>
            <a:pPr indent="0" marL="0">
              <a:buNone/>
            </a:pPr>
            <a:r>
              <a:rPr lang="en-US" sz="900" dirty="0">
                <a:solidFill>
                  <a:srgbClr val="738191"/>
                </a:solidFill>
                <a:latin typeface="Arial" pitchFamily="34" charset="0"/>
                <a:ea typeface="Arial" pitchFamily="34" charset="-122"/>
                <a:cs typeface="Arial" pitchFamily="34" charset="-120"/>
              </a:rPr>
              <a:t>FORGE  ·  Software Development Conference 2026</a:t>
            </a:r>
            <a:endParaRPr lang="en-US" sz="900" dirty="0"/>
          </a:p>
        </p:txBody>
      </p:sp>
      <p:sp>
        <p:nvSpPr>
          <p:cNvPr id="23" name="Text 21"/>
          <p:cNvSpPr txBox="1"/>
          <p:nvPr/>
        </p:nvSpPr>
        <p:spPr>
          <a:xfrm>
            <a:off x="11094415" y="6455664"/>
            <a:ext cx="548640" cy="219456"/>
          </a:xfrm>
          <a:prstGeom prst="rect">
            <a:avLst/>
          </a:prstGeom>
          <a:noFill/>
          <a:ln/>
        </p:spPr>
        <p:txBody>
          <a:bodyPr wrap="square" lIns="0" tIns="0" rIns="0" bIns="0" rtlCol="0" anchor="t"/>
          <a:lstStyle/>
          <a:p>
            <a:pPr algn="r" indent="0" marL="0">
              <a:buNone/>
            </a:pPr>
            <a:r>
              <a:rPr lang="en-US" sz="900" dirty="0">
                <a:solidFill>
                  <a:srgbClr val="738191"/>
                </a:solidFill>
                <a:latin typeface="Arial" pitchFamily="34" charset="0"/>
                <a:ea typeface="Arial" pitchFamily="34" charset="-122"/>
                <a:cs typeface="Arial"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t"/>
          <a:lstStyle/>
          <a:p>
            <a:pPr indent="0" marL="0">
              <a:buNone/>
            </a:pPr>
            <a:r>
              <a:rPr lang="en-US" sz="1100" b="1" spc="300" kern="0" dirty="0">
                <a:solidFill>
                  <a:srgbClr val="FF6A2B"/>
                </a:solidFill>
                <a:latin typeface="Arial" pitchFamily="34" charset="0"/>
                <a:ea typeface="Arial" pitchFamily="34" charset="-122"/>
                <a:cs typeface="Arial" pitchFamily="34" charset="-120"/>
              </a:rPr>
              <a:t>04  ·  THE EXPERIENCE</a:t>
            </a:r>
            <a:endParaRPr lang="en-US" sz="1100" dirty="0"/>
          </a:p>
        </p:txBody>
      </p:sp>
      <p:sp>
        <p:nvSpPr>
          <p:cNvPr id="3" name="Text 1"/>
          <p:cNvSpPr txBox="1"/>
          <p:nvPr/>
        </p:nvSpPr>
        <p:spPr>
          <a:xfrm>
            <a:off x="548640" y="676656"/>
            <a:ext cx="11094415" cy="658368"/>
          </a:xfrm>
          <a:prstGeom prst="rect">
            <a:avLst/>
          </a:prstGeom>
          <a:noFill/>
          <a:ln/>
        </p:spPr>
        <p:txBody>
          <a:bodyPr wrap="square" lIns="0" tIns="0" rIns="0" bIns="0" rtlCol="0" anchor="t"/>
          <a:lstStyle/>
          <a:p>
            <a:pPr indent="0" marL="0">
              <a:buNone/>
            </a:pPr>
            <a:r>
              <a:rPr lang="en-US" sz="3200" b="1" dirty="0">
                <a:solidFill>
                  <a:srgbClr val="F3F5F8"/>
                </a:solidFill>
                <a:latin typeface="Arial" pitchFamily="34" charset="0"/>
                <a:ea typeface="Arial" pitchFamily="34" charset="-122"/>
                <a:cs typeface="Arial" pitchFamily="34" charset="-120"/>
              </a:rPr>
              <a:t>Discovery: evidence, not guesses</a:t>
            </a:r>
            <a:endParaRPr lang="en-US" sz="3200" dirty="0"/>
          </a:p>
        </p:txBody>
      </p:sp>
      <p:sp>
        <p:nvSpPr>
          <p:cNvPr id="4" name="Text 2"/>
          <p:cNvSpPr txBox="1"/>
          <p:nvPr/>
        </p:nvSpPr>
        <p:spPr>
          <a:xfrm>
            <a:off x="548640" y="1316736"/>
            <a:ext cx="11094415" cy="512064"/>
          </a:xfrm>
          <a:prstGeom prst="rect">
            <a:avLst/>
          </a:prstGeom>
          <a:noFill/>
          <a:ln/>
        </p:spPr>
        <p:txBody>
          <a:bodyPr wrap="square" lIns="0" tIns="0" rIns="0" bIns="0" rtlCol="0" anchor="t"/>
          <a:lstStyle/>
          <a:p>
            <a:pPr indent="0" marL="0">
              <a:lnSpc>
                <a:spcPct val="105000"/>
              </a:lnSpc>
              <a:buNone/>
            </a:pPr>
            <a:r>
              <a:rPr lang="en-US" sz="1500" dirty="0">
                <a:solidFill>
                  <a:srgbClr val="AAB5C3"/>
                </a:solidFill>
                <a:latin typeface="Arial" pitchFamily="34" charset="0"/>
                <a:ea typeface="Arial" pitchFamily="34" charset="-122"/>
                <a:cs typeface="Arial" pitchFamily="34" charset="-120"/>
              </a:rPr>
              <a:t>No model, no AWS, no cost. FORGE profiles the repo, resolves versions through BOMs, and fires every detect rule.</a:t>
            </a:r>
            <a:endParaRPr lang="en-US" sz="1500" dirty="0"/>
          </a:p>
        </p:txBody>
      </p:sp>
      <p:sp>
        <p:nvSpPr>
          <p:cNvPr id="5" name="Shape 3"/>
          <p:cNvSpPr/>
          <p:nvPr/>
        </p:nvSpPr>
        <p:spPr>
          <a:xfrm>
            <a:off x="548640" y="1965960"/>
            <a:ext cx="6720840" cy="4114800"/>
          </a:xfrm>
          <a:prstGeom prst="roundRect">
            <a:avLst>
              <a:gd name="adj" fmla="val 2222"/>
            </a:avLst>
          </a:prstGeom>
          <a:solidFill>
            <a:srgbClr val="0B0F15"/>
          </a:solidFill>
          <a:ln w="9525">
            <a:solidFill>
              <a:srgbClr val="263244"/>
            </a:solidFill>
            <a:prstDash val="solid"/>
          </a:ln>
          <a:effectLst>
            <a:outerShdw sx="100000" sy="100000" kx="0" ky="0" algn="bl" rotWithShape="0" blurRad="203200" dist="63500" dir="5400000">
              <a:srgbClr val="000000">
                <a:alpha val="50000"/>
              </a:srgbClr>
            </a:outerShdw>
          </a:effectLst>
        </p:spPr>
      </p:sp>
      <p:sp>
        <p:nvSpPr>
          <p:cNvPr id="6" name="Shape 4"/>
          <p:cNvSpPr/>
          <p:nvPr/>
        </p:nvSpPr>
        <p:spPr>
          <a:xfrm>
            <a:off x="749808" y="2139696"/>
            <a:ext cx="100584" cy="100584"/>
          </a:xfrm>
          <a:prstGeom prst="ellipse">
            <a:avLst/>
          </a:prstGeom>
          <a:solidFill>
            <a:srgbClr val="FF5F57"/>
          </a:solidFill>
          <a:ln/>
        </p:spPr>
      </p:sp>
      <p:sp>
        <p:nvSpPr>
          <p:cNvPr id="7" name="Shape 5"/>
          <p:cNvSpPr/>
          <p:nvPr/>
        </p:nvSpPr>
        <p:spPr>
          <a:xfrm>
            <a:off x="932688" y="2139696"/>
            <a:ext cx="100584" cy="100584"/>
          </a:xfrm>
          <a:prstGeom prst="ellipse">
            <a:avLst/>
          </a:prstGeom>
          <a:solidFill>
            <a:srgbClr val="FEBC2E"/>
          </a:solidFill>
          <a:ln/>
        </p:spPr>
      </p:sp>
      <p:sp>
        <p:nvSpPr>
          <p:cNvPr id="8" name="Shape 6"/>
          <p:cNvSpPr/>
          <p:nvPr/>
        </p:nvSpPr>
        <p:spPr>
          <a:xfrm>
            <a:off x="1115568" y="2139696"/>
            <a:ext cx="100584" cy="100584"/>
          </a:xfrm>
          <a:prstGeom prst="ellipse">
            <a:avLst/>
          </a:prstGeom>
          <a:solidFill>
            <a:srgbClr val="28C840"/>
          </a:solidFill>
          <a:ln/>
        </p:spPr>
      </p:sp>
      <p:sp>
        <p:nvSpPr>
          <p:cNvPr id="9" name="Text 7"/>
          <p:cNvSpPr txBox="1"/>
          <p:nvPr/>
        </p:nvSpPr>
        <p:spPr>
          <a:xfrm>
            <a:off x="1371600" y="2084832"/>
            <a:ext cx="5715000" cy="219456"/>
          </a:xfrm>
          <a:prstGeom prst="rect">
            <a:avLst/>
          </a:prstGeom>
          <a:noFill/>
          <a:ln/>
        </p:spPr>
        <p:txBody>
          <a:bodyPr wrap="square" lIns="0" tIns="0" rIns="0" bIns="0" rtlCol="0" anchor="t"/>
          <a:lstStyle/>
          <a:p>
            <a:pPr indent="0" marL="0">
              <a:buNone/>
            </a:pPr>
            <a:r>
              <a:rPr lang="en-US" sz="1000" dirty="0">
                <a:solidFill>
                  <a:srgbClr val="738191"/>
                </a:solidFill>
                <a:latin typeface="Consolas" pitchFamily="34" charset="0"/>
                <a:ea typeface="Consolas" pitchFamily="34" charset="-122"/>
                <a:cs typeface="Consolas" pitchFamily="34" charset="-120"/>
              </a:rPr>
              <a:t>forge-profile.yaml  ·  generated for AMS</a:t>
            </a:r>
            <a:endParaRPr lang="en-US" sz="1000" dirty="0"/>
          </a:p>
        </p:txBody>
      </p:sp>
      <p:sp>
        <p:nvSpPr>
          <p:cNvPr id="10" name="Text 8"/>
          <p:cNvSpPr txBox="1"/>
          <p:nvPr/>
        </p:nvSpPr>
        <p:spPr>
          <a:xfrm>
            <a:off x="822960" y="2468880"/>
            <a:ext cx="6309360" cy="3474720"/>
          </a:xfrm>
          <a:prstGeom prst="rect">
            <a:avLst/>
          </a:prstGeom>
          <a:noFill/>
          <a:ln/>
        </p:spPr>
        <p:txBody>
          <a:bodyPr wrap="square" lIns="0" tIns="0" rIns="0" bIns="0" rtlCol="0" anchor="t"/>
          <a:lstStyle/>
          <a:p>
            <a:pPr indent="0" marL="0">
              <a:lnSpc>
                <a:spcPct val="108000"/>
              </a:lnSpc>
              <a:buNone/>
            </a:pPr>
            <a:r>
              <a:rPr lang="en-US" sz="1100" dirty="0">
                <a:solidFill>
                  <a:srgbClr val="7CC4FF"/>
                </a:solidFill>
                <a:latin typeface="Consolas" pitchFamily="34" charset="0"/>
                <a:ea typeface="Consolas" pitchFamily="34" charset="-122"/>
                <a:cs typeface="Consolas" pitchFamily="34" charset="-120"/>
              </a:rPr>
              <a:t>build_system</a:t>
            </a:r>
            <a:pPr indent="0" marL="0">
              <a:lnSpc>
                <a:spcPct val="108000"/>
              </a:lnSpc>
              <a:buNone/>
            </a:pPr>
            <a:r>
              <a:rPr lang="en-US" sz="110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FFC98A"/>
                </a:solidFill>
                <a:latin typeface="Consolas" pitchFamily="34" charset="0"/>
                <a:ea typeface="Consolas" pitchFamily="34" charset="-122"/>
                <a:cs typeface="Consolas" pitchFamily="34" charset="-120"/>
              </a:rPr>
              <a:t>maven</a:t>
            </a:r>
            <a:endParaRPr lang="en-US" sz="1100" dirty="0"/>
          </a:p>
          <a:p>
            <a:pPr indent="0" marL="0">
              <a:lnSpc>
                <a:spcPct val="108000"/>
              </a:lnSpc>
              <a:buNone/>
            </a:pPr>
            <a:r>
              <a:rPr lang="en-US" sz="1100" dirty="0">
                <a:solidFill>
                  <a:srgbClr val="7CC4FF"/>
                </a:solidFill>
                <a:latin typeface="Consolas" pitchFamily="34" charset="0"/>
                <a:ea typeface="Consolas" pitchFamily="34" charset="-122"/>
                <a:cs typeface="Consolas" pitchFamily="34" charset="-120"/>
              </a:rPr>
              <a:t>java_level</a:t>
            </a:r>
            <a:pPr indent="0" marL="0">
              <a:lnSpc>
                <a:spcPct val="108000"/>
              </a:lnSpc>
              <a:buNone/>
            </a:pPr>
            <a:r>
              <a:rPr lang="en-US" sz="110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FFB547"/>
                </a:solidFill>
                <a:latin typeface="Consolas" pitchFamily="34" charset="0"/>
                <a:ea typeface="Consolas" pitchFamily="34" charset="-122"/>
                <a:cs typeface="Consolas" pitchFamily="34" charset="-120"/>
              </a:rPr>
              <a:t>8</a:t>
            </a:r>
            <a:endParaRPr lang="en-US" sz="1100" dirty="0"/>
          </a:p>
          <a:p>
            <a:pPr indent="0" marL="0">
              <a:lnSpc>
                <a:spcPct val="108000"/>
              </a:lnSpc>
              <a:buNone/>
            </a:pPr>
            <a:r>
              <a:rPr lang="en-US" sz="1100" dirty="0">
                <a:solidFill>
                  <a:srgbClr val="7CC4FF"/>
                </a:solidFill>
                <a:latin typeface="Consolas" pitchFamily="34" charset="0"/>
                <a:ea typeface="Consolas" pitchFamily="34" charset="-122"/>
                <a:cs typeface="Consolas" pitchFamily="34" charset="-120"/>
              </a:rPr>
              <a:t>target</a:t>
            </a:r>
            <a:pPr indent="0" marL="0">
              <a:lnSpc>
                <a:spcPct val="108000"/>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8000"/>
              </a:lnSpc>
              <a:buNone/>
            </a:pPr>
            <a:r>
              <a:rPr lang="en-US" sz="110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7CC4FF"/>
                </a:solidFill>
                <a:latin typeface="Consolas" pitchFamily="34" charset="0"/>
                <a:ea typeface="Consolas" pitchFamily="34" charset="-122"/>
                <a:cs typeface="Consolas" pitchFamily="34" charset="-120"/>
              </a:rPr>
              <a:t>java</a:t>
            </a:r>
            <a:pPr indent="0" marL="0">
              <a:lnSpc>
                <a:spcPct val="108000"/>
              </a:lnSpc>
              <a:buNone/>
            </a:pPr>
            <a:r>
              <a:rPr lang="en-US" sz="110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FFC98A"/>
                </a:solidFill>
                <a:latin typeface="Consolas" pitchFamily="34" charset="0"/>
                <a:ea typeface="Consolas" pitchFamily="34" charset="-122"/>
                <a:cs typeface="Consolas" pitchFamily="34" charset="-120"/>
              </a:rPr>
              <a:t>'21'</a:t>
            </a:r>
            <a:endParaRPr lang="en-US" sz="1100" dirty="0"/>
          </a:p>
          <a:p>
            <a:pPr indent="0" marL="0">
              <a:lnSpc>
                <a:spcPct val="108000"/>
              </a:lnSpc>
              <a:buNone/>
            </a:pPr>
            <a:r>
              <a:rPr lang="en-US" sz="110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7CC4FF"/>
                </a:solidFill>
                <a:latin typeface="Consolas" pitchFamily="34" charset="0"/>
                <a:ea typeface="Consolas" pitchFamily="34" charset="-122"/>
                <a:cs typeface="Consolas" pitchFamily="34" charset="-120"/>
              </a:rPr>
              <a:t>spring</a:t>
            </a:r>
            <a:pPr indent="0" marL="0">
              <a:lnSpc>
                <a:spcPct val="108000"/>
              </a:lnSpc>
              <a:buNone/>
            </a:pPr>
            <a:r>
              <a:rPr lang="en-US" sz="110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FFC98A"/>
                </a:solidFill>
                <a:latin typeface="Consolas" pitchFamily="34" charset="0"/>
                <a:ea typeface="Consolas" pitchFamily="34" charset="-122"/>
                <a:cs typeface="Consolas" pitchFamily="34" charset="-120"/>
              </a:rPr>
              <a:t>'6.2'</a:t>
            </a:r>
            <a:endParaRPr lang="en-US" sz="1100" dirty="0"/>
          </a:p>
          <a:p>
            <a:pPr indent="0" marL="0">
              <a:lnSpc>
                <a:spcPct val="108000"/>
              </a:lnSpc>
              <a:buNone/>
            </a:pPr>
            <a:r>
              <a:rPr lang="en-US" sz="110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7CC4FF"/>
                </a:solidFill>
                <a:latin typeface="Consolas" pitchFamily="34" charset="0"/>
                <a:ea typeface="Consolas" pitchFamily="34" charset="-122"/>
                <a:cs typeface="Consolas" pitchFamily="34" charset="-120"/>
              </a:rPr>
              <a:t>jakarta</a:t>
            </a:r>
            <a:pPr indent="0" marL="0">
              <a:lnSpc>
                <a:spcPct val="108000"/>
              </a:lnSpc>
              <a:buNone/>
            </a:pPr>
            <a:r>
              <a:rPr lang="en-US" sz="110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FFC98A"/>
                </a:solidFill>
                <a:latin typeface="Consolas" pitchFamily="34" charset="0"/>
                <a:ea typeface="Consolas" pitchFamily="34" charset="-122"/>
                <a:cs typeface="Consolas" pitchFamily="34" charset="-120"/>
              </a:rPr>
              <a:t>'10'</a:t>
            </a:r>
            <a:endParaRPr lang="en-US" sz="1100" dirty="0"/>
          </a:p>
          <a:p>
            <a:pPr indent="0" marL="0">
              <a:lnSpc>
                <a:spcPct val="108000"/>
              </a:lnSpc>
              <a:buNone/>
            </a:pPr>
            <a:r>
              <a:rPr lang="en-US" sz="1100" dirty="0">
                <a:solidFill>
                  <a:srgbClr val="7CC4FF"/>
                </a:solidFill>
                <a:latin typeface="Consolas" pitchFamily="34" charset="0"/>
                <a:ea typeface="Consolas" pitchFamily="34" charset="-122"/>
                <a:cs typeface="Consolas" pitchFamily="34" charset="-120"/>
              </a:rPr>
              <a:t>packs</a:t>
            </a:r>
            <a:pPr indent="0" marL="0">
              <a:lnSpc>
                <a:spcPct val="108000"/>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8000"/>
              </a:lnSpc>
              <a:buNone/>
            </a:pPr>
            <a:r>
              <a:rPr lang="en-US" sz="110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FFC98A"/>
                </a:solidFill>
                <a:latin typeface="Consolas" pitchFamily="34" charset="0"/>
                <a:ea typeface="Consolas" pitchFamily="34" charset="-122"/>
                <a:cs typeface="Consolas" pitchFamily="34" charset="-120"/>
              </a:rPr>
              <a:t>java8-to-java21</a:t>
            </a:r>
            <a:endParaRPr lang="en-US" sz="1100" dirty="0"/>
          </a:p>
          <a:p>
            <a:pPr indent="0" marL="0">
              <a:lnSpc>
                <a:spcPct val="108000"/>
              </a:lnSpc>
              <a:buNone/>
            </a:pPr>
            <a:r>
              <a:rPr lang="en-US" sz="110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00" i="1" dirty="0">
                <a:solidFill>
                  <a:srgbClr val="7D8B99"/>
                </a:solidFill>
                <a:latin typeface="Consolas" pitchFamily="34" charset="0"/>
                <a:ea typeface="Consolas" pitchFamily="34" charset="-122"/>
                <a:cs typeface="Consolas" pitchFamily="34" charset="-120"/>
              </a:rPr>
              <a:t># property maven.compiler.source=1.8 (Java 8 &lt; 21)</a:t>
            </a:r>
            <a:endParaRPr lang="en-US" sz="1100" dirty="0"/>
          </a:p>
          <a:p>
            <a:pPr indent="0" marL="0">
              <a:lnSpc>
                <a:spcPct val="108000"/>
              </a:lnSpc>
              <a:buNone/>
            </a:pPr>
            <a:r>
              <a:rPr lang="en-US" sz="110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FFC98A"/>
                </a:solidFill>
                <a:latin typeface="Consolas" pitchFamily="34" charset="0"/>
                <a:ea typeface="Consolas" pitchFamily="34" charset="-122"/>
                <a:cs typeface="Consolas" pitchFamily="34" charset="-120"/>
              </a:rPr>
              <a:t>javax-to-jakarta</a:t>
            </a:r>
            <a:endParaRPr lang="en-US" sz="1100" dirty="0"/>
          </a:p>
          <a:p>
            <a:pPr indent="0" marL="0">
              <a:lnSpc>
                <a:spcPct val="108000"/>
              </a:lnSpc>
              <a:buNone/>
            </a:pPr>
            <a:r>
              <a:rPr lang="en-US" sz="110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00" i="1" dirty="0">
                <a:solidFill>
                  <a:srgbClr val="7D8B99"/>
                </a:solidFill>
                <a:latin typeface="Consolas" pitchFamily="34" charset="0"/>
                <a:ea typeface="Consolas" pitchFamily="34" charset="-122"/>
                <a:cs typeface="Consolas" pitchFamily="34" charset="-120"/>
              </a:rPr>
              <a:t># import javax.servlet.Filter</a:t>
            </a:r>
            <a:endParaRPr lang="en-US" sz="1100" dirty="0"/>
          </a:p>
          <a:p>
            <a:pPr indent="0" marL="0">
              <a:lnSpc>
                <a:spcPct val="108000"/>
              </a:lnSpc>
              <a:buNone/>
            </a:pPr>
            <a:r>
              <a:rPr lang="en-US" sz="110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FFC98A"/>
                </a:solidFill>
                <a:latin typeface="Consolas" pitchFamily="34" charset="0"/>
                <a:ea typeface="Consolas" pitchFamily="34" charset="-122"/>
                <a:cs typeface="Consolas" pitchFamily="34" charset="-120"/>
              </a:rPr>
              <a:t>spring-to-spring6</a:t>
            </a:r>
            <a:endParaRPr lang="en-US" sz="1100" dirty="0"/>
          </a:p>
          <a:p>
            <a:pPr indent="0" marL="0">
              <a:lnSpc>
                <a:spcPct val="108000"/>
              </a:lnSpc>
              <a:buNone/>
            </a:pPr>
            <a:r>
              <a:rPr lang="en-US" sz="110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00" i="1" dirty="0">
                <a:solidFill>
                  <a:srgbClr val="7D8B99"/>
                </a:solidFill>
                <a:latin typeface="Consolas" pitchFamily="34" charset="0"/>
                <a:ea typeface="Consolas" pitchFamily="34" charset="-122"/>
                <a:cs typeface="Consolas" pitchFamily="34" charset="-120"/>
              </a:rPr>
              <a:t># dependency org.springframework:spring-core:5.3.39 &lt; 6.0.0</a:t>
            </a:r>
            <a:endParaRPr lang="en-US" sz="1100" dirty="0"/>
          </a:p>
          <a:p>
            <a:pPr indent="0" marL="0">
              <a:lnSpc>
                <a:spcPct val="108000"/>
              </a:lnSpc>
              <a:buNone/>
            </a:pPr>
            <a:r>
              <a:rPr lang="en-US" sz="110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FFC98A"/>
                </a:solidFill>
                <a:latin typeface="Consolas" pitchFamily="34" charset="0"/>
                <a:ea typeface="Consolas" pitchFamily="34" charset="-122"/>
                <a:cs typeface="Consolas" pitchFamily="34" charset="-120"/>
              </a:rPr>
              <a:t>springsec-to-springsec6</a:t>
            </a:r>
            <a:endParaRPr lang="en-US" sz="1100" dirty="0"/>
          </a:p>
          <a:p>
            <a:pPr indent="0" marL="0">
              <a:lnSpc>
                <a:spcPct val="108000"/>
              </a:lnSpc>
              <a:buNone/>
            </a:pPr>
            <a:r>
              <a:rPr lang="en-US" sz="110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00" i="1" dirty="0">
                <a:solidFill>
                  <a:srgbClr val="7D8B99"/>
                </a:solidFill>
                <a:latin typeface="Consolas" pitchFamily="34" charset="0"/>
                <a:ea typeface="Consolas" pitchFamily="34" charset="-122"/>
                <a:cs typeface="Consolas" pitchFamily="34" charset="-120"/>
              </a:rPr>
              <a:t># dependency ...spring-security-core:5.3.13.RELEASE &lt; 6.0.0</a:t>
            </a:r>
            <a:endParaRPr lang="en-US" sz="1100" dirty="0"/>
          </a:p>
          <a:p>
            <a:pPr indent="0" marL="0">
              <a:lnSpc>
                <a:spcPct val="108000"/>
              </a:lnSpc>
              <a:buNone/>
            </a:pPr>
            <a:r>
              <a:rPr lang="en-US" sz="110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00" dirty="0">
                <a:solidFill>
                  <a:srgbClr val="FFC98A"/>
                </a:solidFill>
                <a:latin typeface="Consolas" pitchFamily="34" charset="0"/>
                <a:ea typeface="Consolas" pitchFamily="34" charset="-122"/>
                <a:cs typeface="Consolas" pitchFamily="34" charset="-120"/>
              </a:rPr>
              <a:t>struts2-modernize</a:t>
            </a:r>
            <a:endParaRPr lang="en-US" sz="1100" dirty="0"/>
          </a:p>
          <a:p>
            <a:pPr indent="0" marL="0">
              <a:lnSpc>
                <a:spcPct val="108000"/>
              </a:lnSpc>
              <a:buNone/>
            </a:pPr>
            <a:r>
              <a:rPr lang="en-US" sz="110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00" i="1" dirty="0">
                <a:solidFill>
                  <a:srgbClr val="7D8B99"/>
                </a:solidFill>
                <a:latin typeface="Consolas" pitchFamily="34" charset="0"/>
                <a:ea typeface="Consolas" pitchFamily="34" charset="-122"/>
                <a:cs typeface="Consolas" pitchFamily="34" charset="-120"/>
              </a:rPr>
              <a:t># dependency org.apache.struts:struts2-core:6.8.0 &lt; 7.0.0</a:t>
            </a:r>
            <a:endParaRPr lang="en-US" sz="1100" dirty="0"/>
          </a:p>
          <a:p>
            <a:pPr indent="0" marL="0">
              <a:lnSpc>
                <a:spcPct val="108000"/>
              </a:lnSpc>
              <a:buNone/>
            </a:pPr>
            <a:r>
              <a:rPr lang="en-US" sz="1100" dirty="0">
                <a:solidFill>
                  <a:srgbClr val="E6EDF3"/>
                </a:solidFill>
                <a:latin typeface="Consolas" pitchFamily="34" charset="0"/>
                <a:ea typeface="Consolas" pitchFamily="34" charset="-122"/>
                <a:cs typeface="Consolas" pitchFamily="34" charset="-120"/>
              </a:rPr>
              <a:t>  </a:t>
            </a:r>
            <a:pPr indent="0" marL="0">
              <a:lnSpc>
                <a:spcPct val="108000"/>
              </a:lnSpc>
              <a:buNone/>
            </a:pPr>
            <a:r>
              <a:rPr lang="en-US" sz="1100" i="1" dirty="0">
                <a:solidFill>
                  <a:srgbClr val="7D8B99"/>
                </a:solidFill>
                <a:latin typeface="Consolas" pitchFamily="34" charset="0"/>
                <a:ea typeface="Consolas" pitchFamily="34" charset="-122"/>
                <a:cs typeface="Consolas" pitchFamily="34" charset="-120"/>
              </a:rPr>
              <a:t># ...and 5 more, each with its evidence</a:t>
            </a:r>
            <a:endParaRPr lang="en-US" sz="1100" dirty="0"/>
          </a:p>
        </p:txBody>
      </p:sp>
      <p:sp>
        <p:nvSpPr>
          <p:cNvPr id="11" name="Text 9"/>
          <p:cNvSpPr txBox="1"/>
          <p:nvPr/>
        </p:nvSpPr>
        <p:spPr>
          <a:xfrm>
            <a:off x="7589520" y="2011680"/>
            <a:ext cx="1828800" cy="777240"/>
          </a:xfrm>
          <a:prstGeom prst="rect">
            <a:avLst/>
          </a:prstGeom>
          <a:noFill/>
          <a:ln/>
        </p:spPr>
        <p:txBody>
          <a:bodyPr wrap="square" lIns="0" tIns="0" rIns="0" bIns="0" rtlCol="0" anchor="t"/>
          <a:lstStyle/>
          <a:p>
            <a:pPr indent="0" marL="0">
              <a:buNone/>
            </a:pPr>
            <a:r>
              <a:rPr lang="en-US" sz="4400" b="1" dirty="0">
                <a:solidFill>
                  <a:srgbClr val="FF6A2B"/>
                </a:solidFill>
                <a:latin typeface="Arial" pitchFamily="34" charset="0"/>
                <a:ea typeface="Arial" pitchFamily="34" charset="-122"/>
                <a:cs typeface="Arial" pitchFamily="34" charset="-120"/>
              </a:rPr>
              <a:t>10</a:t>
            </a:r>
            <a:endParaRPr lang="en-US" sz="4400" dirty="0"/>
          </a:p>
        </p:txBody>
      </p:sp>
      <p:sp>
        <p:nvSpPr>
          <p:cNvPr id="12" name="Text 10"/>
          <p:cNvSpPr txBox="1"/>
          <p:nvPr/>
        </p:nvSpPr>
        <p:spPr>
          <a:xfrm>
            <a:off x="9464040" y="2121408"/>
            <a:ext cx="2176272" cy="640080"/>
          </a:xfrm>
          <a:prstGeom prst="rect">
            <a:avLst/>
          </a:prstGeom>
          <a:noFill/>
          <a:ln/>
        </p:spPr>
        <p:txBody>
          <a:bodyPr wrap="square" lIns="0" tIns="0" rIns="0" bIns="0" rtlCol="0" anchor="ctr"/>
          <a:lstStyle/>
          <a:p>
            <a:pPr indent="0" marL="0">
              <a:buNone/>
            </a:pPr>
            <a:r>
              <a:rPr lang="en-US" sz="1300" dirty="0">
                <a:solidFill>
                  <a:srgbClr val="AAB5C3"/>
                </a:solidFill>
                <a:latin typeface="Arial" pitchFamily="34" charset="0"/>
                <a:ea typeface="Arial" pitchFamily="34" charset="-122"/>
                <a:cs typeface="Arial" pitchFamily="34" charset="-120"/>
              </a:rPr>
              <a:t>packs activated for AMS, each citing its evidence</a:t>
            </a:r>
            <a:endParaRPr lang="en-US" sz="1300" dirty="0"/>
          </a:p>
        </p:txBody>
      </p:sp>
      <p:sp>
        <p:nvSpPr>
          <p:cNvPr id="13" name="Text 11"/>
          <p:cNvSpPr txBox="1"/>
          <p:nvPr/>
        </p:nvSpPr>
        <p:spPr>
          <a:xfrm>
            <a:off x="7589520" y="3063240"/>
            <a:ext cx="1828800" cy="777240"/>
          </a:xfrm>
          <a:prstGeom prst="rect">
            <a:avLst/>
          </a:prstGeom>
          <a:noFill/>
          <a:ln/>
        </p:spPr>
        <p:txBody>
          <a:bodyPr wrap="square" lIns="0" tIns="0" rIns="0" bIns="0" rtlCol="0" anchor="t"/>
          <a:lstStyle/>
          <a:p>
            <a:pPr indent="0" marL="0">
              <a:buNone/>
            </a:pPr>
            <a:r>
              <a:rPr lang="en-US" sz="4400" b="1" dirty="0">
                <a:solidFill>
                  <a:srgbClr val="5EB1FF"/>
                </a:solidFill>
                <a:latin typeface="Arial" pitchFamily="34" charset="0"/>
                <a:ea typeface="Arial" pitchFamily="34" charset="-122"/>
                <a:cs typeface="Arial" pitchFamily="34" charset="-120"/>
              </a:rPr>
              <a:t>0</a:t>
            </a:r>
            <a:endParaRPr lang="en-US" sz="4400" dirty="0"/>
          </a:p>
        </p:txBody>
      </p:sp>
      <p:sp>
        <p:nvSpPr>
          <p:cNvPr id="14" name="Text 12"/>
          <p:cNvSpPr txBox="1"/>
          <p:nvPr/>
        </p:nvSpPr>
        <p:spPr>
          <a:xfrm>
            <a:off x="9464040" y="3172968"/>
            <a:ext cx="2176272" cy="640080"/>
          </a:xfrm>
          <a:prstGeom prst="rect">
            <a:avLst/>
          </a:prstGeom>
          <a:noFill/>
          <a:ln/>
        </p:spPr>
        <p:txBody>
          <a:bodyPr wrap="square" lIns="0" tIns="0" rIns="0" bIns="0" rtlCol="0" anchor="ctr"/>
          <a:lstStyle/>
          <a:p>
            <a:pPr indent="0" marL="0">
              <a:buNone/>
            </a:pPr>
            <a:r>
              <a:rPr lang="en-US" sz="1300" dirty="0">
                <a:solidFill>
                  <a:srgbClr val="AAB5C3"/>
                </a:solidFill>
                <a:latin typeface="Arial" pitchFamily="34" charset="0"/>
                <a:ea typeface="Arial" pitchFamily="34" charset="-122"/>
                <a:cs typeface="Arial" pitchFamily="34" charset="-120"/>
              </a:rPr>
              <a:t>model calls</a:t>
            </a:r>
            <a:endParaRPr lang="en-US" sz="1300" dirty="0"/>
          </a:p>
        </p:txBody>
      </p:sp>
      <p:sp>
        <p:nvSpPr>
          <p:cNvPr id="15" name="Text 13"/>
          <p:cNvSpPr txBox="1"/>
          <p:nvPr/>
        </p:nvSpPr>
        <p:spPr>
          <a:xfrm>
            <a:off x="7589520" y="4114800"/>
            <a:ext cx="1828800" cy="777240"/>
          </a:xfrm>
          <a:prstGeom prst="rect">
            <a:avLst/>
          </a:prstGeom>
          <a:noFill/>
          <a:ln/>
        </p:spPr>
        <p:txBody>
          <a:bodyPr wrap="square" lIns="0" tIns="0" rIns="0" bIns="0" rtlCol="0" anchor="t"/>
          <a:lstStyle/>
          <a:p>
            <a:pPr indent="0" marL="0">
              <a:buNone/>
            </a:pPr>
            <a:r>
              <a:rPr lang="en-US" sz="4400" b="1" dirty="0">
                <a:solidFill>
                  <a:srgbClr val="35D07F"/>
                </a:solidFill>
                <a:latin typeface="Arial" pitchFamily="34" charset="0"/>
                <a:ea typeface="Arial" pitchFamily="34" charset="-122"/>
                <a:cs typeface="Arial" pitchFamily="34" charset="-120"/>
              </a:rPr>
              <a:t>$0.00</a:t>
            </a:r>
            <a:endParaRPr lang="en-US" sz="4400" dirty="0"/>
          </a:p>
        </p:txBody>
      </p:sp>
      <p:sp>
        <p:nvSpPr>
          <p:cNvPr id="16" name="Text 14"/>
          <p:cNvSpPr txBox="1"/>
          <p:nvPr/>
        </p:nvSpPr>
        <p:spPr>
          <a:xfrm>
            <a:off x="9464040" y="4224528"/>
            <a:ext cx="2176272" cy="640080"/>
          </a:xfrm>
          <a:prstGeom prst="rect">
            <a:avLst/>
          </a:prstGeom>
          <a:noFill/>
          <a:ln/>
        </p:spPr>
        <p:txBody>
          <a:bodyPr wrap="square" lIns="0" tIns="0" rIns="0" bIns="0" rtlCol="0" anchor="ctr"/>
          <a:lstStyle/>
          <a:p>
            <a:pPr indent="0" marL="0">
              <a:buNone/>
            </a:pPr>
            <a:r>
              <a:rPr lang="en-US" sz="1300" dirty="0">
                <a:solidFill>
                  <a:srgbClr val="AAB5C3"/>
                </a:solidFill>
                <a:latin typeface="Arial" pitchFamily="34" charset="0"/>
                <a:ea typeface="Arial" pitchFamily="34" charset="-122"/>
                <a:cs typeface="Arial" pitchFamily="34" charset="-120"/>
              </a:rPr>
              <a:t>to discover</a:t>
            </a:r>
            <a:endParaRPr lang="en-US" sz="1300" dirty="0"/>
          </a:p>
        </p:txBody>
      </p:sp>
      <p:sp>
        <p:nvSpPr>
          <p:cNvPr id="17" name="Shape 15"/>
          <p:cNvSpPr/>
          <p:nvPr/>
        </p:nvSpPr>
        <p:spPr>
          <a:xfrm>
            <a:off x="7589520" y="5166360"/>
            <a:ext cx="4053535" cy="914400"/>
          </a:xfrm>
          <a:prstGeom prst="roundRect">
            <a:avLst>
              <a:gd name="adj" fmla="val 12000"/>
            </a:avLst>
          </a:prstGeom>
          <a:solidFill>
            <a:srgbClr val="5EB1FF">
              <a:alpha val="10000"/>
            </a:srgbClr>
          </a:solidFill>
          <a:ln w="9525">
            <a:solidFill>
              <a:srgbClr val="5EB1FF">
                <a:alpha val="45000"/>
              </a:srgbClr>
            </a:solidFill>
            <a:prstDash val="solid"/>
          </a:ln>
        </p:spPr>
      </p:sp>
      <p:sp>
        <p:nvSpPr>
          <p:cNvPr id="18" name="Text 16"/>
          <p:cNvSpPr txBox="1"/>
          <p:nvPr/>
        </p:nvSpPr>
        <p:spPr>
          <a:xfrm>
            <a:off x="7818120" y="5276088"/>
            <a:ext cx="3657600" cy="713232"/>
          </a:xfrm>
          <a:prstGeom prst="rect">
            <a:avLst/>
          </a:prstGeom>
          <a:noFill/>
          <a:ln/>
        </p:spPr>
        <p:txBody>
          <a:bodyPr wrap="square" lIns="0" tIns="0" rIns="0" bIns="0" rtlCol="0" anchor="ctr"/>
          <a:lstStyle/>
          <a:p>
            <a:pPr indent="0" marL="0">
              <a:buNone/>
            </a:pPr>
            <a:r>
              <a:rPr lang="en-US" sz="1300" b="1" dirty="0">
                <a:solidFill>
                  <a:srgbClr val="F3F5F8"/>
                </a:solidFill>
                <a:latin typeface="Arial" pitchFamily="34" charset="0"/>
                <a:ea typeface="Arial" pitchFamily="34" charset="-122"/>
                <a:cs typeface="Arial" pitchFamily="34" charset="-120"/>
              </a:rPr>
              <a:t>A decision can gate a pack. It can never activate one: only evidence does.</a:t>
            </a:r>
            <a:endParaRPr lang="en-US" sz="1300" dirty="0"/>
          </a:p>
        </p:txBody>
      </p:sp>
      <p:sp>
        <p:nvSpPr>
          <p:cNvPr id="19" name="Text 17"/>
          <p:cNvSpPr txBox="1"/>
          <p:nvPr/>
        </p:nvSpPr>
        <p:spPr>
          <a:xfrm>
            <a:off x="548640" y="6455664"/>
            <a:ext cx="5486400" cy="219456"/>
          </a:xfrm>
          <a:prstGeom prst="rect">
            <a:avLst/>
          </a:prstGeom>
          <a:noFill/>
          <a:ln/>
        </p:spPr>
        <p:txBody>
          <a:bodyPr wrap="square" lIns="0" tIns="0" rIns="0" bIns="0" rtlCol="0" anchor="t"/>
          <a:lstStyle/>
          <a:p>
            <a:pPr indent="0" marL="0">
              <a:buNone/>
            </a:pPr>
            <a:r>
              <a:rPr lang="en-US" sz="900" dirty="0">
                <a:solidFill>
                  <a:srgbClr val="738191"/>
                </a:solidFill>
                <a:latin typeface="Arial" pitchFamily="34" charset="0"/>
                <a:ea typeface="Arial" pitchFamily="34" charset="-122"/>
                <a:cs typeface="Arial" pitchFamily="34" charset="-120"/>
              </a:rPr>
              <a:t>FORGE  ·  Software Development Conference 2026</a:t>
            </a:r>
            <a:endParaRPr lang="en-US" sz="900" dirty="0"/>
          </a:p>
        </p:txBody>
      </p:sp>
      <p:sp>
        <p:nvSpPr>
          <p:cNvPr id="20" name="Text 18"/>
          <p:cNvSpPr txBox="1"/>
          <p:nvPr/>
        </p:nvSpPr>
        <p:spPr>
          <a:xfrm>
            <a:off x="11094415" y="6455664"/>
            <a:ext cx="548640" cy="219456"/>
          </a:xfrm>
          <a:prstGeom prst="rect">
            <a:avLst/>
          </a:prstGeom>
          <a:noFill/>
          <a:ln/>
        </p:spPr>
        <p:txBody>
          <a:bodyPr wrap="square" lIns="0" tIns="0" rIns="0" bIns="0" rtlCol="0" anchor="t"/>
          <a:lstStyle/>
          <a:p>
            <a:pPr algn="r" indent="0" marL="0">
              <a:buNone/>
            </a:pPr>
            <a:r>
              <a:rPr lang="en-US" sz="900" dirty="0">
                <a:solidFill>
                  <a:srgbClr val="738191"/>
                </a:solidFill>
                <a:latin typeface="Arial" pitchFamily="34" charset="0"/>
                <a:ea typeface="Arial" pitchFamily="34" charset="-122"/>
                <a:cs typeface="Arial"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t"/>
          <a:lstStyle/>
          <a:p>
            <a:pPr indent="0" marL="0">
              <a:buNone/>
            </a:pPr>
            <a:r>
              <a:rPr lang="en-US" sz="1100" b="1" spc="300" kern="0" dirty="0">
                <a:solidFill>
                  <a:srgbClr val="FF6A2B"/>
                </a:solidFill>
                <a:latin typeface="Arial" pitchFamily="34" charset="0"/>
                <a:ea typeface="Arial" pitchFamily="34" charset="-122"/>
                <a:cs typeface="Arial" pitchFamily="34" charset="-120"/>
              </a:rPr>
              <a:t>04  ·  THE EXPERIENCE</a:t>
            </a:r>
            <a:endParaRPr lang="en-US" sz="1100" dirty="0"/>
          </a:p>
        </p:txBody>
      </p:sp>
      <p:sp>
        <p:nvSpPr>
          <p:cNvPr id="3" name="Text 1"/>
          <p:cNvSpPr txBox="1"/>
          <p:nvPr/>
        </p:nvSpPr>
        <p:spPr>
          <a:xfrm>
            <a:off x="548640" y="676656"/>
            <a:ext cx="11094415" cy="658368"/>
          </a:xfrm>
          <a:prstGeom prst="rect">
            <a:avLst/>
          </a:prstGeom>
          <a:noFill/>
          <a:ln/>
        </p:spPr>
        <p:txBody>
          <a:bodyPr wrap="square" lIns="0" tIns="0" rIns="0" bIns="0" rtlCol="0" anchor="t"/>
          <a:lstStyle/>
          <a:p>
            <a:pPr indent="0" marL="0">
              <a:buNone/>
            </a:pPr>
            <a:r>
              <a:rPr lang="en-US" sz="3200" b="1" dirty="0">
                <a:solidFill>
                  <a:srgbClr val="F3F5F8"/>
                </a:solidFill>
                <a:latin typeface="Arial" pitchFamily="34" charset="0"/>
                <a:ea typeface="Arial" pitchFamily="34" charset="-122"/>
                <a:cs typeface="Arial" pitchFamily="34" charset="-120"/>
              </a:rPr>
              <a:t>Plain English narrows the plan. It never widens it.</a:t>
            </a:r>
            <a:endParaRPr lang="en-US" sz="3200" dirty="0"/>
          </a:p>
        </p:txBody>
      </p:sp>
      <p:sp>
        <p:nvSpPr>
          <p:cNvPr id="4" name="Shape 2"/>
          <p:cNvSpPr/>
          <p:nvPr/>
        </p:nvSpPr>
        <p:spPr>
          <a:xfrm>
            <a:off x="548640" y="1691640"/>
            <a:ext cx="3154680" cy="2103120"/>
          </a:xfrm>
          <a:prstGeom prst="roundRect">
            <a:avLst>
              <a:gd name="adj" fmla="val 5217"/>
            </a:avLst>
          </a:prstGeom>
          <a:solidFill>
            <a:srgbClr val="18212D"/>
          </a:solidFill>
          <a:ln w="9525">
            <a:solidFill>
              <a:srgbClr val="B89CFF">
                <a:alpha val="50000"/>
              </a:srgbClr>
            </a:solidFill>
            <a:prstDash val="solid"/>
          </a:ln>
        </p:spPr>
      </p:sp>
      <p:sp>
        <p:nvSpPr>
          <p:cNvPr id="5" name="Text 3"/>
          <p:cNvSpPr txBox="1"/>
          <p:nvPr/>
        </p:nvSpPr>
        <p:spPr>
          <a:xfrm>
            <a:off x="822960" y="1920240"/>
            <a:ext cx="2743200" cy="237744"/>
          </a:xfrm>
          <a:prstGeom prst="rect">
            <a:avLst/>
          </a:prstGeom>
          <a:noFill/>
          <a:ln/>
        </p:spPr>
        <p:txBody>
          <a:bodyPr wrap="square" lIns="0" tIns="0" rIns="0" bIns="0" rtlCol="0" anchor="t"/>
          <a:lstStyle/>
          <a:p>
            <a:pPr indent="0" marL="0">
              <a:buNone/>
            </a:pPr>
            <a:r>
              <a:rPr lang="en-US" sz="1100" b="1" spc="200" kern="0" dirty="0">
                <a:solidFill>
                  <a:srgbClr val="B89CFF"/>
                </a:solidFill>
                <a:latin typeface="Arial" pitchFamily="34" charset="0"/>
                <a:ea typeface="Arial" pitchFamily="34" charset="-122"/>
                <a:cs typeface="Arial" pitchFamily="34" charset="-120"/>
              </a:rPr>
              <a:t>YOU SAY</a:t>
            </a:r>
            <a:endParaRPr lang="en-US" sz="1100" dirty="0"/>
          </a:p>
        </p:txBody>
      </p:sp>
      <p:sp>
        <p:nvSpPr>
          <p:cNvPr id="6" name="Text 4"/>
          <p:cNvSpPr txBox="1"/>
          <p:nvPr/>
        </p:nvSpPr>
        <p:spPr>
          <a:xfrm>
            <a:off x="822960" y="2258568"/>
            <a:ext cx="2651760" cy="1371600"/>
          </a:xfrm>
          <a:prstGeom prst="rect">
            <a:avLst/>
          </a:prstGeom>
          <a:noFill/>
          <a:ln/>
        </p:spPr>
        <p:txBody>
          <a:bodyPr wrap="square" lIns="0" tIns="0" rIns="0" bIns="0" rtlCol="0" anchor="t"/>
          <a:lstStyle/>
          <a:p>
            <a:pPr indent="0" marL="0">
              <a:buNone/>
            </a:pPr>
            <a:r>
              <a:rPr lang="en-US" sz="1600" i="1" dirty="0">
                <a:solidFill>
                  <a:srgbClr val="F3F5F8"/>
                </a:solidFill>
                <a:latin typeface="Arial" pitchFamily="34" charset="0"/>
                <a:ea typeface="Arial" pitchFamily="34" charset="-122"/>
                <a:cs typeface="Arial" pitchFamily="34" charset="-120"/>
              </a:rPr>
              <a:t>“Migrate to the latest Java and Spring, stay on Struts, ignore the db folder.”</a:t>
            </a:r>
            <a:endParaRPr lang="en-US" sz="1600" dirty="0"/>
          </a:p>
        </p:txBody>
      </p:sp>
      <p:sp>
        <p:nvSpPr>
          <p:cNvPr id="7" name="Shape 5"/>
          <p:cNvSpPr/>
          <p:nvPr/>
        </p:nvSpPr>
        <p:spPr>
          <a:xfrm>
            <a:off x="3749040" y="2743200"/>
            <a:ext cx="274320" cy="0"/>
          </a:xfrm>
          <a:prstGeom prst="line">
            <a:avLst/>
          </a:prstGeom>
          <a:noFill/>
          <a:ln w="22225">
            <a:solidFill>
              <a:srgbClr val="738191"/>
            </a:solidFill>
            <a:prstDash val="solid"/>
            <a:tailEnd type="triangle"/>
          </a:ln>
        </p:spPr>
      </p:sp>
      <p:sp>
        <p:nvSpPr>
          <p:cNvPr id="8" name="Shape 6"/>
          <p:cNvSpPr/>
          <p:nvPr/>
        </p:nvSpPr>
        <p:spPr>
          <a:xfrm>
            <a:off x="4069080" y="1691640"/>
            <a:ext cx="2331720" cy="2103120"/>
          </a:xfrm>
          <a:prstGeom prst="roundRect">
            <a:avLst>
              <a:gd name="adj" fmla="val 5217"/>
            </a:avLst>
          </a:prstGeom>
          <a:solidFill>
            <a:srgbClr val="FF6A2B">
              <a:alpha val="12000"/>
            </a:srgbClr>
          </a:solidFill>
          <a:ln w="9525">
            <a:solidFill>
              <a:srgbClr val="FF6A2B">
                <a:alpha val="55000"/>
              </a:srgbClr>
            </a:solidFill>
            <a:prstDash val="solid"/>
          </a:ln>
        </p:spPr>
      </p:sp>
      <p:sp>
        <p:nvSpPr>
          <p:cNvPr id="9" name="Text 7"/>
          <p:cNvSpPr txBox="1"/>
          <p:nvPr/>
        </p:nvSpPr>
        <p:spPr>
          <a:xfrm>
            <a:off x="4297680" y="1920240"/>
            <a:ext cx="1965960" cy="237744"/>
          </a:xfrm>
          <a:prstGeom prst="rect">
            <a:avLst/>
          </a:prstGeom>
          <a:noFill/>
          <a:ln/>
        </p:spPr>
        <p:txBody>
          <a:bodyPr wrap="square" lIns="0" tIns="0" rIns="0" bIns="0" rtlCol="0" anchor="t"/>
          <a:lstStyle/>
          <a:p>
            <a:pPr indent="0" marL="0">
              <a:buNone/>
            </a:pPr>
            <a:r>
              <a:rPr lang="en-US" sz="1100" b="1" spc="200" kern="0" dirty="0">
                <a:solidFill>
                  <a:srgbClr val="FF6A2B"/>
                </a:solidFill>
                <a:latin typeface="Arial" pitchFamily="34" charset="0"/>
                <a:ea typeface="Arial" pitchFamily="34" charset="-122"/>
                <a:cs typeface="Arial" pitchFamily="34" charset="-120"/>
              </a:rPr>
              <a:t>INTENT MODEL</a:t>
            </a:r>
            <a:endParaRPr lang="en-US" sz="1100" dirty="0"/>
          </a:p>
        </p:txBody>
      </p:sp>
      <p:sp>
        <p:nvSpPr>
          <p:cNvPr id="10" name="Text 8"/>
          <p:cNvSpPr txBox="1"/>
          <p:nvPr/>
        </p:nvSpPr>
        <p:spPr>
          <a:xfrm>
            <a:off x="4297680" y="2221992"/>
            <a:ext cx="1965960" cy="329184"/>
          </a:xfrm>
          <a:prstGeom prst="rect">
            <a:avLst/>
          </a:prstGeom>
          <a:noFill/>
          <a:ln/>
        </p:spPr>
        <p:txBody>
          <a:bodyPr wrap="square" lIns="0" tIns="0" rIns="0" bIns="0" rtlCol="0" anchor="t"/>
          <a:lstStyle/>
          <a:p>
            <a:pPr indent="0" marL="0">
              <a:buNone/>
            </a:pPr>
            <a:r>
              <a:rPr lang="en-US" sz="1600" b="1" dirty="0">
                <a:solidFill>
                  <a:srgbClr val="F3F5F8"/>
                </a:solidFill>
                <a:latin typeface="Arial" pitchFamily="34" charset="0"/>
                <a:ea typeface="Arial" pitchFamily="34" charset="-122"/>
                <a:cs typeface="Arial" pitchFamily="34" charset="-120"/>
              </a:rPr>
              <a:t>Claude Haiku 4.5</a:t>
            </a:r>
            <a:endParaRPr lang="en-US" sz="1600" dirty="0"/>
          </a:p>
        </p:txBody>
      </p:sp>
      <p:sp>
        <p:nvSpPr>
          <p:cNvPr id="11" name="Text 9"/>
          <p:cNvSpPr txBox="1"/>
          <p:nvPr/>
        </p:nvSpPr>
        <p:spPr>
          <a:xfrm>
            <a:off x="4297680" y="2651760"/>
            <a:ext cx="1965960" cy="1051560"/>
          </a:xfrm>
          <a:prstGeom prst="rect">
            <a:avLst/>
          </a:prstGeom>
          <a:noFill/>
          <a:ln/>
        </p:spPr>
        <p:txBody>
          <a:bodyPr wrap="square" lIns="0" tIns="0" rIns="0" bIns="0" rtlCol="0" anchor="t"/>
          <a:lstStyle/>
          <a:p>
            <a:pPr indent="0" marL="0">
              <a:spcAft>
                <a:spcPts val="400"/>
              </a:spcAft>
              <a:buNone/>
            </a:pPr>
            <a:r>
              <a:rPr lang="en-US" sz="1150" dirty="0">
                <a:solidFill>
                  <a:srgbClr val="AAB5C3"/>
                </a:solidFill>
                <a:latin typeface="Arial" pitchFamily="34" charset="0"/>
                <a:ea typeface="Arial" pitchFamily="34" charset="-122"/>
                <a:cs typeface="Arial" pitchFamily="34" charset="-120"/>
              </a:rPr>
              <a:t>One call, about half a cent</a:t>
            </a:r>
            <a:endParaRPr lang="en-US" sz="1150" dirty="0"/>
          </a:p>
          <a:p>
            <a:pPr indent="0" marL="0">
              <a:spcAft>
                <a:spcPts val="400"/>
              </a:spcAft>
              <a:buNone/>
            </a:pPr>
            <a:r>
              <a:rPr lang="en-US" sz="1150" dirty="0">
                <a:solidFill>
                  <a:srgbClr val="AAB5C3"/>
                </a:solidFill>
                <a:latin typeface="Arial" pitchFamily="34" charset="0"/>
                <a:ea typeface="Arial" pitchFamily="34" charset="-122"/>
                <a:cs typeface="Arial" pitchFamily="34" charset="-120"/>
              </a:rPr>
              <a:t>Sees the stack profile, never source code</a:t>
            </a:r>
            <a:endParaRPr lang="en-US" sz="1150" dirty="0"/>
          </a:p>
        </p:txBody>
      </p:sp>
      <p:sp>
        <p:nvSpPr>
          <p:cNvPr id="12" name="Shape 10"/>
          <p:cNvSpPr/>
          <p:nvPr/>
        </p:nvSpPr>
        <p:spPr>
          <a:xfrm>
            <a:off x="6446520" y="2743200"/>
            <a:ext cx="274320" cy="0"/>
          </a:xfrm>
          <a:prstGeom prst="line">
            <a:avLst/>
          </a:prstGeom>
          <a:noFill/>
          <a:ln w="22225">
            <a:solidFill>
              <a:srgbClr val="738191"/>
            </a:solidFill>
            <a:prstDash val="solid"/>
            <a:tailEnd type="triangle"/>
          </a:ln>
        </p:spPr>
      </p:sp>
      <p:sp>
        <p:nvSpPr>
          <p:cNvPr id="13" name="Text 11"/>
          <p:cNvSpPr txBox="1"/>
          <p:nvPr/>
        </p:nvSpPr>
        <p:spPr>
          <a:xfrm>
            <a:off x="6309360" y="2414016"/>
            <a:ext cx="548640" cy="201168"/>
          </a:xfrm>
          <a:prstGeom prst="rect">
            <a:avLst/>
          </a:prstGeom>
          <a:noFill/>
          <a:ln/>
        </p:spPr>
        <p:txBody>
          <a:bodyPr wrap="square" lIns="0" tIns="0" rIns="0" bIns="0" rtlCol="0" anchor="t"/>
          <a:lstStyle/>
          <a:p>
            <a:pPr algn="ctr" indent="0" marL="0">
              <a:buNone/>
            </a:pPr>
            <a:r>
              <a:rPr lang="en-US" sz="900" dirty="0">
                <a:solidFill>
                  <a:srgbClr val="738191"/>
                </a:solidFill>
                <a:latin typeface="Arial" pitchFamily="34" charset="0"/>
                <a:ea typeface="Arial" pitchFamily="34" charset="-122"/>
                <a:cs typeface="Arial" pitchFamily="34" charset="-120"/>
              </a:rPr>
              <a:t>proposal</a:t>
            </a:r>
            <a:endParaRPr lang="en-US" sz="900" dirty="0"/>
          </a:p>
        </p:txBody>
      </p:sp>
      <p:sp>
        <p:nvSpPr>
          <p:cNvPr id="14" name="Shape 12"/>
          <p:cNvSpPr/>
          <p:nvPr/>
        </p:nvSpPr>
        <p:spPr>
          <a:xfrm>
            <a:off x="6766560" y="1691640"/>
            <a:ext cx="2240280" cy="2103120"/>
          </a:xfrm>
          <a:prstGeom prst="roundRect">
            <a:avLst>
              <a:gd name="adj" fmla="val 5217"/>
            </a:avLst>
          </a:prstGeom>
          <a:solidFill>
            <a:srgbClr val="5EB1FF">
              <a:alpha val="12000"/>
            </a:srgbClr>
          </a:solidFill>
          <a:ln w="9525">
            <a:solidFill>
              <a:srgbClr val="5EB1FF">
                <a:alpha val="55000"/>
              </a:srgbClr>
            </a:solidFill>
            <a:prstDash val="solid"/>
          </a:ln>
        </p:spPr>
      </p:sp>
      <p:sp>
        <p:nvSpPr>
          <p:cNvPr id="15" name="Text 13"/>
          <p:cNvSpPr txBox="1"/>
          <p:nvPr/>
        </p:nvSpPr>
        <p:spPr>
          <a:xfrm>
            <a:off x="6995160" y="1920240"/>
            <a:ext cx="1874520" cy="237744"/>
          </a:xfrm>
          <a:prstGeom prst="rect">
            <a:avLst/>
          </a:prstGeom>
          <a:noFill/>
          <a:ln/>
        </p:spPr>
        <p:txBody>
          <a:bodyPr wrap="square" lIns="0" tIns="0" rIns="0" bIns="0" rtlCol="0" anchor="t"/>
          <a:lstStyle/>
          <a:p>
            <a:pPr indent="0" marL="0">
              <a:buNone/>
            </a:pPr>
            <a:r>
              <a:rPr lang="en-US" sz="1100" b="1" spc="200" kern="0" dirty="0">
                <a:solidFill>
                  <a:srgbClr val="5EB1FF"/>
                </a:solidFill>
                <a:latin typeface="Arial" pitchFamily="34" charset="0"/>
                <a:ea typeface="Arial" pitchFamily="34" charset="-122"/>
                <a:cs typeface="Arial" pitchFamily="34" charset="-120"/>
              </a:rPr>
              <a:t>PURE CODE</a:t>
            </a:r>
            <a:endParaRPr lang="en-US" sz="1100" dirty="0"/>
          </a:p>
        </p:txBody>
      </p:sp>
      <p:sp>
        <p:nvSpPr>
          <p:cNvPr id="16" name="Text 14"/>
          <p:cNvSpPr txBox="1"/>
          <p:nvPr/>
        </p:nvSpPr>
        <p:spPr>
          <a:xfrm>
            <a:off x="6995160" y="2221992"/>
            <a:ext cx="1874520" cy="329184"/>
          </a:xfrm>
          <a:prstGeom prst="rect">
            <a:avLst/>
          </a:prstGeom>
          <a:noFill/>
          <a:ln/>
        </p:spPr>
        <p:txBody>
          <a:bodyPr wrap="square" lIns="0" tIns="0" rIns="0" bIns="0" rtlCol="0" anchor="t"/>
          <a:lstStyle/>
          <a:p>
            <a:pPr indent="0" marL="0">
              <a:buNone/>
            </a:pPr>
            <a:r>
              <a:rPr lang="en-US" sz="1600" b="1" dirty="0">
                <a:solidFill>
                  <a:srgbClr val="F3F5F8"/>
                </a:solidFill>
                <a:latin typeface="Consolas" pitchFamily="34" charset="0"/>
                <a:ea typeface="Consolas" pitchFamily="34" charset="-122"/>
                <a:cs typeface="Consolas" pitchFamily="34" charset="-120"/>
              </a:rPr>
              <a:t>reconcile()</a:t>
            </a:r>
            <a:endParaRPr lang="en-US" sz="1600" dirty="0"/>
          </a:p>
        </p:txBody>
      </p:sp>
      <p:sp>
        <p:nvSpPr>
          <p:cNvPr id="17" name="Text 15"/>
          <p:cNvSpPr txBox="1"/>
          <p:nvPr/>
        </p:nvSpPr>
        <p:spPr>
          <a:xfrm>
            <a:off x="6995160" y="2651760"/>
            <a:ext cx="1874520" cy="1051560"/>
          </a:xfrm>
          <a:prstGeom prst="rect">
            <a:avLst/>
          </a:prstGeom>
          <a:noFill/>
          <a:ln/>
        </p:spPr>
        <p:txBody>
          <a:bodyPr wrap="square" lIns="0" tIns="0" rIns="0" bIns="0" rtlCol="0" anchor="t"/>
          <a:lstStyle/>
          <a:p>
            <a:pPr indent="0" marL="0">
              <a:spcAft>
                <a:spcPts val="400"/>
              </a:spcAft>
              <a:buNone/>
            </a:pPr>
            <a:r>
              <a:rPr lang="en-US" sz="1150" dirty="0">
                <a:solidFill>
                  <a:srgbClr val="AAB5C3"/>
                </a:solidFill>
                <a:latin typeface="Arial" pitchFamily="34" charset="0"/>
                <a:ea typeface="Arial" pitchFamily="34" charset="-122"/>
                <a:cs typeface="Arial" pitchFamily="34" charset="-120"/>
              </a:rPr>
              <a:t>Eight rules, no AWS</a:t>
            </a:r>
            <a:endParaRPr lang="en-US" sz="1150" dirty="0"/>
          </a:p>
          <a:p>
            <a:pPr indent="0" marL="0">
              <a:spcAft>
                <a:spcPts val="400"/>
              </a:spcAft>
              <a:buNone/>
            </a:pPr>
            <a:r>
              <a:rPr lang="en-US" sz="1150" dirty="0">
                <a:solidFill>
                  <a:srgbClr val="AAB5C3"/>
                </a:solidFill>
                <a:latin typeface="Arial" pitchFamily="34" charset="0"/>
                <a:ea typeface="Arial" pitchFamily="34" charset="-122"/>
                <a:cs typeface="Arial" pitchFamily="34" charset="-120"/>
              </a:rPr>
              <a:t>Every rule has a unit test</a:t>
            </a:r>
            <a:endParaRPr lang="en-US" sz="1150" dirty="0"/>
          </a:p>
        </p:txBody>
      </p:sp>
      <p:sp>
        <p:nvSpPr>
          <p:cNvPr id="18" name="Shape 16"/>
          <p:cNvSpPr/>
          <p:nvPr/>
        </p:nvSpPr>
        <p:spPr>
          <a:xfrm>
            <a:off x="9052560" y="2743200"/>
            <a:ext cx="274320" cy="0"/>
          </a:xfrm>
          <a:prstGeom prst="line">
            <a:avLst/>
          </a:prstGeom>
          <a:noFill/>
          <a:ln w="22225">
            <a:solidFill>
              <a:srgbClr val="738191"/>
            </a:solidFill>
            <a:prstDash val="solid"/>
            <a:tailEnd type="triangle"/>
          </a:ln>
        </p:spPr>
      </p:sp>
      <p:sp>
        <p:nvSpPr>
          <p:cNvPr id="19" name="Shape 17"/>
          <p:cNvSpPr/>
          <p:nvPr/>
        </p:nvSpPr>
        <p:spPr>
          <a:xfrm>
            <a:off x="9372600" y="1691640"/>
            <a:ext cx="2270455" cy="2103120"/>
          </a:xfrm>
          <a:prstGeom prst="roundRect">
            <a:avLst>
              <a:gd name="adj" fmla="val 5217"/>
            </a:avLst>
          </a:prstGeom>
          <a:solidFill>
            <a:srgbClr val="35D07F">
              <a:alpha val="12000"/>
            </a:srgbClr>
          </a:solidFill>
          <a:ln w="9525">
            <a:solidFill>
              <a:srgbClr val="35D07F">
                <a:alpha val="55000"/>
              </a:srgbClr>
            </a:solidFill>
            <a:prstDash val="solid"/>
          </a:ln>
        </p:spPr>
      </p:sp>
      <p:sp>
        <p:nvSpPr>
          <p:cNvPr id="20" name="Text 18"/>
          <p:cNvSpPr txBox="1"/>
          <p:nvPr/>
        </p:nvSpPr>
        <p:spPr>
          <a:xfrm>
            <a:off x="9601200" y="1920240"/>
            <a:ext cx="1904695" cy="237744"/>
          </a:xfrm>
          <a:prstGeom prst="rect">
            <a:avLst/>
          </a:prstGeom>
          <a:noFill/>
          <a:ln/>
        </p:spPr>
        <p:txBody>
          <a:bodyPr wrap="square" lIns="0" tIns="0" rIns="0" bIns="0" rtlCol="0" anchor="t"/>
          <a:lstStyle/>
          <a:p>
            <a:pPr indent="0" marL="0">
              <a:buNone/>
            </a:pPr>
            <a:r>
              <a:rPr lang="en-US" sz="1100" b="1" spc="200" kern="0" dirty="0">
                <a:solidFill>
                  <a:srgbClr val="35D07F"/>
                </a:solidFill>
                <a:latin typeface="Arial" pitchFamily="34" charset="0"/>
                <a:ea typeface="Arial" pitchFamily="34" charset="-122"/>
                <a:cs typeface="Arial" pitchFamily="34" charset="-120"/>
              </a:rPr>
              <a:t>THE PLAN</a:t>
            </a:r>
            <a:endParaRPr lang="en-US" sz="1100" dirty="0"/>
          </a:p>
        </p:txBody>
      </p:sp>
      <p:sp>
        <p:nvSpPr>
          <p:cNvPr id="21" name="Text 19"/>
          <p:cNvSpPr txBox="1"/>
          <p:nvPr/>
        </p:nvSpPr>
        <p:spPr>
          <a:xfrm>
            <a:off x="9601200" y="2221992"/>
            <a:ext cx="1904695" cy="329184"/>
          </a:xfrm>
          <a:prstGeom prst="rect">
            <a:avLst/>
          </a:prstGeom>
          <a:noFill/>
          <a:ln/>
        </p:spPr>
        <p:txBody>
          <a:bodyPr wrap="square" lIns="0" tIns="0" rIns="0" bIns="0" rtlCol="0" anchor="t"/>
          <a:lstStyle/>
          <a:p>
            <a:pPr indent="0" marL="0">
              <a:buNone/>
            </a:pPr>
            <a:r>
              <a:rPr lang="en-US" sz="1600" b="1" dirty="0">
                <a:solidFill>
                  <a:srgbClr val="F3F5F8"/>
                </a:solidFill>
                <a:latin typeface="Arial" pitchFamily="34" charset="0"/>
                <a:ea typeface="Arial" pitchFamily="34" charset="-122"/>
                <a:cs typeface="Arial" pitchFamily="34" charset="-120"/>
              </a:rPr>
              <a:t>Replayable</a:t>
            </a:r>
            <a:endParaRPr lang="en-US" sz="1600" dirty="0"/>
          </a:p>
        </p:txBody>
      </p:sp>
      <p:sp>
        <p:nvSpPr>
          <p:cNvPr id="22" name="Text 20"/>
          <p:cNvSpPr txBox="1"/>
          <p:nvPr/>
        </p:nvSpPr>
        <p:spPr>
          <a:xfrm>
            <a:off x="9601200" y="2651760"/>
            <a:ext cx="1904695" cy="1051560"/>
          </a:xfrm>
          <a:prstGeom prst="rect">
            <a:avLst/>
          </a:prstGeom>
          <a:noFill/>
          <a:ln/>
        </p:spPr>
        <p:txBody>
          <a:bodyPr wrap="square" lIns="0" tIns="0" rIns="0" bIns="0" rtlCol="0" anchor="t"/>
          <a:lstStyle/>
          <a:p>
            <a:pPr indent="0" marL="0">
              <a:spcAft>
                <a:spcPts val="400"/>
              </a:spcAft>
              <a:buNone/>
            </a:pPr>
            <a:r>
              <a:rPr lang="en-US" sz="1150" dirty="0">
                <a:solidFill>
                  <a:srgbClr val="AAB5C3"/>
                </a:solidFill>
                <a:latin typeface="Arial" pitchFamily="34" charset="0"/>
                <a:ea typeface="Arial" pitchFamily="34" charset="-122"/>
                <a:cs typeface="Arial" pitchFamily="34" charset="-120"/>
              </a:rPr>
              <a:t>Narrowed, never widened</a:t>
            </a:r>
            <a:endParaRPr lang="en-US" sz="1150" dirty="0"/>
          </a:p>
          <a:p>
            <a:pPr indent="0" marL="0">
              <a:spcAft>
                <a:spcPts val="400"/>
              </a:spcAft>
              <a:buNone/>
            </a:pPr>
            <a:r>
              <a:rPr lang="en-US" sz="1150" dirty="0">
                <a:solidFill>
                  <a:srgbClr val="AAB5C3"/>
                </a:solidFill>
                <a:latin typeface="Arial" pitchFamily="34" charset="0"/>
                <a:ea typeface="Arial" pitchFamily="34" charset="-122"/>
                <a:cs typeface="Arial" pitchFamily="34" charset="-120"/>
              </a:rPr>
              <a:t>Decisions with provenance</a:t>
            </a:r>
            <a:endParaRPr lang="en-US" sz="1150" dirty="0"/>
          </a:p>
          <a:p>
            <a:pPr indent="0" marL="0">
              <a:spcAft>
                <a:spcPts val="400"/>
              </a:spcAft>
              <a:buNone/>
            </a:pPr>
            <a:r>
              <a:rPr lang="en-US" sz="1150" dirty="0">
                <a:solidFill>
                  <a:srgbClr val="AAB5C3"/>
                </a:solidFill>
                <a:latin typeface="Arial" pitchFamily="34" charset="0"/>
                <a:ea typeface="Arial" pitchFamily="34" charset="-122"/>
                <a:cs typeface="Arial" pitchFamily="34" charset="-120"/>
              </a:rPr>
              <a:t>Scope: db/** excluded</a:t>
            </a:r>
            <a:endParaRPr lang="en-US" sz="1150" dirty="0"/>
          </a:p>
          <a:p>
            <a:pPr indent="0" marL="0">
              <a:spcAft>
                <a:spcPts val="400"/>
              </a:spcAft>
              <a:buNone/>
            </a:pPr>
            <a:r>
              <a:rPr lang="en-US" sz="1150" dirty="0">
                <a:solidFill>
                  <a:srgbClr val="AAB5C3"/>
                </a:solidFill>
                <a:latin typeface="Arial" pitchFamily="34" charset="0"/>
                <a:ea typeface="Arial" pitchFamily="34" charset="-122"/>
                <a:cs typeface="Arial" pitchFamily="34" charset="-120"/>
              </a:rPr>
              <a:t>Order from resolve_order</a:t>
            </a:r>
            <a:endParaRPr lang="en-US" sz="1150" dirty="0"/>
          </a:p>
        </p:txBody>
      </p:sp>
      <p:sp>
        <p:nvSpPr>
          <p:cNvPr id="23" name="Text 21"/>
          <p:cNvSpPr txBox="1"/>
          <p:nvPr/>
        </p:nvSpPr>
        <p:spPr>
          <a:xfrm>
            <a:off x="548640" y="4087368"/>
            <a:ext cx="7315200" cy="237744"/>
          </a:xfrm>
          <a:prstGeom prst="rect">
            <a:avLst/>
          </a:prstGeom>
          <a:noFill/>
          <a:ln/>
        </p:spPr>
        <p:txBody>
          <a:bodyPr wrap="square" lIns="0" tIns="0" rIns="0" bIns="0" rtlCol="0" anchor="t"/>
          <a:lstStyle/>
          <a:p>
            <a:pPr indent="0" marL="0">
              <a:buNone/>
            </a:pPr>
            <a:r>
              <a:rPr lang="en-US" sz="1100" b="1" spc="200" kern="0" dirty="0">
                <a:solidFill>
                  <a:srgbClr val="738191"/>
                </a:solidFill>
                <a:latin typeface="Arial" pitchFamily="34" charset="0"/>
                <a:ea typeface="Arial" pitchFamily="34" charset="-122"/>
                <a:cs typeface="Arial" pitchFamily="34" charset="-120"/>
              </a:rPr>
              <a:t>THE EIGHT RULES reconcile() ENFORCES</a:t>
            </a:r>
            <a:endParaRPr lang="en-US" sz="1100" dirty="0"/>
          </a:p>
        </p:txBody>
      </p:sp>
      <p:sp>
        <p:nvSpPr>
          <p:cNvPr id="24" name="Shape 22"/>
          <p:cNvSpPr/>
          <p:nvPr/>
        </p:nvSpPr>
        <p:spPr>
          <a:xfrm>
            <a:off x="548640" y="4434840"/>
            <a:ext cx="2636444" cy="475488"/>
          </a:xfrm>
          <a:prstGeom prst="roundRect">
            <a:avLst>
              <a:gd name="adj" fmla="val 19231"/>
            </a:avLst>
          </a:prstGeom>
          <a:solidFill>
            <a:srgbClr val="121821">
              <a:alpha val="95000"/>
            </a:srgbClr>
          </a:solidFill>
          <a:ln w="9525">
            <a:solidFill>
              <a:srgbClr val="263244"/>
            </a:solidFill>
            <a:prstDash val="solid"/>
          </a:ln>
        </p:spPr>
      </p:sp>
      <p:sp>
        <p:nvSpPr>
          <p:cNvPr id="25" name="Text 23"/>
          <p:cNvSpPr txBox="1"/>
          <p:nvPr/>
        </p:nvSpPr>
        <p:spPr>
          <a:xfrm>
            <a:off x="731520" y="4434840"/>
            <a:ext cx="2362124" cy="475488"/>
          </a:xfrm>
          <a:prstGeom prst="rect">
            <a:avLst/>
          </a:prstGeom>
          <a:noFill/>
          <a:ln/>
        </p:spPr>
        <p:txBody>
          <a:bodyPr wrap="square" lIns="0" tIns="0" rIns="0" bIns="0" rtlCol="0" anchor="ctr"/>
          <a:lstStyle/>
          <a:p>
            <a:pPr indent="0" marL="0">
              <a:buNone/>
            </a:pPr>
            <a:r>
              <a:rPr lang="en-US" sz="1250" b="1" dirty="0">
                <a:solidFill>
                  <a:srgbClr val="FF6A2B"/>
                </a:solidFill>
                <a:latin typeface="Arial" pitchFamily="34" charset="0"/>
                <a:ea typeface="Arial" pitchFamily="34" charset="-122"/>
                <a:cs typeface="Arial" pitchFamily="34" charset="-120"/>
              </a:rPr>
              <a:t>1  </a:t>
            </a:r>
            <a:pPr indent="0" marL="0">
              <a:buNone/>
            </a:pPr>
            <a:r>
              <a:rPr lang="en-US" sz="1250" dirty="0">
                <a:solidFill>
                  <a:srgbClr val="F3F5F8"/>
                </a:solidFill>
                <a:latin typeface="Arial" pitchFamily="34" charset="0"/>
                <a:ea typeface="Arial" pitchFamily="34" charset="-122"/>
                <a:cs typeface="Arial" pitchFamily="34" charset="-120"/>
              </a:rPr>
              <a:t>Only packs discovery activated</a:t>
            </a:r>
            <a:endParaRPr lang="en-US" sz="1250" dirty="0"/>
          </a:p>
        </p:txBody>
      </p:sp>
      <p:sp>
        <p:nvSpPr>
          <p:cNvPr id="26" name="Shape 24"/>
          <p:cNvSpPr/>
          <p:nvPr/>
        </p:nvSpPr>
        <p:spPr>
          <a:xfrm>
            <a:off x="3367964" y="4434840"/>
            <a:ext cx="2636444" cy="475488"/>
          </a:xfrm>
          <a:prstGeom prst="roundRect">
            <a:avLst>
              <a:gd name="adj" fmla="val 19231"/>
            </a:avLst>
          </a:prstGeom>
          <a:solidFill>
            <a:srgbClr val="121821">
              <a:alpha val="95000"/>
            </a:srgbClr>
          </a:solidFill>
          <a:ln w="9525">
            <a:solidFill>
              <a:srgbClr val="263244"/>
            </a:solidFill>
            <a:prstDash val="solid"/>
          </a:ln>
        </p:spPr>
      </p:sp>
      <p:sp>
        <p:nvSpPr>
          <p:cNvPr id="27" name="Text 25"/>
          <p:cNvSpPr txBox="1"/>
          <p:nvPr/>
        </p:nvSpPr>
        <p:spPr>
          <a:xfrm>
            <a:off x="3550844" y="4434840"/>
            <a:ext cx="2362124" cy="475488"/>
          </a:xfrm>
          <a:prstGeom prst="rect">
            <a:avLst/>
          </a:prstGeom>
          <a:noFill/>
          <a:ln/>
        </p:spPr>
        <p:txBody>
          <a:bodyPr wrap="square" lIns="0" tIns="0" rIns="0" bIns="0" rtlCol="0" anchor="ctr"/>
          <a:lstStyle/>
          <a:p>
            <a:pPr indent="0" marL="0">
              <a:buNone/>
            </a:pPr>
            <a:r>
              <a:rPr lang="en-US" sz="1250" b="1" dirty="0">
                <a:solidFill>
                  <a:srgbClr val="FF6A2B"/>
                </a:solidFill>
                <a:latin typeface="Arial" pitchFamily="34" charset="0"/>
                <a:ea typeface="Arial" pitchFamily="34" charset="-122"/>
                <a:cs typeface="Arial" pitchFamily="34" charset="-120"/>
              </a:rPr>
              <a:t>2  </a:t>
            </a:r>
            <a:pPr indent="0" marL="0">
              <a:buNone/>
            </a:pPr>
            <a:r>
              <a:rPr lang="en-US" sz="1250" dirty="0">
                <a:solidFill>
                  <a:srgbClr val="F3F5F8"/>
                </a:solidFill>
                <a:latin typeface="Arial" pitchFamily="34" charset="0"/>
                <a:ea typeface="Arial" pitchFamily="34" charset="-122"/>
                <a:cs typeface="Arial" pitchFamily="34" charset="-120"/>
              </a:rPr>
              <a:t>Nothing silently dropped</a:t>
            </a:r>
            <a:endParaRPr lang="en-US" sz="1250" dirty="0"/>
          </a:p>
        </p:txBody>
      </p:sp>
      <p:sp>
        <p:nvSpPr>
          <p:cNvPr id="28" name="Shape 26"/>
          <p:cNvSpPr/>
          <p:nvPr/>
        </p:nvSpPr>
        <p:spPr>
          <a:xfrm>
            <a:off x="6187288" y="4434840"/>
            <a:ext cx="2636444" cy="475488"/>
          </a:xfrm>
          <a:prstGeom prst="roundRect">
            <a:avLst>
              <a:gd name="adj" fmla="val 19231"/>
            </a:avLst>
          </a:prstGeom>
          <a:solidFill>
            <a:srgbClr val="121821">
              <a:alpha val="95000"/>
            </a:srgbClr>
          </a:solidFill>
          <a:ln w="9525">
            <a:solidFill>
              <a:srgbClr val="263244"/>
            </a:solidFill>
            <a:prstDash val="solid"/>
          </a:ln>
        </p:spPr>
      </p:sp>
      <p:sp>
        <p:nvSpPr>
          <p:cNvPr id="29" name="Text 27"/>
          <p:cNvSpPr txBox="1"/>
          <p:nvPr/>
        </p:nvSpPr>
        <p:spPr>
          <a:xfrm>
            <a:off x="6370168" y="4434840"/>
            <a:ext cx="2362124" cy="475488"/>
          </a:xfrm>
          <a:prstGeom prst="rect">
            <a:avLst/>
          </a:prstGeom>
          <a:noFill/>
          <a:ln/>
        </p:spPr>
        <p:txBody>
          <a:bodyPr wrap="square" lIns="0" tIns="0" rIns="0" bIns="0" rtlCol="0" anchor="ctr"/>
          <a:lstStyle/>
          <a:p>
            <a:pPr indent="0" marL="0">
              <a:buNone/>
            </a:pPr>
            <a:r>
              <a:rPr lang="en-US" sz="1250" b="1" dirty="0">
                <a:solidFill>
                  <a:srgbClr val="FF6A2B"/>
                </a:solidFill>
                <a:latin typeface="Arial" pitchFamily="34" charset="0"/>
                <a:ea typeface="Arial" pitchFamily="34" charset="-122"/>
                <a:cs typeface="Arial" pitchFamily="34" charset="-120"/>
              </a:rPr>
              <a:t>3  </a:t>
            </a:r>
            <a:pPr indent="0" marL="0">
              <a:buNone/>
            </a:pPr>
            <a:r>
              <a:rPr lang="en-US" sz="1250" dirty="0">
                <a:solidFill>
                  <a:srgbClr val="F3F5F8"/>
                </a:solidFill>
                <a:latin typeface="Arial" pitchFamily="34" charset="0"/>
                <a:ea typeface="Arial" pitchFamily="34" charset="-122"/>
                <a:cs typeface="Arial" pitchFamily="34" charset="-120"/>
              </a:rPr>
              <a:t>A closed vocabulary</a:t>
            </a:r>
            <a:endParaRPr lang="en-US" sz="1250" dirty="0"/>
          </a:p>
        </p:txBody>
      </p:sp>
      <p:sp>
        <p:nvSpPr>
          <p:cNvPr id="30" name="Shape 28"/>
          <p:cNvSpPr/>
          <p:nvPr/>
        </p:nvSpPr>
        <p:spPr>
          <a:xfrm>
            <a:off x="9006611" y="4434840"/>
            <a:ext cx="2636444" cy="475488"/>
          </a:xfrm>
          <a:prstGeom prst="roundRect">
            <a:avLst>
              <a:gd name="adj" fmla="val 19231"/>
            </a:avLst>
          </a:prstGeom>
          <a:solidFill>
            <a:srgbClr val="121821">
              <a:alpha val="95000"/>
            </a:srgbClr>
          </a:solidFill>
          <a:ln w="9525">
            <a:solidFill>
              <a:srgbClr val="263244"/>
            </a:solidFill>
            <a:prstDash val="solid"/>
          </a:ln>
        </p:spPr>
      </p:sp>
      <p:sp>
        <p:nvSpPr>
          <p:cNvPr id="31" name="Text 29"/>
          <p:cNvSpPr txBox="1"/>
          <p:nvPr/>
        </p:nvSpPr>
        <p:spPr>
          <a:xfrm>
            <a:off x="9189491" y="4434840"/>
            <a:ext cx="2362124" cy="475488"/>
          </a:xfrm>
          <a:prstGeom prst="rect">
            <a:avLst/>
          </a:prstGeom>
          <a:noFill/>
          <a:ln/>
        </p:spPr>
        <p:txBody>
          <a:bodyPr wrap="square" lIns="0" tIns="0" rIns="0" bIns="0" rtlCol="0" anchor="ctr"/>
          <a:lstStyle/>
          <a:p>
            <a:pPr indent="0" marL="0">
              <a:buNone/>
            </a:pPr>
            <a:r>
              <a:rPr lang="en-US" sz="1250" b="1" dirty="0">
                <a:solidFill>
                  <a:srgbClr val="FF6A2B"/>
                </a:solidFill>
                <a:latin typeface="Arial" pitchFamily="34" charset="0"/>
                <a:ea typeface="Arial" pitchFamily="34" charset="-122"/>
                <a:cs typeface="Arial" pitchFamily="34" charset="-120"/>
              </a:rPr>
              <a:t>4  </a:t>
            </a:r>
            <a:pPr indent="0" marL="0">
              <a:buNone/>
            </a:pPr>
            <a:r>
              <a:rPr lang="en-US" sz="1250" dirty="0">
                <a:solidFill>
                  <a:srgbClr val="F3F5F8"/>
                </a:solidFill>
                <a:latin typeface="Arial" pitchFamily="34" charset="0"/>
                <a:ea typeface="Arial" pitchFamily="34" charset="-122"/>
                <a:cs typeface="Arial" pitchFamily="34" charset="-120"/>
              </a:rPr>
              <a:t>Exclusive routes stay exclusive</a:t>
            </a:r>
            <a:endParaRPr lang="en-US" sz="1250" dirty="0"/>
          </a:p>
        </p:txBody>
      </p:sp>
      <p:sp>
        <p:nvSpPr>
          <p:cNvPr id="32" name="Shape 30"/>
          <p:cNvSpPr/>
          <p:nvPr/>
        </p:nvSpPr>
        <p:spPr>
          <a:xfrm>
            <a:off x="548640" y="5029200"/>
            <a:ext cx="2636444" cy="475488"/>
          </a:xfrm>
          <a:prstGeom prst="roundRect">
            <a:avLst>
              <a:gd name="adj" fmla="val 19231"/>
            </a:avLst>
          </a:prstGeom>
          <a:solidFill>
            <a:srgbClr val="121821">
              <a:alpha val="95000"/>
            </a:srgbClr>
          </a:solidFill>
          <a:ln w="9525">
            <a:solidFill>
              <a:srgbClr val="263244"/>
            </a:solidFill>
            <a:prstDash val="solid"/>
          </a:ln>
        </p:spPr>
      </p:sp>
      <p:sp>
        <p:nvSpPr>
          <p:cNvPr id="33" name="Text 31"/>
          <p:cNvSpPr txBox="1"/>
          <p:nvPr/>
        </p:nvSpPr>
        <p:spPr>
          <a:xfrm>
            <a:off x="731520" y="5029200"/>
            <a:ext cx="2362124" cy="475488"/>
          </a:xfrm>
          <a:prstGeom prst="rect">
            <a:avLst/>
          </a:prstGeom>
          <a:noFill/>
          <a:ln/>
        </p:spPr>
        <p:txBody>
          <a:bodyPr wrap="square" lIns="0" tIns="0" rIns="0" bIns="0" rtlCol="0" anchor="ctr"/>
          <a:lstStyle/>
          <a:p>
            <a:pPr indent="0" marL="0">
              <a:buNone/>
            </a:pPr>
            <a:r>
              <a:rPr lang="en-US" sz="1250" b="1" dirty="0">
                <a:solidFill>
                  <a:srgbClr val="FF6A2B"/>
                </a:solidFill>
                <a:latin typeface="Arial" pitchFamily="34" charset="0"/>
                <a:ea typeface="Arial" pitchFamily="34" charset="-122"/>
                <a:cs typeface="Arial" pitchFamily="34" charset="-120"/>
              </a:rPr>
              <a:t>5  </a:t>
            </a:r>
            <a:pPr indent="0" marL="0">
              <a:buNone/>
            </a:pPr>
            <a:r>
              <a:rPr lang="en-US" sz="1250" dirty="0">
                <a:solidFill>
                  <a:srgbClr val="F3F5F8"/>
                </a:solidFill>
                <a:latin typeface="Arial" pitchFamily="34" charset="0"/>
                <a:ea typeface="Arial" pitchFamily="34" charset="-122"/>
                <a:cs typeface="Arial" pitchFamily="34" charset="-120"/>
              </a:rPr>
              <a:t>State labels survive</a:t>
            </a:r>
            <a:endParaRPr lang="en-US" sz="1250" dirty="0"/>
          </a:p>
        </p:txBody>
      </p:sp>
      <p:sp>
        <p:nvSpPr>
          <p:cNvPr id="34" name="Shape 32"/>
          <p:cNvSpPr/>
          <p:nvPr/>
        </p:nvSpPr>
        <p:spPr>
          <a:xfrm>
            <a:off x="3367964" y="5029200"/>
            <a:ext cx="2636444" cy="475488"/>
          </a:xfrm>
          <a:prstGeom prst="roundRect">
            <a:avLst>
              <a:gd name="adj" fmla="val 19231"/>
            </a:avLst>
          </a:prstGeom>
          <a:solidFill>
            <a:srgbClr val="121821">
              <a:alpha val="95000"/>
            </a:srgbClr>
          </a:solidFill>
          <a:ln w="9525">
            <a:solidFill>
              <a:srgbClr val="263244"/>
            </a:solidFill>
            <a:prstDash val="solid"/>
          </a:ln>
        </p:spPr>
      </p:sp>
      <p:sp>
        <p:nvSpPr>
          <p:cNvPr id="35" name="Text 33"/>
          <p:cNvSpPr txBox="1"/>
          <p:nvPr/>
        </p:nvSpPr>
        <p:spPr>
          <a:xfrm>
            <a:off x="3550844" y="5029200"/>
            <a:ext cx="2362124" cy="475488"/>
          </a:xfrm>
          <a:prstGeom prst="rect">
            <a:avLst/>
          </a:prstGeom>
          <a:noFill/>
          <a:ln/>
        </p:spPr>
        <p:txBody>
          <a:bodyPr wrap="square" lIns="0" tIns="0" rIns="0" bIns="0" rtlCol="0" anchor="ctr"/>
          <a:lstStyle/>
          <a:p>
            <a:pPr indent="0" marL="0">
              <a:buNone/>
            </a:pPr>
            <a:r>
              <a:rPr lang="en-US" sz="1250" b="1" dirty="0">
                <a:solidFill>
                  <a:srgbClr val="FF6A2B"/>
                </a:solidFill>
                <a:latin typeface="Arial" pitchFamily="34" charset="0"/>
                <a:ea typeface="Arial" pitchFamily="34" charset="-122"/>
                <a:cs typeface="Arial" pitchFamily="34" charset="-120"/>
              </a:rPr>
              <a:t>6  </a:t>
            </a:r>
            <a:pPr indent="0" marL="0">
              <a:buNone/>
            </a:pPr>
            <a:r>
              <a:rPr lang="en-US" sz="1250" dirty="0">
                <a:solidFill>
                  <a:srgbClr val="F3F5F8"/>
                </a:solidFill>
                <a:latin typeface="Arial" pitchFamily="34" charset="0"/>
                <a:ea typeface="Arial" pitchFamily="34" charset="-122"/>
                <a:cs typeface="Arial" pitchFamily="34" charset="-120"/>
              </a:rPr>
              <a:t>Dependencies stay coherent</a:t>
            </a:r>
            <a:endParaRPr lang="en-US" sz="1250" dirty="0"/>
          </a:p>
        </p:txBody>
      </p:sp>
      <p:sp>
        <p:nvSpPr>
          <p:cNvPr id="36" name="Shape 34"/>
          <p:cNvSpPr/>
          <p:nvPr/>
        </p:nvSpPr>
        <p:spPr>
          <a:xfrm>
            <a:off x="6187288" y="5029200"/>
            <a:ext cx="2636444" cy="475488"/>
          </a:xfrm>
          <a:prstGeom prst="roundRect">
            <a:avLst>
              <a:gd name="adj" fmla="val 19231"/>
            </a:avLst>
          </a:prstGeom>
          <a:solidFill>
            <a:srgbClr val="121821">
              <a:alpha val="95000"/>
            </a:srgbClr>
          </a:solidFill>
          <a:ln w="9525">
            <a:solidFill>
              <a:srgbClr val="263244"/>
            </a:solidFill>
            <a:prstDash val="solid"/>
          </a:ln>
        </p:spPr>
      </p:sp>
      <p:sp>
        <p:nvSpPr>
          <p:cNvPr id="37" name="Text 35"/>
          <p:cNvSpPr txBox="1"/>
          <p:nvPr/>
        </p:nvSpPr>
        <p:spPr>
          <a:xfrm>
            <a:off x="6370168" y="5029200"/>
            <a:ext cx="2362124" cy="475488"/>
          </a:xfrm>
          <a:prstGeom prst="rect">
            <a:avLst/>
          </a:prstGeom>
          <a:noFill/>
          <a:ln/>
        </p:spPr>
        <p:txBody>
          <a:bodyPr wrap="square" lIns="0" tIns="0" rIns="0" bIns="0" rtlCol="0" anchor="ctr"/>
          <a:lstStyle/>
          <a:p>
            <a:pPr indent="0" marL="0">
              <a:buNone/>
            </a:pPr>
            <a:r>
              <a:rPr lang="en-US" sz="1250" b="1" dirty="0">
                <a:solidFill>
                  <a:srgbClr val="FF6A2B"/>
                </a:solidFill>
                <a:latin typeface="Arial" pitchFamily="34" charset="0"/>
                <a:ea typeface="Arial" pitchFamily="34" charset="-122"/>
                <a:cs typeface="Arial" pitchFamily="34" charset="-120"/>
              </a:rPr>
              <a:t>7  </a:t>
            </a:r>
            <a:pPr indent="0" marL="0">
              <a:buNone/>
            </a:pPr>
            <a:r>
              <a:rPr lang="en-US" sz="1250" dirty="0">
                <a:solidFill>
                  <a:srgbClr val="F3F5F8"/>
                </a:solidFill>
                <a:latin typeface="Arial" pitchFamily="34" charset="0"/>
                <a:ea typeface="Arial" pitchFamily="34" charset="-122"/>
                <a:cs typeface="Arial" pitchFamily="34" charset="-120"/>
              </a:rPr>
              <a:t>Order from resolve_order</a:t>
            </a:r>
            <a:endParaRPr lang="en-US" sz="1250" dirty="0"/>
          </a:p>
        </p:txBody>
      </p:sp>
      <p:sp>
        <p:nvSpPr>
          <p:cNvPr id="38" name="Shape 36"/>
          <p:cNvSpPr/>
          <p:nvPr/>
        </p:nvSpPr>
        <p:spPr>
          <a:xfrm>
            <a:off x="9006611" y="5029200"/>
            <a:ext cx="2636444" cy="475488"/>
          </a:xfrm>
          <a:prstGeom prst="roundRect">
            <a:avLst>
              <a:gd name="adj" fmla="val 19231"/>
            </a:avLst>
          </a:prstGeom>
          <a:solidFill>
            <a:srgbClr val="121821">
              <a:alpha val="95000"/>
            </a:srgbClr>
          </a:solidFill>
          <a:ln w="9525">
            <a:solidFill>
              <a:srgbClr val="263244"/>
            </a:solidFill>
            <a:prstDash val="solid"/>
          </a:ln>
        </p:spPr>
      </p:sp>
      <p:sp>
        <p:nvSpPr>
          <p:cNvPr id="39" name="Text 37"/>
          <p:cNvSpPr txBox="1"/>
          <p:nvPr/>
        </p:nvSpPr>
        <p:spPr>
          <a:xfrm>
            <a:off x="9189491" y="5029200"/>
            <a:ext cx="2362124" cy="475488"/>
          </a:xfrm>
          <a:prstGeom prst="rect">
            <a:avLst/>
          </a:prstGeom>
          <a:noFill/>
          <a:ln/>
        </p:spPr>
        <p:txBody>
          <a:bodyPr wrap="square" lIns="0" tIns="0" rIns="0" bIns="0" rtlCol="0" anchor="ctr"/>
          <a:lstStyle/>
          <a:p>
            <a:pPr indent="0" marL="0">
              <a:buNone/>
            </a:pPr>
            <a:r>
              <a:rPr lang="en-US" sz="1250" b="1" dirty="0">
                <a:solidFill>
                  <a:srgbClr val="FF6A2B"/>
                </a:solidFill>
                <a:latin typeface="Arial" pitchFamily="34" charset="0"/>
                <a:ea typeface="Arial" pitchFamily="34" charset="-122"/>
                <a:cs typeface="Arial" pitchFamily="34" charset="-120"/>
              </a:rPr>
              <a:t>8  </a:t>
            </a:r>
            <a:pPr indent="0" marL="0">
              <a:buNone/>
            </a:pPr>
            <a:r>
              <a:rPr lang="en-US" sz="1250" dirty="0">
                <a:solidFill>
                  <a:srgbClr val="F3F5F8"/>
                </a:solidFill>
                <a:latin typeface="Arial" pitchFamily="34" charset="0"/>
                <a:ea typeface="Arial" pitchFamily="34" charset="-122"/>
                <a:cs typeface="Arial" pitchFamily="34" charset="-120"/>
              </a:rPr>
              <a:t>Provenance on every decision</a:t>
            </a:r>
            <a:endParaRPr lang="en-US" sz="1250" dirty="0"/>
          </a:p>
        </p:txBody>
      </p:sp>
      <p:sp>
        <p:nvSpPr>
          <p:cNvPr id="40" name="Text 38"/>
          <p:cNvSpPr txBox="1"/>
          <p:nvPr/>
        </p:nvSpPr>
        <p:spPr>
          <a:xfrm>
            <a:off x="548640" y="5715000"/>
            <a:ext cx="11094415" cy="274320"/>
          </a:xfrm>
          <a:prstGeom prst="rect">
            <a:avLst/>
          </a:prstGeom>
          <a:noFill/>
          <a:ln/>
        </p:spPr>
        <p:txBody>
          <a:bodyPr wrap="square" lIns="0" tIns="0" rIns="0" bIns="0" rtlCol="0" anchor="t"/>
          <a:lstStyle/>
          <a:p>
            <a:pPr indent="0" marL="0">
              <a:buNone/>
            </a:pPr>
            <a:r>
              <a:rPr lang="en-US" sz="1250" i="1" dirty="0">
                <a:solidFill>
                  <a:srgbClr val="AAB5C3"/>
                </a:solidFill>
                <a:latin typeface="Arial" pitchFamily="34" charset="0"/>
                <a:ea typeface="Arial" pitchFamily="34" charset="-122"/>
                <a:cs typeface="Arial" pitchFamily="34" charset="-120"/>
              </a:rPr>
              <a:t>An answer that won’t parse falls back to the plan discovery would have made. A guess is worse than a default.</a:t>
            </a:r>
            <a:endParaRPr lang="en-US" sz="1250" dirty="0"/>
          </a:p>
        </p:txBody>
      </p:sp>
      <p:sp>
        <p:nvSpPr>
          <p:cNvPr id="41" name="Text 39"/>
          <p:cNvSpPr txBox="1"/>
          <p:nvPr/>
        </p:nvSpPr>
        <p:spPr>
          <a:xfrm>
            <a:off x="548640" y="6455664"/>
            <a:ext cx="5486400" cy="219456"/>
          </a:xfrm>
          <a:prstGeom prst="rect">
            <a:avLst/>
          </a:prstGeom>
          <a:noFill/>
          <a:ln/>
        </p:spPr>
        <p:txBody>
          <a:bodyPr wrap="square" lIns="0" tIns="0" rIns="0" bIns="0" rtlCol="0" anchor="t"/>
          <a:lstStyle/>
          <a:p>
            <a:pPr indent="0" marL="0">
              <a:buNone/>
            </a:pPr>
            <a:r>
              <a:rPr lang="en-US" sz="900" dirty="0">
                <a:solidFill>
                  <a:srgbClr val="738191"/>
                </a:solidFill>
                <a:latin typeface="Arial" pitchFamily="34" charset="0"/>
                <a:ea typeface="Arial" pitchFamily="34" charset="-122"/>
                <a:cs typeface="Arial" pitchFamily="34" charset="-120"/>
              </a:rPr>
              <a:t>FORGE  ·  Software Development Conference 2026</a:t>
            </a:r>
            <a:endParaRPr lang="en-US" sz="900" dirty="0"/>
          </a:p>
        </p:txBody>
      </p:sp>
      <p:sp>
        <p:nvSpPr>
          <p:cNvPr id="42" name="Text 40"/>
          <p:cNvSpPr txBox="1"/>
          <p:nvPr/>
        </p:nvSpPr>
        <p:spPr>
          <a:xfrm>
            <a:off x="11094415" y="6455664"/>
            <a:ext cx="548640" cy="219456"/>
          </a:xfrm>
          <a:prstGeom prst="rect">
            <a:avLst/>
          </a:prstGeom>
          <a:noFill/>
          <a:ln/>
        </p:spPr>
        <p:txBody>
          <a:bodyPr wrap="square" lIns="0" tIns="0" rIns="0" bIns="0" rtlCol="0" anchor="t"/>
          <a:lstStyle/>
          <a:p>
            <a:pPr algn="r" indent="0" marL="0">
              <a:buNone/>
            </a:pPr>
            <a:r>
              <a:rPr lang="en-US" sz="900" dirty="0">
                <a:solidFill>
                  <a:srgbClr val="738191"/>
                </a:solidFill>
                <a:latin typeface="Arial" pitchFamily="34" charset="0"/>
                <a:ea typeface="Arial" pitchFamily="34" charset="-122"/>
                <a:cs typeface="Arial"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t"/>
          <a:lstStyle/>
          <a:p>
            <a:pPr indent="0" marL="0">
              <a:buNone/>
            </a:pPr>
            <a:r>
              <a:rPr lang="en-US" sz="1100" b="1" spc="300" kern="0" dirty="0">
                <a:solidFill>
                  <a:srgbClr val="FF6A2B"/>
                </a:solidFill>
                <a:latin typeface="Arial" pitchFamily="34" charset="0"/>
                <a:ea typeface="Arial" pitchFamily="34" charset="-122"/>
                <a:cs typeface="Arial" pitchFamily="34" charset="-120"/>
              </a:rPr>
              <a:t>04  ·  THE EXPERIENCE</a:t>
            </a:r>
            <a:endParaRPr lang="en-US" sz="1100" dirty="0"/>
          </a:p>
        </p:txBody>
      </p:sp>
      <p:sp>
        <p:nvSpPr>
          <p:cNvPr id="3" name="Text 1"/>
          <p:cNvSpPr txBox="1"/>
          <p:nvPr/>
        </p:nvSpPr>
        <p:spPr>
          <a:xfrm>
            <a:off x="548640" y="676656"/>
            <a:ext cx="11094415" cy="658368"/>
          </a:xfrm>
          <a:prstGeom prst="rect">
            <a:avLst/>
          </a:prstGeom>
          <a:noFill/>
          <a:ln/>
        </p:spPr>
        <p:txBody>
          <a:bodyPr wrap="square" lIns="0" tIns="0" rIns="0" bIns="0" rtlCol="0" anchor="t"/>
          <a:lstStyle/>
          <a:p>
            <a:pPr indent="0" marL="0">
              <a:buNone/>
            </a:pPr>
            <a:r>
              <a:rPr lang="en-US" sz="3200" b="1" dirty="0">
                <a:solidFill>
                  <a:srgbClr val="F3F5F8"/>
                </a:solidFill>
                <a:latin typeface="Arial" pitchFamily="34" charset="0"/>
                <a:ea typeface="Arial" pitchFamily="34" charset="-122"/>
                <a:cs typeface="Arial" pitchFamily="34" charset="-120"/>
              </a:rPr>
              <a:t>A chat leader, with four locks</a:t>
            </a:r>
            <a:endParaRPr lang="en-US" sz="3200" dirty="0"/>
          </a:p>
        </p:txBody>
      </p:sp>
      <p:sp>
        <p:nvSpPr>
          <p:cNvPr id="4" name="Text 2"/>
          <p:cNvSpPr txBox="1"/>
          <p:nvPr/>
        </p:nvSpPr>
        <p:spPr>
          <a:xfrm>
            <a:off x="548640" y="1316736"/>
            <a:ext cx="10607040" cy="512064"/>
          </a:xfrm>
          <a:prstGeom prst="rect">
            <a:avLst/>
          </a:prstGeom>
          <a:noFill/>
          <a:ln/>
        </p:spPr>
        <p:txBody>
          <a:bodyPr wrap="square" lIns="0" tIns="0" rIns="0" bIns="0" rtlCol="0" anchor="t"/>
          <a:lstStyle/>
          <a:p>
            <a:pPr indent="0" marL="0">
              <a:lnSpc>
                <a:spcPct val="105000"/>
              </a:lnSpc>
              <a:buNone/>
            </a:pPr>
            <a:r>
              <a:rPr lang="en-US" sz="1500" dirty="0">
                <a:solidFill>
                  <a:srgbClr val="AAB5C3"/>
                </a:solidFill>
                <a:latin typeface="Arial" pitchFamily="34" charset="0"/>
                <a:ea typeface="Arial" pitchFamily="34" charset="-122"/>
                <a:cs typeface="Arial" pitchFamily="34" charset="-120"/>
              </a:rPr>
              <a:t>A model sequences the work and talks to you. It picks which run happens, never what happens inside one.</a:t>
            </a:r>
            <a:endParaRPr lang="en-US" sz="1500" dirty="0"/>
          </a:p>
        </p:txBody>
      </p:sp>
      <p:sp>
        <p:nvSpPr>
          <p:cNvPr id="5" name="Shape 3"/>
          <p:cNvSpPr/>
          <p:nvPr/>
        </p:nvSpPr>
        <p:spPr>
          <a:xfrm>
            <a:off x="548640" y="1965960"/>
            <a:ext cx="5257800" cy="4114800"/>
          </a:xfrm>
          <a:prstGeom prst="roundRect">
            <a:avLst>
              <a:gd name="adj" fmla="val 3111"/>
            </a:avLst>
          </a:prstGeom>
          <a:solidFill>
            <a:srgbClr val="0D1219"/>
          </a:solidFill>
          <a:ln w="9525">
            <a:solidFill>
              <a:srgbClr val="263244"/>
            </a:solidFill>
            <a:prstDash val="solid"/>
          </a:ln>
          <a:effectLst>
            <a:outerShdw sx="100000" sy="100000" kx="0" ky="0" algn="bl" rotWithShape="0" blurRad="203200" dist="63500" dir="5400000">
              <a:srgbClr val="000000">
                <a:alpha val="50000"/>
              </a:srgbClr>
            </a:outerShdw>
          </a:effectLst>
        </p:spPr>
      </p:sp>
      <p:sp>
        <p:nvSpPr>
          <p:cNvPr id="6" name="Text 4"/>
          <p:cNvSpPr txBox="1"/>
          <p:nvPr/>
        </p:nvSpPr>
        <p:spPr>
          <a:xfrm>
            <a:off x="822960" y="2103120"/>
            <a:ext cx="3657600" cy="219456"/>
          </a:xfrm>
          <a:prstGeom prst="rect">
            <a:avLst/>
          </a:prstGeom>
          <a:noFill/>
          <a:ln/>
        </p:spPr>
        <p:txBody>
          <a:bodyPr wrap="square" lIns="0" tIns="0" rIns="0" bIns="0" rtlCol="0" anchor="t"/>
          <a:lstStyle/>
          <a:p>
            <a:pPr indent="0" marL="0">
              <a:buNone/>
            </a:pPr>
            <a:r>
              <a:rPr lang="en-US" sz="1000" dirty="0">
                <a:solidFill>
                  <a:srgbClr val="738191"/>
                </a:solidFill>
                <a:latin typeface="Consolas" pitchFamily="34" charset="0"/>
                <a:ea typeface="Consolas" pitchFamily="34" charset="-122"/>
                <a:cs typeface="Consolas" pitchFamily="34" charset="-120"/>
              </a:rPr>
              <a:t>FORGE  ·  127.0.0.1:8765</a:t>
            </a:r>
            <a:endParaRPr lang="en-US" sz="1000" dirty="0"/>
          </a:p>
        </p:txBody>
      </p:sp>
      <p:sp>
        <p:nvSpPr>
          <p:cNvPr id="7" name="Shape 5"/>
          <p:cNvSpPr/>
          <p:nvPr/>
        </p:nvSpPr>
        <p:spPr>
          <a:xfrm>
            <a:off x="2377440" y="2432304"/>
            <a:ext cx="3200400" cy="384048"/>
          </a:xfrm>
          <a:prstGeom prst="roundRect">
            <a:avLst>
              <a:gd name="adj" fmla="val 33333"/>
            </a:avLst>
          </a:prstGeom>
          <a:solidFill>
            <a:srgbClr val="5EB1FF">
              <a:alpha val="22000"/>
            </a:srgbClr>
          </a:solidFill>
          <a:ln w="9525">
            <a:solidFill>
              <a:srgbClr val="5EB1FF">
                <a:alpha val="50000"/>
              </a:srgbClr>
            </a:solidFill>
            <a:prstDash val="solid"/>
          </a:ln>
        </p:spPr>
      </p:sp>
      <p:sp>
        <p:nvSpPr>
          <p:cNvPr id="8" name="Text 6"/>
          <p:cNvSpPr txBox="1"/>
          <p:nvPr/>
        </p:nvSpPr>
        <p:spPr>
          <a:xfrm>
            <a:off x="2542032" y="2432304"/>
            <a:ext cx="2871216" cy="384048"/>
          </a:xfrm>
          <a:prstGeom prst="rect">
            <a:avLst/>
          </a:prstGeom>
          <a:noFill/>
          <a:ln/>
        </p:spPr>
        <p:txBody>
          <a:bodyPr wrap="square" lIns="0" tIns="0" rIns="0" bIns="0" rtlCol="0" anchor="ctr"/>
          <a:lstStyle/>
          <a:p>
            <a:pPr algn="r" indent="0" marL="0">
              <a:buNone/>
            </a:pPr>
            <a:r>
              <a:rPr lang="en-US" sz="1200" dirty="0">
                <a:solidFill>
                  <a:srgbClr val="F3F5F8"/>
                </a:solidFill>
                <a:latin typeface="Arial" pitchFamily="34" charset="0"/>
                <a:ea typeface="Arial" pitchFamily="34" charset="-122"/>
                <a:cs typeface="Arial" pitchFamily="34" charset="-120"/>
              </a:rPr>
              <a:t>migrate the app at ~/forge/ams</a:t>
            </a:r>
            <a:endParaRPr lang="en-US" sz="1200" dirty="0"/>
          </a:p>
        </p:txBody>
      </p:sp>
      <p:sp>
        <p:nvSpPr>
          <p:cNvPr id="9" name="Shape 7"/>
          <p:cNvSpPr/>
          <p:nvPr/>
        </p:nvSpPr>
        <p:spPr>
          <a:xfrm>
            <a:off x="777240" y="2926080"/>
            <a:ext cx="4297680" cy="841248"/>
          </a:xfrm>
          <a:prstGeom prst="roundRect">
            <a:avLst>
              <a:gd name="adj" fmla="val 15217"/>
            </a:avLst>
          </a:prstGeom>
          <a:solidFill>
            <a:srgbClr val="18212D"/>
          </a:solidFill>
          <a:ln w="9525">
            <a:solidFill>
              <a:srgbClr val="263244"/>
            </a:solidFill>
            <a:prstDash val="solid"/>
          </a:ln>
        </p:spPr>
      </p:sp>
      <p:sp>
        <p:nvSpPr>
          <p:cNvPr id="10" name="Text 8"/>
          <p:cNvSpPr txBox="1"/>
          <p:nvPr/>
        </p:nvSpPr>
        <p:spPr>
          <a:xfrm>
            <a:off x="941832" y="2926080"/>
            <a:ext cx="3968496" cy="841248"/>
          </a:xfrm>
          <a:prstGeom prst="rect">
            <a:avLst/>
          </a:prstGeom>
          <a:noFill/>
          <a:ln/>
        </p:spPr>
        <p:txBody>
          <a:bodyPr wrap="square" lIns="0" tIns="0" rIns="0" bIns="0" rtlCol="0" anchor="ctr"/>
          <a:lstStyle/>
          <a:p>
            <a:pPr algn="l" indent="0" marL="0">
              <a:buNone/>
            </a:pPr>
            <a:r>
              <a:rPr lang="en-US" sz="1200" dirty="0">
                <a:solidFill>
                  <a:srgbClr val="F3F5F8"/>
                </a:solidFill>
                <a:latin typeface="Arial" pitchFamily="34" charset="0"/>
                <a:ea typeface="Arial" pitchFamily="34" charset="-122"/>
                <a:cs typeface="Arial" pitchFamily="34" charset="-120"/>
              </a:rPr>
              <a:t>Found it: Maven, 10 modules, Java 8. Ten packs apply, in dependency order. Nothing has run, and nothing has been spent.</a:t>
            </a:r>
            <a:endParaRPr lang="en-US" sz="1200" dirty="0"/>
          </a:p>
        </p:txBody>
      </p:sp>
      <p:sp>
        <p:nvSpPr>
          <p:cNvPr id="11" name="Shape 9"/>
          <p:cNvSpPr/>
          <p:nvPr/>
        </p:nvSpPr>
        <p:spPr>
          <a:xfrm>
            <a:off x="777240" y="3886200"/>
            <a:ext cx="4297680" cy="960120"/>
          </a:xfrm>
          <a:prstGeom prst="roundRect">
            <a:avLst>
              <a:gd name="adj" fmla="val 13333"/>
            </a:avLst>
          </a:prstGeom>
          <a:solidFill>
            <a:srgbClr val="FF6A2B">
              <a:alpha val="10000"/>
            </a:srgbClr>
          </a:solidFill>
          <a:ln w="9525">
            <a:solidFill>
              <a:srgbClr val="FF6A2B">
                <a:alpha val="55000"/>
              </a:srgbClr>
            </a:solidFill>
            <a:prstDash val="solid"/>
          </a:ln>
        </p:spPr>
      </p:sp>
      <p:sp>
        <p:nvSpPr>
          <p:cNvPr id="12" name="Text 10"/>
          <p:cNvSpPr txBox="1"/>
          <p:nvPr/>
        </p:nvSpPr>
        <p:spPr>
          <a:xfrm>
            <a:off x="978408" y="3986784"/>
            <a:ext cx="3931920" cy="256032"/>
          </a:xfrm>
          <a:prstGeom prst="rect">
            <a:avLst/>
          </a:prstGeom>
          <a:noFill/>
          <a:ln/>
        </p:spPr>
        <p:txBody>
          <a:bodyPr wrap="square" lIns="0" tIns="0" rIns="0" bIns="0" rtlCol="0" anchor="t"/>
          <a:lstStyle/>
          <a:p>
            <a:pPr indent="0" marL="0">
              <a:buNone/>
            </a:pPr>
            <a:r>
              <a:rPr lang="en-US" sz="1250" b="1" dirty="0">
                <a:solidFill>
                  <a:srgbClr val="F3F5F8"/>
                </a:solidFill>
                <a:latin typeface="Consolas" pitchFamily="34" charset="0"/>
                <a:ea typeface="Consolas" pitchFamily="34" charset="-122"/>
                <a:cs typeface="Consolas" pitchFamily="34" charset="-120"/>
              </a:rPr>
              <a:t>spring-to-spring6  ·  148 files</a:t>
            </a:r>
            <a:endParaRPr lang="en-US" sz="1250" dirty="0"/>
          </a:p>
        </p:txBody>
      </p:sp>
      <p:sp>
        <p:nvSpPr>
          <p:cNvPr id="13" name="Text 11"/>
          <p:cNvSpPr txBox="1"/>
          <p:nvPr/>
        </p:nvSpPr>
        <p:spPr>
          <a:xfrm>
            <a:off x="978408" y="4242816"/>
            <a:ext cx="3931920" cy="237744"/>
          </a:xfrm>
          <a:prstGeom prst="rect">
            <a:avLst/>
          </a:prstGeom>
          <a:noFill/>
          <a:ln/>
        </p:spPr>
        <p:txBody>
          <a:bodyPr wrap="square" lIns="0" tIns="0" rIns="0" bIns="0" rtlCol="0" anchor="t"/>
          <a:lstStyle/>
          <a:p>
            <a:pPr indent="0" marL="0">
              <a:buNone/>
            </a:pPr>
            <a:r>
              <a:rPr lang="en-US" sz="1150" dirty="0">
                <a:solidFill>
                  <a:srgbClr val="AAB5C3"/>
                </a:solidFill>
                <a:latin typeface="Arial" pitchFamily="34" charset="0"/>
                <a:ea typeface="Arial" pitchFamily="34" charset="-122"/>
                <a:cs typeface="Arial" pitchFamily="34" charset="-120"/>
              </a:rPr>
              <a:t>Over your $1 limit, so it needs your click.</a:t>
            </a:r>
            <a:endParaRPr lang="en-US" sz="1150" dirty="0"/>
          </a:p>
        </p:txBody>
      </p:sp>
      <p:sp>
        <p:nvSpPr>
          <p:cNvPr id="14" name="Text 12"/>
          <p:cNvSpPr txBox="1"/>
          <p:nvPr/>
        </p:nvSpPr>
        <p:spPr>
          <a:xfrm>
            <a:off x="978408" y="4517136"/>
            <a:ext cx="868680" cy="256032"/>
          </a:xfrm>
          <a:prstGeom prst="roundRect">
            <a:avLst>
              <a:gd name="adj" fmla="val 50000"/>
            </a:avLst>
          </a:prstGeom>
          <a:solidFill>
            <a:srgbClr val="FF6A2B"/>
          </a:solidFill>
          <a:ln w="9525">
            <a:solidFill>
              <a:srgbClr val="FF6A2B">
                <a:alpha val="55000"/>
              </a:srgbClr>
            </a:solidFill>
          </a:ln>
        </p:spPr>
        <p:txBody>
          <a:bodyPr wrap="square" lIns="0" tIns="0" rIns="0" bIns="0" rtlCol="0" anchor="ctr"/>
          <a:lstStyle/>
          <a:p>
            <a:pPr algn="ctr" indent="0" marL="0">
              <a:buNone/>
            </a:pPr>
            <a:r>
              <a:rPr lang="en-US" sz="1100" b="1" dirty="0">
                <a:solidFill>
                  <a:srgbClr val="0A0E13"/>
                </a:solidFill>
                <a:latin typeface="Arial" pitchFamily="34" charset="0"/>
                <a:ea typeface="Arial" pitchFamily="34" charset="-122"/>
                <a:cs typeface="Arial" pitchFamily="34" charset="-120"/>
              </a:rPr>
              <a:t>Run</a:t>
            </a:r>
            <a:endParaRPr lang="en-US" sz="1100" dirty="0"/>
          </a:p>
        </p:txBody>
      </p:sp>
      <p:sp>
        <p:nvSpPr>
          <p:cNvPr id="15" name="Text 13"/>
          <p:cNvSpPr txBox="1"/>
          <p:nvPr/>
        </p:nvSpPr>
        <p:spPr>
          <a:xfrm>
            <a:off x="1938528" y="4517136"/>
            <a:ext cx="960120" cy="256032"/>
          </a:xfrm>
          <a:prstGeom prst="roundRect">
            <a:avLst>
              <a:gd name="adj" fmla="val 50000"/>
            </a:avLst>
          </a:prstGeom>
          <a:solidFill>
            <a:srgbClr val="738191">
              <a:alpha val="0"/>
            </a:srgbClr>
          </a:solidFill>
          <a:ln w="9525">
            <a:solidFill>
              <a:srgbClr val="738191">
                <a:alpha val="55000"/>
              </a:srgbClr>
            </a:solidFill>
          </a:ln>
        </p:spPr>
        <p:txBody>
          <a:bodyPr wrap="square" lIns="0" tIns="0" rIns="0" bIns="0" rtlCol="0" anchor="ctr"/>
          <a:lstStyle/>
          <a:p>
            <a:pPr algn="ctr" indent="0" marL="0">
              <a:buNone/>
            </a:pPr>
            <a:r>
              <a:rPr lang="en-US" sz="1100" b="1" dirty="0">
                <a:solidFill>
                  <a:srgbClr val="AAB5C3"/>
                </a:solidFill>
                <a:latin typeface="Arial" pitchFamily="34" charset="0"/>
                <a:ea typeface="Arial" pitchFamily="34" charset="-122"/>
                <a:cs typeface="Arial" pitchFamily="34" charset="-120"/>
              </a:rPr>
              <a:t>Not now</a:t>
            </a:r>
            <a:endParaRPr lang="en-US" sz="1100" dirty="0"/>
          </a:p>
        </p:txBody>
      </p:sp>
      <p:sp>
        <p:nvSpPr>
          <p:cNvPr id="16" name="Shape 14"/>
          <p:cNvSpPr/>
          <p:nvPr/>
        </p:nvSpPr>
        <p:spPr>
          <a:xfrm>
            <a:off x="3200400" y="4956048"/>
            <a:ext cx="2377440" cy="365760"/>
          </a:xfrm>
          <a:prstGeom prst="roundRect">
            <a:avLst>
              <a:gd name="adj" fmla="val 35000"/>
            </a:avLst>
          </a:prstGeom>
          <a:solidFill>
            <a:srgbClr val="5EB1FF">
              <a:alpha val="22000"/>
            </a:srgbClr>
          </a:solidFill>
          <a:ln w="9525">
            <a:solidFill>
              <a:srgbClr val="5EB1FF">
                <a:alpha val="50000"/>
              </a:srgbClr>
            </a:solidFill>
            <a:prstDash val="solid"/>
          </a:ln>
        </p:spPr>
      </p:sp>
      <p:sp>
        <p:nvSpPr>
          <p:cNvPr id="17" name="Text 15"/>
          <p:cNvSpPr txBox="1"/>
          <p:nvPr/>
        </p:nvSpPr>
        <p:spPr>
          <a:xfrm>
            <a:off x="3364992" y="4956048"/>
            <a:ext cx="2048256" cy="365760"/>
          </a:xfrm>
          <a:prstGeom prst="rect">
            <a:avLst/>
          </a:prstGeom>
          <a:noFill/>
          <a:ln/>
        </p:spPr>
        <p:txBody>
          <a:bodyPr wrap="square" lIns="0" tIns="0" rIns="0" bIns="0" rtlCol="0" anchor="ctr"/>
          <a:lstStyle/>
          <a:p>
            <a:pPr algn="r" indent="0" marL="0">
              <a:buNone/>
            </a:pPr>
            <a:r>
              <a:rPr lang="en-US" sz="1200" dirty="0">
                <a:solidFill>
                  <a:srgbClr val="F3F5F8"/>
                </a:solidFill>
                <a:latin typeface="Arial" pitchFamily="34" charset="0"/>
                <a:ea typeface="Arial" pitchFamily="34" charset="-122"/>
                <a:cs typeface="Arial" pitchFamily="34" charset="-120"/>
              </a:rPr>
              <a:t>put it on a branch</a:t>
            </a:r>
            <a:endParaRPr lang="en-US" sz="1200" dirty="0"/>
          </a:p>
        </p:txBody>
      </p:sp>
      <p:sp>
        <p:nvSpPr>
          <p:cNvPr id="18" name="Shape 16"/>
          <p:cNvSpPr/>
          <p:nvPr/>
        </p:nvSpPr>
        <p:spPr>
          <a:xfrm>
            <a:off x="777240" y="5440680"/>
            <a:ext cx="4297680" cy="530352"/>
          </a:xfrm>
          <a:prstGeom prst="roundRect">
            <a:avLst>
              <a:gd name="adj" fmla="val 24138"/>
            </a:avLst>
          </a:prstGeom>
          <a:solidFill>
            <a:srgbClr val="18212D"/>
          </a:solidFill>
          <a:ln w="9525">
            <a:solidFill>
              <a:srgbClr val="B89CFF">
                <a:alpha val="50000"/>
              </a:srgbClr>
            </a:solidFill>
            <a:prstDash val="solid"/>
          </a:ln>
        </p:spPr>
      </p:sp>
      <p:sp>
        <p:nvSpPr>
          <p:cNvPr id="19" name="Text 17"/>
          <p:cNvSpPr txBox="1"/>
          <p:nvPr/>
        </p:nvSpPr>
        <p:spPr>
          <a:xfrm>
            <a:off x="941832" y="5440680"/>
            <a:ext cx="3017520" cy="530352"/>
          </a:xfrm>
          <a:prstGeom prst="rect">
            <a:avLst/>
          </a:prstGeom>
          <a:noFill/>
          <a:ln/>
        </p:spPr>
        <p:txBody>
          <a:bodyPr wrap="square" lIns="0" tIns="0" rIns="0" bIns="0" rtlCol="0" anchor="ctr"/>
          <a:lstStyle/>
          <a:p>
            <a:pPr indent="0" marL="0">
              <a:buNone/>
            </a:pPr>
            <a:r>
              <a:rPr lang="en-US" sz="1100" dirty="0">
                <a:solidFill>
                  <a:srgbClr val="F3F5F8"/>
                </a:solidFill>
                <a:latin typeface="Arial" pitchFamily="34" charset="0"/>
                <a:ea typeface="Arial" pitchFamily="34" charset="-122"/>
                <a:cs typeface="Arial" pitchFamily="34" charset="-120"/>
              </a:rPr>
              <a:t>Landed on a new branch. Nothing pushed. Open a pull request?</a:t>
            </a:r>
            <a:endParaRPr lang="en-US" sz="1100" dirty="0"/>
          </a:p>
        </p:txBody>
      </p:sp>
      <p:sp>
        <p:nvSpPr>
          <p:cNvPr id="20" name="Text 18"/>
          <p:cNvSpPr txBox="1"/>
          <p:nvPr/>
        </p:nvSpPr>
        <p:spPr>
          <a:xfrm>
            <a:off x="4041648" y="5577840"/>
            <a:ext cx="896112" cy="256032"/>
          </a:xfrm>
          <a:prstGeom prst="roundRect">
            <a:avLst>
              <a:gd name="adj" fmla="val 50000"/>
            </a:avLst>
          </a:prstGeom>
          <a:solidFill>
            <a:srgbClr val="B89CFF"/>
          </a:solidFill>
          <a:ln w="9525">
            <a:solidFill>
              <a:srgbClr val="B89CFF">
                <a:alpha val="55000"/>
              </a:srgbClr>
            </a:solidFill>
          </a:ln>
        </p:spPr>
        <p:txBody>
          <a:bodyPr wrap="square" lIns="0" tIns="0" rIns="0" bIns="0" rtlCol="0" anchor="ctr"/>
          <a:lstStyle/>
          <a:p>
            <a:pPr algn="ctr" indent="0" marL="0">
              <a:buNone/>
            </a:pPr>
            <a:r>
              <a:rPr lang="en-US" sz="1100" b="1" dirty="0">
                <a:solidFill>
                  <a:srgbClr val="0A0E13"/>
                </a:solidFill>
                <a:latin typeface="Arial" pitchFamily="34" charset="0"/>
                <a:ea typeface="Arial" pitchFamily="34" charset="-122"/>
                <a:cs typeface="Arial" pitchFamily="34" charset="-120"/>
              </a:rPr>
              <a:t>Confirm</a:t>
            </a:r>
            <a:endParaRPr lang="en-US" sz="1100" dirty="0"/>
          </a:p>
        </p:txBody>
      </p:sp>
      <p:sp>
        <p:nvSpPr>
          <p:cNvPr id="21" name="Shape 19"/>
          <p:cNvSpPr/>
          <p:nvPr/>
        </p:nvSpPr>
        <p:spPr>
          <a:xfrm>
            <a:off x="6172200" y="2039112"/>
            <a:ext cx="512064" cy="512064"/>
          </a:xfrm>
          <a:prstGeom prst="ellipse">
            <a:avLst/>
          </a:prstGeom>
          <a:solidFill>
            <a:srgbClr val="5EB1FF">
              <a:alpha val="16000"/>
            </a:srgbClr>
          </a:solidFill>
          <a:ln w="9525">
            <a:solidFill>
              <a:srgbClr val="5EB1FF">
                <a:alpha val="50000"/>
              </a:srgbClr>
            </a:solidFill>
            <a:prstDash val="solid"/>
          </a:ln>
        </p:spPr>
      </p:sp>
      <p:pic>
        <p:nvPicPr>
          <p:cNvPr id="22" name="Image 0" descr="/private/tmp/claude-501/-Users-raja-forge/826f4f3b-77e1-484d-8167-0e3b60d97c63/scratchpad/deck/assets/icons/LuLock-5EB1FF.png">    </p:cNvPr>
          <p:cNvPicPr>
            <a:picLocks noChangeAspect="1"/>
          </p:cNvPicPr>
          <p:nvPr/>
        </p:nvPicPr>
        <p:blipFill>
          <a:blip r:embed="rId1"/>
          <a:stretch>
            <a:fillRect/>
          </a:stretch>
        </p:blipFill>
        <p:spPr>
          <a:xfrm>
            <a:off x="6300216" y="2167128"/>
            <a:ext cx="256032" cy="256032"/>
          </a:xfrm>
          <a:prstGeom prst="rect">
            <a:avLst/>
          </a:prstGeom>
        </p:spPr>
      </p:pic>
      <p:sp>
        <p:nvSpPr>
          <p:cNvPr id="23" name="Text 20"/>
          <p:cNvSpPr txBox="1"/>
          <p:nvPr/>
        </p:nvSpPr>
        <p:spPr>
          <a:xfrm>
            <a:off x="6858000" y="2011680"/>
            <a:ext cx="4782312" cy="310896"/>
          </a:xfrm>
          <a:prstGeom prst="rect">
            <a:avLst/>
          </a:prstGeom>
          <a:noFill/>
          <a:ln/>
        </p:spPr>
        <p:txBody>
          <a:bodyPr wrap="square" lIns="0" tIns="0" rIns="0" bIns="0" rtlCol="0" anchor="t"/>
          <a:lstStyle/>
          <a:p>
            <a:pPr indent="0" marL="0">
              <a:buNone/>
            </a:pPr>
            <a:r>
              <a:rPr lang="en-US" sz="1500" b="1" dirty="0">
                <a:solidFill>
                  <a:srgbClr val="F3F5F8"/>
                </a:solidFill>
                <a:latin typeface="Arial" pitchFamily="34" charset="0"/>
                <a:ea typeface="Arial" pitchFamily="34" charset="-122"/>
                <a:cs typeface="Arial" pitchFamily="34" charset="-120"/>
              </a:rPr>
              <a:t>The selected packs are the bound</a:t>
            </a:r>
            <a:endParaRPr lang="en-US" sz="1500" dirty="0"/>
          </a:p>
        </p:txBody>
      </p:sp>
      <p:sp>
        <p:nvSpPr>
          <p:cNvPr id="24" name="Text 21"/>
          <p:cNvSpPr txBox="1"/>
          <p:nvPr/>
        </p:nvSpPr>
        <p:spPr>
          <a:xfrm>
            <a:off x="6858000" y="2350008"/>
            <a:ext cx="4782312" cy="502920"/>
          </a:xfrm>
          <a:prstGeom prst="rect">
            <a:avLst/>
          </a:prstGeom>
          <a:noFill/>
          <a:ln/>
        </p:spPr>
        <p:txBody>
          <a:bodyPr wrap="square" lIns="0" tIns="0" rIns="0" bIns="0" rtlCol="0" anchor="t"/>
          <a:lstStyle/>
          <a:p>
            <a:pPr indent="0" marL="0">
              <a:buNone/>
            </a:pPr>
            <a:r>
              <a:rPr lang="en-US" sz="1250" dirty="0">
                <a:solidFill>
                  <a:srgbClr val="AAB5C3"/>
                </a:solidFill>
                <a:latin typeface="Arial" pitchFamily="34" charset="0"/>
                <a:ea typeface="Arial" pitchFamily="34" charset="-122"/>
                <a:cs typeface="Arial" pitchFamily="34" charset="-120"/>
              </a:rPr>
              <a:t>A pack discovery didn’t select can’t reach a run, whatever the model says.</a:t>
            </a:r>
            <a:endParaRPr lang="en-US" sz="1250" dirty="0"/>
          </a:p>
        </p:txBody>
      </p:sp>
      <p:sp>
        <p:nvSpPr>
          <p:cNvPr id="25" name="Shape 22"/>
          <p:cNvSpPr/>
          <p:nvPr/>
        </p:nvSpPr>
        <p:spPr>
          <a:xfrm>
            <a:off x="6172200" y="3063240"/>
            <a:ext cx="512064" cy="512064"/>
          </a:xfrm>
          <a:prstGeom prst="ellipse">
            <a:avLst/>
          </a:prstGeom>
          <a:solidFill>
            <a:srgbClr val="5EB1FF">
              <a:alpha val="16000"/>
            </a:srgbClr>
          </a:solidFill>
          <a:ln w="9525">
            <a:solidFill>
              <a:srgbClr val="5EB1FF">
                <a:alpha val="50000"/>
              </a:srgbClr>
            </a:solidFill>
            <a:prstDash val="solid"/>
          </a:ln>
        </p:spPr>
      </p:sp>
      <p:pic>
        <p:nvPicPr>
          <p:cNvPr id="26" name="Image 1" descr="/private/tmp/claude-501/-Users-raja-forge/826f4f3b-77e1-484d-8167-0e3b60d97c63/scratchpad/deck/assets/icons/LuLock-5EB1FF.png">    </p:cNvPr>
          <p:cNvPicPr>
            <a:picLocks noChangeAspect="1"/>
          </p:cNvPicPr>
          <p:nvPr/>
        </p:nvPicPr>
        <p:blipFill>
          <a:blip r:embed="rId2"/>
          <a:stretch>
            <a:fillRect/>
          </a:stretch>
        </p:blipFill>
        <p:spPr>
          <a:xfrm>
            <a:off x="6300216" y="3191256"/>
            <a:ext cx="256032" cy="256032"/>
          </a:xfrm>
          <a:prstGeom prst="rect">
            <a:avLst/>
          </a:prstGeom>
        </p:spPr>
      </p:pic>
      <p:sp>
        <p:nvSpPr>
          <p:cNvPr id="27" name="Text 23"/>
          <p:cNvSpPr txBox="1"/>
          <p:nvPr/>
        </p:nvSpPr>
        <p:spPr>
          <a:xfrm>
            <a:off x="6858000" y="3035808"/>
            <a:ext cx="4782312" cy="310896"/>
          </a:xfrm>
          <a:prstGeom prst="rect">
            <a:avLst/>
          </a:prstGeom>
          <a:noFill/>
          <a:ln/>
        </p:spPr>
        <p:txBody>
          <a:bodyPr wrap="square" lIns="0" tIns="0" rIns="0" bIns="0" rtlCol="0" anchor="t"/>
          <a:lstStyle/>
          <a:p>
            <a:pPr indent="0" marL="0">
              <a:buNone/>
            </a:pPr>
            <a:r>
              <a:rPr lang="en-US" sz="1500" b="1" dirty="0">
                <a:solidFill>
                  <a:srgbClr val="F3F5F8"/>
                </a:solidFill>
                <a:latin typeface="Arial" pitchFamily="34" charset="0"/>
                <a:ea typeface="Arial" pitchFamily="34" charset="-122"/>
                <a:cs typeface="Arial" pitchFamily="34" charset="-120"/>
              </a:rPr>
              <a:t>The graph is untouched</a:t>
            </a:r>
            <a:endParaRPr lang="en-US" sz="1500" dirty="0"/>
          </a:p>
        </p:txBody>
      </p:sp>
      <p:sp>
        <p:nvSpPr>
          <p:cNvPr id="28" name="Text 24"/>
          <p:cNvSpPr txBox="1"/>
          <p:nvPr/>
        </p:nvSpPr>
        <p:spPr>
          <a:xfrm>
            <a:off x="6858000" y="3374136"/>
            <a:ext cx="4782312" cy="502920"/>
          </a:xfrm>
          <a:prstGeom prst="rect">
            <a:avLst/>
          </a:prstGeom>
          <a:noFill/>
          <a:ln/>
        </p:spPr>
        <p:txBody>
          <a:bodyPr wrap="square" lIns="0" tIns="0" rIns="0" bIns="0" rtlCol="0" anchor="t"/>
          <a:lstStyle/>
          <a:p>
            <a:pPr indent="0" marL="0">
              <a:buNone/>
            </a:pPr>
            <a:r>
              <a:rPr lang="en-US" sz="1250" dirty="0">
                <a:solidFill>
                  <a:srgbClr val="AAB5C3"/>
                </a:solidFill>
                <a:latin typeface="Arial" pitchFamily="34" charset="0"/>
                <a:ea typeface="Arial" pitchFamily="34" charset="-122"/>
                <a:cs typeface="Arial" pitchFamily="34" charset="-120"/>
              </a:rPr>
              <a:t>Routing, retries and the hold gate are the same code the CLI runs.</a:t>
            </a:r>
            <a:endParaRPr lang="en-US" sz="1250" dirty="0"/>
          </a:p>
        </p:txBody>
      </p:sp>
      <p:sp>
        <p:nvSpPr>
          <p:cNvPr id="29" name="Shape 25"/>
          <p:cNvSpPr/>
          <p:nvPr/>
        </p:nvSpPr>
        <p:spPr>
          <a:xfrm>
            <a:off x="6172200" y="4087368"/>
            <a:ext cx="512064" cy="512064"/>
          </a:xfrm>
          <a:prstGeom prst="ellipse">
            <a:avLst/>
          </a:prstGeom>
          <a:solidFill>
            <a:srgbClr val="5EB1FF">
              <a:alpha val="16000"/>
            </a:srgbClr>
          </a:solidFill>
          <a:ln w="9525">
            <a:solidFill>
              <a:srgbClr val="5EB1FF">
                <a:alpha val="50000"/>
              </a:srgbClr>
            </a:solidFill>
            <a:prstDash val="solid"/>
          </a:ln>
        </p:spPr>
      </p:sp>
      <p:pic>
        <p:nvPicPr>
          <p:cNvPr id="30" name="Image 2" descr="/private/tmp/claude-501/-Users-raja-forge/826f4f3b-77e1-484d-8167-0e3b60d97c63/scratchpad/deck/assets/icons/LuLock-5EB1FF.png">    </p:cNvPr>
          <p:cNvPicPr>
            <a:picLocks noChangeAspect="1"/>
          </p:cNvPicPr>
          <p:nvPr/>
        </p:nvPicPr>
        <p:blipFill>
          <a:blip r:embed="rId3"/>
          <a:stretch>
            <a:fillRect/>
          </a:stretch>
        </p:blipFill>
        <p:spPr>
          <a:xfrm>
            <a:off x="6300216" y="4215384"/>
            <a:ext cx="256032" cy="256032"/>
          </a:xfrm>
          <a:prstGeom prst="rect">
            <a:avLst/>
          </a:prstGeom>
        </p:spPr>
      </p:pic>
      <p:sp>
        <p:nvSpPr>
          <p:cNvPr id="31" name="Text 26"/>
          <p:cNvSpPr txBox="1"/>
          <p:nvPr/>
        </p:nvSpPr>
        <p:spPr>
          <a:xfrm>
            <a:off x="6858000" y="4059936"/>
            <a:ext cx="4782312" cy="310896"/>
          </a:xfrm>
          <a:prstGeom prst="rect">
            <a:avLst/>
          </a:prstGeom>
          <a:noFill/>
          <a:ln/>
        </p:spPr>
        <p:txBody>
          <a:bodyPr wrap="square" lIns="0" tIns="0" rIns="0" bIns="0" rtlCol="0" anchor="t"/>
          <a:lstStyle/>
          <a:p>
            <a:pPr indent="0" marL="0">
              <a:buNone/>
            </a:pPr>
            <a:r>
              <a:rPr lang="en-US" sz="1500" b="1" dirty="0">
                <a:solidFill>
                  <a:srgbClr val="F3F5F8"/>
                </a:solidFill>
                <a:latin typeface="Arial" pitchFamily="34" charset="0"/>
                <a:ea typeface="Arial" pitchFamily="34" charset="-122"/>
                <a:cs typeface="Arial" pitchFamily="34" charset="-120"/>
              </a:rPr>
              <a:t>Mutation always takes a click</a:t>
            </a:r>
            <a:endParaRPr lang="en-US" sz="1500" dirty="0"/>
          </a:p>
        </p:txBody>
      </p:sp>
      <p:sp>
        <p:nvSpPr>
          <p:cNvPr id="32" name="Text 27"/>
          <p:cNvSpPr txBox="1"/>
          <p:nvPr/>
        </p:nvSpPr>
        <p:spPr>
          <a:xfrm>
            <a:off x="6858000" y="4398264"/>
            <a:ext cx="4782312" cy="502920"/>
          </a:xfrm>
          <a:prstGeom prst="rect">
            <a:avLst/>
          </a:prstGeom>
          <a:noFill/>
          <a:ln/>
        </p:spPr>
        <p:txBody>
          <a:bodyPr wrap="square" lIns="0" tIns="0" rIns="0" bIns="0" rtlCol="0" anchor="t"/>
          <a:lstStyle/>
          <a:p>
            <a:pPr indent="0" marL="0">
              <a:buNone/>
            </a:pPr>
            <a:r>
              <a:rPr lang="en-US" sz="1250" dirty="0">
                <a:solidFill>
                  <a:srgbClr val="AAB5C3"/>
                </a:solidFill>
                <a:latin typeface="Arial" pitchFamily="34" charset="0"/>
                <a:ea typeface="Arial" pitchFamily="34" charset="-122"/>
                <a:cs typeface="Arial" pitchFamily="34" charset="-120"/>
              </a:rPr>
              <a:t>Approving files, landing a branch and opening a pull request always ask, and so does spend over your limit.</a:t>
            </a:r>
            <a:endParaRPr lang="en-US" sz="1250" dirty="0"/>
          </a:p>
        </p:txBody>
      </p:sp>
      <p:sp>
        <p:nvSpPr>
          <p:cNvPr id="33" name="Shape 28"/>
          <p:cNvSpPr/>
          <p:nvPr/>
        </p:nvSpPr>
        <p:spPr>
          <a:xfrm>
            <a:off x="6172200" y="5111496"/>
            <a:ext cx="512064" cy="512064"/>
          </a:xfrm>
          <a:prstGeom prst="ellipse">
            <a:avLst/>
          </a:prstGeom>
          <a:solidFill>
            <a:srgbClr val="5EB1FF">
              <a:alpha val="16000"/>
            </a:srgbClr>
          </a:solidFill>
          <a:ln w="9525">
            <a:solidFill>
              <a:srgbClr val="5EB1FF">
                <a:alpha val="50000"/>
              </a:srgbClr>
            </a:solidFill>
            <a:prstDash val="solid"/>
          </a:ln>
        </p:spPr>
      </p:sp>
      <p:pic>
        <p:nvPicPr>
          <p:cNvPr id="34" name="Image 3" descr="/private/tmp/claude-501/-Users-raja-forge/826f4f3b-77e1-484d-8167-0e3b60d97c63/scratchpad/deck/assets/icons/LuLock-5EB1FF.png">    </p:cNvPr>
          <p:cNvPicPr>
            <a:picLocks noChangeAspect="1"/>
          </p:cNvPicPr>
          <p:nvPr/>
        </p:nvPicPr>
        <p:blipFill>
          <a:blip r:embed="rId4"/>
          <a:stretch>
            <a:fillRect/>
          </a:stretch>
        </p:blipFill>
        <p:spPr>
          <a:xfrm>
            <a:off x="6300216" y="5239512"/>
            <a:ext cx="256032" cy="256032"/>
          </a:xfrm>
          <a:prstGeom prst="rect">
            <a:avLst/>
          </a:prstGeom>
        </p:spPr>
      </p:pic>
      <p:sp>
        <p:nvSpPr>
          <p:cNvPr id="35" name="Text 29"/>
          <p:cNvSpPr txBox="1"/>
          <p:nvPr/>
        </p:nvSpPr>
        <p:spPr>
          <a:xfrm>
            <a:off x="6858000" y="5084064"/>
            <a:ext cx="4782312" cy="310896"/>
          </a:xfrm>
          <a:prstGeom prst="rect">
            <a:avLst/>
          </a:prstGeom>
          <a:noFill/>
          <a:ln/>
        </p:spPr>
        <p:txBody>
          <a:bodyPr wrap="square" lIns="0" tIns="0" rIns="0" bIns="0" rtlCol="0" anchor="t"/>
          <a:lstStyle/>
          <a:p>
            <a:pPr indent="0" marL="0">
              <a:buNone/>
            </a:pPr>
            <a:r>
              <a:rPr lang="en-US" sz="1500" b="1" dirty="0">
                <a:solidFill>
                  <a:srgbClr val="F3F5F8"/>
                </a:solidFill>
                <a:latin typeface="Arial" pitchFamily="34" charset="0"/>
                <a:ea typeface="Arial" pitchFamily="34" charset="-122"/>
                <a:cs typeface="Arial" pitchFamily="34" charset="-120"/>
              </a:rPr>
              <a:t>risk_ceiling never comes from a prompt</a:t>
            </a:r>
            <a:endParaRPr lang="en-US" sz="1500" dirty="0"/>
          </a:p>
        </p:txBody>
      </p:sp>
      <p:sp>
        <p:nvSpPr>
          <p:cNvPr id="36" name="Text 30"/>
          <p:cNvSpPr txBox="1"/>
          <p:nvPr/>
        </p:nvSpPr>
        <p:spPr>
          <a:xfrm>
            <a:off x="6858000" y="5422392"/>
            <a:ext cx="4782312" cy="502920"/>
          </a:xfrm>
          <a:prstGeom prst="rect">
            <a:avLst/>
          </a:prstGeom>
          <a:noFill/>
          <a:ln/>
        </p:spPr>
        <p:txBody>
          <a:bodyPr wrap="square" lIns="0" tIns="0" rIns="0" bIns="0" rtlCol="0" anchor="t"/>
          <a:lstStyle/>
          <a:p>
            <a:pPr indent="0" marL="0">
              <a:buNone/>
            </a:pPr>
            <a:r>
              <a:rPr lang="en-US" sz="1250" dirty="0">
                <a:solidFill>
                  <a:srgbClr val="AAB5C3"/>
                </a:solidFill>
                <a:latin typeface="Arial" pitchFamily="34" charset="0"/>
                <a:ea typeface="Arial" pitchFamily="34" charset="-122"/>
                <a:cs typeface="Arial" pitchFamily="34" charset="-120"/>
              </a:rPr>
              <a:t>“Don’t bother reviewing” can’t lower the hold gate.</a:t>
            </a:r>
            <a:endParaRPr lang="en-US" sz="1250" dirty="0"/>
          </a:p>
        </p:txBody>
      </p:sp>
      <p:sp>
        <p:nvSpPr>
          <p:cNvPr id="37" name="Text 31"/>
          <p:cNvSpPr txBox="1"/>
          <p:nvPr/>
        </p:nvSpPr>
        <p:spPr>
          <a:xfrm>
            <a:off x="548640" y="6455664"/>
            <a:ext cx="5486400" cy="219456"/>
          </a:xfrm>
          <a:prstGeom prst="rect">
            <a:avLst/>
          </a:prstGeom>
          <a:noFill/>
          <a:ln/>
        </p:spPr>
        <p:txBody>
          <a:bodyPr wrap="square" lIns="0" tIns="0" rIns="0" bIns="0" rtlCol="0" anchor="t"/>
          <a:lstStyle/>
          <a:p>
            <a:pPr indent="0" marL="0">
              <a:buNone/>
            </a:pPr>
            <a:r>
              <a:rPr lang="en-US" sz="900" dirty="0">
                <a:solidFill>
                  <a:srgbClr val="738191"/>
                </a:solidFill>
                <a:latin typeface="Arial" pitchFamily="34" charset="0"/>
                <a:ea typeface="Arial" pitchFamily="34" charset="-122"/>
                <a:cs typeface="Arial" pitchFamily="34" charset="-120"/>
              </a:rPr>
              <a:t>FORGE  ·  Software Development Conference 2026</a:t>
            </a:r>
            <a:endParaRPr lang="en-US" sz="900" dirty="0"/>
          </a:p>
        </p:txBody>
      </p:sp>
      <p:sp>
        <p:nvSpPr>
          <p:cNvPr id="38" name="Text 32"/>
          <p:cNvSpPr txBox="1"/>
          <p:nvPr/>
        </p:nvSpPr>
        <p:spPr>
          <a:xfrm>
            <a:off x="11094415" y="6455664"/>
            <a:ext cx="548640" cy="219456"/>
          </a:xfrm>
          <a:prstGeom prst="rect">
            <a:avLst/>
          </a:prstGeom>
          <a:noFill/>
          <a:ln/>
        </p:spPr>
        <p:txBody>
          <a:bodyPr wrap="square" lIns="0" tIns="0" rIns="0" bIns="0" rtlCol="0" anchor="t"/>
          <a:lstStyle/>
          <a:p>
            <a:pPr algn="r" indent="0" marL="0">
              <a:buNone/>
            </a:pPr>
            <a:r>
              <a:rPr lang="en-US" sz="900" dirty="0">
                <a:solidFill>
                  <a:srgbClr val="738191"/>
                </a:solidFill>
                <a:latin typeface="Arial" pitchFamily="34" charset="0"/>
                <a:ea typeface="Arial" pitchFamily="34" charset="-122"/>
                <a:cs typeface="Arial"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t"/>
          <a:lstStyle/>
          <a:p>
            <a:pPr indent="0" marL="0">
              <a:buNone/>
            </a:pPr>
            <a:r>
              <a:rPr lang="en-US" sz="1100" b="1" spc="300" kern="0" dirty="0">
                <a:solidFill>
                  <a:srgbClr val="FF6A2B"/>
                </a:solidFill>
                <a:latin typeface="Arial" pitchFamily="34" charset="0"/>
                <a:ea typeface="Arial" pitchFamily="34" charset="-122"/>
                <a:cs typeface="Arial" pitchFamily="34" charset="-120"/>
              </a:rPr>
              <a:t>04  ·  THE EXPERIENCE</a:t>
            </a:r>
            <a:endParaRPr lang="en-US" sz="1100" dirty="0"/>
          </a:p>
        </p:txBody>
      </p:sp>
      <p:sp>
        <p:nvSpPr>
          <p:cNvPr id="3" name="Text 1"/>
          <p:cNvSpPr txBox="1"/>
          <p:nvPr/>
        </p:nvSpPr>
        <p:spPr>
          <a:xfrm>
            <a:off x="548640" y="676656"/>
            <a:ext cx="11094415" cy="658368"/>
          </a:xfrm>
          <a:prstGeom prst="rect">
            <a:avLst/>
          </a:prstGeom>
          <a:noFill/>
          <a:ln/>
        </p:spPr>
        <p:txBody>
          <a:bodyPr wrap="square" lIns="0" tIns="0" rIns="0" bIns="0" rtlCol="0" anchor="t"/>
          <a:lstStyle/>
          <a:p>
            <a:pPr indent="0" marL="0">
              <a:buNone/>
            </a:pPr>
            <a:r>
              <a:rPr lang="en-US" sz="3200" b="1" dirty="0">
                <a:solidFill>
                  <a:srgbClr val="F3F5F8"/>
                </a:solidFill>
                <a:latin typeface="Arial" pitchFamily="34" charset="0"/>
                <a:ea typeface="Arial" pitchFamily="34" charset="-122"/>
                <a:cs typeface="Arial" pitchFamily="34" charset="-120"/>
              </a:rPr>
              <a:t>What the leader model is allowed to see</a:t>
            </a:r>
            <a:endParaRPr lang="en-US" sz="3200" dirty="0"/>
          </a:p>
        </p:txBody>
      </p:sp>
      <p:sp>
        <p:nvSpPr>
          <p:cNvPr id="4" name="Text 2"/>
          <p:cNvSpPr txBox="1"/>
          <p:nvPr/>
        </p:nvSpPr>
        <p:spPr>
          <a:xfrm>
            <a:off x="548640" y="1316736"/>
            <a:ext cx="10607040" cy="512064"/>
          </a:xfrm>
          <a:prstGeom prst="rect">
            <a:avLst/>
          </a:prstGeom>
          <a:noFill/>
          <a:ln/>
        </p:spPr>
        <p:txBody>
          <a:bodyPr wrap="square" lIns="0" tIns="0" rIns="0" bIns="0" rtlCol="0" anchor="t"/>
          <a:lstStyle/>
          <a:p>
            <a:pPr indent="0" marL="0">
              <a:lnSpc>
                <a:spcPct val="105000"/>
              </a:lnSpc>
              <a:buNone/>
            </a:pPr>
            <a:r>
              <a:rPr lang="en-US" sz="1500" dirty="0">
                <a:solidFill>
                  <a:srgbClr val="AAB5C3"/>
                </a:solidFill>
                <a:latin typeface="Arial" pitchFamily="34" charset="0"/>
                <a:ea typeface="Arial" pitchFamily="34" charset="-122"/>
                <a:cs typeface="Arial" pitchFamily="34" charset="-120"/>
              </a:rPr>
              <a:t>The same run data is reduced two ways: the model gets facts, and your browser gets the code.</a:t>
            </a:r>
            <a:endParaRPr lang="en-US" sz="1500" dirty="0"/>
          </a:p>
        </p:txBody>
      </p:sp>
      <p:sp>
        <p:nvSpPr>
          <p:cNvPr id="5" name="Shape 3"/>
          <p:cNvSpPr/>
          <p:nvPr/>
        </p:nvSpPr>
        <p:spPr>
          <a:xfrm>
            <a:off x="548640" y="2011680"/>
            <a:ext cx="6675120" cy="1005840"/>
          </a:xfrm>
          <a:prstGeom prst="roundRect">
            <a:avLst>
              <a:gd name="adj" fmla="val 10909"/>
            </a:avLst>
          </a:prstGeom>
          <a:solidFill>
            <a:srgbClr val="FF6A2B">
              <a:alpha val="12000"/>
            </a:srgbClr>
          </a:solidFill>
          <a:ln w="9525">
            <a:solidFill>
              <a:srgbClr val="FF6A2B">
                <a:alpha val="55000"/>
              </a:srgbClr>
            </a:solidFill>
            <a:prstDash val="solid"/>
          </a:ln>
        </p:spPr>
      </p:sp>
      <p:sp>
        <p:nvSpPr>
          <p:cNvPr id="6" name="Text 4"/>
          <p:cNvSpPr txBox="1"/>
          <p:nvPr/>
        </p:nvSpPr>
        <p:spPr>
          <a:xfrm>
            <a:off x="822960" y="2121408"/>
            <a:ext cx="3657600" cy="237744"/>
          </a:xfrm>
          <a:prstGeom prst="rect">
            <a:avLst/>
          </a:prstGeom>
          <a:noFill/>
          <a:ln/>
        </p:spPr>
        <p:txBody>
          <a:bodyPr wrap="square" lIns="0" tIns="0" rIns="0" bIns="0" rtlCol="0" anchor="t"/>
          <a:lstStyle/>
          <a:p>
            <a:pPr indent="0" marL="0">
              <a:buNone/>
            </a:pPr>
            <a:r>
              <a:rPr lang="en-US" sz="1100" b="1" spc="200" kern="0" dirty="0">
                <a:solidFill>
                  <a:srgbClr val="FF6A2B"/>
                </a:solidFill>
                <a:latin typeface="Arial" pitchFamily="34" charset="0"/>
                <a:ea typeface="Arial" pitchFamily="34" charset="-122"/>
                <a:cs typeface="Arial" pitchFamily="34" charset="-120"/>
              </a:rPr>
              <a:t>THE MODEL SEES</a:t>
            </a:r>
            <a:endParaRPr lang="en-US" sz="1100" dirty="0"/>
          </a:p>
        </p:txBody>
      </p:sp>
      <p:sp>
        <p:nvSpPr>
          <p:cNvPr id="7" name="Text 5"/>
          <p:cNvSpPr txBox="1"/>
          <p:nvPr/>
        </p:nvSpPr>
        <p:spPr>
          <a:xfrm>
            <a:off x="822960" y="2496312"/>
            <a:ext cx="665683" cy="329184"/>
          </a:xfrm>
          <a:prstGeom prst="roundRect">
            <a:avLst>
              <a:gd name="adj" fmla="val 50000"/>
            </a:avLst>
          </a:prstGeom>
          <a:solidFill>
            <a:srgbClr val="FF6A2B">
              <a:alpha val="25000"/>
            </a:srgbClr>
          </a:solidFill>
          <a:ln w="9525">
            <a:solidFill>
              <a:srgbClr val="FF6A2B">
                <a:alpha val="55000"/>
              </a:srgbClr>
            </a:solidFill>
          </a:ln>
        </p:spPr>
        <p:txBody>
          <a:bodyPr wrap="square" lIns="0" tIns="0" rIns="0" bIns="0" rtlCol="0" anchor="ctr"/>
          <a:lstStyle/>
          <a:p>
            <a:pPr algn="ctr" indent="0" marL="0">
              <a:buNone/>
            </a:pPr>
            <a:r>
              <a:rPr lang="en-US" sz="1100" dirty="0">
                <a:solidFill>
                  <a:srgbClr val="F3F5F8"/>
                </a:solidFill>
                <a:latin typeface="Arial" pitchFamily="34" charset="0"/>
                <a:ea typeface="Arial" pitchFamily="34" charset="-122"/>
                <a:cs typeface="Arial" pitchFamily="34" charset="-120"/>
              </a:rPr>
              <a:t>counts</a:t>
            </a:r>
            <a:endParaRPr lang="en-US" sz="1100" dirty="0"/>
          </a:p>
        </p:txBody>
      </p:sp>
      <p:sp>
        <p:nvSpPr>
          <p:cNvPr id="8" name="Text 6"/>
          <p:cNvSpPr txBox="1"/>
          <p:nvPr/>
        </p:nvSpPr>
        <p:spPr>
          <a:xfrm>
            <a:off x="1580083" y="2496312"/>
            <a:ext cx="808330" cy="329184"/>
          </a:xfrm>
          <a:prstGeom prst="roundRect">
            <a:avLst>
              <a:gd name="adj" fmla="val 50000"/>
            </a:avLst>
          </a:prstGeom>
          <a:solidFill>
            <a:srgbClr val="FF6A2B">
              <a:alpha val="25000"/>
            </a:srgbClr>
          </a:solidFill>
          <a:ln w="9525">
            <a:solidFill>
              <a:srgbClr val="FF6A2B">
                <a:alpha val="55000"/>
              </a:srgbClr>
            </a:solidFill>
          </a:ln>
        </p:spPr>
        <p:txBody>
          <a:bodyPr wrap="square" lIns="0" tIns="0" rIns="0" bIns="0" rtlCol="0" anchor="ctr"/>
          <a:lstStyle/>
          <a:p>
            <a:pPr algn="ctr" indent="0" marL="0">
              <a:buNone/>
            </a:pPr>
            <a:r>
              <a:rPr lang="en-US" sz="1100" dirty="0">
                <a:solidFill>
                  <a:srgbClr val="F3F5F8"/>
                </a:solidFill>
                <a:latin typeface="Arial" pitchFamily="34" charset="0"/>
                <a:ea typeface="Arial" pitchFamily="34" charset="-122"/>
                <a:cs typeface="Arial" pitchFamily="34" charset="-120"/>
              </a:rPr>
              <a:t>pack ids</a:t>
            </a:r>
            <a:endParaRPr lang="en-US" sz="1100" dirty="0"/>
          </a:p>
        </p:txBody>
      </p:sp>
      <p:sp>
        <p:nvSpPr>
          <p:cNvPr id="9" name="Text 7"/>
          <p:cNvSpPr txBox="1"/>
          <p:nvPr/>
        </p:nvSpPr>
        <p:spPr>
          <a:xfrm>
            <a:off x="2479853" y="2496312"/>
            <a:ext cx="808330" cy="329184"/>
          </a:xfrm>
          <a:prstGeom prst="roundRect">
            <a:avLst>
              <a:gd name="adj" fmla="val 50000"/>
            </a:avLst>
          </a:prstGeom>
          <a:solidFill>
            <a:srgbClr val="FF6A2B">
              <a:alpha val="25000"/>
            </a:srgbClr>
          </a:solidFill>
          <a:ln w="9525">
            <a:solidFill>
              <a:srgbClr val="FF6A2B">
                <a:alpha val="55000"/>
              </a:srgbClr>
            </a:solidFill>
          </a:ln>
        </p:spPr>
        <p:txBody>
          <a:bodyPr wrap="square" lIns="0" tIns="0" rIns="0" bIns="0" rtlCol="0" anchor="ctr"/>
          <a:lstStyle/>
          <a:p>
            <a:pPr algn="ctr" indent="0" marL="0">
              <a:buNone/>
            </a:pPr>
            <a:r>
              <a:rPr lang="en-US" sz="1100" dirty="0">
                <a:solidFill>
                  <a:srgbClr val="F3F5F8"/>
                </a:solidFill>
                <a:latin typeface="Arial" pitchFamily="34" charset="0"/>
                <a:ea typeface="Arial" pitchFamily="34" charset="-122"/>
                <a:cs typeface="Arial" pitchFamily="34" charset="-120"/>
              </a:rPr>
              <a:t>statuses</a:t>
            </a:r>
            <a:endParaRPr lang="en-US" sz="1100" dirty="0"/>
          </a:p>
        </p:txBody>
      </p:sp>
      <p:sp>
        <p:nvSpPr>
          <p:cNvPr id="10" name="Text 8"/>
          <p:cNvSpPr txBox="1"/>
          <p:nvPr/>
        </p:nvSpPr>
        <p:spPr>
          <a:xfrm>
            <a:off x="3379622" y="2496312"/>
            <a:ext cx="950976" cy="329184"/>
          </a:xfrm>
          <a:prstGeom prst="roundRect">
            <a:avLst>
              <a:gd name="adj" fmla="val 50000"/>
            </a:avLst>
          </a:prstGeom>
          <a:solidFill>
            <a:srgbClr val="FF6A2B">
              <a:alpha val="25000"/>
            </a:srgbClr>
          </a:solidFill>
          <a:ln w="9525">
            <a:solidFill>
              <a:srgbClr val="FF6A2B">
                <a:alpha val="55000"/>
              </a:srgbClr>
            </a:solidFill>
          </a:ln>
        </p:spPr>
        <p:txBody>
          <a:bodyPr wrap="square" lIns="0" tIns="0" rIns="0" bIns="0" rtlCol="0" anchor="ctr"/>
          <a:lstStyle/>
          <a:p>
            <a:pPr algn="ctr" indent="0" marL="0">
              <a:buNone/>
            </a:pPr>
            <a:r>
              <a:rPr lang="en-US" sz="1100" dirty="0">
                <a:solidFill>
                  <a:srgbClr val="F3F5F8"/>
                </a:solidFill>
                <a:latin typeface="Arial" pitchFamily="34" charset="0"/>
                <a:ea typeface="Arial" pitchFamily="34" charset="-122"/>
                <a:cs typeface="Arial" pitchFamily="34" charset="-120"/>
              </a:rPr>
              <a:t>risk tiers</a:t>
            </a:r>
            <a:endParaRPr lang="en-US" sz="1100" dirty="0"/>
          </a:p>
        </p:txBody>
      </p:sp>
      <p:sp>
        <p:nvSpPr>
          <p:cNvPr id="11" name="Text 9"/>
          <p:cNvSpPr txBox="1"/>
          <p:nvPr/>
        </p:nvSpPr>
        <p:spPr>
          <a:xfrm>
            <a:off x="4422038" y="2496312"/>
            <a:ext cx="665683" cy="329184"/>
          </a:xfrm>
          <a:prstGeom prst="roundRect">
            <a:avLst>
              <a:gd name="adj" fmla="val 50000"/>
            </a:avLst>
          </a:prstGeom>
          <a:solidFill>
            <a:srgbClr val="FF6A2B">
              <a:alpha val="25000"/>
            </a:srgbClr>
          </a:solidFill>
          <a:ln w="9525">
            <a:solidFill>
              <a:srgbClr val="FF6A2B">
                <a:alpha val="55000"/>
              </a:srgbClr>
            </a:solidFill>
          </a:ln>
        </p:spPr>
        <p:txBody>
          <a:bodyPr wrap="square" lIns="0" tIns="0" rIns="0" bIns="0" rtlCol="0" anchor="ctr"/>
          <a:lstStyle/>
          <a:p>
            <a:pPr algn="ctr" indent="0" marL="0">
              <a:buNone/>
            </a:pPr>
            <a:r>
              <a:rPr lang="en-US" sz="1100" dirty="0">
                <a:solidFill>
                  <a:srgbClr val="F3F5F8"/>
                </a:solidFill>
                <a:latin typeface="Arial" pitchFamily="34" charset="0"/>
                <a:ea typeface="Arial" pitchFamily="34" charset="-122"/>
                <a:cs typeface="Arial" pitchFamily="34" charset="-120"/>
              </a:rPr>
              <a:t>scores</a:t>
            </a:r>
            <a:endParaRPr lang="en-US" sz="1100" dirty="0"/>
          </a:p>
        </p:txBody>
      </p:sp>
      <p:sp>
        <p:nvSpPr>
          <p:cNvPr id="12" name="Text 10"/>
          <p:cNvSpPr txBox="1"/>
          <p:nvPr/>
        </p:nvSpPr>
        <p:spPr>
          <a:xfrm>
            <a:off x="5179162" y="2496312"/>
            <a:ext cx="523037" cy="329184"/>
          </a:xfrm>
          <a:prstGeom prst="roundRect">
            <a:avLst>
              <a:gd name="adj" fmla="val 50000"/>
            </a:avLst>
          </a:prstGeom>
          <a:solidFill>
            <a:srgbClr val="FF6A2B">
              <a:alpha val="25000"/>
            </a:srgbClr>
          </a:solidFill>
          <a:ln w="9525">
            <a:solidFill>
              <a:srgbClr val="FF6A2B">
                <a:alpha val="55000"/>
              </a:srgbClr>
            </a:solidFill>
          </a:ln>
        </p:spPr>
        <p:txBody>
          <a:bodyPr wrap="square" lIns="0" tIns="0" rIns="0" bIns="0" rtlCol="0" anchor="ctr"/>
          <a:lstStyle/>
          <a:p>
            <a:pPr algn="ctr" indent="0" marL="0">
              <a:buNone/>
            </a:pPr>
            <a:r>
              <a:rPr lang="en-US" sz="1100" dirty="0">
                <a:solidFill>
                  <a:srgbClr val="F3F5F8"/>
                </a:solidFill>
                <a:latin typeface="Arial" pitchFamily="34" charset="0"/>
                <a:ea typeface="Arial" pitchFamily="34" charset="-122"/>
                <a:cs typeface="Arial" pitchFamily="34" charset="-120"/>
              </a:rPr>
              <a:t>cost</a:t>
            </a:r>
            <a:endParaRPr lang="en-US" sz="1100" dirty="0"/>
          </a:p>
        </p:txBody>
      </p:sp>
      <p:sp>
        <p:nvSpPr>
          <p:cNvPr id="13" name="Text 11"/>
          <p:cNvSpPr txBox="1"/>
          <p:nvPr/>
        </p:nvSpPr>
        <p:spPr>
          <a:xfrm>
            <a:off x="5793638" y="2496312"/>
            <a:ext cx="950976" cy="329184"/>
          </a:xfrm>
          <a:prstGeom prst="roundRect">
            <a:avLst>
              <a:gd name="adj" fmla="val 50000"/>
            </a:avLst>
          </a:prstGeom>
          <a:solidFill>
            <a:srgbClr val="FF6A2B">
              <a:alpha val="25000"/>
            </a:srgbClr>
          </a:solidFill>
          <a:ln w="9525">
            <a:solidFill>
              <a:srgbClr val="FF6A2B">
                <a:alpha val="55000"/>
              </a:srgbClr>
            </a:solidFill>
          </a:ln>
        </p:spPr>
        <p:txBody>
          <a:bodyPr wrap="square" lIns="0" tIns="0" rIns="0" bIns="0" rtlCol="0" anchor="ctr"/>
          <a:lstStyle/>
          <a:p>
            <a:pPr algn="ctr" indent="0" marL="0">
              <a:buNone/>
            </a:pPr>
            <a:r>
              <a:rPr lang="en-US" sz="1100" dirty="0">
                <a:solidFill>
                  <a:srgbClr val="F3F5F8"/>
                </a:solidFill>
                <a:latin typeface="Arial" pitchFamily="34" charset="0"/>
                <a:ea typeface="Arial" pitchFamily="34" charset="-122"/>
                <a:cs typeface="Arial" pitchFamily="34" charset="-120"/>
              </a:rPr>
              <a:t>file paths</a:t>
            </a:r>
            <a:endParaRPr lang="en-US" sz="1100" dirty="0"/>
          </a:p>
        </p:txBody>
      </p:sp>
      <p:sp>
        <p:nvSpPr>
          <p:cNvPr id="14" name="Shape 12"/>
          <p:cNvSpPr/>
          <p:nvPr/>
        </p:nvSpPr>
        <p:spPr>
          <a:xfrm flipV="1">
            <a:off x="3886200" y="3035808"/>
            <a:ext cx="0" cy="192024"/>
          </a:xfrm>
          <a:prstGeom prst="line">
            <a:avLst/>
          </a:prstGeom>
          <a:noFill/>
          <a:ln w="19050">
            <a:solidFill>
              <a:srgbClr val="738191"/>
            </a:solidFill>
            <a:prstDash val="solid"/>
            <a:tailEnd type="triangle"/>
          </a:ln>
        </p:spPr>
      </p:sp>
      <p:sp>
        <p:nvSpPr>
          <p:cNvPr id="15" name="Shape 13"/>
          <p:cNvSpPr/>
          <p:nvPr/>
        </p:nvSpPr>
        <p:spPr>
          <a:xfrm>
            <a:off x="548640" y="3246120"/>
            <a:ext cx="6675120" cy="1783080"/>
          </a:xfrm>
          <a:prstGeom prst="roundRect">
            <a:avLst>
              <a:gd name="adj" fmla="val 6154"/>
            </a:avLst>
          </a:prstGeom>
          <a:solidFill>
            <a:srgbClr val="18212D"/>
          </a:solidFill>
          <a:ln w="9525">
            <a:solidFill>
              <a:srgbClr val="5EB1FF">
                <a:alpha val="50000"/>
              </a:srgbClr>
            </a:solidFill>
            <a:prstDash val="solid"/>
          </a:ln>
        </p:spPr>
      </p:sp>
      <p:sp>
        <p:nvSpPr>
          <p:cNvPr id="16" name="Text 14"/>
          <p:cNvSpPr txBox="1"/>
          <p:nvPr/>
        </p:nvSpPr>
        <p:spPr>
          <a:xfrm>
            <a:off x="822960" y="3364992"/>
            <a:ext cx="4572000" cy="237744"/>
          </a:xfrm>
          <a:prstGeom prst="rect">
            <a:avLst/>
          </a:prstGeom>
          <a:noFill/>
          <a:ln/>
        </p:spPr>
        <p:txBody>
          <a:bodyPr wrap="square" lIns="0" tIns="0" rIns="0" bIns="0" rtlCol="0" anchor="t"/>
          <a:lstStyle/>
          <a:p>
            <a:pPr indent="0" marL="0">
              <a:buNone/>
            </a:pPr>
            <a:r>
              <a:rPr lang="en-US" sz="1100" b="1" dirty="0">
                <a:solidFill>
                  <a:srgbClr val="5EB1FF"/>
                </a:solidFill>
                <a:latin typeface="Consolas" pitchFamily="34" charset="0"/>
                <a:ea typeface="Consolas" pitchFamily="34" charset="-122"/>
                <a:cs typeface="Consolas" pitchFamily="34" charset="-120"/>
              </a:rPr>
              <a:t>forge/leader/cards.py REDUCES</a:t>
            </a:r>
            <a:endParaRPr lang="en-US" sz="1100" dirty="0"/>
          </a:p>
        </p:txBody>
      </p:sp>
      <p:sp>
        <p:nvSpPr>
          <p:cNvPr id="17" name="Text 15"/>
          <p:cNvSpPr txBox="1"/>
          <p:nvPr/>
        </p:nvSpPr>
        <p:spPr>
          <a:xfrm>
            <a:off x="822960" y="3703320"/>
            <a:ext cx="3886200" cy="274320"/>
          </a:xfrm>
          <a:prstGeom prst="rect">
            <a:avLst/>
          </a:prstGeom>
          <a:noFill/>
          <a:ln/>
        </p:spPr>
        <p:txBody>
          <a:bodyPr wrap="square" lIns="0" tIns="0" rIns="0" bIns="0" rtlCol="0" anchor="t"/>
          <a:lstStyle/>
          <a:p>
            <a:pPr indent="0" marL="0">
              <a:buNone/>
            </a:pPr>
            <a:r>
              <a:rPr lang="en-US" sz="1250" dirty="0">
                <a:solidFill>
                  <a:srgbClr val="AAB5C3"/>
                </a:solidFill>
                <a:latin typeface="Arial" pitchFamily="34" charset="0"/>
                <a:ea typeface="Arial" pitchFamily="34" charset="-122"/>
                <a:cs typeface="Arial" pitchFamily="34" charset="-120"/>
              </a:rPr>
              <a:t>original · transformed · diff</a:t>
            </a:r>
            <a:endParaRPr lang="en-US" sz="1250" dirty="0"/>
          </a:p>
        </p:txBody>
      </p:sp>
      <p:sp>
        <p:nvSpPr>
          <p:cNvPr id="18" name="Text 16"/>
          <p:cNvSpPr txBox="1"/>
          <p:nvPr/>
        </p:nvSpPr>
        <p:spPr>
          <a:xfrm>
            <a:off x="4754880" y="3675888"/>
            <a:ext cx="274320" cy="310896"/>
          </a:xfrm>
          <a:prstGeom prst="rect">
            <a:avLst/>
          </a:prstGeom>
          <a:noFill/>
          <a:ln/>
        </p:spPr>
        <p:txBody>
          <a:bodyPr wrap="square" lIns="0" tIns="0" rIns="0" bIns="0" rtlCol="0" anchor="t"/>
          <a:lstStyle/>
          <a:p>
            <a:pPr indent="0" marL="0">
              <a:buNone/>
            </a:pPr>
            <a:r>
              <a:rPr lang="en-US" sz="1600" b="1" dirty="0">
                <a:solidFill>
                  <a:srgbClr val="FF6A2B"/>
                </a:solidFill>
                <a:latin typeface="Arial" pitchFamily="34" charset="0"/>
                <a:ea typeface="Arial" pitchFamily="34" charset="-122"/>
                <a:cs typeface="Arial" pitchFamily="34" charset="-120"/>
              </a:rPr>
              <a:t>→</a:t>
            </a:r>
            <a:endParaRPr lang="en-US" sz="1600" dirty="0"/>
          </a:p>
        </p:txBody>
      </p:sp>
      <p:sp>
        <p:nvSpPr>
          <p:cNvPr id="19" name="Text 17"/>
          <p:cNvSpPr txBox="1"/>
          <p:nvPr/>
        </p:nvSpPr>
        <p:spPr>
          <a:xfrm>
            <a:off x="5074920" y="3703320"/>
            <a:ext cx="2011680" cy="274320"/>
          </a:xfrm>
          <a:prstGeom prst="rect">
            <a:avLst/>
          </a:prstGeom>
          <a:noFill/>
          <a:ln/>
        </p:spPr>
        <p:txBody>
          <a:bodyPr wrap="square" lIns="0" tIns="0" rIns="0" bIns="0" rtlCol="0" anchor="t"/>
          <a:lstStyle/>
          <a:p>
            <a:pPr indent="0" marL="0">
              <a:buNone/>
            </a:pPr>
            <a:r>
              <a:rPr lang="en-US" sz="1250" b="1" dirty="0">
                <a:solidFill>
                  <a:srgbClr val="F3F5F8"/>
                </a:solidFill>
                <a:latin typeface="Arial" pitchFamily="34" charset="0"/>
                <a:ea typeface="Arial" pitchFamily="34" charset="-122"/>
                <a:cs typeface="Arial" pitchFamily="34" charset="-120"/>
              </a:rPr>
              <a:t>dropped</a:t>
            </a:r>
            <a:endParaRPr lang="en-US" sz="1250" dirty="0"/>
          </a:p>
        </p:txBody>
      </p:sp>
      <p:sp>
        <p:nvSpPr>
          <p:cNvPr id="20" name="Text 18"/>
          <p:cNvSpPr txBox="1"/>
          <p:nvPr/>
        </p:nvSpPr>
        <p:spPr>
          <a:xfrm>
            <a:off x="822960" y="4014216"/>
            <a:ext cx="3886200" cy="274320"/>
          </a:xfrm>
          <a:prstGeom prst="rect">
            <a:avLst/>
          </a:prstGeom>
          <a:noFill/>
          <a:ln/>
        </p:spPr>
        <p:txBody>
          <a:bodyPr wrap="square" lIns="0" tIns="0" rIns="0" bIns="0" rtlCol="0" anchor="t"/>
          <a:lstStyle/>
          <a:p>
            <a:pPr indent="0" marL="0">
              <a:buNone/>
            </a:pPr>
            <a:r>
              <a:rPr lang="en-US" sz="1250" dirty="0">
                <a:solidFill>
                  <a:srgbClr val="AAB5C3"/>
                </a:solidFill>
                <a:latin typeface="Arial" pitchFamily="34" charset="0"/>
                <a:ea typeface="Arial" pitchFamily="34" charset="-122"/>
                <a:cs typeface="Arial" pitchFamily="34" charset="-120"/>
              </a:rPr>
              <a:t>build output (javac echoes source)</a:t>
            </a:r>
            <a:endParaRPr lang="en-US" sz="1250" dirty="0"/>
          </a:p>
        </p:txBody>
      </p:sp>
      <p:sp>
        <p:nvSpPr>
          <p:cNvPr id="21" name="Text 19"/>
          <p:cNvSpPr txBox="1"/>
          <p:nvPr/>
        </p:nvSpPr>
        <p:spPr>
          <a:xfrm>
            <a:off x="4754880" y="3986784"/>
            <a:ext cx="274320" cy="310896"/>
          </a:xfrm>
          <a:prstGeom prst="rect">
            <a:avLst/>
          </a:prstGeom>
          <a:noFill/>
          <a:ln/>
        </p:spPr>
        <p:txBody>
          <a:bodyPr wrap="square" lIns="0" tIns="0" rIns="0" bIns="0" rtlCol="0" anchor="t"/>
          <a:lstStyle/>
          <a:p>
            <a:pPr indent="0" marL="0">
              <a:buNone/>
            </a:pPr>
            <a:r>
              <a:rPr lang="en-US" sz="1600" b="1" dirty="0">
                <a:solidFill>
                  <a:srgbClr val="FF6A2B"/>
                </a:solidFill>
                <a:latin typeface="Arial" pitchFamily="34" charset="0"/>
                <a:ea typeface="Arial" pitchFamily="34" charset="-122"/>
                <a:cs typeface="Arial" pitchFamily="34" charset="-120"/>
              </a:rPr>
              <a:t>→</a:t>
            </a:r>
            <a:endParaRPr lang="en-US" sz="1600" dirty="0"/>
          </a:p>
        </p:txBody>
      </p:sp>
      <p:sp>
        <p:nvSpPr>
          <p:cNvPr id="22" name="Text 20"/>
          <p:cNvSpPr txBox="1"/>
          <p:nvPr/>
        </p:nvSpPr>
        <p:spPr>
          <a:xfrm>
            <a:off x="5074920" y="4014216"/>
            <a:ext cx="2011680" cy="274320"/>
          </a:xfrm>
          <a:prstGeom prst="rect">
            <a:avLst/>
          </a:prstGeom>
          <a:noFill/>
          <a:ln/>
        </p:spPr>
        <p:txBody>
          <a:bodyPr wrap="square" lIns="0" tIns="0" rIns="0" bIns="0" rtlCol="0" anchor="t"/>
          <a:lstStyle/>
          <a:p>
            <a:pPr indent="0" marL="0">
              <a:buNone/>
            </a:pPr>
            <a:r>
              <a:rPr lang="en-US" sz="1250" b="1" dirty="0">
                <a:solidFill>
                  <a:srgbClr val="F3F5F8"/>
                </a:solidFill>
                <a:latin typeface="Arial" pitchFamily="34" charset="0"/>
                <a:ea typeface="Arial" pitchFamily="34" charset="-122"/>
                <a:cs typeface="Arial" pitchFamily="34" charset="-120"/>
              </a:rPr>
              <a:t>verdict only</a:t>
            </a:r>
            <a:endParaRPr lang="en-US" sz="1250" dirty="0"/>
          </a:p>
        </p:txBody>
      </p:sp>
      <p:sp>
        <p:nvSpPr>
          <p:cNvPr id="23" name="Text 21"/>
          <p:cNvSpPr txBox="1"/>
          <p:nvPr/>
        </p:nvSpPr>
        <p:spPr>
          <a:xfrm>
            <a:off x="822960" y="4325112"/>
            <a:ext cx="3886200" cy="274320"/>
          </a:xfrm>
          <a:prstGeom prst="rect">
            <a:avLst/>
          </a:prstGeom>
          <a:noFill/>
          <a:ln/>
        </p:spPr>
        <p:txBody>
          <a:bodyPr wrap="square" lIns="0" tIns="0" rIns="0" bIns="0" rtlCol="0" anchor="t"/>
          <a:lstStyle/>
          <a:p>
            <a:pPr indent="0" marL="0">
              <a:buNone/>
            </a:pPr>
            <a:r>
              <a:rPr lang="en-US" sz="1250" dirty="0">
                <a:solidFill>
                  <a:srgbClr val="AAB5C3"/>
                </a:solidFill>
                <a:latin typeface="Arial" pitchFamily="34" charset="0"/>
                <a:ea typeface="Arial" pitchFamily="34" charset="-122"/>
                <a:cs typeface="Arial" pitchFamily="34" charset="-120"/>
              </a:rPr>
              <a:t>guardrail findings (can embed the secret)</a:t>
            </a:r>
            <a:endParaRPr lang="en-US" sz="1250" dirty="0"/>
          </a:p>
        </p:txBody>
      </p:sp>
      <p:sp>
        <p:nvSpPr>
          <p:cNvPr id="24" name="Text 22"/>
          <p:cNvSpPr txBox="1"/>
          <p:nvPr/>
        </p:nvSpPr>
        <p:spPr>
          <a:xfrm>
            <a:off x="4754880" y="4297680"/>
            <a:ext cx="274320" cy="310896"/>
          </a:xfrm>
          <a:prstGeom prst="rect">
            <a:avLst/>
          </a:prstGeom>
          <a:noFill/>
          <a:ln/>
        </p:spPr>
        <p:txBody>
          <a:bodyPr wrap="square" lIns="0" tIns="0" rIns="0" bIns="0" rtlCol="0" anchor="t"/>
          <a:lstStyle/>
          <a:p>
            <a:pPr indent="0" marL="0">
              <a:buNone/>
            </a:pPr>
            <a:r>
              <a:rPr lang="en-US" sz="1600" b="1" dirty="0">
                <a:solidFill>
                  <a:srgbClr val="FF6A2B"/>
                </a:solidFill>
                <a:latin typeface="Arial" pitchFamily="34" charset="0"/>
                <a:ea typeface="Arial" pitchFamily="34" charset="-122"/>
                <a:cs typeface="Arial" pitchFamily="34" charset="-120"/>
              </a:rPr>
              <a:t>→</a:t>
            </a:r>
            <a:endParaRPr lang="en-US" sz="1600" dirty="0"/>
          </a:p>
        </p:txBody>
      </p:sp>
      <p:sp>
        <p:nvSpPr>
          <p:cNvPr id="25" name="Text 23"/>
          <p:cNvSpPr txBox="1"/>
          <p:nvPr/>
        </p:nvSpPr>
        <p:spPr>
          <a:xfrm>
            <a:off x="5074920" y="4325112"/>
            <a:ext cx="2011680" cy="274320"/>
          </a:xfrm>
          <a:prstGeom prst="rect">
            <a:avLst/>
          </a:prstGeom>
          <a:noFill/>
          <a:ln/>
        </p:spPr>
        <p:txBody>
          <a:bodyPr wrap="square" lIns="0" tIns="0" rIns="0" bIns="0" rtlCol="0" anchor="t"/>
          <a:lstStyle/>
          <a:p>
            <a:pPr indent="0" marL="0">
              <a:buNone/>
            </a:pPr>
            <a:r>
              <a:rPr lang="en-US" sz="1250" b="1" dirty="0">
                <a:solidFill>
                  <a:srgbClr val="F3F5F8"/>
                </a:solidFill>
                <a:latin typeface="Arial" pitchFamily="34" charset="0"/>
                <a:ea typeface="Arial" pitchFamily="34" charset="-122"/>
                <a:cs typeface="Arial" pitchFamily="34" charset="-120"/>
              </a:rPr>
              <a:t>count and kinds</a:t>
            </a:r>
            <a:endParaRPr lang="en-US" sz="1250" dirty="0"/>
          </a:p>
        </p:txBody>
      </p:sp>
      <p:sp>
        <p:nvSpPr>
          <p:cNvPr id="26" name="Text 24"/>
          <p:cNvSpPr txBox="1"/>
          <p:nvPr/>
        </p:nvSpPr>
        <p:spPr>
          <a:xfrm>
            <a:off x="822960" y="4636008"/>
            <a:ext cx="3886200" cy="274320"/>
          </a:xfrm>
          <a:prstGeom prst="rect">
            <a:avLst/>
          </a:prstGeom>
          <a:noFill/>
          <a:ln/>
        </p:spPr>
        <p:txBody>
          <a:bodyPr wrap="square" lIns="0" tIns="0" rIns="0" bIns="0" rtlCol="0" anchor="t"/>
          <a:lstStyle/>
          <a:p>
            <a:pPr indent="0" marL="0">
              <a:buNone/>
            </a:pPr>
            <a:r>
              <a:rPr lang="en-US" sz="1250" dirty="0">
                <a:solidFill>
                  <a:srgbClr val="AAB5C3"/>
                </a:solidFill>
                <a:latin typeface="Arial" pitchFamily="34" charset="0"/>
                <a:ea typeface="Arial" pitchFamily="34" charset="-122"/>
                <a:cs typeface="Arial" pitchFamily="34" charset="-120"/>
              </a:rPr>
              <a:t>acceptance evidence</a:t>
            </a:r>
            <a:endParaRPr lang="en-US" sz="1250" dirty="0"/>
          </a:p>
        </p:txBody>
      </p:sp>
      <p:sp>
        <p:nvSpPr>
          <p:cNvPr id="27" name="Text 25"/>
          <p:cNvSpPr txBox="1"/>
          <p:nvPr/>
        </p:nvSpPr>
        <p:spPr>
          <a:xfrm>
            <a:off x="4754880" y="4608576"/>
            <a:ext cx="274320" cy="310896"/>
          </a:xfrm>
          <a:prstGeom prst="rect">
            <a:avLst/>
          </a:prstGeom>
          <a:noFill/>
          <a:ln/>
        </p:spPr>
        <p:txBody>
          <a:bodyPr wrap="square" lIns="0" tIns="0" rIns="0" bIns="0" rtlCol="0" anchor="t"/>
          <a:lstStyle/>
          <a:p>
            <a:pPr indent="0" marL="0">
              <a:buNone/>
            </a:pPr>
            <a:r>
              <a:rPr lang="en-US" sz="1600" b="1" dirty="0">
                <a:solidFill>
                  <a:srgbClr val="FF6A2B"/>
                </a:solidFill>
                <a:latin typeface="Arial" pitchFamily="34" charset="0"/>
                <a:ea typeface="Arial" pitchFamily="34" charset="-122"/>
                <a:cs typeface="Arial" pitchFamily="34" charset="-120"/>
              </a:rPr>
              <a:t>→</a:t>
            </a:r>
            <a:endParaRPr lang="en-US" sz="1600" dirty="0"/>
          </a:p>
        </p:txBody>
      </p:sp>
      <p:sp>
        <p:nvSpPr>
          <p:cNvPr id="28" name="Text 26"/>
          <p:cNvSpPr txBox="1"/>
          <p:nvPr/>
        </p:nvSpPr>
        <p:spPr>
          <a:xfrm>
            <a:off x="5074920" y="4636008"/>
            <a:ext cx="2011680" cy="274320"/>
          </a:xfrm>
          <a:prstGeom prst="rect">
            <a:avLst/>
          </a:prstGeom>
          <a:noFill/>
          <a:ln/>
        </p:spPr>
        <p:txBody>
          <a:bodyPr wrap="square" lIns="0" tIns="0" rIns="0" bIns="0" rtlCol="0" anchor="t"/>
          <a:lstStyle/>
          <a:p>
            <a:pPr indent="0" marL="0">
              <a:buNone/>
            </a:pPr>
            <a:r>
              <a:rPr lang="en-US" sz="1250" b="1" dirty="0">
                <a:solidFill>
                  <a:srgbClr val="F3F5F8"/>
                </a:solidFill>
                <a:latin typeface="Arial" pitchFamily="34" charset="0"/>
                <a:ea typeface="Arial" pitchFamily="34" charset="-122"/>
                <a:cs typeface="Arial" pitchFamily="34" charset="-120"/>
              </a:rPr>
              <a:t>counts only</a:t>
            </a:r>
            <a:endParaRPr lang="en-US" sz="1250" dirty="0"/>
          </a:p>
        </p:txBody>
      </p:sp>
      <p:sp>
        <p:nvSpPr>
          <p:cNvPr id="29" name="Shape 27"/>
          <p:cNvSpPr/>
          <p:nvPr/>
        </p:nvSpPr>
        <p:spPr>
          <a:xfrm>
            <a:off x="3886200" y="5047488"/>
            <a:ext cx="0" cy="192024"/>
          </a:xfrm>
          <a:prstGeom prst="line">
            <a:avLst/>
          </a:prstGeom>
          <a:noFill/>
          <a:ln w="19050">
            <a:solidFill>
              <a:srgbClr val="738191"/>
            </a:solidFill>
            <a:prstDash val="solid"/>
          </a:ln>
        </p:spPr>
      </p:sp>
      <p:sp>
        <p:nvSpPr>
          <p:cNvPr id="30" name="Shape 28"/>
          <p:cNvSpPr/>
          <p:nvPr/>
        </p:nvSpPr>
        <p:spPr>
          <a:xfrm>
            <a:off x="548640" y="5257800"/>
            <a:ext cx="6675120" cy="822960"/>
          </a:xfrm>
          <a:prstGeom prst="roundRect">
            <a:avLst>
              <a:gd name="adj" fmla="val 13333"/>
            </a:avLst>
          </a:prstGeom>
          <a:solidFill>
            <a:srgbClr val="35D07F">
              <a:alpha val="12000"/>
            </a:srgbClr>
          </a:solidFill>
          <a:ln w="9525">
            <a:solidFill>
              <a:srgbClr val="35D07F">
                <a:alpha val="50000"/>
              </a:srgbClr>
            </a:solidFill>
            <a:prstDash val="solid"/>
          </a:ln>
        </p:spPr>
      </p:sp>
      <p:sp>
        <p:nvSpPr>
          <p:cNvPr id="31" name="Text 29"/>
          <p:cNvSpPr txBox="1"/>
          <p:nvPr/>
        </p:nvSpPr>
        <p:spPr>
          <a:xfrm>
            <a:off x="822960" y="5367528"/>
            <a:ext cx="3657600" cy="237744"/>
          </a:xfrm>
          <a:prstGeom prst="rect">
            <a:avLst/>
          </a:prstGeom>
          <a:noFill/>
          <a:ln/>
        </p:spPr>
        <p:txBody>
          <a:bodyPr wrap="square" lIns="0" tIns="0" rIns="0" bIns="0" rtlCol="0" anchor="t"/>
          <a:lstStyle/>
          <a:p>
            <a:pPr indent="0" marL="0">
              <a:buNone/>
            </a:pPr>
            <a:r>
              <a:rPr lang="en-US" sz="1100" b="1" spc="200" kern="0" dirty="0">
                <a:solidFill>
                  <a:srgbClr val="35D07F"/>
                </a:solidFill>
                <a:latin typeface="Arial" pitchFamily="34" charset="0"/>
                <a:ea typeface="Arial" pitchFamily="34" charset="-122"/>
                <a:cs typeface="Arial" pitchFamily="34" charset="-120"/>
              </a:rPr>
              <a:t>YOUR BROWSER SEES</a:t>
            </a:r>
            <a:endParaRPr lang="en-US" sz="1100" dirty="0"/>
          </a:p>
        </p:txBody>
      </p:sp>
      <p:sp>
        <p:nvSpPr>
          <p:cNvPr id="32" name="Text 30"/>
          <p:cNvSpPr txBox="1"/>
          <p:nvPr/>
        </p:nvSpPr>
        <p:spPr>
          <a:xfrm>
            <a:off x="822960" y="5632704"/>
            <a:ext cx="6217920" cy="274320"/>
          </a:xfrm>
          <a:prstGeom prst="rect">
            <a:avLst/>
          </a:prstGeom>
          <a:noFill/>
          <a:ln/>
        </p:spPr>
        <p:txBody>
          <a:bodyPr wrap="square" lIns="0" tIns="0" rIns="0" bIns="0" rtlCol="0" anchor="t"/>
          <a:lstStyle/>
          <a:p>
            <a:pPr indent="0" marL="0">
              <a:buNone/>
            </a:pPr>
            <a:r>
              <a:rPr lang="en-US" sz="1250" dirty="0">
                <a:solidFill>
                  <a:srgbClr val="F3F5F8"/>
                </a:solidFill>
                <a:latin typeface="Arial" pitchFamily="34" charset="0"/>
                <a:ea typeface="Arial" pitchFamily="34" charset="-122"/>
                <a:cs typeface="Arial" pitchFamily="34" charset="-120"/>
              </a:rPr>
              <a:t>Diffs, reviewer feedback and full evidence: everything a human needs to decide.</a:t>
            </a:r>
            <a:endParaRPr lang="en-US" sz="1250" dirty="0"/>
          </a:p>
        </p:txBody>
      </p:sp>
      <p:sp>
        <p:nvSpPr>
          <p:cNvPr id="33" name="Shape 31"/>
          <p:cNvSpPr/>
          <p:nvPr/>
        </p:nvSpPr>
        <p:spPr>
          <a:xfrm>
            <a:off x="7498080" y="2011680"/>
            <a:ext cx="4144975" cy="4069080"/>
          </a:xfrm>
          <a:prstGeom prst="roundRect">
            <a:avLst>
              <a:gd name="adj" fmla="val 2697"/>
            </a:avLst>
          </a:prstGeom>
          <a:solidFill>
            <a:srgbClr val="FFB547">
              <a:alpha val="10000"/>
            </a:srgbClr>
          </a:solidFill>
          <a:ln w="9525">
            <a:solidFill>
              <a:srgbClr val="FFB547">
                <a:alpha val="55000"/>
              </a:srgbClr>
            </a:solidFill>
            <a:prstDash val="solid"/>
          </a:ln>
        </p:spPr>
      </p:sp>
      <p:sp>
        <p:nvSpPr>
          <p:cNvPr id="34" name="Shape 32"/>
          <p:cNvSpPr/>
          <p:nvPr/>
        </p:nvSpPr>
        <p:spPr>
          <a:xfrm>
            <a:off x="7726680" y="2194560"/>
            <a:ext cx="512064" cy="512064"/>
          </a:xfrm>
          <a:prstGeom prst="ellipse">
            <a:avLst/>
          </a:prstGeom>
          <a:solidFill>
            <a:srgbClr val="FFB547">
              <a:alpha val="16000"/>
            </a:srgbClr>
          </a:solidFill>
          <a:ln w="9525">
            <a:solidFill>
              <a:srgbClr val="FFB547">
                <a:alpha val="50000"/>
              </a:srgbClr>
            </a:solidFill>
            <a:prstDash val="solid"/>
          </a:ln>
        </p:spPr>
      </p:sp>
      <p:pic>
        <p:nvPicPr>
          <p:cNvPr id="35" name="Image 0" descr="/private/tmp/claude-501/-Users-raja-forge/826f4f3b-77e1-484d-8167-0e3b60d97c63/scratchpad/deck/assets/icons/LuBan-FFB547.png">    </p:cNvPr>
          <p:cNvPicPr>
            <a:picLocks noChangeAspect="1"/>
          </p:cNvPicPr>
          <p:nvPr/>
        </p:nvPicPr>
        <p:blipFill>
          <a:blip r:embed="rId1"/>
          <a:stretch>
            <a:fillRect/>
          </a:stretch>
        </p:blipFill>
        <p:spPr>
          <a:xfrm>
            <a:off x="7854696" y="2322576"/>
            <a:ext cx="256032" cy="256032"/>
          </a:xfrm>
          <a:prstGeom prst="rect">
            <a:avLst/>
          </a:prstGeom>
        </p:spPr>
      </p:pic>
      <p:sp>
        <p:nvSpPr>
          <p:cNvPr id="36" name="Text 33"/>
          <p:cNvSpPr txBox="1"/>
          <p:nvPr/>
        </p:nvSpPr>
        <p:spPr>
          <a:xfrm>
            <a:off x="8366760" y="2331720"/>
            <a:ext cx="3108960" cy="237744"/>
          </a:xfrm>
          <a:prstGeom prst="rect">
            <a:avLst/>
          </a:prstGeom>
          <a:noFill/>
          <a:ln/>
        </p:spPr>
        <p:txBody>
          <a:bodyPr wrap="square" lIns="0" tIns="0" rIns="0" bIns="0" rtlCol="0" anchor="t"/>
          <a:lstStyle/>
          <a:p>
            <a:pPr indent="0" marL="0">
              <a:buNone/>
            </a:pPr>
            <a:r>
              <a:rPr lang="en-US" sz="1100" b="1" spc="200" kern="0" dirty="0">
                <a:solidFill>
                  <a:srgbClr val="FFB547"/>
                </a:solidFill>
                <a:latin typeface="Arial" pitchFamily="34" charset="0"/>
                <a:ea typeface="Arial" pitchFamily="34" charset="-122"/>
                <a:cs typeface="Arial" pitchFamily="34" charset="-120"/>
              </a:rPr>
              <a:t>THE ADMISSION GATE</a:t>
            </a:r>
            <a:endParaRPr lang="en-US" sz="1100" dirty="0"/>
          </a:p>
        </p:txBody>
      </p:sp>
      <p:sp>
        <p:nvSpPr>
          <p:cNvPr id="37" name="Text 34"/>
          <p:cNvSpPr txBox="1"/>
          <p:nvPr/>
        </p:nvSpPr>
        <p:spPr>
          <a:xfrm>
            <a:off x="7726680" y="2852928"/>
            <a:ext cx="3733495" cy="566928"/>
          </a:xfrm>
          <a:prstGeom prst="rect">
            <a:avLst/>
          </a:prstGeom>
          <a:noFill/>
          <a:ln/>
        </p:spPr>
        <p:txBody>
          <a:bodyPr wrap="square" lIns="0" tIns="0" rIns="0" bIns="0" rtlCol="0" anchor="t"/>
          <a:lstStyle/>
          <a:p>
            <a:pPr indent="0" marL="0">
              <a:buNone/>
            </a:pPr>
            <a:r>
              <a:rPr lang="en-US" sz="1450" b="1" dirty="0">
                <a:solidFill>
                  <a:srgbClr val="F3F5F8"/>
                </a:solidFill>
                <a:latin typeface="Arial" pitchFamily="34" charset="0"/>
                <a:ea typeface="Arial" pitchFamily="34" charset="-122"/>
                <a:cs typeface="Arial" pitchFamily="34" charset="-120"/>
              </a:rPr>
              <a:t>Tool calls run only if the model’s stream finished cleanly.</a:t>
            </a:r>
            <a:endParaRPr lang="en-US" sz="1450" dirty="0"/>
          </a:p>
        </p:txBody>
      </p:sp>
      <p:sp>
        <p:nvSpPr>
          <p:cNvPr id="38" name="Shape 35"/>
          <p:cNvSpPr/>
          <p:nvPr/>
        </p:nvSpPr>
        <p:spPr>
          <a:xfrm>
            <a:off x="7726680" y="3520440"/>
            <a:ext cx="3687775" cy="1170432"/>
          </a:xfrm>
          <a:prstGeom prst="roundRect">
            <a:avLst>
              <a:gd name="adj" fmla="val 6250"/>
            </a:avLst>
          </a:prstGeom>
          <a:solidFill>
            <a:srgbClr val="0B0F15"/>
          </a:solidFill>
          <a:ln w="9525">
            <a:solidFill>
              <a:srgbClr val="263244"/>
            </a:solidFill>
            <a:prstDash val="solid"/>
          </a:ln>
        </p:spPr>
      </p:sp>
      <p:sp>
        <p:nvSpPr>
          <p:cNvPr id="39" name="Text 36"/>
          <p:cNvSpPr txBox="1"/>
          <p:nvPr/>
        </p:nvSpPr>
        <p:spPr>
          <a:xfrm>
            <a:off x="7882128" y="3611880"/>
            <a:ext cx="3413455" cy="1005840"/>
          </a:xfrm>
          <a:prstGeom prst="rect">
            <a:avLst/>
          </a:prstGeom>
          <a:noFill/>
          <a:ln/>
        </p:spPr>
        <p:txBody>
          <a:bodyPr wrap="square" lIns="0" tIns="0" rIns="0" bIns="0" rtlCol="0" anchor="t"/>
          <a:lstStyle/>
          <a:p>
            <a:pPr indent="0" marL="0">
              <a:lnSpc>
                <a:spcPct val="110000"/>
              </a:lnSpc>
              <a:buNone/>
            </a:pPr>
            <a:r>
              <a:rPr lang="en-US" sz="1050" dirty="0">
                <a:solidFill>
                  <a:srgbClr val="738191"/>
                </a:solidFill>
                <a:latin typeface="Arial" pitchFamily="34" charset="0"/>
                <a:ea typeface="Arial" pitchFamily="34" charset="-122"/>
                <a:cs typeface="Arial" pitchFamily="34" charset="-120"/>
              </a:rPr>
              <a:t>stream cut off mid-argument:</a:t>
            </a:r>
            <a:endParaRPr lang="en-US" sz="1050" dirty="0"/>
          </a:p>
          <a:p>
            <a:pPr indent="0" marL="0">
              <a:lnSpc>
                <a:spcPct val="110000"/>
              </a:lnSpc>
              <a:buNone/>
            </a:pPr>
            <a:r>
              <a:rPr lang="en-US" sz="1100" dirty="0">
                <a:solidFill>
                  <a:srgbClr val="FFB547"/>
                </a:solidFill>
                <a:latin typeface="Consolas" pitchFamily="34" charset="0"/>
                <a:ea typeface="Consolas" pitchFamily="34" charset="-122"/>
                <a:cs typeface="Consolas" pitchFamily="34" charset="-120"/>
              </a:rPr>
              <a:t>{"pack":"javax-to-jakarta","dry_r</a:t>
            </a:r>
            <a:endParaRPr lang="en-US" sz="1050" dirty="0"/>
          </a:p>
          <a:p>
            <a:pPr indent="0" marL="0">
              <a:lnSpc>
                <a:spcPct val="110000"/>
              </a:lnSpc>
              <a:buNone/>
            </a:pPr>
            <a:r>
              <a:rPr lang="en-US" sz="1050" dirty="0">
                <a:solidFill>
                  <a:srgbClr val="738191"/>
                </a:solidFill>
                <a:latin typeface="Arial" pitchFamily="34" charset="0"/>
                <a:ea typeface="Arial" pitchFamily="34" charset="-122"/>
                <a:cs typeface="Arial" pitchFamily="34" charset="-120"/>
              </a:rPr>
              <a:t>partial-JSON repair turns it into:</a:t>
            </a:r>
            <a:endParaRPr lang="en-US" sz="1050" dirty="0"/>
          </a:p>
          <a:p>
            <a:pPr indent="0" marL="0">
              <a:lnSpc>
                <a:spcPct val="110000"/>
              </a:lnSpc>
              <a:buNone/>
            </a:pPr>
            <a:r>
              <a:rPr lang="en-US" sz="1100" dirty="0">
                <a:solidFill>
                  <a:srgbClr val="FF4D5E"/>
                </a:solidFill>
                <a:latin typeface="Consolas" pitchFamily="34" charset="0"/>
                <a:ea typeface="Consolas" pitchFamily="34" charset="-122"/>
                <a:cs typeface="Consolas" pitchFamily="34" charset="-120"/>
              </a:rPr>
              <a:t>{"pack":"javax-to-jakarta"}</a:t>
            </a:r>
            <a:endParaRPr lang="en-US" sz="1050" dirty="0"/>
          </a:p>
        </p:txBody>
      </p:sp>
      <p:sp>
        <p:nvSpPr>
          <p:cNvPr id="40" name="Text 37"/>
          <p:cNvSpPr txBox="1"/>
          <p:nvPr/>
        </p:nvSpPr>
        <p:spPr>
          <a:xfrm>
            <a:off x="7726680" y="4846320"/>
            <a:ext cx="3733495" cy="1097280"/>
          </a:xfrm>
          <a:prstGeom prst="rect">
            <a:avLst/>
          </a:prstGeom>
          <a:noFill/>
          <a:ln/>
        </p:spPr>
        <p:txBody>
          <a:bodyPr wrap="square" lIns="0" tIns="0" rIns="0" bIns="0" rtlCol="0" anchor="t"/>
          <a:lstStyle/>
          <a:p>
            <a:pPr indent="0" marL="0">
              <a:buNone/>
            </a:pPr>
            <a:r>
              <a:rPr lang="en-US" sz="1250" dirty="0">
                <a:solidFill>
                  <a:srgbClr val="AAB5C3"/>
                </a:solidFill>
                <a:latin typeface="Arial" pitchFamily="34" charset="0"/>
                <a:ea typeface="Arial" pitchFamily="34" charset="-122"/>
                <a:cs typeface="Arial" pitchFamily="34" charset="-120"/>
              </a:rPr>
              <a:t>A real run, with dry_run gone. So the gate is an allow-list: a clean stop reason and no cancel, or every call is dropped.</a:t>
            </a:r>
            <a:endParaRPr lang="en-US" sz="1250" dirty="0"/>
          </a:p>
        </p:txBody>
      </p:sp>
      <p:sp>
        <p:nvSpPr>
          <p:cNvPr id="41" name="Text 38"/>
          <p:cNvSpPr txBox="1"/>
          <p:nvPr/>
        </p:nvSpPr>
        <p:spPr>
          <a:xfrm>
            <a:off x="548640" y="6455664"/>
            <a:ext cx="5486400" cy="219456"/>
          </a:xfrm>
          <a:prstGeom prst="rect">
            <a:avLst/>
          </a:prstGeom>
          <a:noFill/>
          <a:ln/>
        </p:spPr>
        <p:txBody>
          <a:bodyPr wrap="square" lIns="0" tIns="0" rIns="0" bIns="0" rtlCol="0" anchor="t"/>
          <a:lstStyle/>
          <a:p>
            <a:pPr indent="0" marL="0">
              <a:buNone/>
            </a:pPr>
            <a:r>
              <a:rPr lang="en-US" sz="900" dirty="0">
                <a:solidFill>
                  <a:srgbClr val="738191"/>
                </a:solidFill>
                <a:latin typeface="Arial" pitchFamily="34" charset="0"/>
                <a:ea typeface="Arial" pitchFamily="34" charset="-122"/>
                <a:cs typeface="Arial" pitchFamily="34" charset="-120"/>
              </a:rPr>
              <a:t>FORGE  ·  Software Development Conference 2026</a:t>
            </a:r>
            <a:endParaRPr lang="en-US" sz="900" dirty="0"/>
          </a:p>
        </p:txBody>
      </p:sp>
      <p:sp>
        <p:nvSpPr>
          <p:cNvPr id="42" name="Text 39"/>
          <p:cNvSpPr txBox="1"/>
          <p:nvPr/>
        </p:nvSpPr>
        <p:spPr>
          <a:xfrm>
            <a:off x="11094415" y="6455664"/>
            <a:ext cx="548640" cy="219456"/>
          </a:xfrm>
          <a:prstGeom prst="rect">
            <a:avLst/>
          </a:prstGeom>
          <a:noFill/>
          <a:ln/>
        </p:spPr>
        <p:txBody>
          <a:bodyPr wrap="square" lIns="0" tIns="0" rIns="0" bIns="0" rtlCol="0" anchor="t"/>
          <a:lstStyle/>
          <a:p>
            <a:pPr algn="r" indent="0" marL="0">
              <a:buNone/>
            </a:pPr>
            <a:r>
              <a:rPr lang="en-US" sz="900" dirty="0">
                <a:solidFill>
                  <a:srgbClr val="738191"/>
                </a:solidFill>
                <a:latin typeface="Arial" pitchFamily="34" charset="0"/>
                <a:ea typeface="Arial" pitchFamily="34" charset="-122"/>
                <a:cs typeface="Arial"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t"/>
          <a:lstStyle/>
          <a:p>
            <a:pPr indent="0" marL="0">
              <a:buNone/>
            </a:pPr>
            <a:r>
              <a:rPr lang="en-US" sz="1100" b="1" spc="300" kern="0" dirty="0">
                <a:solidFill>
                  <a:srgbClr val="FF6A2B"/>
                </a:solidFill>
                <a:latin typeface="Arial" pitchFamily="34" charset="0"/>
                <a:ea typeface="Arial" pitchFamily="34" charset="-122"/>
                <a:cs typeface="Arial" pitchFamily="34" charset="-120"/>
              </a:rPr>
              <a:t>04  ·  THE EXPERIENCE</a:t>
            </a:r>
            <a:endParaRPr lang="en-US" sz="1100" dirty="0"/>
          </a:p>
        </p:txBody>
      </p:sp>
      <p:sp>
        <p:nvSpPr>
          <p:cNvPr id="3" name="Text 1"/>
          <p:cNvSpPr txBox="1"/>
          <p:nvPr/>
        </p:nvSpPr>
        <p:spPr>
          <a:xfrm>
            <a:off x="548640" y="676656"/>
            <a:ext cx="11094415" cy="658368"/>
          </a:xfrm>
          <a:prstGeom prst="rect">
            <a:avLst/>
          </a:prstGeom>
          <a:noFill/>
          <a:ln/>
        </p:spPr>
        <p:txBody>
          <a:bodyPr wrap="square" lIns="0" tIns="0" rIns="0" bIns="0" rtlCol="0" anchor="t"/>
          <a:lstStyle/>
          <a:p>
            <a:pPr indent="0" marL="0">
              <a:buNone/>
            </a:pPr>
            <a:r>
              <a:rPr lang="en-US" sz="3200" b="1" dirty="0">
                <a:solidFill>
                  <a:srgbClr val="F3F5F8"/>
                </a:solidFill>
                <a:latin typeface="Arial" pitchFamily="34" charset="0"/>
                <a:ea typeface="Arial" pitchFamily="34" charset="-122"/>
                <a:cs typeface="Arial" pitchFamily="34" charset="-120"/>
              </a:rPr>
              <a:t>Humans decide what matters. FORGE learns.</a:t>
            </a:r>
            <a:endParaRPr lang="en-US" sz="3200" dirty="0"/>
          </a:p>
        </p:txBody>
      </p:sp>
      <p:sp>
        <p:nvSpPr>
          <p:cNvPr id="4" name="Shape 2"/>
          <p:cNvSpPr/>
          <p:nvPr/>
        </p:nvSpPr>
        <p:spPr>
          <a:xfrm>
            <a:off x="548640" y="1645920"/>
            <a:ext cx="2057400" cy="2103120"/>
          </a:xfrm>
          <a:prstGeom prst="roundRect">
            <a:avLst>
              <a:gd name="adj" fmla="val 5333"/>
            </a:avLst>
          </a:prstGeom>
          <a:solidFill>
            <a:srgbClr val="121821">
              <a:alpha val="95000"/>
            </a:srgbClr>
          </a:solidFill>
          <a:ln w="9525">
            <a:solidFill>
              <a:srgbClr val="5EB1FF">
                <a:alpha val="45000"/>
              </a:srgbClr>
            </a:solidFill>
            <a:prstDash val="solid"/>
          </a:ln>
        </p:spPr>
      </p:sp>
      <p:sp>
        <p:nvSpPr>
          <p:cNvPr id="5" name="Shape 3"/>
          <p:cNvSpPr/>
          <p:nvPr/>
        </p:nvSpPr>
        <p:spPr>
          <a:xfrm>
            <a:off x="777240" y="1874520"/>
            <a:ext cx="530352" cy="530352"/>
          </a:xfrm>
          <a:prstGeom prst="ellipse">
            <a:avLst/>
          </a:prstGeom>
          <a:solidFill>
            <a:srgbClr val="5EB1FF">
              <a:alpha val="16000"/>
            </a:srgbClr>
          </a:solidFill>
          <a:ln w="9525">
            <a:solidFill>
              <a:srgbClr val="5EB1FF">
                <a:alpha val="50000"/>
              </a:srgbClr>
            </a:solidFill>
            <a:prstDash val="solid"/>
          </a:ln>
        </p:spPr>
      </p:sp>
      <p:pic>
        <p:nvPicPr>
          <p:cNvPr id="6" name="Image 0" descr="/private/tmp/claude-501/-Users-raja-forge/826f4f3b-77e1-484d-8167-0e3b60d97c63/scratchpad/deck/assets/icons/LuGauge-5EB1FF.png">    </p:cNvPr>
          <p:cNvPicPr>
            <a:picLocks noChangeAspect="1"/>
          </p:cNvPicPr>
          <p:nvPr/>
        </p:nvPicPr>
        <p:blipFill>
          <a:blip r:embed="rId1"/>
          <a:stretch>
            <a:fillRect/>
          </a:stretch>
        </p:blipFill>
        <p:spPr>
          <a:xfrm>
            <a:off x="909828" y="2007108"/>
            <a:ext cx="265176" cy="265176"/>
          </a:xfrm>
          <a:prstGeom prst="rect">
            <a:avLst/>
          </a:prstGeom>
        </p:spPr>
      </p:pic>
      <p:sp>
        <p:nvSpPr>
          <p:cNvPr id="7" name="Text 4"/>
          <p:cNvSpPr txBox="1"/>
          <p:nvPr/>
        </p:nvSpPr>
        <p:spPr>
          <a:xfrm>
            <a:off x="1920240" y="1947672"/>
            <a:ext cx="457200" cy="274320"/>
          </a:xfrm>
          <a:prstGeom prst="rect">
            <a:avLst/>
          </a:prstGeom>
          <a:noFill/>
          <a:ln/>
        </p:spPr>
        <p:txBody>
          <a:bodyPr wrap="square" lIns="0" tIns="0" rIns="0" bIns="0" rtlCol="0" anchor="t"/>
          <a:lstStyle/>
          <a:p>
            <a:pPr algn="r" indent="0" marL="0">
              <a:buNone/>
            </a:pPr>
            <a:r>
              <a:rPr lang="en-US" sz="1300" b="1" dirty="0">
                <a:solidFill>
                  <a:srgbClr val="738191"/>
                </a:solidFill>
                <a:latin typeface="Arial" pitchFamily="34" charset="0"/>
                <a:ea typeface="Arial" pitchFamily="34" charset="-122"/>
                <a:cs typeface="Arial" pitchFamily="34" charset="-120"/>
              </a:rPr>
              <a:t>01</a:t>
            </a:r>
            <a:endParaRPr lang="en-US" sz="1300" dirty="0"/>
          </a:p>
        </p:txBody>
      </p:sp>
      <p:sp>
        <p:nvSpPr>
          <p:cNvPr id="8" name="Text 5"/>
          <p:cNvSpPr txBox="1"/>
          <p:nvPr/>
        </p:nvSpPr>
        <p:spPr>
          <a:xfrm>
            <a:off x="777240" y="2542032"/>
            <a:ext cx="1645920" cy="310896"/>
          </a:xfrm>
          <a:prstGeom prst="rect">
            <a:avLst/>
          </a:prstGeom>
          <a:noFill/>
          <a:ln/>
        </p:spPr>
        <p:txBody>
          <a:bodyPr wrap="square" lIns="0" tIns="0" rIns="0" bIns="0" rtlCol="0" anchor="t"/>
          <a:lstStyle/>
          <a:p>
            <a:pPr indent="0" marL="0">
              <a:buNone/>
            </a:pPr>
            <a:r>
              <a:rPr lang="en-US" sz="1600" b="1" dirty="0">
                <a:solidFill>
                  <a:srgbClr val="F3F5F8"/>
                </a:solidFill>
                <a:latin typeface="Arial" pitchFamily="34" charset="0"/>
                <a:ea typeface="Arial" pitchFamily="34" charset="-122"/>
                <a:cs typeface="Arial" pitchFamily="34" charset="-120"/>
              </a:rPr>
              <a:t>Risk score</a:t>
            </a:r>
            <a:endParaRPr lang="en-US" sz="1600" dirty="0"/>
          </a:p>
        </p:txBody>
      </p:sp>
      <p:sp>
        <p:nvSpPr>
          <p:cNvPr id="9" name="Text 6"/>
          <p:cNvSpPr txBox="1"/>
          <p:nvPr/>
        </p:nvSpPr>
        <p:spPr>
          <a:xfrm>
            <a:off x="777240" y="2889504"/>
            <a:ext cx="1673352" cy="804672"/>
          </a:xfrm>
          <a:prstGeom prst="rect">
            <a:avLst/>
          </a:prstGeom>
          <a:noFill/>
          <a:ln/>
        </p:spPr>
        <p:txBody>
          <a:bodyPr wrap="square" lIns="0" tIns="0" rIns="0" bIns="0" rtlCol="0" anchor="t"/>
          <a:lstStyle/>
          <a:p>
            <a:pPr indent="0" marL="0">
              <a:buNone/>
            </a:pPr>
            <a:r>
              <a:rPr lang="en-US" sz="1150" dirty="0">
                <a:solidFill>
                  <a:srgbClr val="AAB5C3"/>
                </a:solidFill>
                <a:latin typeface="Arial" pitchFamily="34" charset="0"/>
                <a:ea typeface="Arial" pitchFamily="34" charset="-122"/>
                <a:cs typeface="Arial" pitchFamily="34" charset="-120"/>
              </a:rPr>
              <a:t>Deterministic LOW / MEDIUM / HIGH. Security config is HIGH by rule.</a:t>
            </a:r>
            <a:endParaRPr lang="en-US" sz="1150" dirty="0"/>
          </a:p>
        </p:txBody>
      </p:sp>
      <p:sp>
        <p:nvSpPr>
          <p:cNvPr id="10" name="Shape 7"/>
          <p:cNvSpPr/>
          <p:nvPr/>
        </p:nvSpPr>
        <p:spPr>
          <a:xfrm>
            <a:off x="2624328" y="2697480"/>
            <a:ext cx="165278" cy="0"/>
          </a:xfrm>
          <a:prstGeom prst="line">
            <a:avLst/>
          </a:prstGeom>
          <a:noFill/>
          <a:ln w="19050">
            <a:solidFill>
              <a:srgbClr val="738191"/>
            </a:solidFill>
            <a:prstDash val="solid"/>
            <a:tailEnd type="triangle"/>
          </a:ln>
        </p:spPr>
      </p:sp>
      <p:sp>
        <p:nvSpPr>
          <p:cNvPr id="11" name="Shape 8"/>
          <p:cNvSpPr/>
          <p:nvPr/>
        </p:nvSpPr>
        <p:spPr>
          <a:xfrm>
            <a:off x="2807894" y="1645920"/>
            <a:ext cx="2057400" cy="2103120"/>
          </a:xfrm>
          <a:prstGeom prst="roundRect">
            <a:avLst>
              <a:gd name="adj" fmla="val 5333"/>
            </a:avLst>
          </a:prstGeom>
          <a:solidFill>
            <a:srgbClr val="121821">
              <a:alpha val="95000"/>
            </a:srgbClr>
          </a:solidFill>
          <a:ln w="9525">
            <a:solidFill>
              <a:srgbClr val="5EB1FF">
                <a:alpha val="45000"/>
              </a:srgbClr>
            </a:solidFill>
            <a:prstDash val="solid"/>
          </a:ln>
        </p:spPr>
      </p:sp>
      <p:sp>
        <p:nvSpPr>
          <p:cNvPr id="12" name="Shape 9"/>
          <p:cNvSpPr/>
          <p:nvPr/>
        </p:nvSpPr>
        <p:spPr>
          <a:xfrm>
            <a:off x="3036494" y="1874520"/>
            <a:ext cx="530352" cy="530352"/>
          </a:xfrm>
          <a:prstGeom prst="ellipse">
            <a:avLst/>
          </a:prstGeom>
          <a:solidFill>
            <a:srgbClr val="5EB1FF">
              <a:alpha val="16000"/>
            </a:srgbClr>
          </a:solidFill>
          <a:ln w="9525">
            <a:solidFill>
              <a:srgbClr val="5EB1FF">
                <a:alpha val="50000"/>
              </a:srgbClr>
            </a:solidFill>
            <a:prstDash val="solid"/>
          </a:ln>
        </p:spPr>
      </p:sp>
      <p:pic>
        <p:nvPicPr>
          <p:cNvPr id="13" name="Image 1" descr="/private/tmp/claude-501/-Users-raja-forge/826f4f3b-77e1-484d-8167-0e3b60d97c63/scratchpad/deck/assets/icons/LuFileLock-5EB1FF.png">    </p:cNvPr>
          <p:cNvPicPr>
            <a:picLocks noChangeAspect="1"/>
          </p:cNvPicPr>
          <p:nvPr/>
        </p:nvPicPr>
        <p:blipFill>
          <a:blip r:embed="rId2"/>
          <a:stretch>
            <a:fillRect/>
          </a:stretch>
        </p:blipFill>
        <p:spPr>
          <a:xfrm>
            <a:off x="3169082" y="2007108"/>
            <a:ext cx="265176" cy="265176"/>
          </a:xfrm>
          <a:prstGeom prst="rect">
            <a:avLst/>
          </a:prstGeom>
        </p:spPr>
      </p:pic>
      <p:sp>
        <p:nvSpPr>
          <p:cNvPr id="14" name="Text 10"/>
          <p:cNvSpPr txBox="1"/>
          <p:nvPr/>
        </p:nvSpPr>
        <p:spPr>
          <a:xfrm>
            <a:off x="4179494" y="1947672"/>
            <a:ext cx="457200" cy="274320"/>
          </a:xfrm>
          <a:prstGeom prst="rect">
            <a:avLst/>
          </a:prstGeom>
          <a:noFill/>
          <a:ln/>
        </p:spPr>
        <p:txBody>
          <a:bodyPr wrap="square" lIns="0" tIns="0" rIns="0" bIns="0" rtlCol="0" anchor="t"/>
          <a:lstStyle/>
          <a:p>
            <a:pPr algn="r" indent="0" marL="0">
              <a:buNone/>
            </a:pPr>
            <a:r>
              <a:rPr lang="en-US" sz="1300" b="1" dirty="0">
                <a:solidFill>
                  <a:srgbClr val="738191"/>
                </a:solidFill>
                <a:latin typeface="Arial" pitchFamily="34" charset="0"/>
                <a:ea typeface="Arial" pitchFamily="34" charset="-122"/>
                <a:cs typeface="Arial" pitchFamily="34" charset="-120"/>
              </a:rPr>
              <a:t>02</a:t>
            </a:r>
            <a:endParaRPr lang="en-US" sz="1300" dirty="0"/>
          </a:p>
        </p:txBody>
      </p:sp>
      <p:sp>
        <p:nvSpPr>
          <p:cNvPr id="15" name="Text 11"/>
          <p:cNvSpPr txBox="1"/>
          <p:nvPr/>
        </p:nvSpPr>
        <p:spPr>
          <a:xfrm>
            <a:off x="3036494" y="2542032"/>
            <a:ext cx="1645920" cy="310896"/>
          </a:xfrm>
          <a:prstGeom prst="rect">
            <a:avLst/>
          </a:prstGeom>
          <a:noFill/>
          <a:ln/>
        </p:spPr>
        <p:txBody>
          <a:bodyPr wrap="square" lIns="0" tIns="0" rIns="0" bIns="0" rtlCol="0" anchor="t"/>
          <a:lstStyle/>
          <a:p>
            <a:pPr indent="0" marL="0">
              <a:buNone/>
            </a:pPr>
            <a:r>
              <a:rPr lang="en-US" sz="1600" b="1" dirty="0">
                <a:solidFill>
                  <a:srgbClr val="F3F5F8"/>
                </a:solidFill>
                <a:latin typeface="Arial" pitchFamily="34" charset="0"/>
                <a:ea typeface="Arial" pitchFamily="34" charset="-122"/>
                <a:cs typeface="Arial" pitchFamily="34" charset="-120"/>
              </a:rPr>
              <a:t>Hold gate</a:t>
            </a:r>
            <a:endParaRPr lang="en-US" sz="1600" dirty="0"/>
          </a:p>
        </p:txBody>
      </p:sp>
      <p:sp>
        <p:nvSpPr>
          <p:cNvPr id="16" name="Text 12"/>
          <p:cNvSpPr txBox="1"/>
          <p:nvPr/>
        </p:nvSpPr>
        <p:spPr>
          <a:xfrm>
            <a:off x="3036494" y="2889504"/>
            <a:ext cx="1673352" cy="804672"/>
          </a:xfrm>
          <a:prstGeom prst="rect">
            <a:avLst/>
          </a:prstGeom>
          <a:noFill/>
          <a:ln/>
        </p:spPr>
        <p:txBody>
          <a:bodyPr wrap="square" lIns="0" tIns="0" rIns="0" bIns="0" rtlCol="0" anchor="t"/>
          <a:lstStyle/>
          <a:p>
            <a:pPr indent="0" marL="0">
              <a:buNone/>
            </a:pPr>
            <a:r>
              <a:rPr lang="en-US" sz="1150" dirty="0">
                <a:solidFill>
                  <a:srgbClr val="AAB5C3"/>
                </a:solidFill>
                <a:latin typeface="Arial" pitchFamily="34" charset="0"/>
                <a:ea typeface="Arial" pitchFamily="34" charset="-122"/>
                <a:cs typeface="Arial" pitchFamily="34" charset="-120"/>
              </a:rPr>
              <a:t>risk_ceiling decides: HIGH-risk files can be staged, not written.</a:t>
            </a:r>
            <a:endParaRPr lang="en-US" sz="1150" dirty="0"/>
          </a:p>
        </p:txBody>
      </p:sp>
      <p:sp>
        <p:nvSpPr>
          <p:cNvPr id="17" name="Shape 13"/>
          <p:cNvSpPr/>
          <p:nvPr/>
        </p:nvSpPr>
        <p:spPr>
          <a:xfrm>
            <a:off x="4883582" y="2697480"/>
            <a:ext cx="165278" cy="0"/>
          </a:xfrm>
          <a:prstGeom prst="line">
            <a:avLst/>
          </a:prstGeom>
          <a:noFill/>
          <a:ln w="19050">
            <a:solidFill>
              <a:srgbClr val="738191"/>
            </a:solidFill>
            <a:prstDash val="solid"/>
            <a:tailEnd type="triangle"/>
          </a:ln>
        </p:spPr>
      </p:sp>
      <p:sp>
        <p:nvSpPr>
          <p:cNvPr id="18" name="Shape 14"/>
          <p:cNvSpPr/>
          <p:nvPr/>
        </p:nvSpPr>
        <p:spPr>
          <a:xfrm>
            <a:off x="5067148" y="1645920"/>
            <a:ext cx="2057400" cy="2103120"/>
          </a:xfrm>
          <a:prstGeom prst="roundRect">
            <a:avLst>
              <a:gd name="adj" fmla="val 5333"/>
            </a:avLst>
          </a:prstGeom>
          <a:solidFill>
            <a:srgbClr val="121821">
              <a:alpha val="95000"/>
            </a:srgbClr>
          </a:solidFill>
          <a:ln w="9525">
            <a:solidFill>
              <a:srgbClr val="B89CFF">
                <a:alpha val="45000"/>
              </a:srgbClr>
            </a:solidFill>
            <a:prstDash val="solid"/>
          </a:ln>
        </p:spPr>
      </p:sp>
      <p:sp>
        <p:nvSpPr>
          <p:cNvPr id="19" name="Shape 15"/>
          <p:cNvSpPr/>
          <p:nvPr/>
        </p:nvSpPr>
        <p:spPr>
          <a:xfrm>
            <a:off x="5295748" y="1874520"/>
            <a:ext cx="530352" cy="530352"/>
          </a:xfrm>
          <a:prstGeom prst="ellipse">
            <a:avLst/>
          </a:prstGeom>
          <a:solidFill>
            <a:srgbClr val="B89CFF">
              <a:alpha val="16000"/>
            </a:srgbClr>
          </a:solidFill>
          <a:ln w="9525">
            <a:solidFill>
              <a:srgbClr val="B89CFF">
                <a:alpha val="50000"/>
              </a:srgbClr>
            </a:solidFill>
            <a:prstDash val="solid"/>
          </a:ln>
        </p:spPr>
      </p:sp>
      <p:pic>
        <p:nvPicPr>
          <p:cNvPr id="20" name="Image 2" descr="/private/tmp/claude-501/-Users-raja-forge/826f4f3b-77e1-484d-8167-0e3b60d97c63/scratchpad/deck/assets/icons/LuFileDiff-B89CFF.png">    </p:cNvPr>
          <p:cNvPicPr>
            <a:picLocks noChangeAspect="1"/>
          </p:cNvPicPr>
          <p:nvPr/>
        </p:nvPicPr>
        <p:blipFill>
          <a:blip r:embed="rId3"/>
          <a:stretch>
            <a:fillRect/>
          </a:stretch>
        </p:blipFill>
        <p:spPr>
          <a:xfrm>
            <a:off x="5428336" y="2007108"/>
            <a:ext cx="265176" cy="265176"/>
          </a:xfrm>
          <a:prstGeom prst="rect">
            <a:avLst/>
          </a:prstGeom>
        </p:spPr>
      </p:pic>
      <p:sp>
        <p:nvSpPr>
          <p:cNvPr id="21" name="Text 16"/>
          <p:cNvSpPr txBox="1"/>
          <p:nvPr/>
        </p:nvSpPr>
        <p:spPr>
          <a:xfrm>
            <a:off x="6438748" y="1947672"/>
            <a:ext cx="457200" cy="274320"/>
          </a:xfrm>
          <a:prstGeom prst="rect">
            <a:avLst/>
          </a:prstGeom>
          <a:noFill/>
          <a:ln/>
        </p:spPr>
        <p:txBody>
          <a:bodyPr wrap="square" lIns="0" tIns="0" rIns="0" bIns="0" rtlCol="0" anchor="t"/>
          <a:lstStyle/>
          <a:p>
            <a:pPr algn="r" indent="0" marL="0">
              <a:buNone/>
            </a:pPr>
            <a:r>
              <a:rPr lang="en-US" sz="1300" b="1" dirty="0">
                <a:solidFill>
                  <a:srgbClr val="738191"/>
                </a:solidFill>
                <a:latin typeface="Arial" pitchFamily="34" charset="0"/>
                <a:ea typeface="Arial" pitchFamily="34" charset="-122"/>
                <a:cs typeface="Arial" pitchFamily="34" charset="-120"/>
              </a:rPr>
              <a:t>03</a:t>
            </a:r>
            <a:endParaRPr lang="en-US" sz="1300" dirty="0"/>
          </a:p>
        </p:txBody>
      </p:sp>
      <p:sp>
        <p:nvSpPr>
          <p:cNvPr id="22" name="Text 17"/>
          <p:cNvSpPr txBox="1"/>
          <p:nvPr/>
        </p:nvSpPr>
        <p:spPr>
          <a:xfrm>
            <a:off x="5295748" y="2542032"/>
            <a:ext cx="1645920" cy="310896"/>
          </a:xfrm>
          <a:prstGeom prst="rect">
            <a:avLst/>
          </a:prstGeom>
          <a:noFill/>
          <a:ln/>
        </p:spPr>
        <p:txBody>
          <a:bodyPr wrap="square" lIns="0" tIns="0" rIns="0" bIns="0" rtlCol="0" anchor="t"/>
          <a:lstStyle/>
          <a:p>
            <a:pPr indent="0" marL="0">
              <a:buNone/>
            </a:pPr>
            <a:r>
              <a:rPr lang="en-US" sz="1600" b="1" dirty="0">
                <a:solidFill>
                  <a:srgbClr val="F3F5F8"/>
                </a:solidFill>
                <a:latin typeface="Arial" pitchFamily="34" charset="0"/>
                <a:ea typeface="Arial" pitchFamily="34" charset="-122"/>
                <a:cs typeface="Arial" pitchFamily="34" charset="-120"/>
              </a:rPr>
              <a:t>Review card</a:t>
            </a:r>
            <a:endParaRPr lang="en-US" sz="1600" dirty="0"/>
          </a:p>
        </p:txBody>
      </p:sp>
      <p:sp>
        <p:nvSpPr>
          <p:cNvPr id="23" name="Text 18"/>
          <p:cNvSpPr txBox="1"/>
          <p:nvPr/>
        </p:nvSpPr>
        <p:spPr>
          <a:xfrm>
            <a:off x="5295748" y="2889504"/>
            <a:ext cx="1673352" cy="804672"/>
          </a:xfrm>
          <a:prstGeom prst="rect">
            <a:avLst/>
          </a:prstGeom>
          <a:noFill/>
          <a:ln/>
        </p:spPr>
        <p:txBody>
          <a:bodyPr wrap="square" lIns="0" tIns="0" rIns="0" bIns="0" rtlCol="0" anchor="t"/>
          <a:lstStyle/>
          <a:p>
            <a:pPr indent="0" marL="0">
              <a:buNone/>
            </a:pPr>
            <a:r>
              <a:rPr lang="en-US" sz="1150" dirty="0">
                <a:solidFill>
                  <a:srgbClr val="AAB5C3"/>
                </a:solidFill>
                <a:latin typeface="Arial" pitchFamily="34" charset="0"/>
                <a:ea typeface="Arial" pitchFamily="34" charset="-122"/>
                <a:cs typeface="Arial" pitchFamily="34" charset="-120"/>
              </a:rPr>
              <a:t>Diff, score and the reason, for every file that needs a human.</a:t>
            </a:r>
            <a:endParaRPr lang="en-US" sz="1150" dirty="0"/>
          </a:p>
        </p:txBody>
      </p:sp>
      <p:sp>
        <p:nvSpPr>
          <p:cNvPr id="24" name="Shape 19"/>
          <p:cNvSpPr/>
          <p:nvPr/>
        </p:nvSpPr>
        <p:spPr>
          <a:xfrm>
            <a:off x="7142836" y="2697480"/>
            <a:ext cx="165278" cy="0"/>
          </a:xfrm>
          <a:prstGeom prst="line">
            <a:avLst/>
          </a:prstGeom>
          <a:noFill/>
          <a:ln w="19050">
            <a:solidFill>
              <a:srgbClr val="738191"/>
            </a:solidFill>
            <a:prstDash val="solid"/>
            <a:tailEnd type="triangle"/>
          </a:ln>
        </p:spPr>
      </p:sp>
      <p:sp>
        <p:nvSpPr>
          <p:cNvPr id="25" name="Shape 20"/>
          <p:cNvSpPr/>
          <p:nvPr/>
        </p:nvSpPr>
        <p:spPr>
          <a:xfrm>
            <a:off x="7326401" y="1645920"/>
            <a:ext cx="2057400" cy="2103120"/>
          </a:xfrm>
          <a:prstGeom prst="roundRect">
            <a:avLst>
              <a:gd name="adj" fmla="val 5333"/>
            </a:avLst>
          </a:prstGeom>
          <a:solidFill>
            <a:srgbClr val="121821">
              <a:alpha val="95000"/>
            </a:srgbClr>
          </a:solidFill>
          <a:ln w="9525">
            <a:solidFill>
              <a:srgbClr val="B89CFF">
                <a:alpha val="45000"/>
              </a:srgbClr>
            </a:solidFill>
            <a:prstDash val="solid"/>
          </a:ln>
        </p:spPr>
      </p:sp>
      <p:sp>
        <p:nvSpPr>
          <p:cNvPr id="26" name="Shape 21"/>
          <p:cNvSpPr/>
          <p:nvPr/>
        </p:nvSpPr>
        <p:spPr>
          <a:xfrm>
            <a:off x="7555001" y="1874520"/>
            <a:ext cx="530352" cy="530352"/>
          </a:xfrm>
          <a:prstGeom prst="ellipse">
            <a:avLst/>
          </a:prstGeom>
          <a:solidFill>
            <a:srgbClr val="B89CFF">
              <a:alpha val="16000"/>
            </a:srgbClr>
          </a:solidFill>
          <a:ln w="9525">
            <a:solidFill>
              <a:srgbClr val="B89CFF">
                <a:alpha val="50000"/>
              </a:srgbClr>
            </a:solidFill>
            <a:prstDash val="solid"/>
          </a:ln>
        </p:spPr>
      </p:sp>
      <p:pic>
        <p:nvPicPr>
          <p:cNvPr id="27" name="Image 3" descr="/private/tmp/claude-501/-Users-raja-forge/826f4f3b-77e1-484d-8167-0e3b60d97c63/scratchpad/deck/assets/icons/LuStamp-B89CFF.png">    </p:cNvPr>
          <p:cNvPicPr>
            <a:picLocks noChangeAspect="1"/>
          </p:cNvPicPr>
          <p:nvPr/>
        </p:nvPicPr>
        <p:blipFill>
          <a:blip r:embed="rId4"/>
          <a:stretch>
            <a:fillRect/>
          </a:stretch>
        </p:blipFill>
        <p:spPr>
          <a:xfrm>
            <a:off x="7687589" y="2007108"/>
            <a:ext cx="265176" cy="265176"/>
          </a:xfrm>
          <a:prstGeom prst="rect">
            <a:avLst/>
          </a:prstGeom>
        </p:spPr>
      </p:pic>
      <p:sp>
        <p:nvSpPr>
          <p:cNvPr id="28" name="Text 22"/>
          <p:cNvSpPr txBox="1"/>
          <p:nvPr/>
        </p:nvSpPr>
        <p:spPr>
          <a:xfrm>
            <a:off x="8698001" y="1947672"/>
            <a:ext cx="457200" cy="274320"/>
          </a:xfrm>
          <a:prstGeom prst="rect">
            <a:avLst/>
          </a:prstGeom>
          <a:noFill/>
          <a:ln/>
        </p:spPr>
        <p:txBody>
          <a:bodyPr wrap="square" lIns="0" tIns="0" rIns="0" bIns="0" rtlCol="0" anchor="t"/>
          <a:lstStyle/>
          <a:p>
            <a:pPr algn="r" indent="0" marL="0">
              <a:buNone/>
            </a:pPr>
            <a:r>
              <a:rPr lang="en-US" sz="1300" b="1" dirty="0">
                <a:solidFill>
                  <a:srgbClr val="738191"/>
                </a:solidFill>
                <a:latin typeface="Arial" pitchFamily="34" charset="0"/>
                <a:ea typeface="Arial" pitchFamily="34" charset="-122"/>
                <a:cs typeface="Arial" pitchFamily="34" charset="-120"/>
              </a:rPr>
              <a:t>04</a:t>
            </a:r>
            <a:endParaRPr lang="en-US" sz="1300" dirty="0"/>
          </a:p>
        </p:txBody>
      </p:sp>
      <p:sp>
        <p:nvSpPr>
          <p:cNvPr id="29" name="Text 23"/>
          <p:cNvSpPr txBox="1"/>
          <p:nvPr/>
        </p:nvSpPr>
        <p:spPr>
          <a:xfrm>
            <a:off x="7555001" y="2542032"/>
            <a:ext cx="1645920" cy="310896"/>
          </a:xfrm>
          <a:prstGeom prst="rect">
            <a:avLst/>
          </a:prstGeom>
          <a:noFill/>
          <a:ln/>
        </p:spPr>
        <p:txBody>
          <a:bodyPr wrap="square" lIns="0" tIns="0" rIns="0" bIns="0" rtlCol="0" anchor="t"/>
          <a:lstStyle/>
          <a:p>
            <a:pPr indent="0" marL="0">
              <a:buNone/>
            </a:pPr>
            <a:r>
              <a:rPr lang="en-US" sz="1600" b="1" dirty="0">
                <a:solidFill>
                  <a:srgbClr val="F3F5F8"/>
                </a:solidFill>
                <a:latin typeface="Arial" pitchFamily="34" charset="0"/>
                <a:ea typeface="Arial" pitchFamily="34" charset="-122"/>
                <a:cs typeface="Arial" pitchFamily="34" charset="-120"/>
              </a:rPr>
              <a:t>Decide</a:t>
            </a:r>
            <a:endParaRPr lang="en-US" sz="1600" dirty="0"/>
          </a:p>
        </p:txBody>
      </p:sp>
      <p:sp>
        <p:nvSpPr>
          <p:cNvPr id="30" name="Text 24"/>
          <p:cNvSpPr txBox="1"/>
          <p:nvPr/>
        </p:nvSpPr>
        <p:spPr>
          <a:xfrm>
            <a:off x="7555001" y="2889504"/>
            <a:ext cx="1673352" cy="804672"/>
          </a:xfrm>
          <a:prstGeom prst="rect">
            <a:avLst/>
          </a:prstGeom>
          <a:noFill/>
          <a:ln/>
        </p:spPr>
        <p:txBody>
          <a:bodyPr wrap="square" lIns="0" tIns="0" rIns="0" bIns="0" rtlCol="0" anchor="t"/>
          <a:lstStyle/>
          <a:p>
            <a:pPr indent="0" marL="0">
              <a:buNone/>
            </a:pPr>
            <a:r>
              <a:rPr lang="en-US" sz="1150" dirty="0">
                <a:solidFill>
                  <a:srgbClr val="AAB5C3"/>
                </a:solidFill>
                <a:latin typeface="Arial" pitchFamily="34" charset="0"/>
                <a:ea typeface="Arial" pitchFamily="34" charset="-122"/>
                <a:cs typeface="Arial" pitchFamily="34" charset="-120"/>
              </a:rPr>
              <a:t>Approve, reject, or retry with a note.</a:t>
            </a:r>
            <a:endParaRPr lang="en-US" sz="1150" dirty="0"/>
          </a:p>
        </p:txBody>
      </p:sp>
      <p:sp>
        <p:nvSpPr>
          <p:cNvPr id="31" name="Shape 25"/>
          <p:cNvSpPr/>
          <p:nvPr/>
        </p:nvSpPr>
        <p:spPr>
          <a:xfrm>
            <a:off x="9402089" y="2697480"/>
            <a:ext cx="165278" cy="0"/>
          </a:xfrm>
          <a:prstGeom prst="line">
            <a:avLst/>
          </a:prstGeom>
          <a:noFill/>
          <a:ln w="19050">
            <a:solidFill>
              <a:srgbClr val="738191"/>
            </a:solidFill>
            <a:prstDash val="solid"/>
            <a:tailEnd type="triangle"/>
          </a:ln>
        </p:spPr>
      </p:sp>
      <p:sp>
        <p:nvSpPr>
          <p:cNvPr id="32" name="Shape 26"/>
          <p:cNvSpPr/>
          <p:nvPr/>
        </p:nvSpPr>
        <p:spPr>
          <a:xfrm>
            <a:off x="9585655" y="1645920"/>
            <a:ext cx="2057400" cy="2103120"/>
          </a:xfrm>
          <a:prstGeom prst="roundRect">
            <a:avLst>
              <a:gd name="adj" fmla="val 5333"/>
            </a:avLst>
          </a:prstGeom>
          <a:solidFill>
            <a:srgbClr val="121821">
              <a:alpha val="95000"/>
            </a:srgbClr>
          </a:solidFill>
          <a:ln w="9525">
            <a:solidFill>
              <a:srgbClr val="FFB547">
                <a:alpha val="45000"/>
              </a:srgbClr>
            </a:solidFill>
            <a:prstDash val="solid"/>
          </a:ln>
        </p:spPr>
      </p:sp>
      <p:sp>
        <p:nvSpPr>
          <p:cNvPr id="33" name="Shape 27"/>
          <p:cNvSpPr/>
          <p:nvPr/>
        </p:nvSpPr>
        <p:spPr>
          <a:xfrm>
            <a:off x="9814255" y="1874520"/>
            <a:ext cx="530352" cy="530352"/>
          </a:xfrm>
          <a:prstGeom prst="ellipse">
            <a:avLst/>
          </a:prstGeom>
          <a:solidFill>
            <a:srgbClr val="FFB547">
              <a:alpha val="16000"/>
            </a:srgbClr>
          </a:solidFill>
          <a:ln w="9525">
            <a:solidFill>
              <a:srgbClr val="FFB547">
                <a:alpha val="50000"/>
              </a:srgbClr>
            </a:solidFill>
            <a:prstDash val="solid"/>
          </a:ln>
        </p:spPr>
      </p:sp>
      <p:pic>
        <p:nvPicPr>
          <p:cNvPr id="34" name="Image 4" descr="/private/tmp/claude-501/-Users-raja-forge/826f4f3b-77e1-484d-8167-0e3b60d97c63/scratchpad/deck/assets/icons/LuRecycle-FFB547.png">    </p:cNvPr>
          <p:cNvPicPr>
            <a:picLocks noChangeAspect="1"/>
          </p:cNvPicPr>
          <p:nvPr/>
        </p:nvPicPr>
        <p:blipFill>
          <a:blip r:embed="rId5"/>
          <a:stretch>
            <a:fillRect/>
          </a:stretch>
        </p:blipFill>
        <p:spPr>
          <a:xfrm>
            <a:off x="9946843" y="2007108"/>
            <a:ext cx="265176" cy="265176"/>
          </a:xfrm>
          <a:prstGeom prst="rect">
            <a:avLst/>
          </a:prstGeom>
        </p:spPr>
      </p:pic>
      <p:sp>
        <p:nvSpPr>
          <p:cNvPr id="35" name="Text 28"/>
          <p:cNvSpPr txBox="1"/>
          <p:nvPr/>
        </p:nvSpPr>
        <p:spPr>
          <a:xfrm>
            <a:off x="10957255" y="1947672"/>
            <a:ext cx="457200" cy="274320"/>
          </a:xfrm>
          <a:prstGeom prst="rect">
            <a:avLst/>
          </a:prstGeom>
          <a:noFill/>
          <a:ln/>
        </p:spPr>
        <p:txBody>
          <a:bodyPr wrap="square" lIns="0" tIns="0" rIns="0" bIns="0" rtlCol="0" anchor="t"/>
          <a:lstStyle/>
          <a:p>
            <a:pPr algn="r" indent="0" marL="0">
              <a:buNone/>
            </a:pPr>
            <a:r>
              <a:rPr lang="en-US" sz="1300" b="1" dirty="0">
                <a:solidFill>
                  <a:srgbClr val="738191"/>
                </a:solidFill>
                <a:latin typeface="Arial" pitchFamily="34" charset="0"/>
                <a:ea typeface="Arial" pitchFamily="34" charset="-122"/>
                <a:cs typeface="Arial" pitchFamily="34" charset="-120"/>
              </a:rPr>
              <a:t>05</a:t>
            </a:r>
            <a:endParaRPr lang="en-US" sz="1300" dirty="0"/>
          </a:p>
        </p:txBody>
      </p:sp>
      <p:sp>
        <p:nvSpPr>
          <p:cNvPr id="36" name="Text 29"/>
          <p:cNvSpPr txBox="1"/>
          <p:nvPr/>
        </p:nvSpPr>
        <p:spPr>
          <a:xfrm>
            <a:off x="9814255" y="2542032"/>
            <a:ext cx="1645920" cy="310896"/>
          </a:xfrm>
          <a:prstGeom prst="rect">
            <a:avLst/>
          </a:prstGeom>
          <a:noFill/>
          <a:ln/>
        </p:spPr>
        <p:txBody>
          <a:bodyPr wrap="square" lIns="0" tIns="0" rIns="0" bIns="0" rtlCol="0" anchor="t"/>
          <a:lstStyle/>
          <a:p>
            <a:pPr indent="0" marL="0">
              <a:buNone/>
            </a:pPr>
            <a:r>
              <a:rPr lang="en-US" sz="1600" b="1" dirty="0">
                <a:solidFill>
                  <a:srgbClr val="F3F5F8"/>
                </a:solidFill>
                <a:latin typeface="Arial" pitchFamily="34" charset="0"/>
                <a:ea typeface="Arial" pitchFamily="34" charset="-122"/>
                <a:cs typeface="Arial" pitchFamily="34" charset="-120"/>
              </a:rPr>
              <a:t>Learn</a:t>
            </a:r>
            <a:endParaRPr lang="en-US" sz="1600" dirty="0"/>
          </a:p>
        </p:txBody>
      </p:sp>
      <p:sp>
        <p:nvSpPr>
          <p:cNvPr id="37" name="Text 30"/>
          <p:cNvSpPr txBox="1"/>
          <p:nvPr/>
        </p:nvSpPr>
        <p:spPr>
          <a:xfrm>
            <a:off x="9814255" y="2889504"/>
            <a:ext cx="1673352" cy="804672"/>
          </a:xfrm>
          <a:prstGeom prst="rect">
            <a:avLst/>
          </a:prstGeom>
          <a:noFill/>
          <a:ln/>
        </p:spPr>
        <p:txBody>
          <a:bodyPr wrap="square" lIns="0" tIns="0" rIns="0" bIns="0" rtlCol="0" anchor="t"/>
          <a:lstStyle/>
          <a:p>
            <a:pPr indent="0" marL="0">
              <a:buNone/>
            </a:pPr>
            <a:r>
              <a:rPr lang="en-US" sz="1150" dirty="0">
                <a:solidFill>
                  <a:srgbClr val="AAB5C3"/>
                </a:solidFill>
                <a:latin typeface="Arial" pitchFamily="34" charset="0"/>
                <a:ea typeface="Arial" pitchFamily="34" charset="-122"/>
                <a:cs typeface="Arial" pitchFamily="34" charset="-120"/>
              </a:rPr>
              <a:t>Notes roll up by pack and rule into a feedback report.</a:t>
            </a:r>
            <a:endParaRPr lang="en-US" sz="1150" dirty="0"/>
          </a:p>
        </p:txBody>
      </p:sp>
      <p:sp>
        <p:nvSpPr>
          <p:cNvPr id="38" name="Shape 31"/>
          <p:cNvSpPr/>
          <p:nvPr/>
        </p:nvSpPr>
        <p:spPr>
          <a:xfrm>
            <a:off x="10614355" y="3767328"/>
            <a:ext cx="0" cy="256032"/>
          </a:xfrm>
          <a:prstGeom prst="line">
            <a:avLst/>
          </a:prstGeom>
          <a:noFill/>
          <a:ln w="19050">
            <a:solidFill>
              <a:srgbClr val="FFB547"/>
            </a:solidFill>
            <a:prstDash val="dash"/>
          </a:ln>
        </p:spPr>
      </p:sp>
      <p:sp>
        <p:nvSpPr>
          <p:cNvPr id="39" name="Shape 32"/>
          <p:cNvSpPr/>
          <p:nvPr/>
        </p:nvSpPr>
        <p:spPr>
          <a:xfrm flipH="1">
            <a:off x="1577340" y="4023360"/>
            <a:ext cx="9037015" cy="0"/>
          </a:xfrm>
          <a:prstGeom prst="line">
            <a:avLst/>
          </a:prstGeom>
          <a:noFill/>
          <a:ln w="19050">
            <a:solidFill>
              <a:srgbClr val="FFB547"/>
            </a:solidFill>
            <a:prstDash val="dash"/>
          </a:ln>
        </p:spPr>
      </p:sp>
      <p:sp>
        <p:nvSpPr>
          <p:cNvPr id="40" name="Shape 33"/>
          <p:cNvSpPr/>
          <p:nvPr/>
        </p:nvSpPr>
        <p:spPr>
          <a:xfrm flipV="1">
            <a:off x="1577340" y="3776472"/>
            <a:ext cx="0" cy="246888"/>
          </a:xfrm>
          <a:prstGeom prst="line">
            <a:avLst/>
          </a:prstGeom>
          <a:noFill/>
          <a:ln w="19050">
            <a:solidFill>
              <a:srgbClr val="FFB547"/>
            </a:solidFill>
            <a:prstDash val="dash"/>
            <a:tailEnd type="triangle"/>
          </a:ln>
        </p:spPr>
      </p:sp>
      <p:sp>
        <p:nvSpPr>
          <p:cNvPr id="41" name="Text 34"/>
          <p:cNvSpPr txBox="1"/>
          <p:nvPr/>
        </p:nvSpPr>
        <p:spPr>
          <a:xfrm>
            <a:off x="2926080" y="4087368"/>
            <a:ext cx="6309360" cy="256032"/>
          </a:xfrm>
          <a:prstGeom prst="rect">
            <a:avLst/>
          </a:prstGeom>
          <a:noFill/>
          <a:ln/>
        </p:spPr>
        <p:txBody>
          <a:bodyPr wrap="square" lIns="0" tIns="0" rIns="0" bIns="0" rtlCol="0" anchor="t"/>
          <a:lstStyle/>
          <a:p>
            <a:pPr algn="ctr" indent="0" marL="0">
              <a:buNone/>
            </a:pPr>
            <a:r>
              <a:rPr lang="en-US" sz="1150" i="1" dirty="0">
                <a:solidFill>
                  <a:srgbClr val="FFB547"/>
                </a:solidFill>
                <a:latin typeface="Arial" pitchFamily="34" charset="0"/>
                <a:ea typeface="Arial" pitchFamily="34" charset="-122"/>
                <a:cs typeface="Arial" pitchFamily="34" charset="-120"/>
              </a:rPr>
              <a:t>a correction you keep repeating becomes a fix to the pack itself</a:t>
            </a:r>
            <a:endParaRPr lang="en-US" sz="1150" dirty="0"/>
          </a:p>
        </p:txBody>
      </p:sp>
      <p:sp>
        <p:nvSpPr>
          <p:cNvPr id="42" name="Shape 35"/>
          <p:cNvSpPr/>
          <p:nvPr/>
        </p:nvSpPr>
        <p:spPr>
          <a:xfrm>
            <a:off x="548640" y="4617720"/>
            <a:ext cx="3545738" cy="1463040"/>
          </a:xfrm>
          <a:prstGeom prst="roundRect">
            <a:avLst>
              <a:gd name="adj" fmla="val 7500"/>
            </a:avLst>
          </a:prstGeom>
          <a:solidFill>
            <a:srgbClr val="121821">
              <a:alpha val="92000"/>
            </a:srgbClr>
          </a:solidFill>
          <a:ln w="9525">
            <a:solidFill>
              <a:srgbClr val="1E2835"/>
            </a:solidFill>
            <a:prstDash val="solid"/>
          </a:ln>
        </p:spPr>
      </p:sp>
      <p:sp>
        <p:nvSpPr>
          <p:cNvPr id="43" name="Text 36"/>
          <p:cNvSpPr txBox="1"/>
          <p:nvPr/>
        </p:nvSpPr>
        <p:spPr>
          <a:xfrm>
            <a:off x="777240" y="4846320"/>
            <a:ext cx="1188720" cy="347472"/>
          </a:xfrm>
          <a:prstGeom prst="roundRect">
            <a:avLst>
              <a:gd name="adj" fmla="val 50000"/>
            </a:avLst>
          </a:prstGeom>
          <a:solidFill>
            <a:srgbClr val="35D07F">
              <a:alpha val="22000"/>
            </a:srgbClr>
          </a:solidFill>
          <a:ln w="9525">
            <a:solidFill>
              <a:srgbClr val="35D07F">
                <a:alpha val="55000"/>
              </a:srgbClr>
            </a:solidFill>
          </a:ln>
        </p:spPr>
        <p:txBody>
          <a:bodyPr wrap="square" lIns="0" tIns="0" rIns="0" bIns="0" rtlCol="0" anchor="ctr"/>
          <a:lstStyle/>
          <a:p>
            <a:pPr algn="ctr" indent="0" marL="0">
              <a:buNone/>
            </a:pPr>
            <a:r>
              <a:rPr lang="en-US" sz="1250" b="1" dirty="0">
                <a:solidFill>
                  <a:srgbClr val="F3F5F8"/>
                </a:solidFill>
                <a:latin typeface="Arial" pitchFamily="34" charset="0"/>
                <a:ea typeface="Arial" pitchFamily="34" charset="-122"/>
                <a:cs typeface="Arial" pitchFamily="34" charset="-120"/>
              </a:rPr>
              <a:t>Approve</a:t>
            </a:r>
            <a:endParaRPr lang="en-US" sz="1250" dirty="0"/>
          </a:p>
        </p:txBody>
      </p:sp>
      <p:sp>
        <p:nvSpPr>
          <p:cNvPr id="44" name="Text 37"/>
          <p:cNvSpPr txBox="1"/>
          <p:nvPr/>
        </p:nvSpPr>
        <p:spPr>
          <a:xfrm>
            <a:off x="777240" y="5330952"/>
            <a:ext cx="3134258" cy="658368"/>
          </a:xfrm>
          <a:prstGeom prst="rect">
            <a:avLst/>
          </a:prstGeom>
          <a:noFill/>
          <a:ln/>
        </p:spPr>
        <p:txBody>
          <a:bodyPr wrap="square" lIns="0" tIns="0" rIns="0" bIns="0" rtlCol="0" anchor="t"/>
          <a:lstStyle/>
          <a:p>
            <a:pPr indent="0" marL="0">
              <a:buNone/>
            </a:pPr>
            <a:r>
              <a:rPr lang="en-US" sz="1250" dirty="0">
                <a:solidFill>
                  <a:srgbClr val="AAB5C3"/>
                </a:solidFill>
                <a:latin typeface="Arial" pitchFamily="34" charset="0"/>
                <a:ea typeface="Arial" pitchFamily="34" charset="-122"/>
                <a:cs typeface="Arial" pitchFamily="34" charset="-120"/>
              </a:rPr>
              <a:t>Final. If it later fails to compile, FORGE reports it and never undoes your decision.</a:t>
            </a:r>
            <a:endParaRPr lang="en-US" sz="1250" dirty="0"/>
          </a:p>
        </p:txBody>
      </p:sp>
      <p:sp>
        <p:nvSpPr>
          <p:cNvPr id="45" name="Shape 38"/>
          <p:cNvSpPr/>
          <p:nvPr/>
        </p:nvSpPr>
        <p:spPr>
          <a:xfrm>
            <a:off x="4322978" y="4617720"/>
            <a:ext cx="3545738" cy="1463040"/>
          </a:xfrm>
          <a:prstGeom prst="roundRect">
            <a:avLst>
              <a:gd name="adj" fmla="val 7500"/>
            </a:avLst>
          </a:prstGeom>
          <a:solidFill>
            <a:srgbClr val="121821">
              <a:alpha val="92000"/>
            </a:srgbClr>
          </a:solidFill>
          <a:ln w="9525">
            <a:solidFill>
              <a:srgbClr val="1E2835"/>
            </a:solidFill>
            <a:prstDash val="solid"/>
          </a:ln>
        </p:spPr>
      </p:sp>
      <p:sp>
        <p:nvSpPr>
          <p:cNvPr id="46" name="Text 39"/>
          <p:cNvSpPr txBox="1"/>
          <p:nvPr/>
        </p:nvSpPr>
        <p:spPr>
          <a:xfrm>
            <a:off x="4551578" y="4846320"/>
            <a:ext cx="1188720" cy="347472"/>
          </a:xfrm>
          <a:prstGeom prst="roundRect">
            <a:avLst>
              <a:gd name="adj" fmla="val 50000"/>
            </a:avLst>
          </a:prstGeom>
          <a:solidFill>
            <a:srgbClr val="FF4D5E">
              <a:alpha val="22000"/>
            </a:srgbClr>
          </a:solidFill>
          <a:ln w="9525">
            <a:solidFill>
              <a:srgbClr val="FF4D5E">
                <a:alpha val="55000"/>
              </a:srgbClr>
            </a:solidFill>
          </a:ln>
        </p:spPr>
        <p:txBody>
          <a:bodyPr wrap="square" lIns="0" tIns="0" rIns="0" bIns="0" rtlCol="0" anchor="ctr"/>
          <a:lstStyle/>
          <a:p>
            <a:pPr algn="ctr" indent="0" marL="0">
              <a:buNone/>
            </a:pPr>
            <a:r>
              <a:rPr lang="en-US" sz="1250" b="1" dirty="0">
                <a:solidFill>
                  <a:srgbClr val="F3F5F8"/>
                </a:solidFill>
                <a:latin typeface="Arial" pitchFamily="34" charset="0"/>
                <a:ea typeface="Arial" pitchFamily="34" charset="-122"/>
                <a:cs typeface="Arial" pitchFamily="34" charset="-120"/>
              </a:rPr>
              <a:t>Reject</a:t>
            </a:r>
            <a:endParaRPr lang="en-US" sz="1250" dirty="0"/>
          </a:p>
        </p:txBody>
      </p:sp>
      <p:sp>
        <p:nvSpPr>
          <p:cNvPr id="47" name="Text 40"/>
          <p:cNvSpPr txBox="1"/>
          <p:nvPr/>
        </p:nvSpPr>
        <p:spPr>
          <a:xfrm>
            <a:off x="4551578" y="5330952"/>
            <a:ext cx="3134258" cy="658368"/>
          </a:xfrm>
          <a:prstGeom prst="rect">
            <a:avLst/>
          </a:prstGeom>
          <a:noFill/>
          <a:ln/>
        </p:spPr>
        <p:txBody>
          <a:bodyPr wrap="square" lIns="0" tIns="0" rIns="0" bIns="0" rtlCol="0" anchor="t"/>
          <a:lstStyle/>
          <a:p>
            <a:pPr indent="0" marL="0">
              <a:buNone/>
            </a:pPr>
            <a:r>
              <a:rPr lang="en-US" sz="1250" dirty="0">
                <a:solidFill>
                  <a:srgbClr val="AAB5C3"/>
                </a:solidFill>
                <a:latin typeface="Arial" pitchFamily="34" charset="0"/>
                <a:ea typeface="Arial" pitchFamily="34" charset="-122"/>
                <a:cs typeface="Arial" pitchFamily="34" charset="-120"/>
              </a:rPr>
              <a:t>The change is discarded, and your reason is recorded.</a:t>
            </a:r>
            <a:endParaRPr lang="en-US" sz="1250" dirty="0"/>
          </a:p>
        </p:txBody>
      </p:sp>
      <p:sp>
        <p:nvSpPr>
          <p:cNvPr id="48" name="Shape 41"/>
          <p:cNvSpPr/>
          <p:nvPr/>
        </p:nvSpPr>
        <p:spPr>
          <a:xfrm>
            <a:off x="8097317" y="4617720"/>
            <a:ext cx="3545738" cy="1463040"/>
          </a:xfrm>
          <a:prstGeom prst="roundRect">
            <a:avLst>
              <a:gd name="adj" fmla="val 7500"/>
            </a:avLst>
          </a:prstGeom>
          <a:solidFill>
            <a:srgbClr val="121821">
              <a:alpha val="92000"/>
            </a:srgbClr>
          </a:solidFill>
          <a:ln w="9525">
            <a:solidFill>
              <a:srgbClr val="1E2835"/>
            </a:solidFill>
            <a:prstDash val="solid"/>
          </a:ln>
        </p:spPr>
      </p:sp>
      <p:sp>
        <p:nvSpPr>
          <p:cNvPr id="49" name="Text 42"/>
          <p:cNvSpPr txBox="1"/>
          <p:nvPr/>
        </p:nvSpPr>
        <p:spPr>
          <a:xfrm>
            <a:off x="8325917" y="4846320"/>
            <a:ext cx="1188720" cy="347472"/>
          </a:xfrm>
          <a:prstGeom prst="roundRect">
            <a:avLst>
              <a:gd name="adj" fmla="val 50000"/>
            </a:avLst>
          </a:prstGeom>
          <a:solidFill>
            <a:srgbClr val="FFB547">
              <a:alpha val="22000"/>
            </a:srgbClr>
          </a:solidFill>
          <a:ln w="9525">
            <a:solidFill>
              <a:srgbClr val="FFB547">
                <a:alpha val="55000"/>
              </a:srgbClr>
            </a:solidFill>
          </a:ln>
        </p:spPr>
        <p:txBody>
          <a:bodyPr wrap="square" lIns="0" tIns="0" rIns="0" bIns="0" rtlCol="0" anchor="ctr"/>
          <a:lstStyle/>
          <a:p>
            <a:pPr algn="ctr" indent="0" marL="0">
              <a:buNone/>
            </a:pPr>
            <a:r>
              <a:rPr lang="en-US" sz="1250" b="1" dirty="0">
                <a:solidFill>
                  <a:srgbClr val="F3F5F8"/>
                </a:solidFill>
                <a:latin typeface="Arial" pitchFamily="34" charset="0"/>
                <a:ea typeface="Arial" pitchFamily="34" charset="-122"/>
                <a:cs typeface="Arial" pitchFamily="34" charset="-120"/>
              </a:rPr>
              <a:t>Retry</a:t>
            </a:r>
            <a:endParaRPr lang="en-US" sz="1250" dirty="0"/>
          </a:p>
        </p:txBody>
      </p:sp>
      <p:sp>
        <p:nvSpPr>
          <p:cNvPr id="50" name="Text 43"/>
          <p:cNvSpPr txBox="1"/>
          <p:nvPr/>
        </p:nvSpPr>
        <p:spPr>
          <a:xfrm>
            <a:off x="8325917" y="5330952"/>
            <a:ext cx="3134258" cy="658368"/>
          </a:xfrm>
          <a:prstGeom prst="rect">
            <a:avLst/>
          </a:prstGeom>
          <a:noFill/>
          <a:ln/>
        </p:spPr>
        <p:txBody>
          <a:bodyPr wrap="square" lIns="0" tIns="0" rIns="0" bIns="0" rtlCol="0" anchor="t"/>
          <a:lstStyle/>
          <a:p>
            <a:pPr indent="0" marL="0">
              <a:buNone/>
            </a:pPr>
            <a:r>
              <a:rPr lang="en-US" sz="1250" dirty="0">
                <a:solidFill>
                  <a:srgbClr val="AAB5C3"/>
                </a:solidFill>
                <a:latin typeface="Arial" pitchFamily="34" charset="0"/>
                <a:ea typeface="Arial" pitchFamily="34" charset="-122"/>
                <a:cs typeface="Arial" pitchFamily="34" charset="-120"/>
              </a:rPr>
              <a:t>Runs again with your note. “You dropped the null check” is enough.</a:t>
            </a:r>
            <a:endParaRPr lang="en-US" sz="1250" dirty="0"/>
          </a:p>
        </p:txBody>
      </p:sp>
      <p:sp>
        <p:nvSpPr>
          <p:cNvPr id="51" name="Text 44"/>
          <p:cNvSpPr txBox="1"/>
          <p:nvPr/>
        </p:nvSpPr>
        <p:spPr>
          <a:xfrm>
            <a:off x="548640" y="6455664"/>
            <a:ext cx="5486400" cy="219456"/>
          </a:xfrm>
          <a:prstGeom prst="rect">
            <a:avLst/>
          </a:prstGeom>
          <a:noFill/>
          <a:ln/>
        </p:spPr>
        <p:txBody>
          <a:bodyPr wrap="square" lIns="0" tIns="0" rIns="0" bIns="0" rtlCol="0" anchor="t"/>
          <a:lstStyle/>
          <a:p>
            <a:pPr indent="0" marL="0">
              <a:buNone/>
            </a:pPr>
            <a:r>
              <a:rPr lang="en-US" sz="900" dirty="0">
                <a:solidFill>
                  <a:srgbClr val="738191"/>
                </a:solidFill>
                <a:latin typeface="Arial" pitchFamily="34" charset="0"/>
                <a:ea typeface="Arial" pitchFamily="34" charset="-122"/>
                <a:cs typeface="Arial" pitchFamily="34" charset="-120"/>
              </a:rPr>
              <a:t>FORGE  ·  Software Development Conference 2026</a:t>
            </a:r>
            <a:endParaRPr lang="en-US" sz="900" dirty="0"/>
          </a:p>
        </p:txBody>
      </p:sp>
      <p:sp>
        <p:nvSpPr>
          <p:cNvPr id="52" name="Text 45"/>
          <p:cNvSpPr txBox="1"/>
          <p:nvPr/>
        </p:nvSpPr>
        <p:spPr>
          <a:xfrm>
            <a:off x="11094415" y="6455664"/>
            <a:ext cx="548640" cy="219456"/>
          </a:xfrm>
          <a:prstGeom prst="rect">
            <a:avLst/>
          </a:prstGeom>
          <a:noFill/>
          <a:ln/>
        </p:spPr>
        <p:txBody>
          <a:bodyPr wrap="square" lIns="0" tIns="0" rIns="0" bIns="0" rtlCol="0" anchor="t"/>
          <a:lstStyle/>
          <a:p>
            <a:pPr algn="r" indent="0" marL="0">
              <a:buNone/>
            </a:pPr>
            <a:r>
              <a:rPr lang="en-US" sz="900" dirty="0">
                <a:solidFill>
                  <a:srgbClr val="738191"/>
                </a:solidFill>
                <a:latin typeface="Arial" pitchFamily="34" charset="0"/>
                <a:ea typeface="Arial" pitchFamily="34" charset="-122"/>
                <a:cs typeface="Arial"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t"/>
          <a:lstStyle/>
          <a:p>
            <a:pPr indent="0" marL="0">
              <a:buNone/>
            </a:pPr>
            <a:r>
              <a:rPr lang="en-US" sz="1100" b="1" spc="300" kern="0" dirty="0">
                <a:solidFill>
                  <a:srgbClr val="FF6A2B"/>
                </a:solidFill>
                <a:latin typeface="Arial" pitchFamily="34" charset="0"/>
                <a:ea typeface="Arial" pitchFamily="34" charset="-122"/>
                <a:cs typeface="Arial" pitchFamily="34" charset="-120"/>
              </a:rPr>
              <a:t>05  ·  PROOF &amp; OPERATIONS</a:t>
            </a:r>
            <a:endParaRPr lang="en-US" sz="1100" dirty="0"/>
          </a:p>
        </p:txBody>
      </p:sp>
      <p:sp>
        <p:nvSpPr>
          <p:cNvPr id="3" name="Text 1"/>
          <p:cNvSpPr txBox="1"/>
          <p:nvPr/>
        </p:nvSpPr>
        <p:spPr>
          <a:xfrm>
            <a:off x="548640" y="676656"/>
            <a:ext cx="11094415" cy="658368"/>
          </a:xfrm>
          <a:prstGeom prst="rect">
            <a:avLst/>
          </a:prstGeom>
          <a:noFill/>
          <a:ln/>
        </p:spPr>
        <p:txBody>
          <a:bodyPr wrap="square" lIns="0" tIns="0" rIns="0" bIns="0" rtlCol="0" anchor="t"/>
          <a:lstStyle/>
          <a:p>
            <a:pPr indent="0" marL="0">
              <a:buNone/>
            </a:pPr>
            <a:r>
              <a:rPr lang="en-US" sz="3200" b="1" dirty="0">
                <a:solidFill>
                  <a:srgbClr val="F3F5F8"/>
                </a:solidFill>
                <a:latin typeface="Arial" pitchFamily="34" charset="0"/>
                <a:ea typeface="Arial" pitchFamily="34" charset="-122"/>
                <a:cs typeface="Arial" pitchFamily="34" charset="-120"/>
              </a:rPr>
              <a:t>Proof, not vibes</a:t>
            </a:r>
            <a:endParaRPr lang="en-US" sz="3200" dirty="0"/>
          </a:p>
        </p:txBody>
      </p:sp>
      <p:sp>
        <p:nvSpPr>
          <p:cNvPr id="4" name="Shape 2"/>
          <p:cNvSpPr/>
          <p:nvPr/>
        </p:nvSpPr>
        <p:spPr>
          <a:xfrm>
            <a:off x="548640" y="1600200"/>
            <a:ext cx="3545738" cy="3931920"/>
          </a:xfrm>
          <a:prstGeom prst="roundRect">
            <a:avLst>
              <a:gd name="adj" fmla="val 3095"/>
            </a:avLst>
          </a:prstGeom>
          <a:solidFill>
            <a:srgbClr val="121821">
              <a:alpha val="95000"/>
            </a:srgbClr>
          </a:solidFill>
          <a:ln w="9525">
            <a:solidFill>
              <a:srgbClr val="5EB1FF">
                <a:alpha val="40000"/>
              </a:srgbClr>
            </a:solidFill>
            <a:prstDash val="solid"/>
          </a:ln>
        </p:spPr>
      </p:sp>
      <p:sp>
        <p:nvSpPr>
          <p:cNvPr id="5" name="Shape 3"/>
          <p:cNvSpPr/>
          <p:nvPr/>
        </p:nvSpPr>
        <p:spPr>
          <a:xfrm>
            <a:off x="822960" y="1874520"/>
            <a:ext cx="566928" cy="566928"/>
          </a:xfrm>
          <a:prstGeom prst="ellipse">
            <a:avLst/>
          </a:prstGeom>
          <a:solidFill>
            <a:srgbClr val="5EB1FF">
              <a:alpha val="16000"/>
            </a:srgbClr>
          </a:solidFill>
          <a:ln w="9525">
            <a:solidFill>
              <a:srgbClr val="5EB1FF">
                <a:alpha val="50000"/>
              </a:srgbClr>
            </a:solidFill>
            <a:prstDash val="solid"/>
          </a:ln>
        </p:spPr>
      </p:sp>
      <p:pic>
        <p:nvPicPr>
          <p:cNvPr id="6" name="Image 0" descr="/private/tmp/claude-501/-Users-raja-forge/826f4f3b-77e1-484d-8167-0e3b60d97c63/scratchpad/deck/assets/icons/LuFileCheck-5EB1FF.png">    </p:cNvPr>
          <p:cNvPicPr>
            <a:picLocks noChangeAspect="1"/>
          </p:cNvPicPr>
          <p:nvPr/>
        </p:nvPicPr>
        <p:blipFill>
          <a:blip r:embed="rId1"/>
          <a:stretch>
            <a:fillRect/>
          </a:stretch>
        </p:blipFill>
        <p:spPr>
          <a:xfrm>
            <a:off x="964692" y="2016252"/>
            <a:ext cx="283464" cy="283464"/>
          </a:xfrm>
          <a:prstGeom prst="rect">
            <a:avLst/>
          </a:prstGeom>
        </p:spPr>
      </p:pic>
      <p:sp>
        <p:nvSpPr>
          <p:cNvPr id="7" name="Text 4"/>
          <p:cNvSpPr txBox="1"/>
          <p:nvPr/>
        </p:nvSpPr>
        <p:spPr>
          <a:xfrm>
            <a:off x="1536192" y="1984248"/>
            <a:ext cx="2357018" cy="365760"/>
          </a:xfrm>
          <a:prstGeom prst="rect">
            <a:avLst/>
          </a:prstGeom>
          <a:noFill/>
          <a:ln/>
        </p:spPr>
        <p:txBody>
          <a:bodyPr wrap="square" lIns="0" tIns="0" rIns="0" bIns="0" rtlCol="0" anchor="t"/>
          <a:lstStyle/>
          <a:p>
            <a:pPr indent="0" marL="0">
              <a:buNone/>
            </a:pPr>
            <a:r>
              <a:rPr lang="en-US" sz="2000" b="1" dirty="0">
                <a:solidFill>
                  <a:srgbClr val="F3F5F8"/>
                </a:solidFill>
                <a:latin typeface="Arial" pitchFamily="34" charset="0"/>
                <a:ea typeface="Arial" pitchFamily="34" charset="-122"/>
                <a:cs typeface="Arial" pitchFamily="34" charset="-120"/>
              </a:rPr>
              <a:t>Compiler checks</a:t>
            </a:r>
            <a:endParaRPr lang="en-US" sz="2000" dirty="0"/>
          </a:p>
        </p:txBody>
      </p:sp>
      <p:sp>
        <p:nvSpPr>
          <p:cNvPr id="8" name="Text 5"/>
          <p:cNvSpPr txBox="1"/>
          <p:nvPr/>
        </p:nvSpPr>
        <p:spPr>
          <a:xfrm>
            <a:off x="822960" y="2651760"/>
            <a:ext cx="3042818" cy="822960"/>
          </a:xfrm>
          <a:prstGeom prst="rect">
            <a:avLst/>
          </a:prstGeom>
          <a:noFill/>
          <a:ln/>
        </p:spPr>
        <p:txBody>
          <a:bodyPr wrap="square" lIns="0" tIns="0" rIns="0" bIns="0" rtlCol="0" anchor="t"/>
          <a:lstStyle/>
          <a:p>
            <a:pPr indent="0" marL="0">
              <a:buNone/>
            </a:pPr>
            <a:r>
              <a:rPr lang="en-US" sz="1500" b="1" dirty="0">
                <a:solidFill>
                  <a:srgbClr val="5EB1FF"/>
                </a:solidFill>
                <a:latin typeface="Arial" pitchFamily="34" charset="0"/>
                <a:ea typeface="Arial" pitchFamily="34" charset="-122"/>
                <a:cs typeface="Arial" pitchFamily="34" charset="-120"/>
              </a:rPr>
              <a:t>javac parses every file before it is reviewed.</a:t>
            </a:r>
            <a:endParaRPr lang="en-US" sz="1500" dirty="0"/>
          </a:p>
        </p:txBody>
      </p:sp>
      <p:sp>
        <p:nvSpPr>
          <p:cNvPr id="9" name="Text 6"/>
          <p:cNvSpPr txBox="1"/>
          <p:nvPr/>
        </p:nvSpPr>
        <p:spPr>
          <a:xfrm>
            <a:off x="822960" y="3520440"/>
            <a:ext cx="3042818" cy="187452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AAB5C3"/>
                </a:solidFill>
                <a:latin typeface="Arial" pitchFamily="34" charset="0"/>
                <a:ea typeface="Arial" pitchFamily="34" charset="-122"/>
                <a:cs typeface="Arial" pitchFamily="34" charset="-120"/>
              </a:rPr>
              <a:t>A broken file retries with javac’s errors, and costs no review call</a:t>
            </a:r>
            <a:endParaRPr lang="en-US" sz="1250" dirty="0"/>
          </a:p>
          <a:p>
            <a:pPr marL="177800" indent="-177800">
              <a:spcAft>
                <a:spcPts val="700"/>
              </a:spcAft>
              <a:buSzPct val="100000"/>
              <a:buChar char="•"/>
            </a:pPr>
            <a:r>
              <a:rPr lang="en-US" sz="1250" dirty="0">
                <a:solidFill>
                  <a:srgbClr val="AAB5C3"/>
                </a:solidFill>
                <a:latin typeface="Arial" pitchFamily="34" charset="0"/>
                <a:ea typeface="Arial" pitchFamily="34" charset="-122"/>
                <a:cs typeface="Arial" pitchFamily="34" charset="-120"/>
              </a:rPr>
              <a:t>Earlier output is parsed again before the next pack reads it</a:t>
            </a:r>
            <a:endParaRPr lang="en-US" sz="1250" dirty="0"/>
          </a:p>
          <a:p>
            <a:pPr marL="177800" indent="-177800">
              <a:spcAft>
                <a:spcPts val="700"/>
              </a:spcAft>
              <a:buSzPct val="100000"/>
              <a:buChar char="•"/>
            </a:pPr>
            <a:r>
              <a:rPr lang="en-US" sz="1250" dirty="0">
                <a:solidFill>
                  <a:srgbClr val="AAB5C3"/>
                </a:solidFill>
                <a:latin typeface="Arial" pitchFamily="34" charset="0"/>
                <a:ea typeface="Arial" pitchFamily="34" charset="-122"/>
                <a:cs typeface="Arial" pitchFamily="34" charset="-120"/>
              </a:rPr>
              <a:t>After the last pack, the whole project is built with its own Maven reactors</a:t>
            </a:r>
            <a:endParaRPr lang="en-US" sz="1250" dirty="0"/>
          </a:p>
        </p:txBody>
      </p:sp>
      <p:sp>
        <p:nvSpPr>
          <p:cNvPr id="10" name="Shape 7"/>
          <p:cNvSpPr/>
          <p:nvPr/>
        </p:nvSpPr>
        <p:spPr>
          <a:xfrm>
            <a:off x="4322978" y="1600200"/>
            <a:ext cx="3545738" cy="3931920"/>
          </a:xfrm>
          <a:prstGeom prst="roundRect">
            <a:avLst>
              <a:gd name="adj" fmla="val 3095"/>
            </a:avLst>
          </a:prstGeom>
          <a:solidFill>
            <a:srgbClr val="121821">
              <a:alpha val="95000"/>
            </a:srgbClr>
          </a:solidFill>
          <a:ln w="9525">
            <a:solidFill>
              <a:srgbClr val="35D07F">
                <a:alpha val="40000"/>
              </a:srgbClr>
            </a:solidFill>
            <a:prstDash val="solid"/>
          </a:ln>
        </p:spPr>
      </p:sp>
      <p:sp>
        <p:nvSpPr>
          <p:cNvPr id="11" name="Shape 8"/>
          <p:cNvSpPr/>
          <p:nvPr/>
        </p:nvSpPr>
        <p:spPr>
          <a:xfrm>
            <a:off x="4597298" y="1874520"/>
            <a:ext cx="566928" cy="566928"/>
          </a:xfrm>
          <a:prstGeom prst="ellipse">
            <a:avLst/>
          </a:prstGeom>
          <a:solidFill>
            <a:srgbClr val="35D07F">
              <a:alpha val="16000"/>
            </a:srgbClr>
          </a:solidFill>
          <a:ln w="9525">
            <a:solidFill>
              <a:srgbClr val="35D07F">
                <a:alpha val="50000"/>
              </a:srgbClr>
            </a:solidFill>
            <a:prstDash val="solid"/>
          </a:ln>
        </p:spPr>
      </p:sp>
      <p:pic>
        <p:nvPicPr>
          <p:cNvPr id="12" name="Image 1" descr="/private/tmp/claude-501/-Users-raja-forge/826f4f3b-77e1-484d-8167-0e3b60d97c63/scratchpad/deck/assets/icons/LuListChecks-35D07F.png">    </p:cNvPr>
          <p:cNvPicPr>
            <a:picLocks noChangeAspect="1"/>
          </p:cNvPicPr>
          <p:nvPr/>
        </p:nvPicPr>
        <p:blipFill>
          <a:blip r:embed="rId2"/>
          <a:stretch>
            <a:fillRect/>
          </a:stretch>
        </p:blipFill>
        <p:spPr>
          <a:xfrm>
            <a:off x="4739030" y="2016252"/>
            <a:ext cx="283464" cy="283464"/>
          </a:xfrm>
          <a:prstGeom prst="rect">
            <a:avLst/>
          </a:prstGeom>
        </p:spPr>
      </p:pic>
      <p:sp>
        <p:nvSpPr>
          <p:cNvPr id="13" name="Text 9"/>
          <p:cNvSpPr txBox="1"/>
          <p:nvPr/>
        </p:nvSpPr>
        <p:spPr>
          <a:xfrm>
            <a:off x="5310530" y="1984248"/>
            <a:ext cx="2357018" cy="365760"/>
          </a:xfrm>
          <a:prstGeom prst="rect">
            <a:avLst/>
          </a:prstGeom>
          <a:noFill/>
          <a:ln/>
        </p:spPr>
        <p:txBody>
          <a:bodyPr wrap="square" lIns="0" tIns="0" rIns="0" bIns="0" rtlCol="0" anchor="t"/>
          <a:lstStyle/>
          <a:p>
            <a:pPr indent="0" marL="0">
              <a:buNone/>
            </a:pPr>
            <a:r>
              <a:rPr lang="en-US" sz="2000" b="1" dirty="0">
                <a:solidFill>
                  <a:srgbClr val="F3F5F8"/>
                </a:solidFill>
                <a:latin typeface="Arial" pitchFamily="34" charset="0"/>
                <a:ea typeface="Arial" pitchFamily="34" charset="-122"/>
                <a:cs typeface="Arial" pitchFamily="34" charset="-120"/>
              </a:rPr>
              <a:t>Acceptance</a:t>
            </a:r>
            <a:endParaRPr lang="en-US" sz="2000" dirty="0"/>
          </a:p>
        </p:txBody>
      </p:sp>
      <p:sp>
        <p:nvSpPr>
          <p:cNvPr id="14" name="Text 10"/>
          <p:cNvSpPr txBox="1"/>
          <p:nvPr/>
        </p:nvSpPr>
        <p:spPr>
          <a:xfrm>
            <a:off x="4597298" y="2651760"/>
            <a:ext cx="3042818" cy="822960"/>
          </a:xfrm>
          <a:prstGeom prst="rect">
            <a:avLst/>
          </a:prstGeom>
          <a:noFill/>
          <a:ln/>
        </p:spPr>
        <p:txBody>
          <a:bodyPr wrap="square" lIns="0" tIns="0" rIns="0" bIns="0" rtlCol="0" anchor="t"/>
          <a:lstStyle/>
          <a:p>
            <a:pPr indent="0" marL="0">
              <a:buNone/>
            </a:pPr>
            <a:r>
              <a:rPr lang="en-US" sz="1500" b="1" dirty="0">
                <a:solidFill>
                  <a:srgbClr val="35D07F"/>
                </a:solidFill>
                <a:latin typeface="Arial" pitchFamily="34" charset="0"/>
                <a:ea typeface="Arial" pitchFamily="34" charset="-122"/>
                <a:cs typeface="Arial" pitchFamily="34" charset="-120"/>
              </a:rPr>
              <a:t>A skipped check is not a pass.</a:t>
            </a:r>
            <a:endParaRPr lang="en-US" sz="1500" dirty="0"/>
          </a:p>
        </p:txBody>
      </p:sp>
      <p:sp>
        <p:nvSpPr>
          <p:cNvPr id="15" name="Text 11"/>
          <p:cNvSpPr txBox="1"/>
          <p:nvPr/>
        </p:nvSpPr>
        <p:spPr>
          <a:xfrm>
            <a:off x="4597298" y="3520440"/>
            <a:ext cx="3042818" cy="187452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AAB5C3"/>
                </a:solidFill>
                <a:latin typeface="Arial" pitchFamily="34" charset="0"/>
                <a:ea typeface="Arial" pitchFamily="34" charset="-122"/>
                <a:cs typeface="Arial" pitchFamily="34" charset="-120"/>
              </a:rPr>
              <a:t>Each pack declares mechanical checks: no_match, count_unchanged, test_parity, authz_parity, build</a:t>
            </a:r>
            <a:endParaRPr lang="en-US" sz="1250" dirty="0"/>
          </a:p>
          <a:p>
            <a:pPr marL="177800" indent="-177800">
              <a:spcAft>
                <a:spcPts val="700"/>
              </a:spcAft>
              <a:buSzPct val="100000"/>
              <a:buChar char="•"/>
            </a:pPr>
            <a:r>
              <a:rPr lang="en-US" sz="1250" dirty="0">
                <a:solidFill>
                  <a:srgbClr val="AAB5C3"/>
                </a:solidFill>
                <a:latin typeface="Arial" pitchFamily="34" charset="0"/>
                <a:ea typeface="Arial" pitchFamily="34" charset="-122"/>
                <a:cs typeface="Arial" pitchFamily="34" charset="-120"/>
              </a:rPr>
              <a:t>They run over the merged tree: the source with the migrated files laid on top</a:t>
            </a:r>
            <a:endParaRPr lang="en-US" sz="1250" dirty="0"/>
          </a:p>
          <a:p>
            <a:pPr marL="177800" indent="-177800">
              <a:spcAft>
                <a:spcPts val="700"/>
              </a:spcAft>
              <a:buSzPct val="100000"/>
              <a:buChar char="•"/>
            </a:pPr>
            <a:r>
              <a:rPr lang="en-US" sz="1250" dirty="0">
                <a:solidFill>
                  <a:srgbClr val="AAB5C3"/>
                </a:solidFill>
                <a:latin typeface="Arial" pitchFamily="34" charset="0"/>
                <a:ea typeface="Arial" pitchFamily="34" charset="-122"/>
                <a:cs typeface="Arial" pitchFamily="34" charset="-120"/>
              </a:rPr>
              <a:t>The verdict stays INCOMPLETE until every check runs, and the exit code gates CI</a:t>
            </a:r>
            <a:endParaRPr lang="en-US" sz="1250" dirty="0"/>
          </a:p>
        </p:txBody>
      </p:sp>
      <p:sp>
        <p:nvSpPr>
          <p:cNvPr id="16" name="Shape 12"/>
          <p:cNvSpPr/>
          <p:nvPr/>
        </p:nvSpPr>
        <p:spPr>
          <a:xfrm>
            <a:off x="8097317" y="1600200"/>
            <a:ext cx="3545738" cy="3931920"/>
          </a:xfrm>
          <a:prstGeom prst="roundRect">
            <a:avLst>
              <a:gd name="adj" fmla="val 3095"/>
            </a:avLst>
          </a:prstGeom>
          <a:solidFill>
            <a:srgbClr val="121821">
              <a:alpha val="95000"/>
            </a:srgbClr>
          </a:solidFill>
          <a:ln w="9525">
            <a:solidFill>
              <a:srgbClr val="B89CFF">
                <a:alpha val="40000"/>
              </a:srgbClr>
            </a:solidFill>
            <a:prstDash val="solid"/>
          </a:ln>
        </p:spPr>
      </p:sp>
      <p:sp>
        <p:nvSpPr>
          <p:cNvPr id="17" name="Shape 13"/>
          <p:cNvSpPr/>
          <p:nvPr/>
        </p:nvSpPr>
        <p:spPr>
          <a:xfrm>
            <a:off x="8371637" y="1874520"/>
            <a:ext cx="566928" cy="566928"/>
          </a:xfrm>
          <a:prstGeom prst="ellipse">
            <a:avLst/>
          </a:prstGeom>
          <a:solidFill>
            <a:srgbClr val="B89CFF">
              <a:alpha val="16000"/>
            </a:srgbClr>
          </a:solidFill>
          <a:ln w="9525">
            <a:solidFill>
              <a:srgbClr val="B89CFF">
                <a:alpha val="50000"/>
              </a:srgbClr>
            </a:solidFill>
            <a:prstDash val="solid"/>
          </a:ln>
        </p:spPr>
      </p:sp>
      <p:pic>
        <p:nvPicPr>
          <p:cNvPr id="18" name="Image 2" descr="/private/tmp/claude-501/-Users-raja-forge/826f4f3b-77e1-484d-8167-0e3b60d97c63/scratchpad/deck/assets/icons/LuFlaskConical-B89CFF.png">    </p:cNvPr>
          <p:cNvPicPr>
            <a:picLocks noChangeAspect="1"/>
          </p:cNvPicPr>
          <p:nvPr/>
        </p:nvPicPr>
        <p:blipFill>
          <a:blip r:embed="rId3"/>
          <a:stretch>
            <a:fillRect/>
          </a:stretch>
        </p:blipFill>
        <p:spPr>
          <a:xfrm>
            <a:off x="8513369" y="2016252"/>
            <a:ext cx="283464" cy="283464"/>
          </a:xfrm>
          <a:prstGeom prst="rect">
            <a:avLst/>
          </a:prstGeom>
        </p:spPr>
      </p:pic>
      <p:sp>
        <p:nvSpPr>
          <p:cNvPr id="19" name="Text 14"/>
          <p:cNvSpPr txBox="1"/>
          <p:nvPr/>
        </p:nvSpPr>
        <p:spPr>
          <a:xfrm>
            <a:off x="9084869" y="1984248"/>
            <a:ext cx="2357018" cy="365760"/>
          </a:xfrm>
          <a:prstGeom prst="rect">
            <a:avLst/>
          </a:prstGeom>
          <a:noFill/>
          <a:ln/>
        </p:spPr>
        <p:txBody>
          <a:bodyPr wrap="square" lIns="0" tIns="0" rIns="0" bIns="0" rtlCol="0" anchor="t"/>
          <a:lstStyle/>
          <a:p>
            <a:pPr indent="0" marL="0">
              <a:buNone/>
            </a:pPr>
            <a:r>
              <a:rPr lang="en-US" sz="2000" b="1" dirty="0">
                <a:solidFill>
                  <a:srgbClr val="F3F5F8"/>
                </a:solidFill>
                <a:latin typeface="Arial" pitchFamily="34" charset="0"/>
                <a:ea typeface="Arial" pitchFamily="34" charset="-122"/>
                <a:cs typeface="Arial" pitchFamily="34" charset="-120"/>
              </a:rPr>
              <a:t>Generated tests</a:t>
            </a:r>
            <a:endParaRPr lang="en-US" sz="2000" dirty="0"/>
          </a:p>
        </p:txBody>
      </p:sp>
      <p:sp>
        <p:nvSpPr>
          <p:cNvPr id="20" name="Text 15"/>
          <p:cNvSpPr txBox="1"/>
          <p:nvPr/>
        </p:nvSpPr>
        <p:spPr>
          <a:xfrm>
            <a:off x="8371637" y="2651760"/>
            <a:ext cx="3042818" cy="822960"/>
          </a:xfrm>
          <a:prstGeom prst="rect">
            <a:avLst/>
          </a:prstGeom>
          <a:noFill/>
          <a:ln/>
        </p:spPr>
        <p:txBody>
          <a:bodyPr wrap="square" lIns="0" tIns="0" rIns="0" bIns="0" rtlCol="0" anchor="t"/>
          <a:lstStyle/>
          <a:p>
            <a:pPr indent="0" marL="0">
              <a:buNone/>
            </a:pPr>
            <a:r>
              <a:rPr lang="en-US" sz="1500" b="1" dirty="0">
                <a:solidFill>
                  <a:srgbClr val="B89CFF"/>
                </a:solidFill>
                <a:latin typeface="Arial" pitchFamily="34" charset="0"/>
                <a:ea typeface="Arial" pitchFamily="34" charset="-122"/>
                <a:cs typeface="Arial" pitchFamily="34" charset="-120"/>
              </a:rPr>
              <a:t>JUnit 5 + Mockito for the classes the migration wrote.</a:t>
            </a:r>
            <a:endParaRPr lang="en-US" sz="1500" dirty="0"/>
          </a:p>
        </p:txBody>
      </p:sp>
      <p:sp>
        <p:nvSpPr>
          <p:cNvPr id="21" name="Text 16"/>
          <p:cNvSpPr txBox="1"/>
          <p:nvPr/>
        </p:nvSpPr>
        <p:spPr>
          <a:xfrm>
            <a:off x="8371637" y="3520440"/>
            <a:ext cx="3042818" cy="187452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AAB5C3"/>
                </a:solidFill>
                <a:latin typeface="Arial" pitchFamily="34" charset="0"/>
                <a:ea typeface="Arial" pitchFamily="34" charset="-122"/>
                <a:cs typeface="Arial" pitchFamily="34" charset="-120"/>
              </a:rPr>
              <a:t>Which classes get tests, and where they land, is decided in code</a:t>
            </a:r>
            <a:endParaRPr lang="en-US" sz="1250" dirty="0"/>
          </a:p>
          <a:p>
            <a:pPr marL="177800" indent="-177800">
              <a:spcAft>
                <a:spcPts val="700"/>
              </a:spcAft>
              <a:buSzPct val="100000"/>
              <a:buChar char="•"/>
            </a:pPr>
            <a:r>
              <a:rPr lang="en-US" sz="1250" dirty="0">
                <a:solidFill>
                  <a:srgbClr val="AAB5C3"/>
                </a:solidFill>
                <a:latin typeface="Arial" pitchFamily="34" charset="0"/>
                <a:ea typeface="Arial" pitchFamily="34" charset="-122"/>
                <a:cs typeface="Arial" pitchFamily="34" charset="-120"/>
              </a:rPr>
              <a:t>Never overwrites a test a human wrote</a:t>
            </a:r>
            <a:endParaRPr lang="en-US" sz="1250" dirty="0"/>
          </a:p>
          <a:p>
            <a:pPr marL="177800" indent="-177800">
              <a:spcAft>
                <a:spcPts val="700"/>
              </a:spcAft>
              <a:buSzPct val="100000"/>
              <a:buChar char="•"/>
            </a:pPr>
            <a:r>
              <a:rPr lang="en-US" sz="1250" dirty="0">
                <a:solidFill>
                  <a:srgbClr val="AAB5C3"/>
                </a:solidFill>
                <a:latin typeface="Arial" pitchFamily="34" charset="0"/>
                <a:ea typeface="Arial" pitchFamily="34" charset="-122"/>
                <a:cs typeface="Arial" pitchFamily="34" charset="-120"/>
              </a:rPr>
              <a:t>A failing test is staged, never written</a:t>
            </a:r>
            <a:endParaRPr lang="en-US" sz="1250" dirty="0"/>
          </a:p>
        </p:txBody>
      </p:sp>
      <p:sp>
        <p:nvSpPr>
          <p:cNvPr id="22" name="Text 17"/>
          <p:cNvSpPr txBox="1"/>
          <p:nvPr/>
        </p:nvSpPr>
        <p:spPr>
          <a:xfrm>
            <a:off x="548640" y="5760720"/>
            <a:ext cx="11094415" cy="292608"/>
          </a:xfrm>
          <a:prstGeom prst="rect">
            <a:avLst/>
          </a:prstGeom>
          <a:noFill/>
          <a:ln/>
        </p:spPr>
        <p:txBody>
          <a:bodyPr wrap="square" lIns="0" tIns="0" rIns="0" bIns="0" rtlCol="0" anchor="t"/>
          <a:lstStyle/>
          <a:p>
            <a:pPr indent="0" marL="0">
              <a:buNone/>
            </a:pPr>
            <a:r>
              <a:rPr lang="en-US" sz="1300" i="1" dirty="0">
                <a:solidFill>
                  <a:srgbClr val="AAB5C3"/>
                </a:solidFill>
                <a:latin typeface="Arial" pitchFamily="34" charset="0"/>
                <a:ea typeface="Arial" pitchFamily="34" charset="-122"/>
                <a:cs typeface="Arial" pitchFamily="34" charset="-120"/>
              </a:rPr>
              <a:t>Three layers of proof, and none of them is a model’s opinion.</a:t>
            </a:r>
            <a:endParaRPr lang="en-US" sz="1300" dirty="0"/>
          </a:p>
        </p:txBody>
      </p:sp>
      <p:sp>
        <p:nvSpPr>
          <p:cNvPr id="23" name="Text 18"/>
          <p:cNvSpPr txBox="1"/>
          <p:nvPr/>
        </p:nvSpPr>
        <p:spPr>
          <a:xfrm>
            <a:off x="548640" y="6455664"/>
            <a:ext cx="5486400" cy="219456"/>
          </a:xfrm>
          <a:prstGeom prst="rect">
            <a:avLst/>
          </a:prstGeom>
          <a:noFill/>
          <a:ln/>
        </p:spPr>
        <p:txBody>
          <a:bodyPr wrap="square" lIns="0" tIns="0" rIns="0" bIns="0" rtlCol="0" anchor="t"/>
          <a:lstStyle/>
          <a:p>
            <a:pPr indent="0" marL="0">
              <a:buNone/>
            </a:pPr>
            <a:r>
              <a:rPr lang="en-US" sz="900" dirty="0">
                <a:solidFill>
                  <a:srgbClr val="738191"/>
                </a:solidFill>
                <a:latin typeface="Arial" pitchFamily="34" charset="0"/>
                <a:ea typeface="Arial" pitchFamily="34" charset="-122"/>
                <a:cs typeface="Arial" pitchFamily="34" charset="-120"/>
              </a:rPr>
              <a:t>FORGE  ·  Software Development Conference 2026</a:t>
            </a:r>
            <a:endParaRPr lang="en-US" sz="900" dirty="0"/>
          </a:p>
        </p:txBody>
      </p:sp>
      <p:sp>
        <p:nvSpPr>
          <p:cNvPr id="24" name="Text 19"/>
          <p:cNvSpPr txBox="1"/>
          <p:nvPr/>
        </p:nvSpPr>
        <p:spPr>
          <a:xfrm>
            <a:off x="11094415" y="6455664"/>
            <a:ext cx="548640" cy="219456"/>
          </a:xfrm>
          <a:prstGeom prst="rect">
            <a:avLst/>
          </a:prstGeom>
          <a:noFill/>
          <a:ln/>
        </p:spPr>
        <p:txBody>
          <a:bodyPr wrap="square" lIns="0" tIns="0" rIns="0" bIns="0" rtlCol="0" anchor="t"/>
          <a:lstStyle/>
          <a:p>
            <a:pPr algn="r" indent="0" marL="0">
              <a:buNone/>
            </a:pPr>
            <a:r>
              <a:rPr lang="en-US" sz="900" dirty="0">
                <a:solidFill>
                  <a:srgbClr val="738191"/>
                </a:solidFill>
                <a:latin typeface="Arial" pitchFamily="34" charset="0"/>
                <a:ea typeface="Arial" pitchFamily="34" charset="-122"/>
                <a:cs typeface="Arial"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t"/>
          <a:lstStyle/>
          <a:p>
            <a:pPr indent="0" marL="0">
              <a:buNone/>
            </a:pPr>
            <a:r>
              <a:rPr lang="en-US" sz="1100" b="1" spc="300" kern="0" dirty="0">
                <a:solidFill>
                  <a:srgbClr val="FF6A2B"/>
                </a:solidFill>
                <a:latin typeface="Arial" pitchFamily="34" charset="0"/>
                <a:ea typeface="Arial" pitchFamily="34" charset="-122"/>
                <a:cs typeface="Arial" pitchFamily="34" charset="-120"/>
              </a:rPr>
              <a:t>05  ·  PROOF &amp; OPERATIONS</a:t>
            </a:r>
            <a:endParaRPr lang="en-US" sz="1100" dirty="0"/>
          </a:p>
        </p:txBody>
      </p:sp>
      <p:sp>
        <p:nvSpPr>
          <p:cNvPr id="3" name="Text 1"/>
          <p:cNvSpPr txBox="1"/>
          <p:nvPr/>
        </p:nvSpPr>
        <p:spPr>
          <a:xfrm>
            <a:off x="548640" y="676656"/>
            <a:ext cx="11094415" cy="658368"/>
          </a:xfrm>
          <a:prstGeom prst="rect">
            <a:avLst/>
          </a:prstGeom>
          <a:noFill/>
          <a:ln/>
        </p:spPr>
        <p:txBody>
          <a:bodyPr wrap="square" lIns="0" tIns="0" rIns="0" bIns="0" rtlCol="0" anchor="t"/>
          <a:lstStyle/>
          <a:p>
            <a:pPr indent="0" marL="0">
              <a:buNone/>
            </a:pPr>
            <a:r>
              <a:rPr lang="en-US" sz="3200" b="1" dirty="0">
                <a:solidFill>
                  <a:srgbClr val="F3F5F8"/>
                </a:solidFill>
                <a:latin typeface="Arial" pitchFamily="34" charset="0"/>
                <a:ea typeface="Arial" pitchFamily="34" charset="-122"/>
                <a:cs typeface="Arial" pitchFamily="34" charset="-120"/>
              </a:rPr>
              <a:t>From run to pull request, one click at a time</a:t>
            </a:r>
            <a:endParaRPr lang="en-US" sz="3200" dirty="0"/>
          </a:p>
        </p:txBody>
      </p:sp>
      <p:sp>
        <p:nvSpPr>
          <p:cNvPr id="4" name="Text 2"/>
          <p:cNvSpPr txBox="1"/>
          <p:nvPr/>
        </p:nvSpPr>
        <p:spPr>
          <a:xfrm>
            <a:off x="548640" y="1316736"/>
            <a:ext cx="10607040" cy="512064"/>
          </a:xfrm>
          <a:prstGeom prst="rect">
            <a:avLst/>
          </a:prstGeom>
          <a:noFill/>
          <a:ln/>
        </p:spPr>
        <p:txBody>
          <a:bodyPr wrap="square" lIns="0" tIns="0" rIns="0" bIns="0" rtlCol="0" anchor="t"/>
          <a:lstStyle/>
          <a:p>
            <a:pPr indent="0" marL="0">
              <a:lnSpc>
                <a:spcPct val="105000"/>
              </a:lnSpc>
              <a:buNone/>
            </a:pPr>
            <a:r>
              <a:rPr lang="en-US" sz="1500" dirty="0">
                <a:solidFill>
                  <a:srgbClr val="AAB5C3"/>
                </a:solidFill>
                <a:latin typeface="Arial" pitchFamily="34" charset="0"/>
                <a:ea typeface="Arial" pitchFamily="34" charset="-122"/>
                <a:cs typeface="Arial" pitchFamily="34" charset="-120"/>
              </a:rPr>
              <a:t>The build runs by itself after the last pack. Landing and publishing each wait for your click.</a:t>
            </a:r>
            <a:endParaRPr lang="en-US" sz="1500" dirty="0"/>
          </a:p>
        </p:txBody>
      </p:sp>
      <p:sp>
        <p:nvSpPr>
          <p:cNvPr id="5" name="Shape 3"/>
          <p:cNvSpPr/>
          <p:nvPr/>
        </p:nvSpPr>
        <p:spPr>
          <a:xfrm>
            <a:off x="548640" y="2011680"/>
            <a:ext cx="3393338" cy="3063240"/>
          </a:xfrm>
          <a:prstGeom prst="roundRect">
            <a:avLst>
              <a:gd name="adj" fmla="val 3582"/>
            </a:avLst>
          </a:prstGeom>
          <a:solidFill>
            <a:srgbClr val="121821">
              <a:alpha val="95000"/>
            </a:srgbClr>
          </a:solidFill>
          <a:ln w="9525">
            <a:solidFill>
              <a:srgbClr val="5EB1FF">
                <a:alpha val="45000"/>
              </a:srgbClr>
            </a:solidFill>
            <a:prstDash val="solid"/>
          </a:ln>
        </p:spPr>
      </p:sp>
      <p:sp>
        <p:nvSpPr>
          <p:cNvPr id="6" name="Shape 4"/>
          <p:cNvSpPr/>
          <p:nvPr/>
        </p:nvSpPr>
        <p:spPr>
          <a:xfrm>
            <a:off x="804672" y="2267712"/>
            <a:ext cx="548640" cy="548640"/>
          </a:xfrm>
          <a:prstGeom prst="ellipse">
            <a:avLst/>
          </a:prstGeom>
          <a:solidFill>
            <a:srgbClr val="5EB1FF">
              <a:alpha val="16000"/>
            </a:srgbClr>
          </a:solidFill>
          <a:ln w="9525">
            <a:solidFill>
              <a:srgbClr val="5EB1FF">
                <a:alpha val="50000"/>
              </a:srgbClr>
            </a:solidFill>
            <a:prstDash val="solid"/>
          </a:ln>
        </p:spPr>
      </p:sp>
      <p:pic>
        <p:nvPicPr>
          <p:cNvPr id="7" name="Image 0" descr="/private/tmp/claude-501/-Users-raja-forge/826f4f3b-77e1-484d-8167-0e3b60d97c63/scratchpad/deck/assets/icons/LuHammer-5EB1FF.png">    </p:cNvPr>
          <p:cNvPicPr>
            <a:picLocks noChangeAspect="1"/>
          </p:cNvPicPr>
          <p:nvPr/>
        </p:nvPicPr>
        <p:blipFill>
          <a:blip r:embed="rId1"/>
          <a:stretch>
            <a:fillRect/>
          </a:stretch>
        </p:blipFill>
        <p:spPr>
          <a:xfrm>
            <a:off x="941832" y="2404872"/>
            <a:ext cx="274320" cy="274320"/>
          </a:xfrm>
          <a:prstGeom prst="rect">
            <a:avLst/>
          </a:prstGeom>
        </p:spPr>
      </p:pic>
      <p:sp>
        <p:nvSpPr>
          <p:cNvPr id="8" name="Text 5"/>
          <p:cNvSpPr txBox="1"/>
          <p:nvPr/>
        </p:nvSpPr>
        <p:spPr>
          <a:xfrm>
            <a:off x="1481328" y="2286000"/>
            <a:ext cx="2296058" cy="219456"/>
          </a:xfrm>
          <a:prstGeom prst="rect">
            <a:avLst/>
          </a:prstGeom>
          <a:noFill/>
          <a:ln/>
        </p:spPr>
        <p:txBody>
          <a:bodyPr wrap="square" lIns="0" tIns="0" rIns="0" bIns="0" rtlCol="0" anchor="t"/>
          <a:lstStyle/>
          <a:p>
            <a:pPr indent="0" marL="0">
              <a:buNone/>
            </a:pPr>
            <a:r>
              <a:rPr lang="en-US" sz="1050" b="1" spc="200" kern="0" dirty="0">
                <a:solidFill>
                  <a:srgbClr val="5EB1FF"/>
                </a:solidFill>
                <a:latin typeface="Arial" pitchFamily="34" charset="0"/>
                <a:ea typeface="Arial" pitchFamily="34" charset="-122"/>
                <a:cs typeface="Arial" pitchFamily="34" charset="-120"/>
              </a:rPr>
              <a:t>1  ·  BUILD</a:t>
            </a:r>
            <a:endParaRPr lang="en-US" sz="1050" dirty="0"/>
          </a:p>
        </p:txBody>
      </p:sp>
      <p:sp>
        <p:nvSpPr>
          <p:cNvPr id="9" name="Text 6"/>
          <p:cNvSpPr txBox="1"/>
          <p:nvPr/>
        </p:nvSpPr>
        <p:spPr>
          <a:xfrm>
            <a:off x="1481328" y="2514600"/>
            <a:ext cx="2296058" cy="329184"/>
          </a:xfrm>
          <a:prstGeom prst="rect">
            <a:avLst/>
          </a:prstGeom>
          <a:noFill/>
          <a:ln/>
        </p:spPr>
        <p:txBody>
          <a:bodyPr wrap="square" lIns="0" tIns="0" rIns="0" bIns="0" rtlCol="0" anchor="t"/>
          <a:lstStyle/>
          <a:p>
            <a:pPr indent="0" marL="0">
              <a:buNone/>
            </a:pPr>
            <a:r>
              <a:rPr lang="en-US" sz="1600" b="1" dirty="0">
                <a:solidFill>
                  <a:srgbClr val="F3F5F8"/>
                </a:solidFill>
                <a:latin typeface="Arial" pitchFamily="34" charset="0"/>
                <a:ea typeface="Arial" pitchFamily="34" charset="-122"/>
                <a:cs typeface="Arial" pitchFamily="34" charset="-120"/>
              </a:rPr>
              <a:t>Build the project</a:t>
            </a:r>
            <a:endParaRPr lang="en-US" sz="1600" dirty="0"/>
          </a:p>
        </p:txBody>
      </p:sp>
      <p:sp>
        <p:nvSpPr>
          <p:cNvPr id="10" name="Text 7"/>
          <p:cNvSpPr txBox="1"/>
          <p:nvPr/>
        </p:nvSpPr>
        <p:spPr>
          <a:xfrm>
            <a:off x="804672" y="3063240"/>
            <a:ext cx="2936138" cy="118872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AAB5C3"/>
                </a:solidFill>
                <a:latin typeface="Arial" pitchFamily="34" charset="0"/>
                <a:ea typeface="Arial" pitchFamily="34" charset="-122"/>
                <a:cs typeface="Arial" pitchFamily="34" charset="-120"/>
              </a:rPr>
              <a:t>Your source with the migrated files laid over it, built by the project’s own Maven reactors</a:t>
            </a:r>
            <a:endParaRPr lang="en-US" sz="1250" dirty="0"/>
          </a:p>
          <a:p>
            <a:pPr marL="177800" indent="-177800">
              <a:spcAft>
                <a:spcPts val="700"/>
              </a:spcAft>
              <a:buSzPct val="100000"/>
              <a:buChar char="•"/>
            </a:pPr>
            <a:r>
              <a:rPr lang="en-US" sz="1250" dirty="0">
                <a:solidFill>
                  <a:srgbClr val="AAB5C3"/>
                </a:solidFill>
                <a:latin typeface="Arial" pitchFamily="34" charset="0"/>
                <a:ea typeface="Arial" pitchFamily="34" charset="-122"/>
                <a:cs typeface="Arial" pitchFamily="34" charset="-120"/>
              </a:rPr>
              <a:t>Runs by itself after the last pack</a:t>
            </a:r>
            <a:endParaRPr lang="en-US" sz="1250" dirty="0"/>
          </a:p>
        </p:txBody>
      </p:sp>
      <p:sp>
        <p:nvSpPr>
          <p:cNvPr id="11" name="Shape 8"/>
          <p:cNvSpPr/>
          <p:nvPr/>
        </p:nvSpPr>
        <p:spPr>
          <a:xfrm>
            <a:off x="3996842" y="3543300"/>
            <a:ext cx="347472" cy="0"/>
          </a:xfrm>
          <a:prstGeom prst="line">
            <a:avLst/>
          </a:prstGeom>
          <a:noFill/>
          <a:ln w="22225">
            <a:solidFill>
              <a:srgbClr val="738191"/>
            </a:solidFill>
            <a:prstDash val="solid"/>
            <a:tailEnd type="triangle"/>
          </a:ln>
        </p:spPr>
      </p:sp>
      <p:sp>
        <p:nvSpPr>
          <p:cNvPr id="12" name="Shape 9"/>
          <p:cNvSpPr/>
          <p:nvPr/>
        </p:nvSpPr>
        <p:spPr>
          <a:xfrm>
            <a:off x="4399178" y="2011680"/>
            <a:ext cx="3393338" cy="3063240"/>
          </a:xfrm>
          <a:prstGeom prst="roundRect">
            <a:avLst>
              <a:gd name="adj" fmla="val 3582"/>
            </a:avLst>
          </a:prstGeom>
          <a:solidFill>
            <a:srgbClr val="121821">
              <a:alpha val="95000"/>
            </a:srgbClr>
          </a:solidFill>
          <a:ln w="9525">
            <a:solidFill>
              <a:srgbClr val="35D07F">
                <a:alpha val="45000"/>
              </a:srgbClr>
            </a:solidFill>
            <a:prstDash val="solid"/>
          </a:ln>
        </p:spPr>
      </p:sp>
      <p:sp>
        <p:nvSpPr>
          <p:cNvPr id="13" name="Shape 10"/>
          <p:cNvSpPr/>
          <p:nvPr/>
        </p:nvSpPr>
        <p:spPr>
          <a:xfrm>
            <a:off x="4655210" y="2267712"/>
            <a:ext cx="548640" cy="548640"/>
          </a:xfrm>
          <a:prstGeom prst="ellipse">
            <a:avLst/>
          </a:prstGeom>
          <a:solidFill>
            <a:srgbClr val="35D07F">
              <a:alpha val="16000"/>
            </a:srgbClr>
          </a:solidFill>
          <a:ln w="9525">
            <a:solidFill>
              <a:srgbClr val="35D07F">
                <a:alpha val="50000"/>
              </a:srgbClr>
            </a:solidFill>
            <a:prstDash val="solid"/>
          </a:ln>
        </p:spPr>
      </p:sp>
      <p:pic>
        <p:nvPicPr>
          <p:cNvPr id="14" name="Image 1" descr="/private/tmp/claude-501/-Users-raja-forge/826f4f3b-77e1-484d-8167-0e3b60d97c63/scratchpad/deck/assets/icons/LuGitBranch-35D07F.png">    </p:cNvPr>
          <p:cNvPicPr>
            <a:picLocks noChangeAspect="1"/>
          </p:cNvPicPr>
          <p:nvPr/>
        </p:nvPicPr>
        <p:blipFill>
          <a:blip r:embed="rId2"/>
          <a:stretch>
            <a:fillRect/>
          </a:stretch>
        </p:blipFill>
        <p:spPr>
          <a:xfrm>
            <a:off x="4792370" y="2404872"/>
            <a:ext cx="274320" cy="274320"/>
          </a:xfrm>
          <a:prstGeom prst="rect">
            <a:avLst/>
          </a:prstGeom>
        </p:spPr>
      </p:pic>
      <p:sp>
        <p:nvSpPr>
          <p:cNvPr id="15" name="Text 11"/>
          <p:cNvSpPr txBox="1"/>
          <p:nvPr/>
        </p:nvSpPr>
        <p:spPr>
          <a:xfrm>
            <a:off x="5331866" y="2286000"/>
            <a:ext cx="2296058" cy="219456"/>
          </a:xfrm>
          <a:prstGeom prst="rect">
            <a:avLst/>
          </a:prstGeom>
          <a:noFill/>
          <a:ln/>
        </p:spPr>
        <p:txBody>
          <a:bodyPr wrap="square" lIns="0" tIns="0" rIns="0" bIns="0" rtlCol="0" anchor="t"/>
          <a:lstStyle/>
          <a:p>
            <a:pPr indent="0" marL="0">
              <a:buNone/>
            </a:pPr>
            <a:r>
              <a:rPr lang="en-US" sz="1050" b="1" spc="200" kern="0" dirty="0">
                <a:solidFill>
                  <a:srgbClr val="35D07F"/>
                </a:solidFill>
                <a:latin typeface="Arial" pitchFamily="34" charset="0"/>
                <a:ea typeface="Arial" pitchFamily="34" charset="-122"/>
                <a:cs typeface="Arial" pitchFamily="34" charset="-120"/>
              </a:rPr>
              <a:t>2  ·  LAND</a:t>
            </a:r>
            <a:endParaRPr lang="en-US" sz="1050" dirty="0"/>
          </a:p>
        </p:txBody>
      </p:sp>
      <p:sp>
        <p:nvSpPr>
          <p:cNvPr id="16" name="Text 12"/>
          <p:cNvSpPr txBox="1"/>
          <p:nvPr/>
        </p:nvSpPr>
        <p:spPr>
          <a:xfrm>
            <a:off x="5331866" y="2514600"/>
            <a:ext cx="2296058" cy="329184"/>
          </a:xfrm>
          <a:prstGeom prst="rect">
            <a:avLst/>
          </a:prstGeom>
          <a:noFill/>
          <a:ln/>
        </p:spPr>
        <p:txBody>
          <a:bodyPr wrap="square" lIns="0" tIns="0" rIns="0" bIns="0" rtlCol="0" anchor="t"/>
          <a:lstStyle/>
          <a:p>
            <a:pPr indent="0" marL="0">
              <a:buNone/>
            </a:pPr>
            <a:r>
              <a:rPr lang="en-US" sz="1600" b="1" dirty="0">
                <a:solidFill>
                  <a:srgbClr val="F3F5F8"/>
                </a:solidFill>
                <a:latin typeface="Arial" pitchFamily="34" charset="0"/>
                <a:ea typeface="Arial" pitchFamily="34" charset="-122"/>
                <a:cs typeface="Arial" pitchFamily="34" charset="-120"/>
              </a:rPr>
              <a:t>Land on a branch</a:t>
            </a:r>
            <a:endParaRPr lang="en-US" sz="1600" dirty="0"/>
          </a:p>
        </p:txBody>
      </p:sp>
      <p:sp>
        <p:nvSpPr>
          <p:cNvPr id="17" name="Text 13"/>
          <p:cNvSpPr txBox="1"/>
          <p:nvPr/>
        </p:nvSpPr>
        <p:spPr>
          <a:xfrm>
            <a:off x="4655210" y="3063240"/>
            <a:ext cx="2936138" cy="118872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AAB5C3"/>
                </a:solidFill>
                <a:latin typeface="Arial" pitchFamily="34" charset="0"/>
                <a:ea typeface="Arial" pitchFamily="34" charset="-122"/>
                <a:cs typeface="Arial" pitchFamily="34" charset="-120"/>
              </a:rPr>
              <a:t>One new branch, one commit: only files a run recorded or a human approved</a:t>
            </a:r>
            <a:endParaRPr lang="en-US" sz="1250" dirty="0"/>
          </a:p>
          <a:p>
            <a:pPr marL="177800" indent="-177800">
              <a:spcAft>
                <a:spcPts val="700"/>
              </a:spcAft>
              <a:buSzPct val="100000"/>
              <a:buChar char="•"/>
            </a:pPr>
            <a:r>
              <a:rPr lang="en-US" sz="1250" dirty="0">
                <a:solidFill>
                  <a:srgbClr val="AAB5C3"/>
                </a:solidFill>
                <a:latin typeface="Arial" pitchFamily="34" charset="0"/>
                <a:ea typeface="Arial" pitchFamily="34" charset="-122"/>
                <a:cs typeface="Arial" pitchFamily="34" charset="-120"/>
              </a:rPr>
              <a:t>Refuses a dirty tree or an existing branch; never stashes, never forces</a:t>
            </a:r>
            <a:endParaRPr lang="en-US" sz="1250" dirty="0"/>
          </a:p>
        </p:txBody>
      </p:sp>
      <p:sp>
        <p:nvSpPr>
          <p:cNvPr id="18" name="Shape 14"/>
          <p:cNvSpPr/>
          <p:nvPr/>
        </p:nvSpPr>
        <p:spPr>
          <a:xfrm>
            <a:off x="7847381" y="3543300"/>
            <a:ext cx="347472" cy="0"/>
          </a:xfrm>
          <a:prstGeom prst="line">
            <a:avLst/>
          </a:prstGeom>
          <a:noFill/>
          <a:ln w="22225">
            <a:solidFill>
              <a:srgbClr val="738191"/>
            </a:solidFill>
            <a:prstDash val="solid"/>
            <a:tailEnd type="triangle"/>
          </a:ln>
        </p:spPr>
      </p:sp>
      <p:sp>
        <p:nvSpPr>
          <p:cNvPr id="19" name="Shape 15"/>
          <p:cNvSpPr/>
          <p:nvPr/>
        </p:nvSpPr>
        <p:spPr>
          <a:xfrm>
            <a:off x="8249717" y="2011680"/>
            <a:ext cx="3393338" cy="3063240"/>
          </a:xfrm>
          <a:prstGeom prst="roundRect">
            <a:avLst>
              <a:gd name="adj" fmla="val 3582"/>
            </a:avLst>
          </a:prstGeom>
          <a:solidFill>
            <a:srgbClr val="121821">
              <a:alpha val="95000"/>
            </a:srgbClr>
          </a:solidFill>
          <a:ln w="9525">
            <a:solidFill>
              <a:srgbClr val="B89CFF">
                <a:alpha val="45000"/>
              </a:srgbClr>
            </a:solidFill>
            <a:prstDash val="solid"/>
          </a:ln>
        </p:spPr>
      </p:sp>
      <p:sp>
        <p:nvSpPr>
          <p:cNvPr id="20" name="Shape 16"/>
          <p:cNvSpPr/>
          <p:nvPr/>
        </p:nvSpPr>
        <p:spPr>
          <a:xfrm>
            <a:off x="8505749" y="2267712"/>
            <a:ext cx="548640" cy="548640"/>
          </a:xfrm>
          <a:prstGeom prst="ellipse">
            <a:avLst/>
          </a:prstGeom>
          <a:solidFill>
            <a:srgbClr val="B89CFF">
              <a:alpha val="16000"/>
            </a:srgbClr>
          </a:solidFill>
          <a:ln w="9525">
            <a:solidFill>
              <a:srgbClr val="B89CFF">
                <a:alpha val="50000"/>
              </a:srgbClr>
            </a:solidFill>
            <a:prstDash val="solid"/>
          </a:ln>
        </p:spPr>
      </p:sp>
      <p:pic>
        <p:nvPicPr>
          <p:cNvPr id="21" name="Image 2" descr="/private/tmp/claude-501/-Users-raja-forge/826f4f3b-77e1-484d-8167-0e3b60d97c63/scratchpad/deck/assets/icons/LuGitPullRequest-B89CFF.png">    </p:cNvPr>
          <p:cNvPicPr>
            <a:picLocks noChangeAspect="1"/>
          </p:cNvPicPr>
          <p:nvPr/>
        </p:nvPicPr>
        <p:blipFill>
          <a:blip r:embed="rId3"/>
          <a:stretch>
            <a:fillRect/>
          </a:stretch>
        </p:blipFill>
        <p:spPr>
          <a:xfrm>
            <a:off x="8642909" y="2404872"/>
            <a:ext cx="274320" cy="274320"/>
          </a:xfrm>
          <a:prstGeom prst="rect">
            <a:avLst/>
          </a:prstGeom>
        </p:spPr>
      </p:pic>
      <p:sp>
        <p:nvSpPr>
          <p:cNvPr id="22" name="Text 17"/>
          <p:cNvSpPr txBox="1"/>
          <p:nvPr/>
        </p:nvSpPr>
        <p:spPr>
          <a:xfrm>
            <a:off x="9182405" y="2286000"/>
            <a:ext cx="2296058" cy="219456"/>
          </a:xfrm>
          <a:prstGeom prst="rect">
            <a:avLst/>
          </a:prstGeom>
          <a:noFill/>
          <a:ln/>
        </p:spPr>
        <p:txBody>
          <a:bodyPr wrap="square" lIns="0" tIns="0" rIns="0" bIns="0" rtlCol="0" anchor="t"/>
          <a:lstStyle/>
          <a:p>
            <a:pPr indent="0" marL="0">
              <a:buNone/>
            </a:pPr>
            <a:r>
              <a:rPr lang="en-US" sz="1050" b="1" spc="200" kern="0" dirty="0">
                <a:solidFill>
                  <a:srgbClr val="B89CFF"/>
                </a:solidFill>
                <a:latin typeface="Arial" pitchFamily="34" charset="0"/>
                <a:ea typeface="Arial" pitchFamily="34" charset="-122"/>
                <a:cs typeface="Arial" pitchFamily="34" charset="-120"/>
              </a:rPr>
              <a:t>3  ·  PUBLISH</a:t>
            </a:r>
            <a:endParaRPr lang="en-US" sz="1050" dirty="0"/>
          </a:p>
        </p:txBody>
      </p:sp>
      <p:sp>
        <p:nvSpPr>
          <p:cNvPr id="23" name="Text 18"/>
          <p:cNvSpPr txBox="1"/>
          <p:nvPr/>
        </p:nvSpPr>
        <p:spPr>
          <a:xfrm>
            <a:off x="9182405" y="2514600"/>
            <a:ext cx="2296058" cy="329184"/>
          </a:xfrm>
          <a:prstGeom prst="rect">
            <a:avLst/>
          </a:prstGeom>
          <a:noFill/>
          <a:ln/>
        </p:spPr>
        <p:txBody>
          <a:bodyPr wrap="square" lIns="0" tIns="0" rIns="0" bIns="0" rtlCol="0" anchor="t"/>
          <a:lstStyle/>
          <a:p>
            <a:pPr indent="0" marL="0">
              <a:buNone/>
            </a:pPr>
            <a:r>
              <a:rPr lang="en-US" sz="1600" b="1" dirty="0">
                <a:solidFill>
                  <a:srgbClr val="F3F5F8"/>
                </a:solidFill>
                <a:latin typeface="Arial" pitchFamily="34" charset="0"/>
                <a:ea typeface="Arial" pitchFamily="34" charset="-122"/>
                <a:cs typeface="Arial" pitchFamily="34" charset="-120"/>
              </a:rPr>
              <a:t>Open a pull request</a:t>
            </a:r>
            <a:endParaRPr lang="en-US" sz="1600" dirty="0"/>
          </a:p>
        </p:txBody>
      </p:sp>
      <p:sp>
        <p:nvSpPr>
          <p:cNvPr id="24" name="Text 19"/>
          <p:cNvSpPr txBox="1"/>
          <p:nvPr/>
        </p:nvSpPr>
        <p:spPr>
          <a:xfrm>
            <a:off x="8505749" y="3063240"/>
            <a:ext cx="2936138" cy="118872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AAB5C3"/>
                </a:solidFill>
                <a:latin typeface="Arial" pitchFamily="34" charset="0"/>
                <a:ea typeface="Arial" pitchFamily="34" charset="-122"/>
                <a:cs typeface="Arial" pitchFamily="34" charset="-120"/>
              </a:rPr>
              <a:t>Only on your click: push this branch, never forced, then gh pr create</a:t>
            </a:r>
            <a:endParaRPr lang="en-US" sz="1250" dirty="0"/>
          </a:p>
          <a:p>
            <a:pPr marL="177800" indent="-177800">
              <a:spcAft>
                <a:spcPts val="700"/>
              </a:spcAft>
              <a:buSzPct val="100000"/>
              <a:buChar char="•"/>
            </a:pPr>
            <a:r>
              <a:rPr lang="en-US" sz="1250" dirty="0">
                <a:solidFill>
                  <a:srgbClr val="AAB5C3"/>
                </a:solidFill>
                <a:latin typeface="Arial" pitchFamily="34" charset="0"/>
                <a:ea typeface="Arial" pitchFamily="34" charset="-122"/>
                <a:cs typeface="Arial" pitchFamily="34" charset="-120"/>
              </a:rPr>
              <a:t>The description comes from FORGE’s records, never from source, diffs or compiler output</a:t>
            </a:r>
            <a:endParaRPr lang="en-US" sz="1250" dirty="0"/>
          </a:p>
        </p:txBody>
      </p:sp>
      <p:sp>
        <p:nvSpPr>
          <p:cNvPr id="25" name="Text 20"/>
          <p:cNvSpPr txBox="1"/>
          <p:nvPr/>
        </p:nvSpPr>
        <p:spPr>
          <a:xfrm>
            <a:off x="804672" y="4270248"/>
            <a:ext cx="2926080" cy="237744"/>
          </a:xfrm>
          <a:prstGeom prst="rect">
            <a:avLst/>
          </a:prstGeom>
          <a:noFill/>
          <a:ln/>
        </p:spPr>
        <p:txBody>
          <a:bodyPr wrap="square" lIns="0" tIns="0" rIns="0" bIns="0" rtlCol="0" anchor="t"/>
          <a:lstStyle/>
          <a:p>
            <a:pPr indent="0" marL="0">
              <a:buNone/>
            </a:pPr>
            <a:r>
              <a:rPr lang="en-US" sz="1050" dirty="0">
                <a:solidFill>
                  <a:srgbClr val="738191"/>
                </a:solidFill>
                <a:latin typeface="Arial" pitchFamily="34" charset="0"/>
                <a:ea typeface="Arial" pitchFamily="34" charset="-122"/>
                <a:cs typeface="Arial" pitchFamily="34" charset="-120"/>
              </a:rPr>
              <a:t>The landing card shows the verdict:</a:t>
            </a:r>
            <a:endParaRPr lang="en-US" sz="1050" dirty="0"/>
          </a:p>
        </p:txBody>
      </p:sp>
      <p:sp>
        <p:nvSpPr>
          <p:cNvPr id="26" name="Text 21"/>
          <p:cNvSpPr txBox="1"/>
          <p:nvPr/>
        </p:nvSpPr>
        <p:spPr>
          <a:xfrm>
            <a:off x="804672" y="4572000"/>
            <a:ext cx="658368" cy="274320"/>
          </a:xfrm>
          <a:prstGeom prst="roundRect">
            <a:avLst>
              <a:gd name="adj" fmla="val 50000"/>
            </a:avLst>
          </a:prstGeom>
          <a:solidFill>
            <a:srgbClr val="35D07F">
              <a:alpha val="20000"/>
            </a:srgbClr>
          </a:solidFill>
          <a:ln w="9525">
            <a:solidFill>
              <a:srgbClr val="35D07F">
                <a:alpha val="55000"/>
              </a:srgbClr>
            </a:solidFill>
          </a:ln>
        </p:spPr>
        <p:txBody>
          <a:bodyPr wrap="square" lIns="0" tIns="0" rIns="0" bIns="0" rtlCol="0" anchor="ctr"/>
          <a:lstStyle/>
          <a:p>
            <a:pPr algn="ctr" indent="0" marL="0">
              <a:buNone/>
            </a:pPr>
            <a:r>
              <a:rPr lang="en-US" sz="1000" b="1" dirty="0">
                <a:solidFill>
                  <a:srgbClr val="F3F5F8"/>
                </a:solidFill>
                <a:latin typeface="Arial" pitchFamily="34" charset="0"/>
                <a:ea typeface="Arial" pitchFamily="34" charset="-122"/>
                <a:cs typeface="Arial" pitchFamily="34" charset="-120"/>
              </a:rPr>
              <a:t>passed</a:t>
            </a:r>
            <a:endParaRPr lang="en-US" sz="1000" dirty="0"/>
          </a:p>
        </p:txBody>
      </p:sp>
      <p:sp>
        <p:nvSpPr>
          <p:cNvPr id="27" name="Text 22"/>
          <p:cNvSpPr txBox="1"/>
          <p:nvPr/>
        </p:nvSpPr>
        <p:spPr>
          <a:xfrm>
            <a:off x="1536192" y="4572000"/>
            <a:ext cx="658368" cy="274320"/>
          </a:xfrm>
          <a:prstGeom prst="roundRect">
            <a:avLst>
              <a:gd name="adj" fmla="val 50000"/>
            </a:avLst>
          </a:prstGeom>
          <a:solidFill>
            <a:srgbClr val="FF4D5E">
              <a:alpha val="20000"/>
            </a:srgbClr>
          </a:solidFill>
          <a:ln w="9525">
            <a:solidFill>
              <a:srgbClr val="FF4D5E">
                <a:alpha val="55000"/>
              </a:srgbClr>
            </a:solidFill>
          </a:ln>
        </p:spPr>
        <p:txBody>
          <a:bodyPr wrap="square" lIns="0" tIns="0" rIns="0" bIns="0" rtlCol="0" anchor="ctr"/>
          <a:lstStyle/>
          <a:p>
            <a:pPr algn="ctr" indent="0" marL="0">
              <a:buNone/>
            </a:pPr>
            <a:r>
              <a:rPr lang="en-US" sz="1000" b="1" dirty="0">
                <a:solidFill>
                  <a:srgbClr val="F3F5F8"/>
                </a:solidFill>
                <a:latin typeface="Arial" pitchFamily="34" charset="0"/>
                <a:ea typeface="Arial" pitchFamily="34" charset="-122"/>
                <a:cs typeface="Arial" pitchFamily="34" charset="-120"/>
              </a:rPr>
              <a:t>failed</a:t>
            </a:r>
            <a:endParaRPr lang="en-US" sz="1000" dirty="0"/>
          </a:p>
        </p:txBody>
      </p:sp>
      <p:sp>
        <p:nvSpPr>
          <p:cNvPr id="28" name="Text 23"/>
          <p:cNvSpPr txBox="1"/>
          <p:nvPr/>
        </p:nvSpPr>
        <p:spPr>
          <a:xfrm>
            <a:off x="2267712" y="4572000"/>
            <a:ext cx="658368" cy="274320"/>
          </a:xfrm>
          <a:prstGeom prst="roundRect">
            <a:avLst>
              <a:gd name="adj" fmla="val 50000"/>
            </a:avLst>
          </a:prstGeom>
          <a:solidFill>
            <a:srgbClr val="738191">
              <a:alpha val="20000"/>
            </a:srgbClr>
          </a:solidFill>
          <a:ln w="9525">
            <a:solidFill>
              <a:srgbClr val="738191">
                <a:alpha val="55000"/>
              </a:srgbClr>
            </a:solidFill>
          </a:ln>
        </p:spPr>
        <p:txBody>
          <a:bodyPr wrap="square" lIns="0" tIns="0" rIns="0" bIns="0" rtlCol="0" anchor="ctr"/>
          <a:lstStyle/>
          <a:p>
            <a:pPr algn="ctr" indent="0" marL="0">
              <a:buNone/>
            </a:pPr>
            <a:r>
              <a:rPr lang="en-US" sz="1000" b="1" dirty="0">
                <a:solidFill>
                  <a:srgbClr val="F3F5F8"/>
                </a:solidFill>
                <a:latin typeface="Arial" pitchFamily="34" charset="0"/>
                <a:ea typeface="Arial" pitchFamily="34" charset="-122"/>
                <a:cs typeface="Arial" pitchFamily="34" charset="-120"/>
              </a:rPr>
              <a:t>not run</a:t>
            </a:r>
            <a:endParaRPr lang="en-US" sz="1000" dirty="0"/>
          </a:p>
        </p:txBody>
      </p:sp>
      <p:sp>
        <p:nvSpPr>
          <p:cNvPr id="29" name="Text 24"/>
          <p:cNvSpPr txBox="1"/>
          <p:nvPr/>
        </p:nvSpPr>
        <p:spPr>
          <a:xfrm>
            <a:off x="2999232" y="4572000"/>
            <a:ext cx="658368" cy="274320"/>
          </a:xfrm>
          <a:prstGeom prst="roundRect">
            <a:avLst>
              <a:gd name="adj" fmla="val 50000"/>
            </a:avLst>
          </a:prstGeom>
          <a:solidFill>
            <a:srgbClr val="FFB547">
              <a:alpha val="20000"/>
            </a:srgbClr>
          </a:solidFill>
          <a:ln w="9525">
            <a:solidFill>
              <a:srgbClr val="FFB547">
                <a:alpha val="55000"/>
              </a:srgbClr>
            </a:solidFill>
          </a:ln>
        </p:spPr>
        <p:txBody>
          <a:bodyPr wrap="square" lIns="0" tIns="0" rIns="0" bIns="0" rtlCol="0" anchor="ctr"/>
          <a:lstStyle/>
          <a:p>
            <a:pPr algn="ctr" indent="0" marL="0">
              <a:buNone/>
            </a:pPr>
            <a:r>
              <a:rPr lang="en-US" sz="1000" b="1" dirty="0">
                <a:solidFill>
                  <a:srgbClr val="F3F5F8"/>
                </a:solidFill>
                <a:latin typeface="Arial" pitchFamily="34" charset="0"/>
                <a:ea typeface="Arial" pitchFamily="34" charset="-122"/>
                <a:cs typeface="Arial" pitchFamily="34" charset="-120"/>
              </a:rPr>
              <a:t>stale</a:t>
            </a:r>
            <a:endParaRPr lang="en-US" sz="1000" dirty="0"/>
          </a:p>
        </p:txBody>
      </p:sp>
      <p:sp>
        <p:nvSpPr>
          <p:cNvPr id="30" name="Shape 25"/>
          <p:cNvSpPr/>
          <p:nvPr/>
        </p:nvSpPr>
        <p:spPr>
          <a:xfrm>
            <a:off x="548640" y="5349240"/>
            <a:ext cx="11094415" cy="713232"/>
          </a:xfrm>
          <a:prstGeom prst="roundRect">
            <a:avLst>
              <a:gd name="adj" fmla="val 15385"/>
            </a:avLst>
          </a:prstGeom>
          <a:solidFill>
            <a:srgbClr val="FF6A2B">
              <a:alpha val="10000"/>
            </a:srgbClr>
          </a:solidFill>
          <a:ln w="9525">
            <a:solidFill>
              <a:srgbClr val="FF6A2B">
                <a:alpha val="40000"/>
              </a:srgbClr>
            </a:solidFill>
            <a:prstDash val="solid"/>
          </a:ln>
        </p:spPr>
      </p:sp>
      <p:pic>
        <p:nvPicPr>
          <p:cNvPr id="31" name="Image 3" descr="/private/tmp/claude-501/-Users-raja-forge/826f4f3b-77e1-484d-8167-0e3b60d97c63/scratchpad/deck/assets/icons/LuHand-FF6A2B.png">    </p:cNvPr>
          <p:cNvPicPr>
            <a:picLocks noChangeAspect="1"/>
          </p:cNvPicPr>
          <p:nvPr/>
        </p:nvPicPr>
        <p:blipFill>
          <a:blip r:embed="rId4"/>
          <a:stretch>
            <a:fillRect/>
          </a:stretch>
        </p:blipFill>
        <p:spPr>
          <a:xfrm>
            <a:off x="822960" y="5532120"/>
            <a:ext cx="347472" cy="347472"/>
          </a:xfrm>
          <a:prstGeom prst="rect">
            <a:avLst/>
          </a:prstGeom>
        </p:spPr>
      </p:pic>
      <p:sp>
        <p:nvSpPr>
          <p:cNvPr id="32" name="Text 26"/>
          <p:cNvSpPr txBox="1"/>
          <p:nvPr/>
        </p:nvSpPr>
        <p:spPr>
          <a:xfrm>
            <a:off x="1325880" y="5394960"/>
            <a:ext cx="10042855" cy="621792"/>
          </a:xfrm>
          <a:prstGeom prst="rect">
            <a:avLst/>
          </a:prstGeom>
          <a:noFill/>
          <a:ln/>
        </p:spPr>
        <p:txBody>
          <a:bodyPr wrap="square" lIns="0" tIns="0" rIns="0" bIns="0" rtlCol="0" anchor="ctr"/>
          <a:lstStyle/>
          <a:p>
            <a:pPr indent="0" marL="0">
              <a:buNone/>
            </a:pPr>
            <a:r>
              <a:rPr lang="en-US" sz="1300" b="1" dirty="0">
                <a:solidFill>
                  <a:srgbClr val="F3F5F8"/>
                </a:solidFill>
                <a:latin typeface="Arial" pitchFamily="34" charset="0"/>
                <a:ea typeface="Arial" pitchFamily="34" charset="-122"/>
                <a:cs typeface="Arial" pitchFamily="34" charset="-120"/>
              </a:rPr>
              <a:t>Landing never pushes. </a:t>
            </a:r>
            <a:pPr indent="0" marL="0">
              <a:buNone/>
            </a:pPr>
            <a:r>
              <a:rPr lang="en-US" sz="1300" dirty="0">
                <a:solidFill>
                  <a:srgbClr val="AAB5C3"/>
                </a:solidFill>
                <a:latin typeface="Arial" pitchFamily="34" charset="0"/>
                <a:ea typeface="Arial" pitchFamily="34" charset="-122"/>
                <a:cs typeface="Arial" pitchFamily="34" charset="-120"/>
              </a:rPr>
              <a:t>Opening a pull request is the only way FORGE pushes anything. A failed build never blocks you: the verdict is shown, and the decision is yours.</a:t>
            </a:r>
            <a:endParaRPr lang="en-US" sz="1300" dirty="0"/>
          </a:p>
        </p:txBody>
      </p:sp>
      <p:sp>
        <p:nvSpPr>
          <p:cNvPr id="33" name="Text 27"/>
          <p:cNvSpPr txBox="1"/>
          <p:nvPr/>
        </p:nvSpPr>
        <p:spPr>
          <a:xfrm>
            <a:off x="548640" y="6455664"/>
            <a:ext cx="5486400" cy="219456"/>
          </a:xfrm>
          <a:prstGeom prst="rect">
            <a:avLst/>
          </a:prstGeom>
          <a:noFill/>
          <a:ln/>
        </p:spPr>
        <p:txBody>
          <a:bodyPr wrap="square" lIns="0" tIns="0" rIns="0" bIns="0" rtlCol="0" anchor="t"/>
          <a:lstStyle/>
          <a:p>
            <a:pPr indent="0" marL="0">
              <a:buNone/>
            </a:pPr>
            <a:r>
              <a:rPr lang="en-US" sz="900" dirty="0">
                <a:solidFill>
                  <a:srgbClr val="738191"/>
                </a:solidFill>
                <a:latin typeface="Arial" pitchFamily="34" charset="0"/>
                <a:ea typeface="Arial" pitchFamily="34" charset="-122"/>
                <a:cs typeface="Arial" pitchFamily="34" charset="-120"/>
              </a:rPr>
              <a:t>FORGE  ·  Software Development Conference 2026</a:t>
            </a:r>
            <a:endParaRPr lang="en-US" sz="900" dirty="0"/>
          </a:p>
        </p:txBody>
      </p:sp>
      <p:sp>
        <p:nvSpPr>
          <p:cNvPr id="34" name="Text 28"/>
          <p:cNvSpPr txBox="1"/>
          <p:nvPr/>
        </p:nvSpPr>
        <p:spPr>
          <a:xfrm>
            <a:off x="11094415" y="6455664"/>
            <a:ext cx="548640" cy="219456"/>
          </a:xfrm>
          <a:prstGeom prst="rect">
            <a:avLst/>
          </a:prstGeom>
          <a:noFill/>
          <a:ln/>
        </p:spPr>
        <p:txBody>
          <a:bodyPr wrap="square" lIns="0" tIns="0" rIns="0" bIns="0" rtlCol="0" anchor="t"/>
          <a:lstStyle/>
          <a:p>
            <a:pPr algn="r" indent="0" marL="0">
              <a:buNone/>
            </a:pPr>
            <a:r>
              <a:rPr lang="en-US" sz="900" dirty="0">
                <a:solidFill>
                  <a:srgbClr val="738191"/>
                </a:solidFill>
                <a:latin typeface="Arial" pitchFamily="34" charset="0"/>
                <a:ea typeface="Arial" pitchFamily="34" charset="-122"/>
                <a:cs typeface="Arial"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t"/>
          <a:lstStyle/>
          <a:p>
            <a:pPr indent="0" marL="0">
              <a:buNone/>
            </a:pPr>
            <a:r>
              <a:rPr lang="en-US" sz="1100" b="1" spc="300" kern="0" dirty="0">
                <a:solidFill>
                  <a:srgbClr val="FF6A2B"/>
                </a:solidFill>
                <a:latin typeface="Arial" pitchFamily="34" charset="0"/>
                <a:ea typeface="Arial" pitchFamily="34" charset="-122"/>
                <a:cs typeface="Arial" pitchFamily="34" charset="-120"/>
              </a:rPr>
              <a:t>05  ·  PROOF &amp; OPERATIONS</a:t>
            </a:r>
            <a:endParaRPr lang="en-US" sz="1100" dirty="0"/>
          </a:p>
        </p:txBody>
      </p:sp>
      <p:sp>
        <p:nvSpPr>
          <p:cNvPr id="3" name="Text 1"/>
          <p:cNvSpPr txBox="1"/>
          <p:nvPr/>
        </p:nvSpPr>
        <p:spPr>
          <a:xfrm>
            <a:off x="548640" y="676656"/>
            <a:ext cx="11094415" cy="658368"/>
          </a:xfrm>
          <a:prstGeom prst="rect">
            <a:avLst/>
          </a:prstGeom>
          <a:noFill/>
          <a:ln/>
        </p:spPr>
        <p:txBody>
          <a:bodyPr wrap="square" lIns="0" tIns="0" rIns="0" bIns="0" rtlCol="0" anchor="t"/>
          <a:lstStyle/>
          <a:p>
            <a:pPr indent="0" marL="0">
              <a:buNone/>
            </a:pPr>
            <a:r>
              <a:rPr lang="en-US" sz="3200" b="1" dirty="0">
                <a:solidFill>
                  <a:srgbClr val="F3F5F8"/>
                </a:solidFill>
                <a:latin typeface="Arial" pitchFamily="34" charset="0"/>
                <a:ea typeface="Arial" pitchFamily="34" charset="-122"/>
                <a:cs typeface="Arial" pitchFamily="34" charset="-120"/>
              </a:rPr>
              <a:t>Send less, run wider: hours become minutes</a:t>
            </a:r>
            <a:endParaRPr lang="en-US" sz="3200" dirty="0"/>
          </a:p>
        </p:txBody>
      </p:sp>
      <p:sp>
        <p:nvSpPr>
          <p:cNvPr id="4" name="Shape 2"/>
          <p:cNvSpPr/>
          <p:nvPr/>
        </p:nvSpPr>
        <p:spPr>
          <a:xfrm>
            <a:off x="548640" y="1645920"/>
            <a:ext cx="5897880" cy="4434840"/>
          </a:xfrm>
          <a:prstGeom prst="roundRect">
            <a:avLst>
              <a:gd name="adj" fmla="val 2474"/>
            </a:avLst>
          </a:prstGeom>
          <a:solidFill>
            <a:srgbClr val="121821">
              <a:alpha val="95000"/>
            </a:srgbClr>
          </a:solidFill>
          <a:ln w="9525">
            <a:solidFill>
              <a:srgbClr val="1E2835"/>
            </a:solidFill>
            <a:prstDash val="solid"/>
          </a:ln>
        </p:spPr>
      </p:sp>
      <p:sp>
        <p:nvSpPr>
          <p:cNvPr id="5" name="Text 3"/>
          <p:cNvSpPr txBox="1"/>
          <p:nvPr/>
        </p:nvSpPr>
        <p:spPr>
          <a:xfrm>
            <a:off x="868680" y="1847088"/>
            <a:ext cx="5303520" cy="292608"/>
          </a:xfrm>
          <a:prstGeom prst="rect">
            <a:avLst/>
          </a:prstGeom>
          <a:noFill/>
          <a:ln/>
        </p:spPr>
        <p:txBody>
          <a:bodyPr wrap="square" lIns="0" tIns="0" rIns="0" bIns="0" rtlCol="0" anchor="t"/>
          <a:lstStyle/>
          <a:p>
            <a:pPr indent="0" marL="0">
              <a:buNone/>
            </a:pPr>
            <a:r>
              <a:rPr lang="en-US" sz="1600" b="1" dirty="0">
                <a:solidFill>
                  <a:srgbClr val="F3F5F8"/>
                </a:solidFill>
                <a:latin typeface="Arial" pitchFamily="34" charset="0"/>
                <a:ea typeface="Arial" pitchFamily="34" charset="-122"/>
                <a:cs typeface="Arial" pitchFamily="34" charset="-120"/>
              </a:rPr>
              <a:t>Where a file’s 22 seconds went</a:t>
            </a:r>
            <a:endParaRPr lang="en-US" sz="1600" dirty="0"/>
          </a:p>
        </p:txBody>
      </p:sp>
      <p:sp>
        <p:nvSpPr>
          <p:cNvPr id="6" name="Text 4"/>
          <p:cNvSpPr txBox="1"/>
          <p:nvPr/>
        </p:nvSpPr>
        <p:spPr>
          <a:xfrm>
            <a:off x="868680" y="2157984"/>
            <a:ext cx="5303520" cy="237744"/>
          </a:xfrm>
          <a:prstGeom prst="rect">
            <a:avLst/>
          </a:prstGeom>
          <a:noFill/>
          <a:ln/>
        </p:spPr>
        <p:txBody>
          <a:bodyPr wrap="square" lIns="0" tIns="0" rIns="0" bIns="0" rtlCol="0" anchor="t"/>
          <a:lstStyle/>
          <a:p>
            <a:pPr indent="0" marL="0">
              <a:buNone/>
            </a:pPr>
            <a:r>
              <a:rPr lang="en-US" sz="1100" dirty="0">
                <a:solidFill>
                  <a:srgbClr val="738191"/>
                </a:solidFill>
                <a:latin typeface="Arial" pitchFamily="34" charset="0"/>
                <a:ea typeface="Arial" pitchFamily="34" charset="-122"/>
                <a:cs typeface="Arial" pitchFamily="34" charset="-120"/>
              </a:rPr>
              <a:t>Measured from a real run’s checkpoints: 151 AMS files, Sonnet 4.5, one at a time</a:t>
            </a:r>
            <a:endParaRPr lang="en-US" sz="1100" dirty="0"/>
          </a:p>
        </p:txBody>
      </p:sp>
      <p:graphicFrame>
        <p:nvGraphicFramePr>
          <p:cNvPr id="7" name="Chart 0" descr=""/>
          <p:cNvGraphicFramePr/>
          <p:nvPr/>
        </p:nvGraphicFramePr>
        <p:xfrm>
          <a:off x="731520" y="2514600"/>
          <a:ext cx="5532120" cy="269748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868680" y="5349240"/>
            <a:ext cx="5303520" cy="548640"/>
          </a:xfrm>
          <a:prstGeom prst="rect">
            <a:avLst/>
          </a:prstGeom>
          <a:noFill/>
          <a:ln/>
        </p:spPr>
        <p:txBody>
          <a:bodyPr wrap="square" lIns="0" tIns="0" rIns="0" bIns="0" rtlCol="0" anchor="t"/>
          <a:lstStyle/>
          <a:p>
            <a:pPr indent="0" marL="0">
              <a:buNone/>
            </a:pPr>
            <a:r>
              <a:rPr lang="en-US" sz="1250" dirty="0">
                <a:solidFill>
                  <a:srgbClr val="AAB5C3"/>
                </a:solidFill>
                <a:latin typeface="Arial" pitchFamily="34" charset="0"/>
                <a:ea typeface="Arial" pitchFamily="34" charset="-122"/>
                <a:cs typeface="Arial" pitchFamily="34" charset="-120"/>
              </a:rPr>
              <a:t>Transform time grows about 3 s per KB: the model writes the whole file back.</a:t>
            </a:r>
            <a:endParaRPr lang="en-US" sz="1250" dirty="0"/>
          </a:p>
        </p:txBody>
      </p:sp>
      <p:sp>
        <p:nvSpPr>
          <p:cNvPr id="9" name="Shape 6"/>
          <p:cNvSpPr/>
          <p:nvPr/>
        </p:nvSpPr>
        <p:spPr>
          <a:xfrm>
            <a:off x="6720840" y="1645920"/>
            <a:ext cx="4922215" cy="1463040"/>
          </a:xfrm>
          <a:prstGeom prst="roundRect">
            <a:avLst>
              <a:gd name="adj" fmla="val 7500"/>
            </a:avLst>
          </a:prstGeom>
          <a:solidFill>
            <a:srgbClr val="121821">
              <a:alpha val="95000"/>
            </a:srgbClr>
          </a:solidFill>
          <a:ln w="9525">
            <a:solidFill>
              <a:srgbClr val="1E2835"/>
            </a:solidFill>
            <a:prstDash val="solid"/>
          </a:ln>
        </p:spPr>
      </p:sp>
      <p:sp>
        <p:nvSpPr>
          <p:cNvPr id="10" name="Text 7"/>
          <p:cNvSpPr txBox="1"/>
          <p:nvPr/>
        </p:nvSpPr>
        <p:spPr>
          <a:xfrm>
            <a:off x="6995160" y="1810512"/>
            <a:ext cx="3657600" cy="219456"/>
          </a:xfrm>
          <a:prstGeom prst="rect">
            <a:avLst/>
          </a:prstGeom>
          <a:noFill/>
          <a:ln/>
        </p:spPr>
        <p:txBody>
          <a:bodyPr wrap="square" lIns="0" tIns="0" rIns="0" bIns="0" rtlCol="0" anchor="t"/>
          <a:lstStyle/>
          <a:p>
            <a:pPr indent="0" marL="0">
              <a:buNone/>
            </a:pPr>
            <a:r>
              <a:rPr lang="en-US" sz="1050" b="1" spc="200" kern="0" dirty="0">
                <a:solidFill>
                  <a:srgbClr val="738191"/>
                </a:solidFill>
                <a:latin typeface="Arial" pitchFamily="34" charset="0"/>
                <a:ea typeface="Arial" pitchFamily="34" charset="-122"/>
                <a:cs typeface="Arial" pitchFamily="34" charset="-120"/>
              </a:rPr>
              <a:t>THIS MORNING</a:t>
            </a:r>
            <a:endParaRPr lang="en-US" sz="1050" dirty="0"/>
          </a:p>
        </p:txBody>
      </p:sp>
      <p:sp>
        <p:nvSpPr>
          <p:cNvPr id="11" name="Text 8"/>
          <p:cNvSpPr txBox="1"/>
          <p:nvPr/>
        </p:nvSpPr>
        <p:spPr>
          <a:xfrm>
            <a:off x="6995160" y="2103120"/>
            <a:ext cx="2286000" cy="594360"/>
          </a:xfrm>
          <a:prstGeom prst="rect">
            <a:avLst/>
          </a:prstGeom>
          <a:noFill/>
          <a:ln/>
        </p:spPr>
        <p:txBody>
          <a:bodyPr wrap="square" lIns="0" tIns="0" rIns="0" bIns="0" rtlCol="0" anchor="t"/>
          <a:lstStyle/>
          <a:p>
            <a:pPr indent="0" marL="0">
              <a:buNone/>
            </a:pPr>
            <a:r>
              <a:rPr lang="en-US" sz="3200" b="1" dirty="0">
                <a:solidFill>
                  <a:srgbClr val="AAB5C3"/>
                </a:solidFill>
                <a:latin typeface="Arial" pitchFamily="34" charset="0"/>
                <a:ea typeface="Arial" pitchFamily="34" charset="-122"/>
                <a:cs typeface="Arial" pitchFamily="34" charset="-120"/>
              </a:rPr>
              <a:t>~9 hours</a:t>
            </a:r>
            <a:endParaRPr lang="en-US" sz="3200" dirty="0"/>
          </a:p>
        </p:txBody>
      </p:sp>
      <p:sp>
        <p:nvSpPr>
          <p:cNvPr id="12" name="Text 9"/>
          <p:cNvSpPr txBox="1"/>
          <p:nvPr/>
        </p:nvSpPr>
        <p:spPr>
          <a:xfrm>
            <a:off x="9326880" y="2057400"/>
            <a:ext cx="2087575" cy="868680"/>
          </a:xfrm>
          <a:prstGeom prst="rect">
            <a:avLst/>
          </a:prstGeom>
          <a:noFill/>
          <a:ln/>
        </p:spPr>
        <p:txBody>
          <a:bodyPr wrap="square" lIns="0" tIns="0" rIns="0" bIns="0" rtlCol="0" anchor="ctr"/>
          <a:lstStyle/>
          <a:p>
            <a:pPr indent="0" marL="0">
              <a:buNone/>
            </a:pPr>
            <a:r>
              <a:rPr lang="en-US" sz="1200" dirty="0">
                <a:solidFill>
                  <a:srgbClr val="AAB5C3"/>
                </a:solidFill>
                <a:latin typeface="Arial" pitchFamily="34" charset="0"/>
                <a:ea typeface="Arial" pitchFamily="34" charset="-122"/>
                <a:cs typeface="Arial" pitchFamily="34" charset="-120"/>
              </a:rPr>
              <a:t>1,480 files through ten packs, one at a time, at the measured 22 s each</a:t>
            </a:r>
            <a:endParaRPr lang="en-US" sz="1200" dirty="0"/>
          </a:p>
        </p:txBody>
      </p:sp>
      <p:sp>
        <p:nvSpPr>
          <p:cNvPr id="13" name="Shape 10"/>
          <p:cNvSpPr/>
          <p:nvPr/>
        </p:nvSpPr>
        <p:spPr>
          <a:xfrm>
            <a:off x="9181948" y="3154680"/>
            <a:ext cx="0" cy="246888"/>
          </a:xfrm>
          <a:prstGeom prst="line">
            <a:avLst/>
          </a:prstGeom>
          <a:noFill/>
          <a:ln w="22225">
            <a:solidFill>
              <a:srgbClr val="FF6A2B"/>
            </a:solidFill>
            <a:prstDash val="solid"/>
            <a:tailEnd type="triangle"/>
          </a:ln>
        </p:spPr>
      </p:sp>
      <p:sp>
        <p:nvSpPr>
          <p:cNvPr id="14" name="Shape 11"/>
          <p:cNvSpPr/>
          <p:nvPr/>
        </p:nvSpPr>
        <p:spPr>
          <a:xfrm>
            <a:off x="6720840" y="3447288"/>
            <a:ext cx="4922215" cy="1463040"/>
          </a:xfrm>
          <a:prstGeom prst="roundRect">
            <a:avLst>
              <a:gd name="adj" fmla="val 7500"/>
            </a:avLst>
          </a:prstGeom>
          <a:solidFill>
            <a:srgbClr val="35D07F">
              <a:alpha val="10000"/>
            </a:srgbClr>
          </a:solidFill>
          <a:ln w="9525">
            <a:solidFill>
              <a:srgbClr val="35D07F">
                <a:alpha val="50000"/>
              </a:srgbClr>
            </a:solidFill>
            <a:prstDash val="solid"/>
          </a:ln>
        </p:spPr>
      </p:sp>
      <p:sp>
        <p:nvSpPr>
          <p:cNvPr id="15" name="Text 12"/>
          <p:cNvSpPr txBox="1"/>
          <p:nvPr/>
        </p:nvSpPr>
        <p:spPr>
          <a:xfrm>
            <a:off x="6995160" y="3611880"/>
            <a:ext cx="3657600" cy="219456"/>
          </a:xfrm>
          <a:prstGeom prst="rect">
            <a:avLst/>
          </a:prstGeom>
          <a:noFill/>
          <a:ln/>
        </p:spPr>
        <p:txBody>
          <a:bodyPr wrap="square" lIns="0" tIns="0" rIns="0" bIns="0" rtlCol="0" anchor="t"/>
          <a:lstStyle/>
          <a:p>
            <a:pPr indent="0" marL="0">
              <a:buNone/>
            </a:pPr>
            <a:r>
              <a:rPr lang="en-US" sz="1050" b="1" spc="200" kern="0" dirty="0">
                <a:solidFill>
                  <a:srgbClr val="35D07F"/>
                </a:solidFill>
                <a:latin typeface="Arial" pitchFamily="34" charset="0"/>
                <a:ea typeface="Arial" pitchFamily="34" charset="-122"/>
                <a:cs typeface="Arial" pitchFamily="34" charset="-120"/>
              </a:rPr>
              <a:t>ON MAIN NOW</a:t>
            </a:r>
            <a:endParaRPr lang="en-US" sz="1050" dirty="0"/>
          </a:p>
        </p:txBody>
      </p:sp>
      <p:sp>
        <p:nvSpPr>
          <p:cNvPr id="16" name="Text 13"/>
          <p:cNvSpPr txBox="1"/>
          <p:nvPr/>
        </p:nvSpPr>
        <p:spPr>
          <a:xfrm>
            <a:off x="6995160" y="3904488"/>
            <a:ext cx="2377440" cy="594360"/>
          </a:xfrm>
          <a:prstGeom prst="rect">
            <a:avLst/>
          </a:prstGeom>
          <a:noFill/>
          <a:ln/>
        </p:spPr>
        <p:txBody>
          <a:bodyPr wrap="square" lIns="0" tIns="0" rIns="0" bIns="0" rtlCol="0" anchor="t"/>
          <a:lstStyle/>
          <a:p>
            <a:pPr indent="0" marL="0">
              <a:buNone/>
            </a:pPr>
            <a:r>
              <a:rPr lang="en-US" sz="3200" b="1" dirty="0">
                <a:solidFill>
                  <a:srgbClr val="F3F5F8"/>
                </a:solidFill>
                <a:latin typeface="Arial" pitchFamily="34" charset="0"/>
                <a:ea typeface="Arial" pitchFamily="34" charset="-122"/>
                <a:cs typeface="Arial" pitchFamily="34" charset="-120"/>
              </a:rPr>
              <a:t>~20–40 min</a:t>
            </a:r>
            <a:endParaRPr lang="en-US" sz="3200" dirty="0"/>
          </a:p>
        </p:txBody>
      </p:sp>
      <p:sp>
        <p:nvSpPr>
          <p:cNvPr id="17" name="Text 14"/>
          <p:cNvSpPr txBox="1"/>
          <p:nvPr/>
        </p:nvSpPr>
        <p:spPr>
          <a:xfrm>
            <a:off x="9326880" y="3858768"/>
            <a:ext cx="2087575" cy="868680"/>
          </a:xfrm>
          <a:prstGeom prst="rect">
            <a:avLst/>
          </a:prstGeom>
          <a:noFill/>
          <a:ln/>
        </p:spPr>
        <p:txBody>
          <a:bodyPr wrap="square" lIns="0" tIns="0" rIns="0" bIns="0" rtlCol="0" anchor="ctr"/>
          <a:lstStyle/>
          <a:p>
            <a:pPr indent="0" marL="0">
              <a:buNone/>
            </a:pPr>
            <a:r>
              <a:rPr lang="en-US" sz="1200" dirty="0">
                <a:solidFill>
                  <a:srgbClr val="AAB5C3"/>
                </a:solidFill>
                <a:latin typeface="Arial" pitchFamily="34" charset="0"/>
                <a:ea typeface="Arial" pitchFamily="34" charset="-122"/>
                <a:cs typeface="Arial" pitchFamily="34" charset="-120"/>
              </a:rPr>
              <a:t>422 files, 8 at a time. Projected, not yet measured.</a:t>
            </a:r>
            <a:endParaRPr lang="en-US" sz="1200" dirty="0"/>
          </a:p>
        </p:txBody>
      </p:sp>
      <p:pic>
        <p:nvPicPr>
          <p:cNvPr id="18" name="Image 0" descr="/private/tmp/claude-501/-Users-raja-forge/826f4f3b-77e1-484d-8167-0e3b60d97c63/scratchpad/deck/assets/icons/LuFilter-5EB1FF.png">    </p:cNvPr>
          <p:cNvPicPr>
            <a:picLocks noChangeAspect="1"/>
          </p:cNvPicPr>
          <p:nvPr/>
        </p:nvPicPr>
        <p:blipFill>
          <a:blip r:embed="rId2"/>
          <a:stretch>
            <a:fillRect/>
          </a:stretch>
        </p:blipFill>
        <p:spPr>
          <a:xfrm>
            <a:off x="6766560" y="5157216"/>
            <a:ext cx="256032" cy="256032"/>
          </a:xfrm>
          <a:prstGeom prst="rect">
            <a:avLst/>
          </a:prstGeom>
        </p:spPr>
      </p:pic>
      <p:sp>
        <p:nvSpPr>
          <p:cNvPr id="19" name="Text 15"/>
          <p:cNvSpPr txBox="1"/>
          <p:nvPr/>
        </p:nvSpPr>
        <p:spPr>
          <a:xfrm>
            <a:off x="7132320" y="5138928"/>
            <a:ext cx="4465015" cy="292608"/>
          </a:xfrm>
          <a:prstGeom prst="rect">
            <a:avLst/>
          </a:prstGeom>
          <a:noFill/>
          <a:ln/>
        </p:spPr>
        <p:txBody>
          <a:bodyPr wrap="square" lIns="0" tIns="0" rIns="0" bIns="0" rtlCol="0" anchor="t"/>
          <a:lstStyle/>
          <a:p>
            <a:pPr indent="0" marL="0">
              <a:buNone/>
            </a:pPr>
            <a:r>
              <a:rPr lang="en-US" sz="1300" b="1" dirty="0">
                <a:solidFill>
                  <a:srgbClr val="F3F5F8"/>
                </a:solidFill>
                <a:latin typeface="Arial" pitchFamily="34" charset="0"/>
                <a:ea typeface="Arial" pitchFamily="34" charset="-122"/>
                <a:cs typeface="Arial" pitchFamily="34" charset="-120"/>
              </a:rPr>
              <a:t>Packs select by content</a:t>
            </a:r>
            <a:pPr indent="0" marL="0">
              <a:buNone/>
            </a:pPr>
            <a:r>
              <a:rPr lang="en-US" sz="1300" dirty="0">
                <a:solidFill>
                  <a:srgbClr val="AAB5C3"/>
                </a:solidFill>
                <a:latin typeface="Arial" pitchFamily="34" charset="0"/>
                <a:ea typeface="Arial" pitchFamily="34" charset="-122"/>
                <a:cs typeface="Arial" pitchFamily="34" charset="-120"/>
              </a:rPr>
              <a:t>: 1,480 files become 422</a:t>
            </a:r>
            <a:endParaRPr lang="en-US" sz="1300" dirty="0"/>
          </a:p>
        </p:txBody>
      </p:sp>
      <p:pic>
        <p:nvPicPr>
          <p:cNvPr id="20" name="Image 1" descr="/private/tmp/claude-501/-Users-raja-forge/826f4f3b-77e1-484d-8167-0e3b60d97c63/scratchpad/deck/assets/icons/LuLayers-5EB1FF.png">    </p:cNvPr>
          <p:cNvPicPr>
            <a:picLocks noChangeAspect="1"/>
          </p:cNvPicPr>
          <p:nvPr/>
        </p:nvPicPr>
        <p:blipFill>
          <a:blip r:embed="rId3"/>
          <a:stretch>
            <a:fillRect/>
          </a:stretch>
        </p:blipFill>
        <p:spPr>
          <a:xfrm>
            <a:off x="6766560" y="5559552"/>
            <a:ext cx="256032" cy="256032"/>
          </a:xfrm>
          <a:prstGeom prst="rect">
            <a:avLst/>
          </a:prstGeom>
        </p:spPr>
      </p:pic>
      <p:sp>
        <p:nvSpPr>
          <p:cNvPr id="21" name="Text 16"/>
          <p:cNvSpPr txBox="1"/>
          <p:nvPr/>
        </p:nvSpPr>
        <p:spPr>
          <a:xfrm>
            <a:off x="7132320" y="5541264"/>
            <a:ext cx="4465015" cy="292608"/>
          </a:xfrm>
          <a:prstGeom prst="rect">
            <a:avLst/>
          </a:prstGeom>
          <a:noFill/>
          <a:ln/>
        </p:spPr>
        <p:txBody>
          <a:bodyPr wrap="square" lIns="0" tIns="0" rIns="0" bIns="0" rtlCol="0" anchor="t"/>
          <a:lstStyle/>
          <a:p>
            <a:pPr indent="0" marL="0">
              <a:buNone/>
            </a:pPr>
            <a:r>
              <a:rPr lang="en-US" sz="1300" b="1" dirty="0">
                <a:solidFill>
                  <a:srgbClr val="F3F5F8"/>
                </a:solidFill>
                <a:latin typeface="Arial" pitchFamily="34" charset="0"/>
                <a:ea typeface="Arial" pitchFamily="34" charset="-122"/>
                <a:cs typeface="Arial" pitchFamily="34" charset="-120"/>
              </a:rPr>
              <a:t>Files run in parallel</a:t>
            </a:r>
            <a:pPr indent="0" marL="0">
              <a:buNone/>
            </a:pPr>
            <a:r>
              <a:rPr lang="en-US" sz="1300" dirty="0">
                <a:solidFill>
                  <a:srgbClr val="AAB5C3"/>
                </a:solidFill>
                <a:latin typeface="Arial" pitchFamily="34" charset="0"/>
                <a:ea typeface="Arial" pitchFamily="34" charset="-122"/>
                <a:cs typeface="Arial" pitchFamily="34" charset="-120"/>
              </a:rPr>
              <a:t>: max_parallel_files is 8</a:t>
            </a:r>
            <a:endParaRPr lang="en-US" sz="1300" dirty="0"/>
          </a:p>
        </p:txBody>
      </p:sp>
      <p:sp>
        <p:nvSpPr>
          <p:cNvPr id="22" name="Text 17"/>
          <p:cNvSpPr txBox="1"/>
          <p:nvPr/>
        </p:nvSpPr>
        <p:spPr>
          <a:xfrm>
            <a:off x="548640" y="6455664"/>
            <a:ext cx="5486400" cy="219456"/>
          </a:xfrm>
          <a:prstGeom prst="rect">
            <a:avLst/>
          </a:prstGeom>
          <a:noFill/>
          <a:ln/>
        </p:spPr>
        <p:txBody>
          <a:bodyPr wrap="square" lIns="0" tIns="0" rIns="0" bIns="0" rtlCol="0" anchor="t"/>
          <a:lstStyle/>
          <a:p>
            <a:pPr indent="0" marL="0">
              <a:buNone/>
            </a:pPr>
            <a:r>
              <a:rPr lang="en-US" sz="900" dirty="0">
                <a:solidFill>
                  <a:srgbClr val="738191"/>
                </a:solidFill>
                <a:latin typeface="Arial" pitchFamily="34" charset="0"/>
                <a:ea typeface="Arial" pitchFamily="34" charset="-122"/>
                <a:cs typeface="Arial" pitchFamily="34" charset="-120"/>
              </a:rPr>
              <a:t>FORGE  ·  Software Development Conference 2026</a:t>
            </a:r>
            <a:endParaRPr lang="en-US" sz="900" dirty="0"/>
          </a:p>
        </p:txBody>
      </p:sp>
      <p:sp>
        <p:nvSpPr>
          <p:cNvPr id="23" name="Text 18"/>
          <p:cNvSpPr txBox="1"/>
          <p:nvPr/>
        </p:nvSpPr>
        <p:spPr>
          <a:xfrm>
            <a:off x="11094415" y="6455664"/>
            <a:ext cx="548640" cy="219456"/>
          </a:xfrm>
          <a:prstGeom prst="rect">
            <a:avLst/>
          </a:prstGeom>
          <a:noFill/>
          <a:ln/>
        </p:spPr>
        <p:txBody>
          <a:bodyPr wrap="square" lIns="0" tIns="0" rIns="0" bIns="0" rtlCol="0" anchor="t"/>
          <a:lstStyle/>
          <a:p>
            <a:pPr algn="r" indent="0" marL="0">
              <a:buNone/>
            </a:pPr>
            <a:r>
              <a:rPr lang="en-US" sz="900" dirty="0">
                <a:solidFill>
                  <a:srgbClr val="738191"/>
                </a:solidFill>
                <a:latin typeface="Arial" pitchFamily="34" charset="0"/>
                <a:ea typeface="Arial" pitchFamily="34" charset="-122"/>
                <a:cs typeface="Arial"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t"/>
          <a:lstStyle/>
          <a:p>
            <a:pPr indent="0" marL="0">
              <a:buNone/>
            </a:pPr>
            <a:r>
              <a:rPr lang="en-US" sz="1100" b="1" spc="300" kern="0" dirty="0">
                <a:solidFill>
                  <a:srgbClr val="FF6A2B"/>
                </a:solidFill>
                <a:latin typeface="Arial" pitchFamily="34" charset="0"/>
                <a:ea typeface="Arial" pitchFamily="34" charset="-122"/>
                <a:cs typeface="Arial" pitchFamily="34" charset="-120"/>
              </a:rPr>
              <a:t>05  ·  PROOF &amp; OPERATIONS</a:t>
            </a:r>
            <a:endParaRPr lang="en-US" sz="1100" dirty="0"/>
          </a:p>
        </p:txBody>
      </p:sp>
      <p:sp>
        <p:nvSpPr>
          <p:cNvPr id="3" name="Text 1"/>
          <p:cNvSpPr txBox="1"/>
          <p:nvPr/>
        </p:nvSpPr>
        <p:spPr>
          <a:xfrm>
            <a:off x="548640" y="676656"/>
            <a:ext cx="11094415" cy="658368"/>
          </a:xfrm>
          <a:prstGeom prst="rect">
            <a:avLst/>
          </a:prstGeom>
          <a:noFill/>
          <a:ln/>
        </p:spPr>
        <p:txBody>
          <a:bodyPr wrap="square" lIns="0" tIns="0" rIns="0" bIns="0" rtlCol="0" anchor="t"/>
          <a:lstStyle/>
          <a:p>
            <a:pPr indent="0" marL="0">
              <a:buNone/>
            </a:pPr>
            <a:r>
              <a:rPr lang="en-US" sz="3200" b="1" dirty="0">
                <a:solidFill>
                  <a:srgbClr val="F3F5F8"/>
                </a:solidFill>
                <a:latin typeface="Arial" pitchFamily="34" charset="0"/>
                <a:ea typeface="Arial" pitchFamily="34" charset="-122"/>
                <a:cs typeface="Arial" pitchFamily="34" charset="-120"/>
              </a:rPr>
              <a:t>Cents per file, and nothing without a click</a:t>
            </a:r>
            <a:endParaRPr lang="en-US" sz="3200" dirty="0"/>
          </a:p>
        </p:txBody>
      </p:sp>
      <p:sp>
        <p:nvSpPr>
          <p:cNvPr id="4" name="Shape 2"/>
          <p:cNvSpPr/>
          <p:nvPr/>
        </p:nvSpPr>
        <p:spPr>
          <a:xfrm>
            <a:off x="548640" y="1645920"/>
            <a:ext cx="5897880" cy="4434840"/>
          </a:xfrm>
          <a:prstGeom prst="roundRect">
            <a:avLst>
              <a:gd name="adj" fmla="val 2474"/>
            </a:avLst>
          </a:prstGeom>
          <a:solidFill>
            <a:srgbClr val="121821">
              <a:alpha val="95000"/>
            </a:srgbClr>
          </a:solidFill>
          <a:ln w="9525">
            <a:solidFill>
              <a:srgbClr val="1E2835"/>
            </a:solidFill>
            <a:prstDash val="solid"/>
          </a:ln>
        </p:spPr>
      </p:sp>
      <p:sp>
        <p:nvSpPr>
          <p:cNvPr id="5" name="Text 3"/>
          <p:cNvSpPr txBox="1"/>
          <p:nvPr/>
        </p:nvSpPr>
        <p:spPr>
          <a:xfrm>
            <a:off x="868680" y="1847088"/>
            <a:ext cx="5303520" cy="292608"/>
          </a:xfrm>
          <a:prstGeom prst="rect">
            <a:avLst/>
          </a:prstGeom>
          <a:noFill/>
          <a:ln/>
        </p:spPr>
        <p:txBody>
          <a:bodyPr wrap="square" lIns="0" tIns="0" rIns="0" bIns="0" rtlCol="0" anchor="t"/>
          <a:lstStyle/>
          <a:p>
            <a:pPr indent="0" marL="0">
              <a:buNone/>
            </a:pPr>
            <a:r>
              <a:rPr lang="en-US" sz="1600" b="1" dirty="0">
                <a:solidFill>
                  <a:srgbClr val="F3F5F8"/>
                </a:solidFill>
                <a:latin typeface="Arial" pitchFamily="34" charset="0"/>
                <a:ea typeface="Arial" pitchFamily="34" charset="-122"/>
                <a:cs typeface="Arial" pitchFamily="34" charset="-120"/>
              </a:rPr>
              <a:t>Bedrock model calls per file</a:t>
            </a:r>
            <a:endParaRPr lang="en-US" sz="1600" dirty="0"/>
          </a:p>
        </p:txBody>
      </p:sp>
      <p:sp>
        <p:nvSpPr>
          <p:cNvPr id="6" name="Text 4"/>
          <p:cNvSpPr txBox="1"/>
          <p:nvPr/>
        </p:nvSpPr>
        <p:spPr>
          <a:xfrm>
            <a:off x="868680" y="2157984"/>
            <a:ext cx="5303520" cy="237744"/>
          </a:xfrm>
          <a:prstGeom prst="rect">
            <a:avLst/>
          </a:prstGeom>
          <a:noFill/>
          <a:ln/>
        </p:spPr>
        <p:txBody>
          <a:bodyPr wrap="square" lIns="0" tIns="0" rIns="0" bIns="0" rtlCol="0" anchor="t"/>
          <a:lstStyle/>
          <a:p>
            <a:pPr indent="0" marL="0">
              <a:buNone/>
            </a:pPr>
            <a:r>
              <a:rPr lang="en-US" sz="1100" dirty="0">
                <a:solidFill>
                  <a:srgbClr val="738191"/>
                </a:solidFill>
                <a:latin typeface="Arial" pitchFamily="34" charset="0"/>
                <a:ea typeface="Arial" pitchFamily="34" charset="-122"/>
                <a:cs typeface="Arial" pitchFamily="34" charset="-120"/>
              </a:rPr>
              <a:t>ApplyGuardrail calls invoke no model and aren’t counted</a:t>
            </a:r>
            <a:endParaRPr lang="en-US" sz="1100" dirty="0"/>
          </a:p>
        </p:txBody>
      </p:sp>
      <p:graphicFrame>
        <p:nvGraphicFramePr>
          <p:cNvPr id="7" name="Chart 0" descr=""/>
          <p:cNvGraphicFramePr/>
          <p:nvPr/>
        </p:nvGraphicFramePr>
        <p:xfrm>
          <a:off x="731520" y="2514600"/>
          <a:ext cx="5532120" cy="342900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6720840" y="1691640"/>
            <a:ext cx="2240280" cy="640080"/>
          </a:xfrm>
          <a:prstGeom prst="rect">
            <a:avLst/>
          </a:prstGeom>
          <a:noFill/>
          <a:ln/>
        </p:spPr>
        <p:txBody>
          <a:bodyPr wrap="square" lIns="0" tIns="0" rIns="0" bIns="0" rtlCol="0" anchor="t"/>
          <a:lstStyle/>
          <a:p>
            <a:pPr indent="0" marL="0">
              <a:buNone/>
            </a:pPr>
            <a:r>
              <a:rPr lang="en-US" sz="3400" b="1" dirty="0">
                <a:solidFill>
                  <a:srgbClr val="FF6A2B"/>
                </a:solidFill>
                <a:latin typeface="Arial" pitchFamily="34" charset="0"/>
                <a:ea typeface="Arial" pitchFamily="34" charset="-122"/>
                <a:cs typeface="Arial" pitchFamily="34" charset="-120"/>
              </a:rPr>
              <a:t>~$0.07</a:t>
            </a:r>
            <a:endParaRPr lang="en-US" sz="3400" dirty="0"/>
          </a:p>
        </p:txBody>
      </p:sp>
      <p:sp>
        <p:nvSpPr>
          <p:cNvPr id="9" name="Text 6"/>
          <p:cNvSpPr txBox="1"/>
          <p:nvPr/>
        </p:nvSpPr>
        <p:spPr>
          <a:xfrm>
            <a:off x="9006840" y="1764792"/>
            <a:ext cx="2633472" cy="566928"/>
          </a:xfrm>
          <a:prstGeom prst="rect">
            <a:avLst/>
          </a:prstGeom>
          <a:noFill/>
          <a:ln/>
        </p:spPr>
        <p:txBody>
          <a:bodyPr wrap="square" lIns="0" tIns="0" rIns="0" bIns="0" rtlCol="0" anchor="ctr"/>
          <a:lstStyle/>
          <a:p>
            <a:pPr indent="0" marL="0">
              <a:buNone/>
            </a:pPr>
            <a:r>
              <a:rPr lang="en-US" sz="1250" dirty="0">
                <a:solidFill>
                  <a:srgbClr val="AAB5C3"/>
                </a:solidFill>
                <a:latin typeface="Arial" pitchFamily="34" charset="0"/>
                <a:ea typeface="Arial" pitchFamily="34" charset="-122"/>
                <a:cs typeface="Arial" pitchFamily="34" charset="-120"/>
              </a:rPr>
              <a:t>per file: FORGE’s planning estimate, three calls with Opus 4.8</a:t>
            </a:r>
            <a:endParaRPr lang="en-US" sz="1250" dirty="0"/>
          </a:p>
        </p:txBody>
      </p:sp>
      <p:sp>
        <p:nvSpPr>
          <p:cNvPr id="10" name="Text 7"/>
          <p:cNvSpPr txBox="1"/>
          <p:nvPr/>
        </p:nvSpPr>
        <p:spPr>
          <a:xfrm>
            <a:off x="6720840" y="2587752"/>
            <a:ext cx="2240280" cy="640080"/>
          </a:xfrm>
          <a:prstGeom prst="rect">
            <a:avLst/>
          </a:prstGeom>
          <a:noFill/>
          <a:ln/>
        </p:spPr>
        <p:txBody>
          <a:bodyPr wrap="square" lIns="0" tIns="0" rIns="0" bIns="0" rtlCol="0" anchor="t"/>
          <a:lstStyle/>
          <a:p>
            <a:pPr indent="0" marL="0">
              <a:buNone/>
            </a:pPr>
            <a:r>
              <a:rPr lang="en-US" sz="3400" b="1" dirty="0">
                <a:solidFill>
                  <a:srgbClr val="F3F5F8"/>
                </a:solidFill>
                <a:latin typeface="Arial" pitchFamily="34" charset="0"/>
                <a:ea typeface="Arial" pitchFamily="34" charset="-122"/>
                <a:cs typeface="Arial" pitchFamily="34" charset="-120"/>
              </a:rPr>
              <a:t>~$30</a:t>
            </a:r>
            <a:endParaRPr lang="en-US" sz="3400" dirty="0"/>
          </a:p>
        </p:txBody>
      </p:sp>
      <p:sp>
        <p:nvSpPr>
          <p:cNvPr id="11" name="Text 8"/>
          <p:cNvSpPr txBox="1"/>
          <p:nvPr/>
        </p:nvSpPr>
        <p:spPr>
          <a:xfrm>
            <a:off x="9006840" y="2660904"/>
            <a:ext cx="2633472" cy="566928"/>
          </a:xfrm>
          <a:prstGeom prst="rect">
            <a:avLst/>
          </a:prstGeom>
          <a:noFill/>
          <a:ln/>
        </p:spPr>
        <p:txBody>
          <a:bodyPr wrap="square" lIns="0" tIns="0" rIns="0" bIns="0" rtlCol="0" anchor="ctr"/>
          <a:lstStyle/>
          <a:p>
            <a:pPr indent="0" marL="0">
              <a:buNone/>
            </a:pPr>
            <a:r>
              <a:rPr lang="en-US" sz="1250" dirty="0">
                <a:solidFill>
                  <a:srgbClr val="AAB5C3"/>
                </a:solidFill>
                <a:latin typeface="Arial" pitchFamily="34" charset="0"/>
                <a:ea typeface="Arial" pitchFamily="34" charset="-122"/>
                <a:cs typeface="Arial" pitchFamily="34" charset="-120"/>
              </a:rPr>
              <a:t>what it quotes for all ten packs across AMS: 422 units, before retries</a:t>
            </a:r>
            <a:endParaRPr lang="en-US" sz="1250" dirty="0"/>
          </a:p>
        </p:txBody>
      </p:sp>
      <p:sp>
        <p:nvSpPr>
          <p:cNvPr id="12" name="Text 9"/>
          <p:cNvSpPr txBox="1"/>
          <p:nvPr/>
        </p:nvSpPr>
        <p:spPr>
          <a:xfrm>
            <a:off x="6720840" y="3483864"/>
            <a:ext cx="2240280" cy="640080"/>
          </a:xfrm>
          <a:prstGeom prst="rect">
            <a:avLst/>
          </a:prstGeom>
          <a:noFill/>
          <a:ln/>
        </p:spPr>
        <p:txBody>
          <a:bodyPr wrap="square" lIns="0" tIns="0" rIns="0" bIns="0" rtlCol="0" anchor="t"/>
          <a:lstStyle/>
          <a:p>
            <a:pPr indent="0" marL="0">
              <a:buNone/>
            </a:pPr>
            <a:r>
              <a:rPr lang="en-US" sz="3400" b="1" dirty="0">
                <a:solidFill>
                  <a:srgbClr val="F3F5F8"/>
                </a:solidFill>
                <a:latin typeface="Arial" pitchFamily="34" charset="0"/>
                <a:ea typeface="Arial" pitchFamily="34" charset="-122"/>
                <a:cs typeface="Arial" pitchFamily="34" charset="-120"/>
              </a:rPr>
              <a:t>$50/hr</a:t>
            </a:r>
            <a:endParaRPr lang="en-US" sz="3400" dirty="0"/>
          </a:p>
        </p:txBody>
      </p:sp>
      <p:sp>
        <p:nvSpPr>
          <p:cNvPr id="13" name="Text 10"/>
          <p:cNvSpPr txBox="1"/>
          <p:nvPr/>
        </p:nvSpPr>
        <p:spPr>
          <a:xfrm>
            <a:off x="9006840" y="3557016"/>
            <a:ext cx="2633472" cy="566928"/>
          </a:xfrm>
          <a:prstGeom prst="rect">
            <a:avLst/>
          </a:prstGeom>
          <a:noFill/>
          <a:ln/>
        </p:spPr>
        <p:txBody>
          <a:bodyPr wrap="square" lIns="0" tIns="0" rIns="0" bIns="0" rtlCol="0" anchor="ctr"/>
          <a:lstStyle/>
          <a:p>
            <a:pPr indent="0" marL="0">
              <a:buNone/>
            </a:pPr>
            <a:r>
              <a:rPr lang="en-US" sz="1250" dirty="0">
                <a:solidFill>
                  <a:srgbClr val="AAB5C3"/>
                </a:solidFill>
                <a:latin typeface="Arial" pitchFamily="34" charset="0"/>
                <a:ea typeface="Arial" pitchFamily="34" charset="-122"/>
                <a:cs typeface="Arial" pitchFamily="34" charset="-120"/>
              </a:rPr>
              <a:t>the CloudWatch alarm that flags a runaway run</a:t>
            </a:r>
            <a:endParaRPr lang="en-US" sz="1250" dirty="0"/>
          </a:p>
        </p:txBody>
      </p:sp>
      <p:sp>
        <p:nvSpPr>
          <p:cNvPr id="14" name="Text 11"/>
          <p:cNvSpPr txBox="1"/>
          <p:nvPr/>
        </p:nvSpPr>
        <p:spPr>
          <a:xfrm>
            <a:off x="6720840" y="4379976"/>
            <a:ext cx="2240280" cy="640080"/>
          </a:xfrm>
          <a:prstGeom prst="rect">
            <a:avLst/>
          </a:prstGeom>
          <a:noFill/>
          <a:ln/>
        </p:spPr>
        <p:txBody>
          <a:bodyPr wrap="square" lIns="0" tIns="0" rIns="0" bIns="0" rtlCol="0" anchor="t"/>
          <a:lstStyle/>
          <a:p>
            <a:pPr indent="0" marL="0">
              <a:buNone/>
            </a:pPr>
            <a:r>
              <a:rPr lang="en-US" sz="3400" b="1" dirty="0">
                <a:solidFill>
                  <a:srgbClr val="F3F5F8"/>
                </a:solidFill>
                <a:latin typeface="Arial" pitchFamily="34" charset="0"/>
                <a:ea typeface="Arial" pitchFamily="34" charset="-122"/>
                <a:cs typeface="Arial" pitchFamily="34" charset="-120"/>
              </a:rPr>
              <a:t>~$5/mo</a:t>
            </a:r>
            <a:endParaRPr lang="en-US" sz="3400" dirty="0"/>
          </a:p>
        </p:txBody>
      </p:sp>
      <p:sp>
        <p:nvSpPr>
          <p:cNvPr id="15" name="Text 12"/>
          <p:cNvSpPr txBox="1"/>
          <p:nvPr/>
        </p:nvSpPr>
        <p:spPr>
          <a:xfrm>
            <a:off x="9006840" y="4453128"/>
            <a:ext cx="2633472" cy="566928"/>
          </a:xfrm>
          <a:prstGeom prst="rect">
            <a:avLst/>
          </a:prstGeom>
          <a:noFill/>
          <a:ln/>
        </p:spPr>
        <p:txBody>
          <a:bodyPr wrap="square" lIns="0" tIns="0" rIns="0" bIns="0" rtlCol="0" anchor="ctr"/>
          <a:lstStyle/>
          <a:p>
            <a:pPr indent="0" marL="0">
              <a:buNone/>
            </a:pPr>
            <a:r>
              <a:rPr lang="en-US" sz="1250" dirty="0">
                <a:solidFill>
                  <a:srgbClr val="AAB5C3"/>
                </a:solidFill>
                <a:latin typeface="Arial" pitchFamily="34" charset="0"/>
                <a:ea typeface="Arial" pitchFamily="34" charset="-122"/>
                <a:cs typeface="Arial" pitchFamily="34" charset="-120"/>
              </a:rPr>
              <a:t>idle AWS infrastructure</a:t>
            </a:r>
            <a:endParaRPr lang="en-US" sz="1250" dirty="0"/>
          </a:p>
        </p:txBody>
      </p:sp>
      <p:sp>
        <p:nvSpPr>
          <p:cNvPr id="16" name="Shape 13"/>
          <p:cNvSpPr/>
          <p:nvPr/>
        </p:nvSpPr>
        <p:spPr>
          <a:xfrm>
            <a:off x="6720840" y="5349240"/>
            <a:ext cx="4922215" cy="731520"/>
          </a:xfrm>
          <a:prstGeom prst="roundRect">
            <a:avLst>
              <a:gd name="adj" fmla="val 15000"/>
            </a:avLst>
          </a:prstGeom>
          <a:solidFill>
            <a:srgbClr val="FF6A2B">
              <a:alpha val="10000"/>
            </a:srgbClr>
          </a:solidFill>
          <a:ln w="9525">
            <a:solidFill>
              <a:srgbClr val="FF6A2B">
                <a:alpha val="40000"/>
              </a:srgbClr>
            </a:solidFill>
            <a:prstDash val="solid"/>
          </a:ln>
        </p:spPr>
      </p:sp>
      <p:pic>
        <p:nvPicPr>
          <p:cNvPr id="17" name="Image 0" descr="/private/tmp/claude-501/-Users-raja-forge/826f4f3b-77e1-484d-8167-0e3b60d97c63/scratchpad/deck/assets/icons/LuHand-FF6A2B.png">    </p:cNvPr>
          <p:cNvPicPr>
            <a:picLocks noChangeAspect="1"/>
          </p:cNvPicPr>
          <p:nvPr/>
        </p:nvPicPr>
        <p:blipFill>
          <a:blip r:embed="rId2"/>
          <a:stretch>
            <a:fillRect/>
          </a:stretch>
        </p:blipFill>
        <p:spPr>
          <a:xfrm>
            <a:off x="6903720" y="5541264"/>
            <a:ext cx="329184" cy="329184"/>
          </a:xfrm>
          <a:prstGeom prst="rect">
            <a:avLst/>
          </a:prstGeom>
        </p:spPr>
      </p:pic>
      <p:sp>
        <p:nvSpPr>
          <p:cNvPr id="18" name="Text 14"/>
          <p:cNvSpPr txBox="1"/>
          <p:nvPr/>
        </p:nvSpPr>
        <p:spPr>
          <a:xfrm>
            <a:off x="7406640" y="5422392"/>
            <a:ext cx="4114800" cy="585216"/>
          </a:xfrm>
          <a:prstGeom prst="rect">
            <a:avLst/>
          </a:prstGeom>
          <a:noFill/>
          <a:ln/>
        </p:spPr>
        <p:txBody>
          <a:bodyPr wrap="square" lIns="0" tIns="0" rIns="0" bIns="0" rtlCol="0" anchor="ctr"/>
          <a:lstStyle/>
          <a:p>
            <a:pPr indent="0" marL="0">
              <a:buNone/>
            </a:pPr>
            <a:r>
              <a:rPr lang="en-US" sz="1250" b="1" dirty="0">
                <a:solidFill>
                  <a:srgbClr val="F3F5F8"/>
                </a:solidFill>
                <a:latin typeface="Arial" pitchFamily="34" charset="0"/>
                <a:ea typeface="Arial" pitchFamily="34" charset="-122"/>
                <a:cs typeface="Arial" pitchFamily="34" charset="-120"/>
              </a:rPr>
              <a:t>Profiling, planning and estimating are free. Set a limit, and spend above it waits for your click.</a:t>
            </a:r>
            <a:endParaRPr lang="en-US" sz="1250" dirty="0"/>
          </a:p>
        </p:txBody>
      </p:sp>
      <p:sp>
        <p:nvSpPr>
          <p:cNvPr id="19" name="Text 15"/>
          <p:cNvSpPr txBox="1"/>
          <p:nvPr/>
        </p:nvSpPr>
        <p:spPr>
          <a:xfrm>
            <a:off x="548640" y="6455664"/>
            <a:ext cx="5486400" cy="219456"/>
          </a:xfrm>
          <a:prstGeom prst="rect">
            <a:avLst/>
          </a:prstGeom>
          <a:noFill/>
          <a:ln/>
        </p:spPr>
        <p:txBody>
          <a:bodyPr wrap="square" lIns="0" tIns="0" rIns="0" bIns="0" rtlCol="0" anchor="t"/>
          <a:lstStyle/>
          <a:p>
            <a:pPr indent="0" marL="0">
              <a:buNone/>
            </a:pPr>
            <a:r>
              <a:rPr lang="en-US" sz="900" dirty="0">
                <a:solidFill>
                  <a:srgbClr val="738191"/>
                </a:solidFill>
                <a:latin typeface="Arial" pitchFamily="34" charset="0"/>
                <a:ea typeface="Arial" pitchFamily="34" charset="-122"/>
                <a:cs typeface="Arial" pitchFamily="34" charset="-120"/>
              </a:rPr>
              <a:t>FORGE  ·  Software Development Conference 2026</a:t>
            </a:r>
            <a:endParaRPr lang="en-US" sz="900" dirty="0"/>
          </a:p>
        </p:txBody>
      </p:sp>
      <p:sp>
        <p:nvSpPr>
          <p:cNvPr id="20" name="Text 16"/>
          <p:cNvSpPr txBox="1"/>
          <p:nvPr/>
        </p:nvSpPr>
        <p:spPr>
          <a:xfrm>
            <a:off x="11094415" y="6455664"/>
            <a:ext cx="548640" cy="219456"/>
          </a:xfrm>
          <a:prstGeom prst="rect">
            <a:avLst/>
          </a:prstGeom>
          <a:noFill/>
          <a:ln/>
        </p:spPr>
        <p:txBody>
          <a:bodyPr wrap="square" lIns="0" tIns="0" rIns="0" bIns="0" rtlCol="0" anchor="t"/>
          <a:lstStyle/>
          <a:p>
            <a:pPr algn="r" indent="0" marL="0">
              <a:buNone/>
            </a:pPr>
            <a:r>
              <a:rPr lang="en-US" sz="900" dirty="0">
                <a:solidFill>
                  <a:srgbClr val="738191"/>
                </a:solidFill>
                <a:latin typeface="Arial" pitchFamily="34" charset="0"/>
                <a:ea typeface="Arial" pitchFamily="34" charset="-122"/>
                <a:cs typeface="Arial"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t"/>
          <a:lstStyle/>
          <a:p>
            <a:pPr indent="0" marL="0">
              <a:buNone/>
            </a:pPr>
            <a:r>
              <a:rPr lang="en-US" sz="1100" b="1" spc="300" kern="0" dirty="0">
                <a:solidFill>
                  <a:srgbClr val="FF6A2B"/>
                </a:solidFill>
                <a:latin typeface="Arial" pitchFamily="34" charset="0"/>
                <a:ea typeface="Arial" pitchFamily="34" charset="-122"/>
                <a:cs typeface="Arial" pitchFamily="34" charset="-120"/>
              </a:rPr>
              <a:t>05  ·  PROOF &amp; OPERATIONS</a:t>
            </a:r>
            <a:endParaRPr lang="en-US" sz="1100" dirty="0"/>
          </a:p>
        </p:txBody>
      </p:sp>
      <p:sp>
        <p:nvSpPr>
          <p:cNvPr id="3" name="Text 1"/>
          <p:cNvSpPr txBox="1"/>
          <p:nvPr/>
        </p:nvSpPr>
        <p:spPr>
          <a:xfrm>
            <a:off x="548640" y="676656"/>
            <a:ext cx="11094415" cy="658368"/>
          </a:xfrm>
          <a:prstGeom prst="rect">
            <a:avLst/>
          </a:prstGeom>
          <a:noFill/>
          <a:ln/>
        </p:spPr>
        <p:txBody>
          <a:bodyPr wrap="square" lIns="0" tIns="0" rIns="0" bIns="0" rtlCol="0" anchor="t"/>
          <a:lstStyle/>
          <a:p>
            <a:pPr indent="0" marL="0">
              <a:buNone/>
            </a:pPr>
            <a:r>
              <a:rPr lang="en-US" sz="3200" b="1" dirty="0">
                <a:solidFill>
                  <a:srgbClr val="F3F5F8"/>
                </a:solidFill>
                <a:latin typeface="Arial" pitchFamily="34" charset="0"/>
                <a:ea typeface="Arial" pitchFamily="34" charset="-122"/>
                <a:cs typeface="Arial" pitchFamily="34" charset="-120"/>
              </a:rPr>
              <a:t>Infrastructure: one terraform apply</a:t>
            </a:r>
            <a:endParaRPr lang="en-US" sz="3200" dirty="0"/>
          </a:p>
        </p:txBody>
      </p:sp>
      <p:sp>
        <p:nvSpPr>
          <p:cNvPr id="4" name="Text 2"/>
          <p:cNvSpPr txBox="1"/>
          <p:nvPr/>
        </p:nvSpPr>
        <p:spPr>
          <a:xfrm>
            <a:off x="548640" y="1316736"/>
            <a:ext cx="10607040" cy="512064"/>
          </a:xfrm>
          <a:prstGeom prst="rect">
            <a:avLst/>
          </a:prstGeom>
          <a:noFill/>
          <a:ln/>
        </p:spPr>
        <p:txBody>
          <a:bodyPr wrap="square" lIns="0" tIns="0" rIns="0" bIns="0" rtlCol="0" anchor="t"/>
          <a:lstStyle/>
          <a:p>
            <a:pPr indent="0" marL="0">
              <a:lnSpc>
                <a:spcPct val="105000"/>
              </a:lnSpc>
              <a:buNone/>
            </a:pPr>
            <a:r>
              <a:rPr lang="en-US" sz="1500" dirty="0">
                <a:solidFill>
                  <a:srgbClr val="AAB5C3"/>
                </a:solidFill>
                <a:latin typeface="Arial" pitchFamily="34" charset="0"/>
                <a:ea typeface="Arial" pitchFamily="34" charset="-122"/>
                <a:cs typeface="Arial" pitchFamily="34" charset="-120"/>
              </a:rPr>
              <a:t>Four modules. Two are on by default; the other two wait behind flags.</a:t>
            </a:r>
            <a:endParaRPr lang="en-US" sz="1500" dirty="0"/>
          </a:p>
        </p:txBody>
      </p:sp>
      <p:sp>
        <p:nvSpPr>
          <p:cNvPr id="5" name="Shape 3"/>
          <p:cNvSpPr/>
          <p:nvPr/>
        </p:nvSpPr>
        <p:spPr>
          <a:xfrm>
            <a:off x="548640" y="2011680"/>
            <a:ext cx="2636444" cy="1965960"/>
          </a:xfrm>
          <a:prstGeom prst="roundRect">
            <a:avLst>
              <a:gd name="adj" fmla="val 5581"/>
            </a:avLst>
          </a:prstGeom>
          <a:solidFill>
            <a:srgbClr val="121821">
              <a:alpha val="95000"/>
            </a:srgbClr>
          </a:solidFill>
          <a:ln w="9525">
            <a:solidFill>
              <a:srgbClr val="1E2835"/>
            </a:solidFill>
            <a:prstDash val="solid"/>
          </a:ln>
        </p:spPr>
      </p:sp>
      <p:sp>
        <p:nvSpPr>
          <p:cNvPr id="6" name="Shape 4"/>
          <p:cNvSpPr/>
          <p:nvPr/>
        </p:nvSpPr>
        <p:spPr>
          <a:xfrm>
            <a:off x="777240" y="2240280"/>
            <a:ext cx="475488" cy="475488"/>
          </a:xfrm>
          <a:prstGeom prst="ellipse">
            <a:avLst/>
          </a:prstGeom>
          <a:solidFill>
            <a:srgbClr val="5EB1FF">
              <a:alpha val="16000"/>
            </a:srgbClr>
          </a:solidFill>
          <a:ln w="9525">
            <a:solidFill>
              <a:srgbClr val="5EB1FF">
                <a:alpha val="50000"/>
              </a:srgbClr>
            </a:solidFill>
            <a:prstDash val="solid"/>
          </a:ln>
        </p:spPr>
      </p:sp>
      <p:pic>
        <p:nvPicPr>
          <p:cNvPr id="7" name="Image 0" descr="/private/tmp/claude-501/-Users-raja-forge/826f4f3b-77e1-484d-8167-0e3b60d97c63/scratchpad/deck/assets/icons/LuDatabase-5EB1FF.png">    </p:cNvPr>
          <p:cNvPicPr>
            <a:picLocks noChangeAspect="1"/>
          </p:cNvPicPr>
          <p:nvPr/>
        </p:nvPicPr>
        <p:blipFill>
          <a:blip r:embed="rId1"/>
          <a:stretch>
            <a:fillRect/>
          </a:stretch>
        </p:blipFill>
        <p:spPr>
          <a:xfrm>
            <a:off x="896112" y="2359152"/>
            <a:ext cx="237744" cy="237744"/>
          </a:xfrm>
          <a:prstGeom prst="rect">
            <a:avLst/>
          </a:prstGeom>
        </p:spPr>
      </p:pic>
      <p:sp>
        <p:nvSpPr>
          <p:cNvPr id="8" name="Text 5"/>
          <p:cNvSpPr txBox="1"/>
          <p:nvPr/>
        </p:nvSpPr>
        <p:spPr>
          <a:xfrm>
            <a:off x="2224964" y="2340864"/>
            <a:ext cx="749808" cy="274320"/>
          </a:xfrm>
          <a:prstGeom prst="roundRect">
            <a:avLst>
              <a:gd name="adj" fmla="val 50000"/>
            </a:avLst>
          </a:prstGeom>
          <a:solidFill>
            <a:srgbClr val="35D07F">
              <a:alpha val="20000"/>
            </a:srgbClr>
          </a:solidFill>
          <a:ln w="9525">
            <a:solidFill>
              <a:srgbClr val="35D07F">
                <a:alpha val="55000"/>
              </a:srgbClr>
            </a:solidFill>
          </a:ln>
        </p:spPr>
        <p:txBody>
          <a:bodyPr wrap="square" lIns="0" tIns="0" rIns="0" bIns="0" rtlCol="0" anchor="ctr"/>
          <a:lstStyle/>
          <a:p>
            <a:pPr algn="ctr" indent="0" marL="0">
              <a:buNone/>
            </a:pPr>
            <a:r>
              <a:rPr lang="en-US" sz="1000" b="1" dirty="0">
                <a:solidFill>
                  <a:srgbClr val="35D07F"/>
                </a:solidFill>
                <a:latin typeface="Arial" pitchFamily="34" charset="0"/>
                <a:ea typeface="Arial" pitchFamily="34" charset="-122"/>
                <a:cs typeface="Arial" pitchFamily="34" charset="-120"/>
              </a:rPr>
              <a:t>ON</a:t>
            </a:r>
            <a:endParaRPr lang="en-US" sz="1000" dirty="0"/>
          </a:p>
        </p:txBody>
      </p:sp>
      <p:sp>
        <p:nvSpPr>
          <p:cNvPr id="9" name="Text 6"/>
          <p:cNvSpPr txBox="1"/>
          <p:nvPr/>
        </p:nvSpPr>
        <p:spPr>
          <a:xfrm>
            <a:off x="777240" y="2852928"/>
            <a:ext cx="2270684" cy="292608"/>
          </a:xfrm>
          <a:prstGeom prst="rect">
            <a:avLst/>
          </a:prstGeom>
          <a:noFill/>
          <a:ln/>
        </p:spPr>
        <p:txBody>
          <a:bodyPr wrap="square" lIns="0" tIns="0" rIns="0" bIns="0" rtlCol="0" anchor="t"/>
          <a:lstStyle/>
          <a:p>
            <a:pPr indent="0" marL="0">
              <a:buNone/>
            </a:pPr>
            <a:r>
              <a:rPr lang="en-US" sz="1500" b="1" dirty="0">
                <a:solidFill>
                  <a:srgbClr val="F3F5F8"/>
                </a:solidFill>
                <a:latin typeface="Consolas" pitchFamily="34" charset="0"/>
                <a:ea typeface="Consolas" pitchFamily="34" charset="-122"/>
                <a:cs typeface="Consolas" pitchFamily="34" charset="-120"/>
              </a:rPr>
              <a:t>foundation</a:t>
            </a:r>
            <a:endParaRPr lang="en-US" sz="1500" dirty="0"/>
          </a:p>
        </p:txBody>
      </p:sp>
      <p:sp>
        <p:nvSpPr>
          <p:cNvPr id="10" name="Text 7"/>
          <p:cNvSpPr txBox="1"/>
          <p:nvPr/>
        </p:nvSpPr>
        <p:spPr>
          <a:xfrm>
            <a:off x="777240" y="3182112"/>
            <a:ext cx="2224964" cy="731520"/>
          </a:xfrm>
          <a:prstGeom prst="rect">
            <a:avLst/>
          </a:prstGeom>
          <a:noFill/>
          <a:ln/>
        </p:spPr>
        <p:txBody>
          <a:bodyPr wrap="square" lIns="0" tIns="0" rIns="0" bIns="0" rtlCol="0" anchor="t"/>
          <a:lstStyle/>
          <a:p>
            <a:pPr indent="0" marL="0">
              <a:buNone/>
            </a:pPr>
            <a:r>
              <a:rPr lang="en-US" sz="1150" dirty="0">
                <a:solidFill>
                  <a:srgbClr val="AAB5C3"/>
                </a:solidFill>
                <a:latin typeface="Arial" pitchFamily="34" charset="0"/>
                <a:ea typeface="Arial" pitchFamily="34" charset="-122"/>
                <a:cs typeface="Arial" pitchFamily="34" charset="-120"/>
              </a:rPr>
              <a:t>Two DynamoDB tables, a Bedrock Guardrail for secrets and prompt attacks, and the IAM execution role</a:t>
            </a:r>
            <a:endParaRPr lang="en-US" sz="1150" dirty="0"/>
          </a:p>
        </p:txBody>
      </p:sp>
      <p:sp>
        <p:nvSpPr>
          <p:cNvPr id="11" name="Shape 8"/>
          <p:cNvSpPr/>
          <p:nvPr/>
        </p:nvSpPr>
        <p:spPr>
          <a:xfrm>
            <a:off x="3367964" y="2011680"/>
            <a:ext cx="2636444" cy="1965960"/>
          </a:xfrm>
          <a:prstGeom prst="roundRect">
            <a:avLst>
              <a:gd name="adj" fmla="val 5581"/>
            </a:avLst>
          </a:prstGeom>
          <a:solidFill>
            <a:srgbClr val="121821">
              <a:alpha val="95000"/>
            </a:srgbClr>
          </a:solidFill>
          <a:ln w="9525">
            <a:solidFill>
              <a:srgbClr val="1E2835"/>
            </a:solidFill>
            <a:prstDash val="solid"/>
          </a:ln>
        </p:spPr>
      </p:sp>
      <p:sp>
        <p:nvSpPr>
          <p:cNvPr id="12" name="Shape 9"/>
          <p:cNvSpPr/>
          <p:nvPr/>
        </p:nvSpPr>
        <p:spPr>
          <a:xfrm>
            <a:off x="3596564" y="2240280"/>
            <a:ext cx="475488" cy="475488"/>
          </a:xfrm>
          <a:prstGeom prst="ellipse">
            <a:avLst/>
          </a:prstGeom>
          <a:solidFill>
            <a:srgbClr val="5EB1FF">
              <a:alpha val="16000"/>
            </a:srgbClr>
          </a:solidFill>
          <a:ln w="9525">
            <a:solidFill>
              <a:srgbClr val="5EB1FF">
                <a:alpha val="50000"/>
              </a:srgbClr>
            </a:solidFill>
            <a:prstDash val="solid"/>
          </a:ln>
        </p:spPr>
      </p:sp>
      <p:pic>
        <p:nvPicPr>
          <p:cNvPr id="13" name="Image 1" descr="/private/tmp/claude-501/-Users-raja-forge/826f4f3b-77e1-484d-8167-0e3b60d97c63/scratchpad/deck/assets/icons/LuActivity-5EB1FF.png">    </p:cNvPr>
          <p:cNvPicPr>
            <a:picLocks noChangeAspect="1"/>
          </p:cNvPicPr>
          <p:nvPr/>
        </p:nvPicPr>
        <p:blipFill>
          <a:blip r:embed="rId2"/>
          <a:stretch>
            <a:fillRect/>
          </a:stretch>
        </p:blipFill>
        <p:spPr>
          <a:xfrm>
            <a:off x="3715436" y="2359152"/>
            <a:ext cx="237744" cy="237744"/>
          </a:xfrm>
          <a:prstGeom prst="rect">
            <a:avLst/>
          </a:prstGeom>
        </p:spPr>
      </p:pic>
      <p:sp>
        <p:nvSpPr>
          <p:cNvPr id="14" name="Text 10"/>
          <p:cNvSpPr txBox="1"/>
          <p:nvPr/>
        </p:nvSpPr>
        <p:spPr>
          <a:xfrm>
            <a:off x="5044288" y="2340864"/>
            <a:ext cx="749808" cy="274320"/>
          </a:xfrm>
          <a:prstGeom prst="roundRect">
            <a:avLst>
              <a:gd name="adj" fmla="val 50000"/>
            </a:avLst>
          </a:prstGeom>
          <a:solidFill>
            <a:srgbClr val="35D07F">
              <a:alpha val="20000"/>
            </a:srgbClr>
          </a:solidFill>
          <a:ln w="9525">
            <a:solidFill>
              <a:srgbClr val="35D07F">
                <a:alpha val="55000"/>
              </a:srgbClr>
            </a:solidFill>
          </a:ln>
        </p:spPr>
        <p:txBody>
          <a:bodyPr wrap="square" lIns="0" tIns="0" rIns="0" bIns="0" rtlCol="0" anchor="ctr"/>
          <a:lstStyle/>
          <a:p>
            <a:pPr algn="ctr" indent="0" marL="0">
              <a:buNone/>
            </a:pPr>
            <a:r>
              <a:rPr lang="en-US" sz="1000" b="1" dirty="0">
                <a:solidFill>
                  <a:srgbClr val="35D07F"/>
                </a:solidFill>
                <a:latin typeface="Arial" pitchFamily="34" charset="0"/>
                <a:ea typeface="Arial" pitchFamily="34" charset="-122"/>
                <a:cs typeface="Arial" pitchFamily="34" charset="-120"/>
              </a:rPr>
              <a:t>ON</a:t>
            </a:r>
            <a:endParaRPr lang="en-US" sz="1000" dirty="0"/>
          </a:p>
        </p:txBody>
      </p:sp>
      <p:sp>
        <p:nvSpPr>
          <p:cNvPr id="15" name="Text 11"/>
          <p:cNvSpPr txBox="1"/>
          <p:nvPr/>
        </p:nvSpPr>
        <p:spPr>
          <a:xfrm>
            <a:off x="3596564" y="2852928"/>
            <a:ext cx="2270684" cy="292608"/>
          </a:xfrm>
          <a:prstGeom prst="rect">
            <a:avLst/>
          </a:prstGeom>
          <a:noFill/>
          <a:ln/>
        </p:spPr>
        <p:txBody>
          <a:bodyPr wrap="square" lIns="0" tIns="0" rIns="0" bIns="0" rtlCol="0" anchor="t"/>
          <a:lstStyle/>
          <a:p>
            <a:pPr indent="0" marL="0">
              <a:buNone/>
            </a:pPr>
            <a:r>
              <a:rPr lang="en-US" sz="1500" b="1" dirty="0">
                <a:solidFill>
                  <a:srgbClr val="F3F5F8"/>
                </a:solidFill>
                <a:latin typeface="Consolas" pitchFamily="34" charset="0"/>
                <a:ea typeface="Consolas" pitchFamily="34" charset="-122"/>
                <a:cs typeface="Consolas" pitchFamily="34" charset="-120"/>
              </a:rPr>
              <a:t>observability</a:t>
            </a:r>
            <a:endParaRPr lang="en-US" sz="1500" dirty="0"/>
          </a:p>
        </p:txBody>
      </p:sp>
      <p:sp>
        <p:nvSpPr>
          <p:cNvPr id="16" name="Text 12"/>
          <p:cNvSpPr txBox="1"/>
          <p:nvPr/>
        </p:nvSpPr>
        <p:spPr>
          <a:xfrm>
            <a:off x="3596564" y="3182112"/>
            <a:ext cx="2224964" cy="731520"/>
          </a:xfrm>
          <a:prstGeom prst="rect">
            <a:avLst/>
          </a:prstGeom>
          <a:noFill/>
          <a:ln/>
        </p:spPr>
        <p:txBody>
          <a:bodyPr wrap="square" lIns="0" tIns="0" rIns="0" bIns="0" rtlCol="0" anchor="t"/>
          <a:lstStyle/>
          <a:p>
            <a:pPr indent="0" marL="0">
              <a:buNone/>
            </a:pPr>
            <a:r>
              <a:rPr lang="en-US" sz="1150" dirty="0">
                <a:solidFill>
                  <a:srgbClr val="AAB5C3"/>
                </a:solidFill>
                <a:latin typeface="Arial" pitchFamily="34" charset="0"/>
                <a:ea typeface="Arial" pitchFamily="34" charset="-122"/>
                <a:cs typeface="Arial" pitchFamily="34" charset="-120"/>
              </a:rPr>
              <a:t>Log group, dashboard, four alarms and SNS e-mail alerts</a:t>
            </a:r>
            <a:endParaRPr lang="en-US" sz="1150" dirty="0"/>
          </a:p>
        </p:txBody>
      </p:sp>
      <p:sp>
        <p:nvSpPr>
          <p:cNvPr id="17" name="Shape 13"/>
          <p:cNvSpPr/>
          <p:nvPr/>
        </p:nvSpPr>
        <p:spPr>
          <a:xfrm>
            <a:off x="6187288" y="2011680"/>
            <a:ext cx="2636444" cy="1965960"/>
          </a:xfrm>
          <a:prstGeom prst="roundRect">
            <a:avLst>
              <a:gd name="adj" fmla="val 5581"/>
            </a:avLst>
          </a:prstGeom>
          <a:solidFill>
            <a:srgbClr val="121821">
              <a:alpha val="95000"/>
            </a:srgbClr>
          </a:solidFill>
          <a:ln w="9525">
            <a:solidFill>
              <a:srgbClr val="1E2835"/>
            </a:solidFill>
            <a:prstDash val="solid"/>
          </a:ln>
        </p:spPr>
      </p:sp>
      <p:sp>
        <p:nvSpPr>
          <p:cNvPr id="18" name="Shape 14"/>
          <p:cNvSpPr/>
          <p:nvPr/>
        </p:nvSpPr>
        <p:spPr>
          <a:xfrm>
            <a:off x="6415888" y="2240280"/>
            <a:ext cx="475488" cy="475488"/>
          </a:xfrm>
          <a:prstGeom prst="ellipse">
            <a:avLst/>
          </a:prstGeom>
          <a:solidFill>
            <a:srgbClr val="5EB1FF">
              <a:alpha val="16000"/>
            </a:srgbClr>
          </a:solidFill>
          <a:ln w="9525">
            <a:solidFill>
              <a:srgbClr val="5EB1FF">
                <a:alpha val="50000"/>
              </a:srgbClr>
            </a:solidFill>
            <a:prstDash val="solid"/>
          </a:ln>
        </p:spPr>
      </p:sp>
      <p:pic>
        <p:nvPicPr>
          <p:cNvPr id="19" name="Image 2" descr="/private/tmp/claude-501/-Users-raja-forge/826f4f3b-77e1-484d-8167-0e3b60d97c63/scratchpad/deck/assets/icons/LuLayers-5EB1FF.png">    </p:cNvPr>
          <p:cNvPicPr>
            <a:picLocks noChangeAspect="1"/>
          </p:cNvPicPr>
          <p:nvPr/>
        </p:nvPicPr>
        <p:blipFill>
          <a:blip r:embed="rId3"/>
          <a:stretch>
            <a:fillRect/>
          </a:stretch>
        </p:blipFill>
        <p:spPr>
          <a:xfrm>
            <a:off x="6534760" y="2359152"/>
            <a:ext cx="237744" cy="237744"/>
          </a:xfrm>
          <a:prstGeom prst="rect">
            <a:avLst/>
          </a:prstGeom>
        </p:spPr>
      </p:pic>
      <p:sp>
        <p:nvSpPr>
          <p:cNvPr id="20" name="Text 15"/>
          <p:cNvSpPr txBox="1"/>
          <p:nvPr/>
        </p:nvSpPr>
        <p:spPr>
          <a:xfrm>
            <a:off x="7863611" y="2340864"/>
            <a:ext cx="749808" cy="274320"/>
          </a:xfrm>
          <a:prstGeom prst="roundRect">
            <a:avLst>
              <a:gd name="adj" fmla="val 50000"/>
            </a:avLst>
          </a:prstGeom>
          <a:solidFill>
            <a:srgbClr val="FFB547">
              <a:alpha val="20000"/>
            </a:srgbClr>
          </a:solidFill>
          <a:ln w="9525">
            <a:solidFill>
              <a:srgbClr val="FFB547">
                <a:alpha val="55000"/>
              </a:srgbClr>
            </a:solidFill>
          </a:ln>
        </p:spPr>
        <p:txBody>
          <a:bodyPr wrap="square" lIns="0" tIns="0" rIns="0" bIns="0" rtlCol="0" anchor="ctr"/>
          <a:lstStyle/>
          <a:p>
            <a:pPr algn="ctr" indent="0" marL="0">
              <a:buNone/>
            </a:pPr>
            <a:r>
              <a:rPr lang="en-US" sz="1000" b="1" dirty="0">
                <a:solidFill>
                  <a:srgbClr val="FFB547"/>
                </a:solidFill>
                <a:latin typeface="Arial" pitchFamily="34" charset="0"/>
                <a:ea typeface="Arial" pitchFamily="34" charset="-122"/>
                <a:cs typeface="Arial" pitchFamily="34" charset="-120"/>
              </a:rPr>
              <a:t>OPT-IN</a:t>
            </a:r>
            <a:endParaRPr lang="en-US" sz="1000" dirty="0"/>
          </a:p>
        </p:txBody>
      </p:sp>
      <p:sp>
        <p:nvSpPr>
          <p:cNvPr id="21" name="Text 16"/>
          <p:cNvSpPr txBox="1"/>
          <p:nvPr/>
        </p:nvSpPr>
        <p:spPr>
          <a:xfrm>
            <a:off x="6415888" y="2852928"/>
            <a:ext cx="2270684" cy="292608"/>
          </a:xfrm>
          <a:prstGeom prst="rect">
            <a:avLst/>
          </a:prstGeom>
          <a:noFill/>
          <a:ln/>
        </p:spPr>
        <p:txBody>
          <a:bodyPr wrap="square" lIns="0" tIns="0" rIns="0" bIns="0" rtlCol="0" anchor="t"/>
          <a:lstStyle/>
          <a:p>
            <a:pPr indent="0" marL="0">
              <a:buNone/>
            </a:pPr>
            <a:r>
              <a:rPr lang="en-US" sz="1500" b="1" dirty="0">
                <a:solidFill>
                  <a:srgbClr val="F3F5F8"/>
                </a:solidFill>
                <a:latin typeface="Consolas" pitchFamily="34" charset="0"/>
                <a:ea typeface="Consolas" pitchFamily="34" charset="-122"/>
                <a:cs typeface="Consolas" pitchFamily="34" charset="-120"/>
              </a:rPr>
              <a:t>sqs</a:t>
            </a:r>
            <a:endParaRPr lang="en-US" sz="1500" dirty="0"/>
          </a:p>
        </p:txBody>
      </p:sp>
      <p:sp>
        <p:nvSpPr>
          <p:cNvPr id="22" name="Text 17"/>
          <p:cNvSpPr txBox="1"/>
          <p:nvPr/>
        </p:nvSpPr>
        <p:spPr>
          <a:xfrm>
            <a:off x="6415888" y="3182112"/>
            <a:ext cx="2224964" cy="731520"/>
          </a:xfrm>
          <a:prstGeom prst="rect">
            <a:avLst/>
          </a:prstGeom>
          <a:noFill/>
          <a:ln/>
        </p:spPr>
        <p:txBody>
          <a:bodyPr wrap="square" lIns="0" tIns="0" rIns="0" bIns="0" rtlCol="0" anchor="t"/>
          <a:lstStyle/>
          <a:p>
            <a:pPr indent="0" marL="0">
              <a:buNone/>
            </a:pPr>
            <a:r>
              <a:rPr lang="en-US" sz="1150" dirty="0">
                <a:solidFill>
                  <a:srgbClr val="AAB5C3"/>
                </a:solidFill>
                <a:latin typeface="Arial" pitchFamily="34" charset="0"/>
                <a:ea typeface="Arial" pitchFamily="34" charset="-122"/>
                <a:cs typeface="Arial" pitchFamily="34" charset="-120"/>
              </a:rPr>
              <a:t>Manual-review queue and dead-letter queue, behind enable_sqs</a:t>
            </a:r>
            <a:endParaRPr lang="en-US" sz="1150" dirty="0"/>
          </a:p>
        </p:txBody>
      </p:sp>
      <p:sp>
        <p:nvSpPr>
          <p:cNvPr id="23" name="Shape 18"/>
          <p:cNvSpPr/>
          <p:nvPr/>
        </p:nvSpPr>
        <p:spPr>
          <a:xfrm>
            <a:off x="9006611" y="2011680"/>
            <a:ext cx="2636444" cy="1965960"/>
          </a:xfrm>
          <a:prstGeom prst="roundRect">
            <a:avLst>
              <a:gd name="adj" fmla="val 5581"/>
            </a:avLst>
          </a:prstGeom>
          <a:solidFill>
            <a:srgbClr val="121821">
              <a:alpha val="95000"/>
            </a:srgbClr>
          </a:solidFill>
          <a:ln w="9525">
            <a:solidFill>
              <a:srgbClr val="1E2835"/>
            </a:solidFill>
            <a:prstDash val="solid"/>
          </a:ln>
        </p:spPr>
      </p:sp>
      <p:sp>
        <p:nvSpPr>
          <p:cNvPr id="24" name="Shape 19"/>
          <p:cNvSpPr/>
          <p:nvPr/>
        </p:nvSpPr>
        <p:spPr>
          <a:xfrm>
            <a:off x="9235211" y="2240280"/>
            <a:ext cx="475488" cy="475488"/>
          </a:xfrm>
          <a:prstGeom prst="ellipse">
            <a:avLst/>
          </a:prstGeom>
          <a:solidFill>
            <a:srgbClr val="5EB1FF">
              <a:alpha val="16000"/>
            </a:srgbClr>
          </a:solidFill>
          <a:ln w="9525">
            <a:solidFill>
              <a:srgbClr val="5EB1FF">
                <a:alpha val="50000"/>
              </a:srgbClr>
            </a:solidFill>
            <a:prstDash val="solid"/>
          </a:ln>
        </p:spPr>
      </p:sp>
      <p:pic>
        <p:nvPicPr>
          <p:cNvPr id="25" name="Image 3" descr="/private/tmp/claude-501/-Users-raja-forge/826f4f3b-77e1-484d-8167-0e3b60d97c63/scratchpad/deck/assets/icons/LuServer-5EB1FF.png">    </p:cNvPr>
          <p:cNvPicPr>
            <a:picLocks noChangeAspect="1"/>
          </p:cNvPicPr>
          <p:nvPr/>
        </p:nvPicPr>
        <p:blipFill>
          <a:blip r:embed="rId4"/>
          <a:stretch>
            <a:fillRect/>
          </a:stretch>
        </p:blipFill>
        <p:spPr>
          <a:xfrm>
            <a:off x="9354083" y="2359152"/>
            <a:ext cx="237744" cy="237744"/>
          </a:xfrm>
          <a:prstGeom prst="rect">
            <a:avLst/>
          </a:prstGeom>
        </p:spPr>
      </p:pic>
      <p:sp>
        <p:nvSpPr>
          <p:cNvPr id="26" name="Text 20"/>
          <p:cNvSpPr txBox="1"/>
          <p:nvPr/>
        </p:nvSpPr>
        <p:spPr>
          <a:xfrm>
            <a:off x="10682935" y="2340864"/>
            <a:ext cx="749808" cy="274320"/>
          </a:xfrm>
          <a:prstGeom prst="roundRect">
            <a:avLst>
              <a:gd name="adj" fmla="val 50000"/>
            </a:avLst>
          </a:prstGeom>
          <a:solidFill>
            <a:srgbClr val="738191">
              <a:alpha val="20000"/>
            </a:srgbClr>
          </a:solidFill>
          <a:ln w="9525">
            <a:solidFill>
              <a:srgbClr val="738191">
                <a:alpha val="55000"/>
              </a:srgbClr>
            </a:solidFill>
          </a:ln>
        </p:spPr>
        <p:txBody>
          <a:bodyPr wrap="square" lIns="0" tIns="0" rIns="0" bIns="0" rtlCol="0" anchor="ctr"/>
          <a:lstStyle/>
          <a:p>
            <a:pPr algn="ctr" indent="0" marL="0">
              <a:buNone/>
            </a:pPr>
            <a:r>
              <a:rPr lang="en-US" sz="1000" b="1" dirty="0">
                <a:solidFill>
                  <a:srgbClr val="738191"/>
                </a:solidFill>
                <a:latin typeface="Arial" pitchFamily="34" charset="0"/>
                <a:ea typeface="Arial" pitchFamily="34" charset="-122"/>
                <a:cs typeface="Arial" pitchFamily="34" charset="-120"/>
              </a:rPr>
              <a:t>OFF</a:t>
            </a:r>
            <a:endParaRPr lang="en-US" sz="1000" dirty="0"/>
          </a:p>
        </p:txBody>
      </p:sp>
      <p:sp>
        <p:nvSpPr>
          <p:cNvPr id="27" name="Text 21"/>
          <p:cNvSpPr txBox="1"/>
          <p:nvPr/>
        </p:nvSpPr>
        <p:spPr>
          <a:xfrm>
            <a:off x="9235211" y="2852928"/>
            <a:ext cx="2270684" cy="292608"/>
          </a:xfrm>
          <a:prstGeom prst="rect">
            <a:avLst/>
          </a:prstGeom>
          <a:noFill/>
          <a:ln/>
        </p:spPr>
        <p:txBody>
          <a:bodyPr wrap="square" lIns="0" tIns="0" rIns="0" bIns="0" rtlCol="0" anchor="t"/>
          <a:lstStyle/>
          <a:p>
            <a:pPr indent="0" marL="0">
              <a:buNone/>
            </a:pPr>
            <a:r>
              <a:rPr lang="en-US" sz="1500" b="1" dirty="0">
                <a:solidFill>
                  <a:srgbClr val="F3F5F8"/>
                </a:solidFill>
                <a:latin typeface="Consolas" pitchFamily="34" charset="0"/>
                <a:ea typeface="Consolas" pitchFamily="34" charset="-122"/>
                <a:cs typeface="Consolas" pitchFamily="34" charset="-120"/>
              </a:rPr>
              <a:t>sagemaker</a:t>
            </a:r>
            <a:endParaRPr lang="en-US" sz="1500" dirty="0"/>
          </a:p>
        </p:txBody>
      </p:sp>
      <p:sp>
        <p:nvSpPr>
          <p:cNvPr id="28" name="Text 22"/>
          <p:cNvSpPr txBox="1"/>
          <p:nvPr/>
        </p:nvSpPr>
        <p:spPr>
          <a:xfrm>
            <a:off x="9235211" y="3182112"/>
            <a:ext cx="2224964" cy="731520"/>
          </a:xfrm>
          <a:prstGeom prst="rect">
            <a:avLst/>
          </a:prstGeom>
          <a:noFill/>
          <a:ln/>
        </p:spPr>
        <p:txBody>
          <a:bodyPr wrap="square" lIns="0" tIns="0" rIns="0" bIns="0" rtlCol="0" anchor="t"/>
          <a:lstStyle/>
          <a:p>
            <a:pPr indent="0" marL="0">
              <a:buNone/>
            </a:pPr>
            <a:r>
              <a:rPr lang="en-US" sz="1150" dirty="0">
                <a:solidFill>
                  <a:srgbClr val="AAB5C3"/>
                </a:solidFill>
                <a:latin typeface="Arial" pitchFamily="34" charset="0"/>
                <a:ea typeface="Arial" pitchFamily="34" charset="-122"/>
                <a:cs typeface="Arial" pitchFamily="34" charset="-120"/>
              </a:rPr>
              <a:t>Internal LLM endpoint, about $1,093 a month; only once a trained model exists</a:t>
            </a:r>
            <a:endParaRPr lang="en-US" sz="1150" dirty="0"/>
          </a:p>
        </p:txBody>
      </p:sp>
      <p:sp>
        <p:nvSpPr>
          <p:cNvPr id="29" name="Text 23"/>
          <p:cNvSpPr txBox="1"/>
          <p:nvPr/>
        </p:nvSpPr>
        <p:spPr>
          <a:xfrm>
            <a:off x="548640" y="4224528"/>
            <a:ext cx="7315200" cy="237744"/>
          </a:xfrm>
          <a:prstGeom prst="rect">
            <a:avLst/>
          </a:prstGeom>
          <a:noFill/>
          <a:ln/>
        </p:spPr>
        <p:txBody>
          <a:bodyPr wrap="square" lIns="0" tIns="0" rIns="0" bIns="0" rtlCol="0" anchor="t"/>
          <a:lstStyle/>
          <a:p>
            <a:pPr indent="0" marL="0">
              <a:buNone/>
            </a:pPr>
            <a:r>
              <a:rPr lang="en-US" sz="1100" b="1" spc="200" kern="0" dirty="0">
                <a:solidFill>
                  <a:srgbClr val="738191"/>
                </a:solidFill>
                <a:latin typeface="Arial" pitchFamily="34" charset="0"/>
                <a:ea typeface="Arial" pitchFamily="34" charset="-122"/>
                <a:cs typeface="Arial" pitchFamily="34" charset="-120"/>
              </a:rPr>
              <a:t>WHAT THE TERRAFORM TAUGHT US</a:t>
            </a:r>
            <a:endParaRPr lang="en-US" sz="1100" dirty="0"/>
          </a:p>
        </p:txBody>
      </p:sp>
      <p:sp>
        <p:nvSpPr>
          <p:cNvPr id="30" name="Shape 24"/>
          <p:cNvSpPr/>
          <p:nvPr/>
        </p:nvSpPr>
        <p:spPr>
          <a:xfrm>
            <a:off x="548640" y="4544568"/>
            <a:ext cx="3545738" cy="1536192"/>
          </a:xfrm>
          <a:prstGeom prst="roundRect">
            <a:avLst>
              <a:gd name="adj" fmla="val 7143"/>
            </a:avLst>
          </a:prstGeom>
          <a:solidFill>
            <a:srgbClr val="121821">
              <a:alpha val="95000"/>
            </a:srgbClr>
          </a:solidFill>
          <a:ln w="9525">
            <a:solidFill>
              <a:srgbClr val="1E2835"/>
            </a:solidFill>
            <a:prstDash val="solid"/>
          </a:ln>
        </p:spPr>
      </p:sp>
      <p:sp>
        <p:nvSpPr>
          <p:cNvPr id="31" name="Shape 25"/>
          <p:cNvSpPr/>
          <p:nvPr/>
        </p:nvSpPr>
        <p:spPr>
          <a:xfrm>
            <a:off x="777240" y="4745736"/>
            <a:ext cx="457200" cy="457200"/>
          </a:xfrm>
          <a:prstGeom prst="ellipse">
            <a:avLst/>
          </a:prstGeom>
          <a:solidFill>
            <a:srgbClr val="FFB547">
              <a:alpha val="16000"/>
            </a:srgbClr>
          </a:solidFill>
          <a:ln w="9525">
            <a:solidFill>
              <a:srgbClr val="FFB547">
                <a:alpha val="50000"/>
              </a:srgbClr>
            </a:solidFill>
            <a:prstDash val="solid"/>
          </a:ln>
        </p:spPr>
      </p:sp>
      <p:pic>
        <p:nvPicPr>
          <p:cNvPr id="32" name="Image 4" descr="/private/tmp/claude-501/-Users-raja-forge/826f4f3b-77e1-484d-8167-0e3b60d97c63/scratchpad/deck/assets/icons/LuKeyRound-FFB547.png">    </p:cNvPr>
          <p:cNvPicPr>
            <a:picLocks noChangeAspect="1"/>
          </p:cNvPicPr>
          <p:nvPr/>
        </p:nvPicPr>
        <p:blipFill>
          <a:blip r:embed="rId5"/>
          <a:stretch>
            <a:fillRect/>
          </a:stretch>
        </p:blipFill>
        <p:spPr>
          <a:xfrm>
            <a:off x="891540" y="4860036"/>
            <a:ext cx="228600" cy="228600"/>
          </a:xfrm>
          <a:prstGeom prst="rect">
            <a:avLst/>
          </a:prstGeom>
        </p:spPr>
      </p:pic>
      <p:sp>
        <p:nvSpPr>
          <p:cNvPr id="33" name="Text 26"/>
          <p:cNvSpPr txBox="1"/>
          <p:nvPr/>
        </p:nvSpPr>
        <p:spPr>
          <a:xfrm>
            <a:off x="1371600" y="4718304"/>
            <a:ext cx="2558186" cy="512064"/>
          </a:xfrm>
          <a:prstGeom prst="rect">
            <a:avLst/>
          </a:prstGeom>
          <a:noFill/>
          <a:ln/>
        </p:spPr>
        <p:txBody>
          <a:bodyPr wrap="square" lIns="0" tIns="0" rIns="0" bIns="0" rtlCol="0" anchor="ctr"/>
          <a:lstStyle/>
          <a:p>
            <a:pPr indent="0" marL="0">
              <a:buNone/>
            </a:pPr>
            <a:r>
              <a:rPr lang="en-US" sz="1400" b="1" dirty="0">
                <a:solidFill>
                  <a:srgbClr val="F3F5F8"/>
                </a:solidFill>
                <a:latin typeface="Arial" pitchFamily="34" charset="0"/>
                <a:ea typeface="Arial" pitchFamily="34" charset="-122"/>
                <a:cs typeface="Arial" pitchFamily="34" charset="-120"/>
              </a:rPr>
              <a:t>IAM must cover inference profiles</a:t>
            </a:r>
            <a:endParaRPr lang="en-US" sz="1400" dirty="0"/>
          </a:p>
        </p:txBody>
      </p:sp>
      <p:sp>
        <p:nvSpPr>
          <p:cNvPr id="34" name="Text 27"/>
          <p:cNvSpPr txBox="1"/>
          <p:nvPr/>
        </p:nvSpPr>
        <p:spPr>
          <a:xfrm>
            <a:off x="777240" y="5349240"/>
            <a:ext cx="3088538" cy="658368"/>
          </a:xfrm>
          <a:prstGeom prst="rect">
            <a:avLst/>
          </a:prstGeom>
          <a:noFill/>
          <a:ln/>
        </p:spPr>
        <p:txBody>
          <a:bodyPr wrap="square" lIns="0" tIns="0" rIns="0" bIns="0" rtlCol="0" anchor="t"/>
          <a:lstStyle/>
          <a:p>
            <a:pPr indent="0" marL="0">
              <a:buNone/>
            </a:pPr>
            <a:r>
              <a:rPr lang="en-US" sz="1150" dirty="0">
                <a:solidFill>
                  <a:srgbClr val="AAB5C3"/>
                </a:solidFill>
                <a:latin typeface="Arial" pitchFamily="34" charset="0"/>
                <a:ea typeface="Arial" pitchFamily="34" charset="-122"/>
                <a:cs typeface="Arial" pitchFamily="34" charset="-120"/>
              </a:rPr>
              <a:t>A us.* profile routes across regions: grant the profile and foundation-model/* in every region it can reach.</a:t>
            </a:r>
            <a:endParaRPr lang="en-US" sz="1150" dirty="0"/>
          </a:p>
        </p:txBody>
      </p:sp>
      <p:sp>
        <p:nvSpPr>
          <p:cNvPr id="35" name="Shape 28"/>
          <p:cNvSpPr/>
          <p:nvPr/>
        </p:nvSpPr>
        <p:spPr>
          <a:xfrm>
            <a:off x="4322978" y="4544568"/>
            <a:ext cx="3545738" cy="1536192"/>
          </a:xfrm>
          <a:prstGeom prst="roundRect">
            <a:avLst>
              <a:gd name="adj" fmla="val 7143"/>
            </a:avLst>
          </a:prstGeom>
          <a:solidFill>
            <a:srgbClr val="121821">
              <a:alpha val="95000"/>
            </a:srgbClr>
          </a:solidFill>
          <a:ln w="9525">
            <a:solidFill>
              <a:srgbClr val="1E2835"/>
            </a:solidFill>
            <a:prstDash val="solid"/>
          </a:ln>
        </p:spPr>
      </p:sp>
      <p:sp>
        <p:nvSpPr>
          <p:cNvPr id="36" name="Shape 29"/>
          <p:cNvSpPr/>
          <p:nvPr/>
        </p:nvSpPr>
        <p:spPr>
          <a:xfrm>
            <a:off x="4551578" y="4745736"/>
            <a:ext cx="457200" cy="457200"/>
          </a:xfrm>
          <a:prstGeom prst="ellipse">
            <a:avLst/>
          </a:prstGeom>
          <a:solidFill>
            <a:srgbClr val="5EB1FF">
              <a:alpha val="16000"/>
            </a:srgbClr>
          </a:solidFill>
          <a:ln w="9525">
            <a:solidFill>
              <a:srgbClr val="5EB1FF">
                <a:alpha val="50000"/>
              </a:srgbClr>
            </a:solidFill>
            <a:prstDash val="solid"/>
          </a:ln>
        </p:spPr>
      </p:sp>
      <p:pic>
        <p:nvPicPr>
          <p:cNvPr id="37" name="Image 5" descr="/private/tmp/claude-501/-Users-raja-forge/826f4f3b-77e1-484d-8167-0e3b60d97c63/scratchpad/deck/assets/icons/LuShield-5EB1FF.png">    </p:cNvPr>
          <p:cNvPicPr>
            <a:picLocks noChangeAspect="1"/>
          </p:cNvPicPr>
          <p:nvPr/>
        </p:nvPicPr>
        <p:blipFill>
          <a:blip r:embed="rId6"/>
          <a:stretch>
            <a:fillRect/>
          </a:stretch>
        </p:blipFill>
        <p:spPr>
          <a:xfrm>
            <a:off x="4665878" y="4860036"/>
            <a:ext cx="228600" cy="228600"/>
          </a:xfrm>
          <a:prstGeom prst="rect">
            <a:avLst/>
          </a:prstGeom>
        </p:spPr>
      </p:pic>
      <p:sp>
        <p:nvSpPr>
          <p:cNvPr id="38" name="Text 30"/>
          <p:cNvSpPr txBox="1"/>
          <p:nvPr/>
        </p:nvSpPr>
        <p:spPr>
          <a:xfrm>
            <a:off x="5145938" y="4718304"/>
            <a:ext cx="2558186" cy="512064"/>
          </a:xfrm>
          <a:prstGeom prst="rect">
            <a:avLst/>
          </a:prstGeom>
          <a:noFill/>
          <a:ln/>
        </p:spPr>
        <p:txBody>
          <a:bodyPr wrap="square" lIns="0" tIns="0" rIns="0" bIns="0" rtlCol="0" anchor="ctr"/>
          <a:lstStyle/>
          <a:p>
            <a:pPr indent="0" marL="0">
              <a:buNone/>
            </a:pPr>
            <a:r>
              <a:rPr lang="en-US" sz="1400" b="1" dirty="0">
                <a:solidFill>
                  <a:srgbClr val="F3F5F8"/>
                </a:solidFill>
                <a:latin typeface="Arial" pitchFamily="34" charset="0"/>
                <a:ea typeface="Arial" pitchFamily="34" charset="-122"/>
                <a:cs typeface="Arial" pitchFamily="34" charset="-120"/>
              </a:rPr>
              <a:t>Tune the guardrail for code</a:t>
            </a:r>
            <a:endParaRPr lang="en-US" sz="1400" dirty="0"/>
          </a:p>
        </p:txBody>
      </p:sp>
      <p:sp>
        <p:nvSpPr>
          <p:cNvPr id="39" name="Text 31"/>
          <p:cNvSpPr txBox="1"/>
          <p:nvPr/>
        </p:nvSpPr>
        <p:spPr>
          <a:xfrm>
            <a:off x="4551578" y="5349240"/>
            <a:ext cx="3088538" cy="658368"/>
          </a:xfrm>
          <a:prstGeom prst="rect">
            <a:avLst/>
          </a:prstGeom>
          <a:noFill/>
          <a:ln/>
        </p:spPr>
        <p:txBody>
          <a:bodyPr wrap="square" lIns="0" tIns="0" rIns="0" bIns="0" rtlCol="0" anchor="t"/>
          <a:lstStyle/>
          <a:p>
            <a:pPr indent="0" marL="0">
              <a:buNone/>
            </a:pPr>
            <a:r>
              <a:rPr lang="en-US" sz="1150" dirty="0">
                <a:solidFill>
                  <a:srgbClr val="AAB5C3"/>
                </a:solidFill>
                <a:latin typeface="Arial" pitchFamily="34" charset="0"/>
                <a:ea typeface="Arial" pitchFamily="34" charset="-122"/>
                <a:cs typeface="Arial" pitchFamily="34" charset="-120"/>
              </a:rPr>
              <a:t>Secrets and prompt attacks only. The MISCONDUCT filter blocked two ordinary Struts actions on AMS.</a:t>
            </a:r>
            <a:endParaRPr lang="en-US" sz="1150" dirty="0"/>
          </a:p>
        </p:txBody>
      </p:sp>
      <p:sp>
        <p:nvSpPr>
          <p:cNvPr id="40" name="Shape 32"/>
          <p:cNvSpPr/>
          <p:nvPr/>
        </p:nvSpPr>
        <p:spPr>
          <a:xfrm>
            <a:off x="8097317" y="4544568"/>
            <a:ext cx="3545738" cy="1536192"/>
          </a:xfrm>
          <a:prstGeom prst="roundRect">
            <a:avLst>
              <a:gd name="adj" fmla="val 7143"/>
            </a:avLst>
          </a:prstGeom>
          <a:solidFill>
            <a:srgbClr val="121821">
              <a:alpha val="95000"/>
            </a:srgbClr>
          </a:solidFill>
          <a:ln w="9525">
            <a:solidFill>
              <a:srgbClr val="1E2835"/>
            </a:solidFill>
            <a:prstDash val="solid"/>
          </a:ln>
        </p:spPr>
      </p:sp>
      <p:sp>
        <p:nvSpPr>
          <p:cNvPr id="41" name="Shape 33"/>
          <p:cNvSpPr/>
          <p:nvPr/>
        </p:nvSpPr>
        <p:spPr>
          <a:xfrm>
            <a:off x="8325917" y="4745736"/>
            <a:ext cx="457200" cy="457200"/>
          </a:xfrm>
          <a:prstGeom prst="ellipse">
            <a:avLst/>
          </a:prstGeom>
          <a:solidFill>
            <a:srgbClr val="FF6A2B">
              <a:alpha val="16000"/>
            </a:srgbClr>
          </a:solidFill>
          <a:ln w="9525">
            <a:solidFill>
              <a:srgbClr val="FF6A2B">
                <a:alpha val="50000"/>
              </a:srgbClr>
            </a:solidFill>
            <a:prstDash val="solid"/>
          </a:ln>
        </p:spPr>
      </p:sp>
      <p:pic>
        <p:nvPicPr>
          <p:cNvPr id="42" name="Image 6" descr="/private/tmp/claude-501/-Users-raja-forge/826f4f3b-77e1-484d-8167-0e3b60d97c63/scratchpad/deck/assets/icons/LuActivity-FF6A2B.png">    </p:cNvPr>
          <p:cNvPicPr>
            <a:picLocks noChangeAspect="1"/>
          </p:cNvPicPr>
          <p:nvPr/>
        </p:nvPicPr>
        <p:blipFill>
          <a:blip r:embed="rId7"/>
          <a:stretch>
            <a:fillRect/>
          </a:stretch>
        </p:blipFill>
        <p:spPr>
          <a:xfrm>
            <a:off x="8440217" y="4860036"/>
            <a:ext cx="228600" cy="228600"/>
          </a:xfrm>
          <a:prstGeom prst="rect">
            <a:avLst/>
          </a:prstGeom>
        </p:spPr>
      </p:pic>
      <p:sp>
        <p:nvSpPr>
          <p:cNvPr id="43" name="Text 34"/>
          <p:cNvSpPr txBox="1"/>
          <p:nvPr/>
        </p:nvSpPr>
        <p:spPr>
          <a:xfrm>
            <a:off x="8920277" y="4718304"/>
            <a:ext cx="2558186" cy="512064"/>
          </a:xfrm>
          <a:prstGeom prst="rect">
            <a:avLst/>
          </a:prstGeom>
          <a:noFill/>
          <a:ln/>
        </p:spPr>
        <p:txBody>
          <a:bodyPr wrap="square" lIns="0" tIns="0" rIns="0" bIns="0" rtlCol="0" anchor="ctr"/>
          <a:lstStyle/>
          <a:p>
            <a:pPr indent="0" marL="0">
              <a:buNone/>
            </a:pPr>
            <a:r>
              <a:rPr lang="en-US" sz="1400" b="1" dirty="0">
                <a:solidFill>
                  <a:srgbClr val="F3F5F8"/>
                </a:solidFill>
                <a:latin typeface="Arial" pitchFamily="34" charset="0"/>
                <a:ea typeface="Arial" pitchFamily="34" charset="-122"/>
                <a:cs typeface="Arial" pitchFamily="34" charset="-120"/>
              </a:rPr>
              <a:t>Metric names are a contract</a:t>
            </a:r>
            <a:endParaRPr lang="en-US" sz="1400" dirty="0"/>
          </a:p>
        </p:txBody>
      </p:sp>
      <p:sp>
        <p:nvSpPr>
          <p:cNvPr id="44" name="Text 35"/>
          <p:cNvSpPr txBox="1"/>
          <p:nvPr/>
        </p:nvSpPr>
        <p:spPr>
          <a:xfrm>
            <a:off x="8325917" y="5349240"/>
            <a:ext cx="3088538" cy="658368"/>
          </a:xfrm>
          <a:prstGeom prst="rect">
            <a:avLst/>
          </a:prstGeom>
          <a:noFill/>
          <a:ln/>
        </p:spPr>
        <p:txBody>
          <a:bodyPr wrap="square" lIns="0" tIns="0" rIns="0" bIns="0" rtlCol="0" anchor="t"/>
          <a:lstStyle/>
          <a:p>
            <a:pPr indent="0" marL="0">
              <a:buNone/>
            </a:pPr>
            <a:r>
              <a:rPr lang="en-US" sz="1150" dirty="0">
                <a:solidFill>
                  <a:srgbClr val="AAB5C3"/>
                </a:solidFill>
                <a:latin typeface="Arial" pitchFamily="34" charset="0"/>
                <a:ea typeface="Arial" pitchFamily="34" charset="-122"/>
                <a:cs typeface="Arial" pitchFamily="34" charset="-120"/>
              </a:rPr>
              <a:t>The pipeline emits exactly what the alarms watch, with no dimensions, and telemetry never fails a run.</a:t>
            </a:r>
            <a:endParaRPr lang="en-US" sz="1150" dirty="0"/>
          </a:p>
        </p:txBody>
      </p:sp>
      <p:sp>
        <p:nvSpPr>
          <p:cNvPr id="45" name="Text 36"/>
          <p:cNvSpPr txBox="1"/>
          <p:nvPr/>
        </p:nvSpPr>
        <p:spPr>
          <a:xfrm>
            <a:off x="548640" y="6455664"/>
            <a:ext cx="5486400" cy="219456"/>
          </a:xfrm>
          <a:prstGeom prst="rect">
            <a:avLst/>
          </a:prstGeom>
          <a:noFill/>
          <a:ln/>
        </p:spPr>
        <p:txBody>
          <a:bodyPr wrap="square" lIns="0" tIns="0" rIns="0" bIns="0" rtlCol="0" anchor="t"/>
          <a:lstStyle/>
          <a:p>
            <a:pPr indent="0" marL="0">
              <a:buNone/>
            </a:pPr>
            <a:r>
              <a:rPr lang="en-US" sz="900" dirty="0">
                <a:solidFill>
                  <a:srgbClr val="738191"/>
                </a:solidFill>
                <a:latin typeface="Arial" pitchFamily="34" charset="0"/>
                <a:ea typeface="Arial" pitchFamily="34" charset="-122"/>
                <a:cs typeface="Arial" pitchFamily="34" charset="-120"/>
              </a:rPr>
              <a:t>FORGE  ·  Software Development Conference 2026</a:t>
            </a:r>
            <a:endParaRPr lang="en-US" sz="900" dirty="0"/>
          </a:p>
        </p:txBody>
      </p:sp>
      <p:sp>
        <p:nvSpPr>
          <p:cNvPr id="46" name="Text 37"/>
          <p:cNvSpPr txBox="1"/>
          <p:nvPr/>
        </p:nvSpPr>
        <p:spPr>
          <a:xfrm>
            <a:off x="11094415" y="6455664"/>
            <a:ext cx="548640" cy="219456"/>
          </a:xfrm>
          <a:prstGeom prst="rect">
            <a:avLst/>
          </a:prstGeom>
          <a:noFill/>
          <a:ln/>
        </p:spPr>
        <p:txBody>
          <a:bodyPr wrap="square" lIns="0" tIns="0" rIns="0" bIns="0" rtlCol="0" anchor="t"/>
          <a:lstStyle/>
          <a:p>
            <a:pPr algn="r" indent="0" marL="0">
              <a:buNone/>
            </a:pPr>
            <a:r>
              <a:rPr lang="en-US" sz="900" dirty="0">
                <a:solidFill>
                  <a:srgbClr val="738191"/>
                </a:solidFill>
                <a:latin typeface="Arial" pitchFamily="34" charset="0"/>
                <a:ea typeface="Arial" pitchFamily="34" charset="-122"/>
                <a:cs typeface="Arial"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t"/>
          <a:lstStyle/>
          <a:p>
            <a:pPr indent="0" marL="0">
              <a:buNone/>
            </a:pPr>
            <a:r>
              <a:rPr lang="en-US" sz="1100" b="1" spc="300" kern="0" dirty="0">
                <a:solidFill>
                  <a:srgbClr val="FF6A2B"/>
                </a:solidFill>
                <a:latin typeface="Arial" pitchFamily="34" charset="0"/>
                <a:ea typeface="Arial" pitchFamily="34" charset="-122"/>
                <a:cs typeface="Arial" pitchFamily="34" charset="-120"/>
              </a:rPr>
              <a:t>06  ·  LESSONS &amp; DEMO</a:t>
            </a:r>
            <a:endParaRPr lang="en-US" sz="1100" dirty="0"/>
          </a:p>
        </p:txBody>
      </p:sp>
      <p:sp>
        <p:nvSpPr>
          <p:cNvPr id="3" name="Text 1"/>
          <p:cNvSpPr txBox="1"/>
          <p:nvPr/>
        </p:nvSpPr>
        <p:spPr>
          <a:xfrm>
            <a:off x="548640" y="676656"/>
            <a:ext cx="11094415" cy="658368"/>
          </a:xfrm>
          <a:prstGeom prst="rect">
            <a:avLst/>
          </a:prstGeom>
          <a:noFill/>
          <a:ln/>
        </p:spPr>
        <p:txBody>
          <a:bodyPr wrap="square" lIns="0" tIns="0" rIns="0" bIns="0" rtlCol="0" anchor="t"/>
          <a:lstStyle/>
          <a:p>
            <a:pPr indent="0" marL="0">
              <a:buNone/>
            </a:pPr>
            <a:r>
              <a:rPr lang="en-US" sz="3200" b="1" dirty="0">
                <a:solidFill>
                  <a:srgbClr val="F3F5F8"/>
                </a:solidFill>
                <a:latin typeface="Arial" pitchFamily="34" charset="0"/>
                <a:ea typeface="Arial" pitchFamily="34" charset="-122"/>
                <a:cs typeface="Arial" pitchFamily="34" charset="-120"/>
              </a:rPr>
              <a:t>Five lessons from building FORGE</a:t>
            </a:r>
            <a:endParaRPr lang="en-US" sz="3200" dirty="0"/>
          </a:p>
        </p:txBody>
      </p:sp>
      <p:sp>
        <p:nvSpPr>
          <p:cNvPr id="4" name="Shape 2"/>
          <p:cNvSpPr/>
          <p:nvPr/>
        </p:nvSpPr>
        <p:spPr>
          <a:xfrm>
            <a:off x="548640" y="1627632"/>
            <a:ext cx="11094415" cy="786384"/>
          </a:xfrm>
          <a:prstGeom prst="roundRect">
            <a:avLst>
              <a:gd name="adj" fmla="val 13953"/>
            </a:avLst>
          </a:prstGeom>
          <a:solidFill>
            <a:srgbClr val="121821">
              <a:alpha val="95000"/>
            </a:srgbClr>
          </a:solidFill>
          <a:ln w="9525">
            <a:solidFill>
              <a:srgbClr val="1E2835"/>
            </a:solidFill>
            <a:prstDash val="solid"/>
          </a:ln>
        </p:spPr>
      </p:sp>
      <p:sp>
        <p:nvSpPr>
          <p:cNvPr id="5" name="Text 3"/>
          <p:cNvSpPr txBox="1"/>
          <p:nvPr/>
        </p:nvSpPr>
        <p:spPr>
          <a:xfrm>
            <a:off x="822960" y="1627632"/>
            <a:ext cx="457200" cy="786384"/>
          </a:xfrm>
          <a:prstGeom prst="rect">
            <a:avLst/>
          </a:prstGeom>
          <a:noFill/>
          <a:ln/>
        </p:spPr>
        <p:txBody>
          <a:bodyPr wrap="square" lIns="0" tIns="0" rIns="0" bIns="0" rtlCol="0" anchor="ctr"/>
          <a:lstStyle/>
          <a:p>
            <a:pPr indent="0" marL="0">
              <a:buNone/>
            </a:pPr>
            <a:r>
              <a:rPr lang="en-US" sz="2800" b="1" dirty="0">
                <a:solidFill>
                  <a:srgbClr val="FF6A2B"/>
                </a:solidFill>
                <a:latin typeface="Arial" pitchFamily="34" charset="0"/>
                <a:ea typeface="Arial" pitchFamily="34" charset="-122"/>
                <a:cs typeface="Arial" pitchFamily="34" charset="-120"/>
              </a:rPr>
              <a:t>1</a:t>
            </a:r>
            <a:endParaRPr lang="en-US" sz="2800" dirty="0"/>
          </a:p>
        </p:txBody>
      </p:sp>
      <p:sp>
        <p:nvSpPr>
          <p:cNvPr id="6" name="Text 4"/>
          <p:cNvSpPr txBox="1"/>
          <p:nvPr/>
        </p:nvSpPr>
        <p:spPr>
          <a:xfrm>
            <a:off x="1417320" y="1627632"/>
            <a:ext cx="5074920" cy="786384"/>
          </a:xfrm>
          <a:prstGeom prst="rect">
            <a:avLst/>
          </a:prstGeom>
          <a:noFill/>
          <a:ln/>
        </p:spPr>
        <p:txBody>
          <a:bodyPr wrap="square" lIns="0" tIns="0" rIns="0" bIns="0" rtlCol="0" anchor="ctr"/>
          <a:lstStyle/>
          <a:p>
            <a:pPr indent="0" marL="0">
              <a:buNone/>
            </a:pPr>
            <a:r>
              <a:rPr lang="en-US" sz="1650" b="1" dirty="0">
                <a:solidFill>
                  <a:srgbClr val="F3F5F8"/>
                </a:solidFill>
                <a:latin typeface="Arial" pitchFamily="34" charset="0"/>
                <a:ea typeface="Arial" pitchFamily="34" charset="-122"/>
                <a:cs typeface="Arial" pitchFamily="34" charset="-120"/>
              </a:rPr>
              <a:t>Never hand a model a mechanical question.</a:t>
            </a:r>
            <a:endParaRPr lang="en-US" sz="1650" dirty="0"/>
          </a:p>
        </p:txBody>
      </p:sp>
      <p:sp>
        <p:nvSpPr>
          <p:cNvPr id="7" name="Text 5"/>
          <p:cNvSpPr txBox="1"/>
          <p:nvPr/>
        </p:nvSpPr>
        <p:spPr>
          <a:xfrm>
            <a:off x="6720840" y="1627632"/>
            <a:ext cx="4736592" cy="786384"/>
          </a:xfrm>
          <a:prstGeom prst="rect">
            <a:avLst/>
          </a:prstGeom>
          <a:noFill/>
          <a:ln/>
        </p:spPr>
        <p:txBody>
          <a:bodyPr wrap="square" lIns="0" tIns="0" rIns="0" bIns="0" rtlCol="0" anchor="ctr"/>
          <a:lstStyle/>
          <a:p>
            <a:pPr indent="0" marL="0">
              <a:buNone/>
            </a:pPr>
            <a:r>
              <a:rPr lang="en-US" sz="1250" dirty="0">
                <a:solidFill>
                  <a:srgbClr val="AAB5C3"/>
                </a:solidFill>
                <a:latin typeface="Arial" pitchFamily="34" charset="0"/>
                <a:ea typeface="Arial" pitchFamily="34" charset="-122"/>
                <a:cs typeface="Arial" pitchFamily="34" charset="-120"/>
              </a:rPr>
              <a:t>A model once judged scope, and a reviewer passed three files that didn’t compile. Now: a string compare, and javac.</a:t>
            </a:r>
            <a:endParaRPr lang="en-US" sz="1250" dirty="0"/>
          </a:p>
        </p:txBody>
      </p:sp>
      <p:sp>
        <p:nvSpPr>
          <p:cNvPr id="8" name="Shape 6"/>
          <p:cNvSpPr/>
          <p:nvPr/>
        </p:nvSpPr>
        <p:spPr>
          <a:xfrm>
            <a:off x="548640" y="2514600"/>
            <a:ext cx="11094415" cy="786384"/>
          </a:xfrm>
          <a:prstGeom prst="roundRect">
            <a:avLst>
              <a:gd name="adj" fmla="val 13953"/>
            </a:avLst>
          </a:prstGeom>
          <a:solidFill>
            <a:srgbClr val="121821">
              <a:alpha val="95000"/>
            </a:srgbClr>
          </a:solidFill>
          <a:ln w="9525">
            <a:solidFill>
              <a:srgbClr val="1E2835"/>
            </a:solidFill>
            <a:prstDash val="solid"/>
          </a:ln>
        </p:spPr>
      </p:sp>
      <p:sp>
        <p:nvSpPr>
          <p:cNvPr id="9" name="Text 7"/>
          <p:cNvSpPr txBox="1"/>
          <p:nvPr/>
        </p:nvSpPr>
        <p:spPr>
          <a:xfrm>
            <a:off x="822960" y="2514600"/>
            <a:ext cx="457200" cy="786384"/>
          </a:xfrm>
          <a:prstGeom prst="rect">
            <a:avLst/>
          </a:prstGeom>
          <a:noFill/>
          <a:ln/>
        </p:spPr>
        <p:txBody>
          <a:bodyPr wrap="square" lIns="0" tIns="0" rIns="0" bIns="0" rtlCol="0" anchor="ctr"/>
          <a:lstStyle/>
          <a:p>
            <a:pPr indent="0" marL="0">
              <a:buNone/>
            </a:pPr>
            <a:r>
              <a:rPr lang="en-US" sz="2800" b="1" dirty="0">
                <a:solidFill>
                  <a:srgbClr val="FF6A2B"/>
                </a:solidFill>
                <a:latin typeface="Arial" pitchFamily="34" charset="0"/>
                <a:ea typeface="Arial" pitchFamily="34" charset="-122"/>
                <a:cs typeface="Arial" pitchFamily="34" charset="-120"/>
              </a:rPr>
              <a:t>2</a:t>
            </a:r>
            <a:endParaRPr lang="en-US" sz="2800" dirty="0"/>
          </a:p>
        </p:txBody>
      </p:sp>
      <p:sp>
        <p:nvSpPr>
          <p:cNvPr id="10" name="Text 8"/>
          <p:cNvSpPr txBox="1"/>
          <p:nvPr/>
        </p:nvSpPr>
        <p:spPr>
          <a:xfrm>
            <a:off x="1417320" y="2514600"/>
            <a:ext cx="5074920" cy="786384"/>
          </a:xfrm>
          <a:prstGeom prst="rect">
            <a:avLst/>
          </a:prstGeom>
          <a:noFill/>
          <a:ln/>
        </p:spPr>
        <p:txBody>
          <a:bodyPr wrap="square" lIns="0" tIns="0" rIns="0" bIns="0" rtlCol="0" anchor="ctr"/>
          <a:lstStyle/>
          <a:p>
            <a:pPr indent="0" marL="0">
              <a:buNone/>
            </a:pPr>
            <a:r>
              <a:rPr lang="en-US" sz="1650" b="1" dirty="0">
                <a:solidFill>
                  <a:srgbClr val="F3F5F8"/>
                </a:solidFill>
                <a:latin typeface="Arial" pitchFamily="34" charset="0"/>
                <a:ea typeface="Arial" pitchFamily="34" charset="-122"/>
                <a:cs typeface="Arial" pitchFamily="34" charset="-120"/>
              </a:rPr>
              <a:t>A model can’t decide what a model may see.</a:t>
            </a:r>
            <a:endParaRPr lang="en-US" sz="1650" dirty="0"/>
          </a:p>
        </p:txBody>
      </p:sp>
      <p:sp>
        <p:nvSpPr>
          <p:cNvPr id="11" name="Text 9"/>
          <p:cNvSpPr txBox="1"/>
          <p:nvPr/>
        </p:nvSpPr>
        <p:spPr>
          <a:xfrm>
            <a:off x="6720840" y="2514600"/>
            <a:ext cx="4736592" cy="786384"/>
          </a:xfrm>
          <a:prstGeom prst="rect">
            <a:avLst/>
          </a:prstGeom>
          <a:noFill/>
          <a:ln/>
        </p:spPr>
        <p:txBody>
          <a:bodyPr wrap="square" lIns="0" tIns="0" rIns="0" bIns="0" rtlCol="0" anchor="ctr"/>
          <a:lstStyle/>
          <a:p>
            <a:pPr indent="0" marL="0">
              <a:buNone/>
            </a:pPr>
            <a:r>
              <a:rPr lang="en-US" sz="1250" dirty="0">
                <a:solidFill>
                  <a:srgbClr val="AAB5C3"/>
                </a:solidFill>
                <a:latin typeface="Arial" pitchFamily="34" charset="0"/>
                <a:ea typeface="Arial" pitchFamily="34" charset="-122"/>
                <a:cs typeface="Arial" pitchFamily="34" charset="-120"/>
              </a:rPr>
              <a:t>Secret detection is local and runs first. Nothing leaves until it passes.</a:t>
            </a:r>
            <a:endParaRPr lang="en-US" sz="1250" dirty="0"/>
          </a:p>
        </p:txBody>
      </p:sp>
      <p:sp>
        <p:nvSpPr>
          <p:cNvPr id="12" name="Shape 10"/>
          <p:cNvSpPr/>
          <p:nvPr/>
        </p:nvSpPr>
        <p:spPr>
          <a:xfrm>
            <a:off x="548640" y="3401568"/>
            <a:ext cx="11094415" cy="786384"/>
          </a:xfrm>
          <a:prstGeom prst="roundRect">
            <a:avLst>
              <a:gd name="adj" fmla="val 13953"/>
            </a:avLst>
          </a:prstGeom>
          <a:solidFill>
            <a:srgbClr val="121821">
              <a:alpha val="95000"/>
            </a:srgbClr>
          </a:solidFill>
          <a:ln w="9525">
            <a:solidFill>
              <a:srgbClr val="1E2835"/>
            </a:solidFill>
            <a:prstDash val="solid"/>
          </a:ln>
        </p:spPr>
      </p:sp>
      <p:sp>
        <p:nvSpPr>
          <p:cNvPr id="13" name="Text 11"/>
          <p:cNvSpPr txBox="1"/>
          <p:nvPr/>
        </p:nvSpPr>
        <p:spPr>
          <a:xfrm>
            <a:off x="822960" y="3401568"/>
            <a:ext cx="457200" cy="786384"/>
          </a:xfrm>
          <a:prstGeom prst="rect">
            <a:avLst/>
          </a:prstGeom>
          <a:noFill/>
          <a:ln/>
        </p:spPr>
        <p:txBody>
          <a:bodyPr wrap="square" lIns="0" tIns="0" rIns="0" bIns="0" rtlCol="0" anchor="ctr"/>
          <a:lstStyle/>
          <a:p>
            <a:pPr indent="0" marL="0">
              <a:buNone/>
            </a:pPr>
            <a:r>
              <a:rPr lang="en-US" sz="2800" b="1" dirty="0">
                <a:solidFill>
                  <a:srgbClr val="FF6A2B"/>
                </a:solidFill>
                <a:latin typeface="Arial" pitchFamily="34" charset="0"/>
                <a:ea typeface="Arial" pitchFamily="34" charset="-122"/>
                <a:cs typeface="Arial" pitchFamily="34" charset="-120"/>
              </a:rPr>
              <a:t>3</a:t>
            </a:r>
            <a:endParaRPr lang="en-US" sz="2800" dirty="0"/>
          </a:p>
        </p:txBody>
      </p:sp>
      <p:sp>
        <p:nvSpPr>
          <p:cNvPr id="14" name="Text 12"/>
          <p:cNvSpPr txBox="1"/>
          <p:nvPr/>
        </p:nvSpPr>
        <p:spPr>
          <a:xfrm>
            <a:off x="1417320" y="3401568"/>
            <a:ext cx="5074920" cy="786384"/>
          </a:xfrm>
          <a:prstGeom prst="rect">
            <a:avLst/>
          </a:prstGeom>
          <a:noFill/>
          <a:ln/>
        </p:spPr>
        <p:txBody>
          <a:bodyPr wrap="square" lIns="0" tIns="0" rIns="0" bIns="0" rtlCol="0" anchor="ctr"/>
          <a:lstStyle/>
          <a:p>
            <a:pPr indent="0" marL="0">
              <a:buNone/>
            </a:pPr>
            <a:r>
              <a:rPr lang="en-US" sz="1650" b="1" dirty="0">
                <a:solidFill>
                  <a:srgbClr val="F3F5F8"/>
                </a:solidFill>
                <a:latin typeface="Arial" pitchFamily="34" charset="0"/>
                <a:ea typeface="Arial" pitchFamily="34" charset="-122"/>
                <a:cs typeface="Arial" pitchFamily="34" charset="-120"/>
              </a:rPr>
              <a:t>Let models propose. Let code dispose.</a:t>
            </a:r>
            <a:endParaRPr lang="en-US" sz="1650" dirty="0"/>
          </a:p>
        </p:txBody>
      </p:sp>
      <p:sp>
        <p:nvSpPr>
          <p:cNvPr id="15" name="Text 13"/>
          <p:cNvSpPr txBox="1"/>
          <p:nvPr/>
        </p:nvSpPr>
        <p:spPr>
          <a:xfrm>
            <a:off x="6720840" y="3401568"/>
            <a:ext cx="4736592" cy="786384"/>
          </a:xfrm>
          <a:prstGeom prst="rect">
            <a:avLst/>
          </a:prstGeom>
          <a:noFill/>
          <a:ln/>
        </p:spPr>
        <p:txBody>
          <a:bodyPr wrap="square" lIns="0" tIns="0" rIns="0" bIns="0" rtlCol="0" anchor="ctr"/>
          <a:lstStyle/>
          <a:p>
            <a:pPr indent="0" marL="0">
              <a:buNone/>
            </a:pPr>
            <a:r>
              <a:rPr lang="en-US" sz="1250" dirty="0">
                <a:solidFill>
                  <a:srgbClr val="AAB5C3"/>
                </a:solidFill>
                <a:latin typeface="Arial" pitchFamily="34" charset="0"/>
                <a:ea typeface="Arial" pitchFamily="34" charset="-122"/>
                <a:cs typeface="Arial" pitchFamily="34" charset="-120"/>
              </a:rPr>
              <a:t>reconcile() and route_reviewer() turn model output into bounded decisions.</a:t>
            </a:r>
            <a:endParaRPr lang="en-US" sz="1250" dirty="0"/>
          </a:p>
        </p:txBody>
      </p:sp>
      <p:sp>
        <p:nvSpPr>
          <p:cNvPr id="16" name="Shape 14"/>
          <p:cNvSpPr/>
          <p:nvPr/>
        </p:nvSpPr>
        <p:spPr>
          <a:xfrm>
            <a:off x="548640" y="4288536"/>
            <a:ext cx="11094415" cy="786384"/>
          </a:xfrm>
          <a:prstGeom prst="roundRect">
            <a:avLst>
              <a:gd name="adj" fmla="val 13953"/>
            </a:avLst>
          </a:prstGeom>
          <a:solidFill>
            <a:srgbClr val="121821">
              <a:alpha val="95000"/>
            </a:srgbClr>
          </a:solidFill>
          <a:ln w="9525">
            <a:solidFill>
              <a:srgbClr val="1E2835"/>
            </a:solidFill>
            <a:prstDash val="solid"/>
          </a:ln>
        </p:spPr>
      </p:sp>
      <p:sp>
        <p:nvSpPr>
          <p:cNvPr id="17" name="Text 15"/>
          <p:cNvSpPr txBox="1"/>
          <p:nvPr/>
        </p:nvSpPr>
        <p:spPr>
          <a:xfrm>
            <a:off x="822960" y="4288536"/>
            <a:ext cx="457200" cy="786384"/>
          </a:xfrm>
          <a:prstGeom prst="rect">
            <a:avLst/>
          </a:prstGeom>
          <a:noFill/>
          <a:ln/>
        </p:spPr>
        <p:txBody>
          <a:bodyPr wrap="square" lIns="0" tIns="0" rIns="0" bIns="0" rtlCol="0" anchor="ctr"/>
          <a:lstStyle/>
          <a:p>
            <a:pPr indent="0" marL="0">
              <a:buNone/>
            </a:pPr>
            <a:r>
              <a:rPr lang="en-US" sz="2800" b="1" dirty="0">
                <a:solidFill>
                  <a:srgbClr val="FF6A2B"/>
                </a:solidFill>
                <a:latin typeface="Arial" pitchFamily="34" charset="0"/>
                <a:ea typeface="Arial" pitchFamily="34" charset="-122"/>
                <a:cs typeface="Arial" pitchFamily="34" charset="-120"/>
              </a:rPr>
              <a:t>4</a:t>
            </a:r>
            <a:endParaRPr lang="en-US" sz="2800" dirty="0"/>
          </a:p>
        </p:txBody>
      </p:sp>
      <p:sp>
        <p:nvSpPr>
          <p:cNvPr id="18" name="Text 16"/>
          <p:cNvSpPr txBox="1"/>
          <p:nvPr/>
        </p:nvSpPr>
        <p:spPr>
          <a:xfrm>
            <a:off x="1417320" y="4288536"/>
            <a:ext cx="5074920" cy="786384"/>
          </a:xfrm>
          <a:prstGeom prst="rect">
            <a:avLst/>
          </a:prstGeom>
          <a:noFill/>
          <a:ln/>
        </p:spPr>
        <p:txBody>
          <a:bodyPr wrap="square" lIns="0" tIns="0" rIns="0" bIns="0" rtlCol="0" anchor="ctr"/>
          <a:lstStyle/>
          <a:p>
            <a:pPr indent="0" marL="0">
              <a:buNone/>
            </a:pPr>
            <a:r>
              <a:rPr lang="en-US" sz="1650" b="1" dirty="0">
                <a:solidFill>
                  <a:srgbClr val="F3F5F8"/>
                </a:solidFill>
                <a:latin typeface="Arial" pitchFamily="34" charset="0"/>
                <a:ea typeface="Arial" pitchFamily="34" charset="-122"/>
                <a:cs typeface="Arial" pitchFamily="34" charset="-120"/>
              </a:rPr>
              <a:t>A skipped check is not a pass.</a:t>
            </a:r>
            <a:endParaRPr lang="en-US" sz="1650" dirty="0"/>
          </a:p>
        </p:txBody>
      </p:sp>
      <p:sp>
        <p:nvSpPr>
          <p:cNvPr id="19" name="Text 17"/>
          <p:cNvSpPr txBox="1"/>
          <p:nvPr/>
        </p:nvSpPr>
        <p:spPr>
          <a:xfrm>
            <a:off x="6720840" y="4288536"/>
            <a:ext cx="4736592" cy="786384"/>
          </a:xfrm>
          <a:prstGeom prst="rect">
            <a:avLst/>
          </a:prstGeom>
          <a:noFill/>
          <a:ln/>
        </p:spPr>
        <p:txBody>
          <a:bodyPr wrap="square" lIns="0" tIns="0" rIns="0" bIns="0" rtlCol="0" anchor="ctr"/>
          <a:lstStyle/>
          <a:p>
            <a:pPr indent="0" marL="0">
              <a:buNone/>
            </a:pPr>
            <a:r>
              <a:rPr lang="en-US" sz="1250" dirty="0">
                <a:solidFill>
                  <a:srgbClr val="AAB5C3"/>
                </a:solidFill>
                <a:latin typeface="Arial" pitchFamily="34" charset="0"/>
                <a:ea typeface="Arial" pitchFamily="34" charset="-122"/>
                <a:cs typeface="Arial" pitchFamily="34" charset="-120"/>
              </a:rPr>
              <a:t>Acceptance reads INCOMPLETE until every check has actually run.</a:t>
            </a:r>
            <a:endParaRPr lang="en-US" sz="1250" dirty="0"/>
          </a:p>
        </p:txBody>
      </p:sp>
      <p:sp>
        <p:nvSpPr>
          <p:cNvPr id="20" name="Shape 18"/>
          <p:cNvSpPr/>
          <p:nvPr/>
        </p:nvSpPr>
        <p:spPr>
          <a:xfrm>
            <a:off x="548640" y="5175504"/>
            <a:ext cx="11094415" cy="786384"/>
          </a:xfrm>
          <a:prstGeom prst="roundRect">
            <a:avLst>
              <a:gd name="adj" fmla="val 13953"/>
            </a:avLst>
          </a:prstGeom>
          <a:solidFill>
            <a:srgbClr val="121821">
              <a:alpha val="95000"/>
            </a:srgbClr>
          </a:solidFill>
          <a:ln w="9525">
            <a:solidFill>
              <a:srgbClr val="1E2835"/>
            </a:solidFill>
            <a:prstDash val="solid"/>
          </a:ln>
        </p:spPr>
      </p:sp>
      <p:sp>
        <p:nvSpPr>
          <p:cNvPr id="21" name="Text 19"/>
          <p:cNvSpPr txBox="1"/>
          <p:nvPr/>
        </p:nvSpPr>
        <p:spPr>
          <a:xfrm>
            <a:off x="822960" y="5175504"/>
            <a:ext cx="457200" cy="786384"/>
          </a:xfrm>
          <a:prstGeom prst="rect">
            <a:avLst/>
          </a:prstGeom>
          <a:noFill/>
          <a:ln/>
        </p:spPr>
        <p:txBody>
          <a:bodyPr wrap="square" lIns="0" tIns="0" rIns="0" bIns="0" rtlCol="0" anchor="ctr"/>
          <a:lstStyle/>
          <a:p>
            <a:pPr indent="0" marL="0">
              <a:buNone/>
            </a:pPr>
            <a:r>
              <a:rPr lang="en-US" sz="2800" b="1" dirty="0">
                <a:solidFill>
                  <a:srgbClr val="FF6A2B"/>
                </a:solidFill>
                <a:latin typeface="Arial" pitchFamily="34" charset="0"/>
                <a:ea typeface="Arial" pitchFamily="34" charset="-122"/>
                <a:cs typeface="Arial" pitchFamily="34" charset="-120"/>
              </a:rPr>
              <a:t>5</a:t>
            </a:r>
            <a:endParaRPr lang="en-US" sz="2800" dirty="0"/>
          </a:p>
        </p:txBody>
      </p:sp>
      <p:sp>
        <p:nvSpPr>
          <p:cNvPr id="22" name="Text 20"/>
          <p:cNvSpPr txBox="1"/>
          <p:nvPr/>
        </p:nvSpPr>
        <p:spPr>
          <a:xfrm>
            <a:off x="1417320" y="5175504"/>
            <a:ext cx="5074920" cy="786384"/>
          </a:xfrm>
          <a:prstGeom prst="rect">
            <a:avLst/>
          </a:prstGeom>
          <a:noFill/>
          <a:ln/>
        </p:spPr>
        <p:txBody>
          <a:bodyPr wrap="square" lIns="0" tIns="0" rIns="0" bIns="0" rtlCol="0" anchor="ctr"/>
          <a:lstStyle/>
          <a:p>
            <a:pPr indent="0" marL="0">
              <a:buNone/>
            </a:pPr>
            <a:r>
              <a:rPr lang="en-US" sz="1650" b="1" dirty="0">
                <a:solidFill>
                  <a:srgbClr val="F3F5F8"/>
                </a:solidFill>
                <a:latin typeface="Arial" pitchFamily="34" charset="0"/>
                <a:ea typeface="Arial" pitchFamily="34" charset="-122"/>
                <a:cs typeface="Arial" pitchFamily="34" charset="-120"/>
              </a:rPr>
              <a:t>Publish the numbers, even the bad ones.</a:t>
            </a:r>
            <a:endParaRPr lang="en-US" sz="1650" dirty="0"/>
          </a:p>
        </p:txBody>
      </p:sp>
      <p:sp>
        <p:nvSpPr>
          <p:cNvPr id="23" name="Text 21"/>
          <p:cNvSpPr txBox="1"/>
          <p:nvPr/>
        </p:nvSpPr>
        <p:spPr>
          <a:xfrm>
            <a:off x="6720840" y="5175504"/>
            <a:ext cx="4736592" cy="786384"/>
          </a:xfrm>
          <a:prstGeom prst="rect">
            <a:avLst/>
          </a:prstGeom>
          <a:noFill/>
          <a:ln/>
        </p:spPr>
        <p:txBody>
          <a:bodyPr wrap="square" lIns="0" tIns="0" rIns="0" bIns="0" rtlCol="0" anchor="ctr"/>
          <a:lstStyle/>
          <a:p>
            <a:pPr indent="0" marL="0">
              <a:buNone/>
            </a:pPr>
            <a:r>
              <a:rPr lang="en-US" sz="1250" dirty="0">
                <a:solidFill>
                  <a:srgbClr val="AAB5C3"/>
                </a:solidFill>
                <a:latin typeface="Arial" pitchFamily="34" charset="0"/>
                <a:ea typeface="Arial" pitchFamily="34" charset="-122"/>
                <a:cs typeface="Arial" pitchFamily="34" charset="-120"/>
              </a:rPr>
              <a:t>975 tests prove the orchestration. Output quality gets measured next, in the open.</a:t>
            </a:r>
            <a:endParaRPr lang="en-US" sz="1250" dirty="0"/>
          </a:p>
        </p:txBody>
      </p:sp>
      <p:sp>
        <p:nvSpPr>
          <p:cNvPr id="24" name="Text 22"/>
          <p:cNvSpPr txBox="1"/>
          <p:nvPr/>
        </p:nvSpPr>
        <p:spPr>
          <a:xfrm>
            <a:off x="548640" y="6455664"/>
            <a:ext cx="5486400" cy="219456"/>
          </a:xfrm>
          <a:prstGeom prst="rect">
            <a:avLst/>
          </a:prstGeom>
          <a:noFill/>
          <a:ln/>
        </p:spPr>
        <p:txBody>
          <a:bodyPr wrap="square" lIns="0" tIns="0" rIns="0" bIns="0" rtlCol="0" anchor="t"/>
          <a:lstStyle/>
          <a:p>
            <a:pPr indent="0" marL="0">
              <a:buNone/>
            </a:pPr>
            <a:r>
              <a:rPr lang="en-US" sz="900" dirty="0">
                <a:solidFill>
                  <a:srgbClr val="738191"/>
                </a:solidFill>
                <a:latin typeface="Arial" pitchFamily="34" charset="0"/>
                <a:ea typeface="Arial" pitchFamily="34" charset="-122"/>
                <a:cs typeface="Arial" pitchFamily="34" charset="-120"/>
              </a:rPr>
              <a:t>FORGE  ·  Software Development Conference 2026</a:t>
            </a:r>
            <a:endParaRPr lang="en-US" sz="900" dirty="0"/>
          </a:p>
        </p:txBody>
      </p:sp>
      <p:sp>
        <p:nvSpPr>
          <p:cNvPr id="25" name="Text 23"/>
          <p:cNvSpPr txBox="1"/>
          <p:nvPr/>
        </p:nvSpPr>
        <p:spPr>
          <a:xfrm>
            <a:off x="11094415" y="6455664"/>
            <a:ext cx="548640" cy="219456"/>
          </a:xfrm>
          <a:prstGeom prst="rect">
            <a:avLst/>
          </a:prstGeom>
          <a:noFill/>
          <a:ln/>
        </p:spPr>
        <p:txBody>
          <a:bodyPr wrap="square" lIns="0" tIns="0" rIns="0" bIns="0" rtlCol="0" anchor="t"/>
          <a:lstStyle/>
          <a:p>
            <a:pPr algn="r" indent="0" marL="0">
              <a:buNone/>
            </a:pPr>
            <a:r>
              <a:rPr lang="en-US" sz="900" dirty="0">
                <a:solidFill>
                  <a:srgbClr val="738191"/>
                </a:solidFill>
                <a:latin typeface="Arial" pitchFamily="34" charset="0"/>
                <a:ea typeface="Arial" pitchFamily="34" charset="-122"/>
                <a:cs typeface="Arial"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t"/>
          <a:lstStyle/>
          <a:p>
            <a:pPr indent="0" marL="0">
              <a:buNone/>
            </a:pPr>
            <a:r>
              <a:rPr lang="en-US" sz="1100" b="1" spc="300" kern="0" dirty="0">
                <a:solidFill>
                  <a:srgbClr val="FF6A2B"/>
                </a:solidFill>
                <a:latin typeface="Arial" pitchFamily="34" charset="0"/>
                <a:ea typeface="Arial" pitchFamily="34" charset="-122"/>
                <a:cs typeface="Arial" pitchFamily="34" charset="-120"/>
              </a:rPr>
              <a:t>06  ·  LESSONS &amp; DEMO</a:t>
            </a:r>
            <a:endParaRPr lang="en-US" sz="1100" dirty="0"/>
          </a:p>
        </p:txBody>
      </p:sp>
      <p:sp>
        <p:nvSpPr>
          <p:cNvPr id="3" name="Text 1"/>
          <p:cNvSpPr txBox="1"/>
          <p:nvPr/>
        </p:nvSpPr>
        <p:spPr>
          <a:xfrm>
            <a:off x="548640" y="676656"/>
            <a:ext cx="11094415" cy="658368"/>
          </a:xfrm>
          <a:prstGeom prst="rect">
            <a:avLst/>
          </a:prstGeom>
          <a:noFill/>
          <a:ln/>
        </p:spPr>
        <p:txBody>
          <a:bodyPr wrap="square" lIns="0" tIns="0" rIns="0" bIns="0" rtlCol="0" anchor="t"/>
          <a:lstStyle/>
          <a:p>
            <a:pPr indent="0" marL="0">
              <a:buNone/>
            </a:pPr>
            <a:r>
              <a:rPr lang="en-US" sz="3200" b="1" dirty="0">
                <a:solidFill>
                  <a:srgbClr val="F3F5F8"/>
                </a:solidFill>
                <a:latin typeface="Arial" pitchFamily="34" charset="0"/>
                <a:ea typeface="Arial" pitchFamily="34" charset="-122"/>
                <a:cs typeface="Arial" pitchFamily="34" charset="-120"/>
              </a:rPr>
              <a:t>Where FORGE is, and where it goes next</a:t>
            </a:r>
            <a:endParaRPr lang="en-US" sz="3200" dirty="0"/>
          </a:p>
        </p:txBody>
      </p:sp>
      <p:sp>
        <p:nvSpPr>
          <p:cNvPr id="4" name="Shape 2"/>
          <p:cNvSpPr/>
          <p:nvPr/>
        </p:nvSpPr>
        <p:spPr>
          <a:xfrm>
            <a:off x="548640" y="1600200"/>
            <a:ext cx="3545738" cy="4069080"/>
          </a:xfrm>
          <a:prstGeom prst="roundRect">
            <a:avLst>
              <a:gd name="adj" fmla="val 3095"/>
            </a:avLst>
          </a:prstGeom>
          <a:solidFill>
            <a:srgbClr val="121821">
              <a:alpha val="95000"/>
            </a:srgbClr>
          </a:solidFill>
          <a:ln w="9525">
            <a:solidFill>
              <a:srgbClr val="35D07F">
                <a:alpha val="40000"/>
              </a:srgbClr>
            </a:solidFill>
            <a:prstDash val="solid"/>
          </a:ln>
        </p:spPr>
      </p:sp>
      <p:sp>
        <p:nvSpPr>
          <p:cNvPr id="5" name="Shape 3"/>
          <p:cNvSpPr/>
          <p:nvPr/>
        </p:nvSpPr>
        <p:spPr>
          <a:xfrm>
            <a:off x="822960" y="1856232"/>
            <a:ext cx="512064" cy="512064"/>
          </a:xfrm>
          <a:prstGeom prst="ellipse">
            <a:avLst/>
          </a:prstGeom>
          <a:solidFill>
            <a:srgbClr val="35D07F">
              <a:alpha val="16000"/>
            </a:srgbClr>
          </a:solidFill>
          <a:ln w="9525">
            <a:solidFill>
              <a:srgbClr val="35D07F">
                <a:alpha val="50000"/>
              </a:srgbClr>
            </a:solidFill>
            <a:prstDash val="solid"/>
          </a:ln>
        </p:spPr>
      </p:sp>
      <p:pic>
        <p:nvPicPr>
          <p:cNvPr id="6" name="Image 0" descr="/private/tmp/claude-501/-Users-raja-forge/826f4f3b-77e1-484d-8167-0e3b60d97c63/scratchpad/deck/assets/icons/LuCircleCheck-35D07F.png">    </p:cNvPr>
          <p:cNvPicPr>
            <a:picLocks noChangeAspect="1"/>
          </p:cNvPicPr>
          <p:nvPr/>
        </p:nvPicPr>
        <p:blipFill>
          <a:blip r:embed="rId1"/>
          <a:stretch>
            <a:fillRect/>
          </a:stretch>
        </p:blipFill>
        <p:spPr>
          <a:xfrm>
            <a:off x="950976" y="1984248"/>
            <a:ext cx="256032" cy="256032"/>
          </a:xfrm>
          <a:prstGeom prst="rect">
            <a:avLst/>
          </a:prstGeom>
        </p:spPr>
      </p:pic>
      <p:sp>
        <p:nvSpPr>
          <p:cNvPr id="7" name="Text 4"/>
          <p:cNvSpPr txBox="1"/>
          <p:nvPr/>
        </p:nvSpPr>
        <p:spPr>
          <a:xfrm>
            <a:off x="1481328" y="1993392"/>
            <a:ext cx="2357018" cy="274320"/>
          </a:xfrm>
          <a:prstGeom prst="rect">
            <a:avLst/>
          </a:prstGeom>
          <a:noFill/>
          <a:ln/>
        </p:spPr>
        <p:txBody>
          <a:bodyPr wrap="square" lIns="0" tIns="0" rIns="0" bIns="0" rtlCol="0" anchor="t"/>
          <a:lstStyle/>
          <a:p>
            <a:pPr indent="0" marL="0">
              <a:buNone/>
            </a:pPr>
            <a:r>
              <a:rPr lang="en-US" sz="1400" b="1" spc="300" kern="0" dirty="0">
                <a:solidFill>
                  <a:srgbClr val="35D07F"/>
                </a:solidFill>
                <a:latin typeface="Arial" pitchFamily="34" charset="0"/>
                <a:ea typeface="Arial" pitchFamily="34" charset="-122"/>
                <a:cs typeface="Arial" pitchFamily="34" charset="-120"/>
              </a:rPr>
              <a:t>SHIPPED</a:t>
            </a:r>
            <a:endParaRPr lang="en-US" sz="1400" dirty="0"/>
          </a:p>
        </p:txBody>
      </p:sp>
      <p:sp>
        <p:nvSpPr>
          <p:cNvPr id="8" name="Text 5"/>
          <p:cNvSpPr txBox="1"/>
          <p:nvPr/>
        </p:nvSpPr>
        <p:spPr>
          <a:xfrm>
            <a:off x="822960" y="2624328"/>
            <a:ext cx="3042818" cy="292608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F3F5F8"/>
                </a:solidFill>
                <a:latin typeface="Arial" pitchFamily="34" charset="0"/>
                <a:ea typeface="Arial" pitchFamily="34" charset="-122"/>
                <a:cs typeface="Arial" pitchFamily="34" charset="-120"/>
              </a:rPr>
              <a:t>Guarded pipeline, cross-model review, javac parse</a:t>
            </a:r>
            <a:endParaRPr lang="en-US" sz="1200" dirty="0"/>
          </a:p>
          <a:p>
            <a:pPr marL="177800" indent="-177800">
              <a:spcAft>
                <a:spcPts val="600"/>
              </a:spcAft>
              <a:buSzPct val="100000"/>
              <a:buChar char="•"/>
            </a:pPr>
            <a:r>
              <a:rPr lang="en-US" sz="1200" dirty="0">
                <a:solidFill>
                  <a:srgbClr val="F3F5F8"/>
                </a:solidFill>
                <a:latin typeface="Arial" pitchFamily="34" charset="0"/>
                <a:ea typeface="Arial" pitchFamily="34" charset="-122"/>
                <a:cs typeface="Arial" pitchFamily="34" charset="-120"/>
              </a:rPr>
              <a:t>10 packs, selected by content; 8 more detected</a:t>
            </a:r>
            <a:endParaRPr lang="en-US" sz="1200" dirty="0"/>
          </a:p>
          <a:p>
            <a:pPr marL="177800" indent="-177800">
              <a:spcAft>
                <a:spcPts val="600"/>
              </a:spcAft>
              <a:buSzPct val="100000"/>
              <a:buChar char="•"/>
            </a:pPr>
            <a:r>
              <a:rPr lang="en-US" sz="1200" dirty="0">
                <a:solidFill>
                  <a:srgbClr val="F3F5F8"/>
                </a:solidFill>
                <a:latin typeface="Arial" pitchFamily="34" charset="0"/>
                <a:ea typeface="Arial" pitchFamily="34" charset="-122"/>
                <a:cs typeface="Arial" pitchFamily="34" charset="-120"/>
              </a:rPr>
              <a:t>Up to 8 files in parallel</a:t>
            </a:r>
            <a:endParaRPr lang="en-US" sz="1200" dirty="0"/>
          </a:p>
          <a:p>
            <a:pPr marL="177800" indent="-177800">
              <a:spcAft>
                <a:spcPts val="600"/>
              </a:spcAft>
              <a:buSzPct val="100000"/>
              <a:buChar char="•"/>
            </a:pPr>
            <a:r>
              <a:rPr lang="en-US" sz="1200" dirty="0">
                <a:solidFill>
                  <a:srgbClr val="F3F5F8"/>
                </a:solidFill>
                <a:latin typeface="Arial" pitchFamily="34" charset="0"/>
                <a:ea typeface="Arial" pitchFamily="34" charset="-122"/>
                <a:cs typeface="Arial" pitchFamily="34" charset="-120"/>
              </a:rPr>
              <a:t>Discovery, intent and the chat leader</a:t>
            </a:r>
            <a:endParaRPr lang="en-US" sz="1200" dirty="0"/>
          </a:p>
          <a:p>
            <a:pPr marL="177800" indent="-177800">
              <a:spcAft>
                <a:spcPts val="600"/>
              </a:spcAft>
              <a:buSzPct val="100000"/>
              <a:buChar char="•"/>
            </a:pPr>
            <a:r>
              <a:rPr lang="en-US" sz="1200" dirty="0">
                <a:solidFill>
                  <a:srgbClr val="F3F5F8"/>
                </a:solidFill>
                <a:latin typeface="Arial" pitchFamily="34" charset="0"/>
                <a:ea typeface="Arial" pitchFamily="34" charset="-122"/>
                <a:cs typeface="Arial" pitchFamily="34" charset="-120"/>
              </a:rPr>
              <a:t>Risk holds and in-chat review</a:t>
            </a:r>
            <a:endParaRPr lang="en-US" sz="1200" dirty="0"/>
          </a:p>
          <a:p>
            <a:pPr marL="177800" indent="-177800">
              <a:spcAft>
                <a:spcPts val="600"/>
              </a:spcAft>
              <a:buSzPct val="100000"/>
              <a:buChar char="•"/>
            </a:pPr>
            <a:r>
              <a:rPr lang="en-US" sz="1200" dirty="0">
                <a:solidFill>
                  <a:srgbClr val="F3F5F8"/>
                </a:solidFill>
                <a:latin typeface="Arial" pitchFamily="34" charset="0"/>
                <a:ea typeface="Arial" pitchFamily="34" charset="-122"/>
                <a:cs typeface="Arial" pitchFamily="34" charset="-120"/>
              </a:rPr>
              <a:t>Acceptance, project build, test generation</a:t>
            </a:r>
            <a:endParaRPr lang="en-US" sz="1200" dirty="0"/>
          </a:p>
          <a:p>
            <a:pPr marL="177800" indent="-177800">
              <a:spcAft>
                <a:spcPts val="600"/>
              </a:spcAft>
              <a:buSzPct val="100000"/>
              <a:buChar char="•"/>
            </a:pPr>
            <a:r>
              <a:rPr lang="en-US" sz="1200" dirty="0">
                <a:solidFill>
                  <a:srgbClr val="F3F5F8"/>
                </a:solidFill>
                <a:latin typeface="Arial" pitchFamily="34" charset="0"/>
                <a:ea typeface="Arial" pitchFamily="34" charset="-122"/>
                <a:cs typeface="Arial" pitchFamily="34" charset="-120"/>
              </a:rPr>
              <a:t>Land a branch, open a PR on your click</a:t>
            </a:r>
            <a:endParaRPr lang="en-US" sz="1200" dirty="0"/>
          </a:p>
          <a:p>
            <a:pPr marL="177800" indent="-177800">
              <a:spcAft>
                <a:spcPts val="600"/>
              </a:spcAft>
              <a:buSzPct val="100000"/>
              <a:buChar char="•"/>
            </a:pPr>
            <a:r>
              <a:rPr lang="en-US" sz="1200" dirty="0">
                <a:solidFill>
                  <a:srgbClr val="F3F5F8"/>
                </a:solidFill>
                <a:latin typeface="Arial" pitchFamily="34" charset="0"/>
                <a:ea typeface="Arial" pitchFamily="34" charset="-122"/>
                <a:cs typeface="Arial" pitchFamily="34" charset="-120"/>
              </a:rPr>
              <a:t>Terraform: one apply</a:t>
            </a:r>
            <a:endParaRPr lang="en-US" sz="1200" dirty="0"/>
          </a:p>
        </p:txBody>
      </p:sp>
      <p:sp>
        <p:nvSpPr>
          <p:cNvPr id="9" name="Shape 6"/>
          <p:cNvSpPr/>
          <p:nvPr/>
        </p:nvSpPr>
        <p:spPr>
          <a:xfrm>
            <a:off x="4322978" y="1600200"/>
            <a:ext cx="3545738" cy="4069080"/>
          </a:xfrm>
          <a:prstGeom prst="roundRect">
            <a:avLst>
              <a:gd name="adj" fmla="val 3095"/>
            </a:avLst>
          </a:prstGeom>
          <a:solidFill>
            <a:srgbClr val="121821">
              <a:alpha val="95000"/>
            </a:srgbClr>
          </a:solidFill>
          <a:ln w="9525">
            <a:solidFill>
              <a:srgbClr val="FFB547">
                <a:alpha val="40000"/>
              </a:srgbClr>
            </a:solidFill>
            <a:prstDash val="solid"/>
          </a:ln>
        </p:spPr>
      </p:sp>
      <p:sp>
        <p:nvSpPr>
          <p:cNvPr id="10" name="Shape 7"/>
          <p:cNvSpPr/>
          <p:nvPr/>
        </p:nvSpPr>
        <p:spPr>
          <a:xfrm>
            <a:off x="4597298" y="1856232"/>
            <a:ext cx="512064" cy="512064"/>
          </a:xfrm>
          <a:prstGeom prst="ellipse">
            <a:avLst/>
          </a:prstGeom>
          <a:solidFill>
            <a:srgbClr val="FFB547">
              <a:alpha val="16000"/>
            </a:srgbClr>
          </a:solidFill>
          <a:ln w="9525">
            <a:solidFill>
              <a:srgbClr val="FFB547">
                <a:alpha val="50000"/>
              </a:srgbClr>
            </a:solidFill>
            <a:prstDash val="solid"/>
          </a:ln>
        </p:spPr>
      </p:sp>
      <p:pic>
        <p:nvPicPr>
          <p:cNvPr id="11" name="Image 1" descr="/private/tmp/claude-501/-Users-raja-forge/826f4f3b-77e1-484d-8167-0e3b60d97c63/scratchpad/deck/assets/icons/LuTarget-FFB547.png">    </p:cNvPr>
          <p:cNvPicPr>
            <a:picLocks noChangeAspect="1"/>
          </p:cNvPicPr>
          <p:nvPr/>
        </p:nvPicPr>
        <p:blipFill>
          <a:blip r:embed="rId2"/>
          <a:stretch>
            <a:fillRect/>
          </a:stretch>
        </p:blipFill>
        <p:spPr>
          <a:xfrm>
            <a:off x="4725314" y="1984248"/>
            <a:ext cx="256032" cy="256032"/>
          </a:xfrm>
          <a:prstGeom prst="rect">
            <a:avLst/>
          </a:prstGeom>
        </p:spPr>
      </p:pic>
      <p:sp>
        <p:nvSpPr>
          <p:cNvPr id="12" name="Text 8"/>
          <p:cNvSpPr txBox="1"/>
          <p:nvPr/>
        </p:nvSpPr>
        <p:spPr>
          <a:xfrm>
            <a:off x="5255666" y="1993392"/>
            <a:ext cx="2357018" cy="274320"/>
          </a:xfrm>
          <a:prstGeom prst="rect">
            <a:avLst/>
          </a:prstGeom>
          <a:noFill/>
          <a:ln/>
        </p:spPr>
        <p:txBody>
          <a:bodyPr wrap="square" lIns="0" tIns="0" rIns="0" bIns="0" rtlCol="0" anchor="t"/>
          <a:lstStyle/>
          <a:p>
            <a:pPr indent="0" marL="0">
              <a:buNone/>
            </a:pPr>
            <a:r>
              <a:rPr lang="en-US" sz="1400" b="1" spc="300" kern="0" dirty="0">
                <a:solidFill>
                  <a:srgbClr val="FFB547"/>
                </a:solidFill>
                <a:latin typeface="Arial" pitchFamily="34" charset="0"/>
                <a:ea typeface="Arial" pitchFamily="34" charset="-122"/>
                <a:cs typeface="Arial" pitchFamily="34" charset="-120"/>
              </a:rPr>
              <a:t>NEXT</a:t>
            </a:r>
            <a:endParaRPr lang="en-US" sz="1400" dirty="0"/>
          </a:p>
        </p:txBody>
      </p:sp>
      <p:sp>
        <p:nvSpPr>
          <p:cNvPr id="13" name="Text 9"/>
          <p:cNvSpPr txBox="1"/>
          <p:nvPr/>
        </p:nvSpPr>
        <p:spPr>
          <a:xfrm>
            <a:off x="4597298" y="2624328"/>
            <a:ext cx="3042818" cy="292608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F3F5F8"/>
                </a:solidFill>
                <a:latin typeface="Arial" pitchFamily="34" charset="0"/>
                <a:ea typeface="Arial" pitchFamily="34" charset="-122"/>
                <a:cs typeface="Arial" pitchFamily="34" charset="-120"/>
              </a:rPr>
              <a:t>Measure output quality on a real AMS module: pass rate, scores, cost, review time</a:t>
            </a:r>
            <a:endParaRPr lang="en-US" sz="1200" dirty="0"/>
          </a:p>
          <a:p>
            <a:pPr marL="177800" indent="-177800">
              <a:spcAft>
                <a:spcPts val="600"/>
              </a:spcAft>
              <a:buSzPct val="100000"/>
              <a:buChar char="•"/>
            </a:pPr>
            <a:r>
              <a:rPr lang="en-US" sz="1200" dirty="0">
                <a:solidFill>
                  <a:srgbClr val="F3F5F8"/>
                </a:solidFill>
                <a:latin typeface="Arial" pitchFamily="34" charset="0"/>
                <a:ea typeface="Arial" pitchFamily="34" charset="-122"/>
                <a:cs typeface="Arial" pitchFamily="34" charset="-120"/>
              </a:rPr>
              <a:t>Context extractors, starting with the Spring bean graph</a:t>
            </a:r>
            <a:endParaRPr lang="en-US" sz="1200" dirty="0"/>
          </a:p>
          <a:p>
            <a:pPr marL="177800" indent="-177800">
              <a:spcAft>
                <a:spcPts val="600"/>
              </a:spcAft>
              <a:buSzPct val="100000"/>
              <a:buChar char="•"/>
            </a:pPr>
            <a:r>
              <a:rPr lang="en-US" sz="1200" dirty="0">
                <a:solidFill>
                  <a:srgbClr val="F3F5F8"/>
                </a:solidFill>
                <a:latin typeface="Arial" pitchFamily="34" charset="0"/>
                <a:ea typeface="Arial" pitchFamily="34" charset="-122"/>
                <a:cs typeface="Arial" pitchFamily="34" charset="-120"/>
              </a:rPr>
              <a:t>Routing parity for Struts</a:t>
            </a:r>
            <a:endParaRPr lang="en-US" sz="1200" dirty="0"/>
          </a:p>
          <a:p>
            <a:pPr marL="177800" indent="-177800">
              <a:spcAft>
                <a:spcPts val="600"/>
              </a:spcAft>
              <a:buSzPct val="100000"/>
              <a:buChar char="•"/>
            </a:pPr>
            <a:r>
              <a:rPr lang="en-US" sz="1200" dirty="0">
                <a:solidFill>
                  <a:srgbClr val="F3F5F8"/>
                </a:solidFill>
                <a:latin typeface="Arial" pitchFamily="34" charset="0"/>
                <a:ea typeface="Arial" pitchFamily="34" charset="-122"/>
                <a:cs typeface="Arial" pitchFamily="34" charset="-120"/>
              </a:rPr>
              <a:t>Run a whole plan from the discovery profile</a:t>
            </a:r>
            <a:endParaRPr lang="en-US" sz="1200" dirty="0"/>
          </a:p>
        </p:txBody>
      </p:sp>
      <p:sp>
        <p:nvSpPr>
          <p:cNvPr id="14" name="Shape 10"/>
          <p:cNvSpPr/>
          <p:nvPr/>
        </p:nvSpPr>
        <p:spPr>
          <a:xfrm>
            <a:off x="8097317" y="1600200"/>
            <a:ext cx="3545738" cy="4069080"/>
          </a:xfrm>
          <a:prstGeom prst="roundRect">
            <a:avLst>
              <a:gd name="adj" fmla="val 3095"/>
            </a:avLst>
          </a:prstGeom>
          <a:solidFill>
            <a:srgbClr val="121821">
              <a:alpha val="95000"/>
            </a:srgbClr>
          </a:solidFill>
          <a:ln w="9525">
            <a:solidFill>
              <a:srgbClr val="5EB1FF">
                <a:alpha val="40000"/>
              </a:srgbClr>
            </a:solidFill>
            <a:prstDash val="solid"/>
          </a:ln>
        </p:spPr>
      </p:sp>
      <p:sp>
        <p:nvSpPr>
          <p:cNvPr id="15" name="Shape 11"/>
          <p:cNvSpPr/>
          <p:nvPr/>
        </p:nvSpPr>
        <p:spPr>
          <a:xfrm>
            <a:off x="8371637" y="1856232"/>
            <a:ext cx="512064" cy="512064"/>
          </a:xfrm>
          <a:prstGeom prst="ellipse">
            <a:avLst/>
          </a:prstGeom>
          <a:solidFill>
            <a:srgbClr val="5EB1FF">
              <a:alpha val="16000"/>
            </a:srgbClr>
          </a:solidFill>
          <a:ln w="9525">
            <a:solidFill>
              <a:srgbClr val="5EB1FF">
                <a:alpha val="50000"/>
              </a:srgbClr>
            </a:solidFill>
            <a:prstDash val="solid"/>
          </a:ln>
        </p:spPr>
      </p:sp>
      <p:pic>
        <p:nvPicPr>
          <p:cNvPr id="16" name="Image 2" descr="/private/tmp/claude-501/-Users-raja-forge/826f4f3b-77e1-484d-8167-0e3b60d97c63/scratchpad/deck/assets/icons/LuRocket-5EB1FF.png">    </p:cNvPr>
          <p:cNvPicPr>
            <a:picLocks noChangeAspect="1"/>
          </p:cNvPicPr>
          <p:nvPr/>
        </p:nvPicPr>
        <p:blipFill>
          <a:blip r:embed="rId3"/>
          <a:stretch>
            <a:fillRect/>
          </a:stretch>
        </p:blipFill>
        <p:spPr>
          <a:xfrm>
            <a:off x="8499653" y="1984248"/>
            <a:ext cx="256032" cy="256032"/>
          </a:xfrm>
          <a:prstGeom prst="rect">
            <a:avLst/>
          </a:prstGeom>
        </p:spPr>
      </p:pic>
      <p:sp>
        <p:nvSpPr>
          <p:cNvPr id="17" name="Text 12"/>
          <p:cNvSpPr txBox="1"/>
          <p:nvPr/>
        </p:nvSpPr>
        <p:spPr>
          <a:xfrm>
            <a:off x="9030005" y="1993392"/>
            <a:ext cx="2357018" cy="274320"/>
          </a:xfrm>
          <a:prstGeom prst="rect">
            <a:avLst/>
          </a:prstGeom>
          <a:noFill/>
          <a:ln/>
        </p:spPr>
        <p:txBody>
          <a:bodyPr wrap="square" lIns="0" tIns="0" rIns="0" bIns="0" rtlCol="0" anchor="t"/>
          <a:lstStyle/>
          <a:p>
            <a:pPr indent="0" marL="0">
              <a:buNone/>
            </a:pPr>
            <a:r>
              <a:rPr lang="en-US" sz="1400" b="1" spc="300" kern="0" dirty="0">
                <a:solidFill>
                  <a:srgbClr val="5EB1FF"/>
                </a:solidFill>
                <a:latin typeface="Arial" pitchFamily="34" charset="0"/>
                <a:ea typeface="Arial" pitchFamily="34" charset="-122"/>
                <a:cs typeface="Arial" pitchFamily="34" charset="-120"/>
              </a:rPr>
              <a:t>LATER</a:t>
            </a:r>
            <a:endParaRPr lang="en-US" sz="1400" dirty="0"/>
          </a:p>
        </p:txBody>
      </p:sp>
      <p:sp>
        <p:nvSpPr>
          <p:cNvPr id="18" name="Text 13"/>
          <p:cNvSpPr txBox="1"/>
          <p:nvPr/>
        </p:nvSpPr>
        <p:spPr>
          <a:xfrm>
            <a:off x="8371637" y="2624328"/>
            <a:ext cx="3042818" cy="292608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F3F5F8"/>
                </a:solidFill>
                <a:latin typeface="Arial" pitchFamily="34" charset="0"/>
                <a:ea typeface="Arial" pitchFamily="34" charset="-122"/>
                <a:cs typeface="Arial" pitchFamily="34" charset="-120"/>
              </a:rPr>
              <a:t>Integration tests and a JaCoCo coverage gate</a:t>
            </a:r>
            <a:endParaRPr lang="en-US" sz="1200" dirty="0"/>
          </a:p>
          <a:p>
            <a:pPr marL="177800" indent="-177800">
              <a:spcAft>
                <a:spcPts val="600"/>
              </a:spcAft>
              <a:buSzPct val="100000"/>
              <a:buChar char="•"/>
            </a:pPr>
            <a:r>
              <a:rPr lang="en-US" sz="1200" dirty="0">
                <a:solidFill>
                  <a:srgbClr val="F3F5F8"/>
                </a:solidFill>
                <a:latin typeface="Arial" pitchFamily="34" charset="0"/>
                <a:ea typeface="Arial" pitchFamily="34" charset="-122"/>
                <a:cs typeface="Arial" pitchFamily="34" charset="-120"/>
              </a:rPr>
              <a:t>A module-level build gate</a:t>
            </a:r>
            <a:endParaRPr lang="en-US" sz="1200" dirty="0"/>
          </a:p>
          <a:p>
            <a:pPr marL="177800" indent="-177800">
              <a:spcAft>
                <a:spcPts val="600"/>
              </a:spcAft>
              <a:buSzPct val="100000"/>
              <a:buChar char="•"/>
            </a:pPr>
            <a:r>
              <a:rPr lang="en-US" sz="1200" dirty="0">
                <a:solidFill>
                  <a:srgbClr val="F3F5F8"/>
                </a:solidFill>
                <a:latin typeface="Arial" pitchFamily="34" charset="0"/>
                <a:ea typeface="Arial" pitchFamily="34" charset="-122"/>
                <a:cs typeface="Arial" pitchFamily="34" charset="-120"/>
              </a:rPr>
              <a:t>A startup probe for Bedrock model access</a:t>
            </a:r>
            <a:endParaRPr lang="en-US" sz="1200" dirty="0"/>
          </a:p>
          <a:p>
            <a:pPr marL="177800" indent="-177800">
              <a:spcAft>
                <a:spcPts val="600"/>
              </a:spcAft>
              <a:buSzPct val="100000"/>
              <a:buChar char="•"/>
            </a:pPr>
            <a:r>
              <a:rPr lang="en-US" sz="1200" dirty="0">
                <a:solidFill>
                  <a:srgbClr val="F3F5F8"/>
                </a:solidFill>
                <a:latin typeface="Arial" pitchFamily="34" charset="0"/>
                <a:ea typeface="Arial" pitchFamily="34" charset="-122"/>
                <a:cs typeface="Arial" pitchFamily="34" charset="-120"/>
              </a:rPr>
              <a:t>More packs: EJB, Hibernate, JSF, JMS</a:t>
            </a:r>
            <a:endParaRPr lang="en-US" sz="1200" dirty="0"/>
          </a:p>
        </p:txBody>
      </p:sp>
      <p:sp>
        <p:nvSpPr>
          <p:cNvPr id="19" name="Text 14"/>
          <p:cNvSpPr txBox="1"/>
          <p:nvPr/>
        </p:nvSpPr>
        <p:spPr>
          <a:xfrm>
            <a:off x="548640" y="5824728"/>
            <a:ext cx="11094415" cy="274320"/>
          </a:xfrm>
          <a:prstGeom prst="rect">
            <a:avLst/>
          </a:prstGeom>
          <a:noFill/>
          <a:ln/>
        </p:spPr>
        <p:txBody>
          <a:bodyPr wrap="square" lIns="0" tIns="0" rIns="0" bIns="0" rtlCol="0" anchor="t"/>
          <a:lstStyle/>
          <a:p>
            <a:pPr indent="0" marL="0">
              <a:buNone/>
            </a:pPr>
            <a:r>
              <a:rPr lang="en-US" sz="1300" i="1" dirty="0">
                <a:solidFill>
                  <a:srgbClr val="AAB5C3"/>
                </a:solidFill>
                <a:latin typeface="Arial" pitchFamily="34" charset="0"/>
                <a:ea typeface="Arial" pitchFamily="34" charset="-122"/>
                <a:cs typeface="Arial" pitchFamily="34" charset="-120"/>
              </a:rPr>
              <a:t>975 tests prove the orchestration. The next milestone proves the output.</a:t>
            </a:r>
            <a:endParaRPr lang="en-US" sz="1300" dirty="0"/>
          </a:p>
        </p:txBody>
      </p:sp>
      <p:sp>
        <p:nvSpPr>
          <p:cNvPr id="20" name="Text 15"/>
          <p:cNvSpPr txBox="1"/>
          <p:nvPr/>
        </p:nvSpPr>
        <p:spPr>
          <a:xfrm>
            <a:off x="548640" y="6455664"/>
            <a:ext cx="5486400" cy="219456"/>
          </a:xfrm>
          <a:prstGeom prst="rect">
            <a:avLst/>
          </a:prstGeom>
          <a:noFill/>
          <a:ln/>
        </p:spPr>
        <p:txBody>
          <a:bodyPr wrap="square" lIns="0" tIns="0" rIns="0" bIns="0" rtlCol="0" anchor="t"/>
          <a:lstStyle/>
          <a:p>
            <a:pPr indent="0" marL="0">
              <a:buNone/>
            </a:pPr>
            <a:r>
              <a:rPr lang="en-US" sz="900" dirty="0">
                <a:solidFill>
                  <a:srgbClr val="738191"/>
                </a:solidFill>
                <a:latin typeface="Arial" pitchFamily="34" charset="0"/>
                <a:ea typeface="Arial" pitchFamily="34" charset="-122"/>
                <a:cs typeface="Arial" pitchFamily="34" charset="-120"/>
              </a:rPr>
              <a:t>FORGE  ·  Software Development Conference 2026</a:t>
            </a:r>
            <a:endParaRPr lang="en-US" sz="900" dirty="0"/>
          </a:p>
        </p:txBody>
      </p:sp>
      <p:sp>
        <p:nvSpPr>
          <p:cNvPr id="21" name="Text 16"/>
          <p:cNvSpPr txBox="1"/>
          <p:nvPr/>
        </p:nvSpPr>
        <p:spPr>
          <a:xfrm>
            <a:off x="11094415" y="6455664"/>
            <a:ext cx="548640" cy="219456"/>
          </a:xfrm>
          <a:prstGeom prst="rect">
            <a:avLst/>
          </a:prstGeom>
          <a:noFill/>
          <a:ln/>
        </p:spPr>
        <p:txBody>
          <a:bodyPr wrap="square" lIns="0" tIns="0" rIns="0" bIns="0" rtlCol="0" anchor="t"/>
          <a:lstStyle/>
          <a:p>
            <a:pPr algn="r" indent="0" marL="0">
              <a:buNone/>
            </a:pPr>
            <a:r>
              <a:rPr lang="en-US" sz="900" dirty="0">
                <a:solidFill>
                  <a:srgbClr val="738191"/>
                </a:solidFill>
                <a:latin typeface="Arial" pitchFamily="34" charset="0"/>
                <a:ea typeface="Arial" pitchFamily="34" charset="-122"/>
                <a:cs typeface="Arial"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t"/>
          <a:lstStyle/>
          <a:p>
            <a:pPr indent="0" marL="0">
              <a:buNone/>
            </a:pPr>
            <a:r>
              <a:rPr lang="en-US" sz="1100" b="1" spc="300" kern="0" dirty="0">
                <a:solidFill>
                  <a:srgbClr val="FF6A2B"/>
                </a:solidFill>
                <a:latin typeface="Arial" pitchFamily="34" charset="0"/>
                <a:ea typeface="Arial" pitchFamily="34" charset="-122"/>
                <a:cs typeface="Arial" pitchFamily="34" charset="-120"/>
              </a:rPr>
              <a:t>06  ·  LESSONS &amp; DEMO</a:t>
            </a:r>
            <a:endParaRPr lang="en-US" sz="1100" dirty="0"/>
          </a:p>
        </p:txBody>
      </p:sp>
      <p:sp>
        <p:nvSpPr>
          <p:cNvPr id="3" name="Text 1"/>
          <p:cNvSpPr txBox="1"/>
          <p:nvPr/>
        </p:nvSpPr>
        <p:spPr>
          <a:xfrm>
            <a:off x="548640" y="676656"/>
            <a:ext cx="11094415" cy="658368"/>
          </a:xfrm>
          <a:prstGeom prst="rect">
            <a:avLst/>
          </a:prstGeom>
          <a:noFill/>
          <a:ln/>
        </p:spPr>
        <p:txBody>
          <a:bodyPr wrap="square" lIns="0" tIns="0" rIns="0" bIns="0" rtlCol="0" anchor="t"/>
          <a:lstStyle/>
          <a:p>
            <a:pPr indent="0" marL="0">
              <a:buNone/>
            </a:pPr>
            <a:r>
              <a:rPr lang="en-US" sz="3200" b="1" dirty="0">
                <a:solidFill>
                  <a:srgbClr val="F3F5F8"/>
                </a:solidFill>
                <a:latin typeface="Arial" pitchFamily="34" charset="0"/>
                <a:ea typeface="Arial" pitchFamily="34" charset="-122"/>
                <a:cs typeface="Arial" pitchFamily="34" charset="-120"/>
              </a:rPr>
              <a:t>Three things to take home</a:t>
            </a:r>
            <a:endParaRPr lang="en-US" sz="3200" dirty="0"/>
          </a:p>
        </p:txBody>
      </p:sp>
      <p:sp>
        <p:nvSpPr>
          <p:cNvPr id="4" name="Shape 2"/>
          <p:cNvSpPr/>
          <p:nvPr/>
        </p:nvSpPr>
        <p:spPr>
          <a:xfrm>
            <a:off x="548640" y="1737360"/>
            <a:ext cx="3515258" cy="3749040"/>
          </a:xfrm>
          <a:prstGeom prst="roundRect">
            <a:avLst>
              <a:gd name="adj" fmla="val 3121"/>
            </a:avLst>
          </a:prstGeom>
          <a:solidFill>
            <a:srgbClr val="121821">
              <a:alpha val="95000"/>
            </a:srgbClr>
          </a:solidFill>
          <a:ln w="9525">
            <a:solidFill>
              <a:srgbClr val="FF6A2B">
                <a:alpha val="35000"/>
              </a:srgbClr>
            </a:solidFill>
            <a:prstDash val="solid"/>
          </a:ln>
          <a:effectLst>
            <a:outerShdw sx="100000" sy="100000" kx="0" ky="0" algn="bl" rotWithShape="0" blurRad="203200" dist="63500" dir="5400000">
              <a:srgbClr val="000000">
                <a:alpha val="50000"/>
              </a:srgbClr>
            </a:outerShdw>
          </a:effectLst>
        </p:spPr>
      </p:sp>
      <p:sp>
        <p:nvSpPr>
          <p:cNvPr id="5" name="Text 3"/>
          <p:cNvSpPr txBox="1"/>
          <p:nvPr/>
        </p:nvSpPr>
        <p:spPr>
          <a:xfrm>
            <a:off x="914400" y="2011680"/>
            <a:ext cx="914400" cy="914400"/>
          </a:xfrm>
          <a:prstGeom prst="rect">
            <a:avLst/>
          </a:prstGeom>
          <a:noFill/>
          <a:ln/>
        </p:spPr>
        <p:txBody>
          <a:bodyPr wrap="square" lIns="0" tIns="0" rIns="0" bIns="0" rtlCol="0" anchor="t"/>
          <a:lstStyle/>
          <a:p>
            <a:pPr indent="0" marL="0">
              <a:buNone/>
            </a:pPr>
            <a:r>
              <a:rPr lang="en-US" sz="6000" b="1" dirty="0">
                <a:solidFill>
                  <a:srgbClr val="FF6A2B"/>
                </a:solidFill>
                <a:latin typeface="Arial" pitchFamily="34" charset="0"/>
                <a:ea typeface="Arial" pitchFamily="34" charset="-122"/>
                <a:cs typeface="Arial" pitchFamily="34" charset="-120"/>
              </a:rPr>
              <a:t>1</a:t>
            </a:r>
            <a:endParaRPr lang="en-US" sz="6000" dirty="0"/>
          </a:p>
        </p:txBody>
      </p:sp>
      <p:sp>
        <p:nvSpPr>
          <p:cNvPr id="6" name="Shape 4"/>
          <p:cNvSpPr/>
          <p:nvPr/>
        </p:nvSpPr>
        <p:spPr>
          <a:xfrm>
            <a:off x="3058058" y="2148840"/>
            <a:ext cx="640080" cy="640080"/>
          </a:xfrm>
          <a:prstGeom prst="ellipse">
            <a:avLst/>
          </a:prstGeom>
          <a:solidFill>
            <a:srgbClr val="FF6A2B">
              <a:alpha val="16000"/>
            </a:srgbClr>
          </a:solidFill>
          <a:ln w="9525">
            <a:solidFill>
              <a:srgbClr val="FF6A2B">
                <a:alpha val="50000"/>
              </a:srgbClr>
            </a:solidFill>
            <a:prstDash val="solid"/>
          </a:ln>
        </p:spPr>
      </p:sp>
      <p:pic>
        <p:nvPicPr>
          <p:cNvPr id="7" name="Image 0" descr="/private/tmp/claude-501/-Users-raja-forge/826f4f3b-77e1-484d-8167-0e3b60d97c63/scratchpad/deck/assets/icons/LuTarget-FF6A2B.png">    </p:cNvPr>
          <p:cNvPicPr>
            <a:picLocks noChangeAspect="1"/>
          </p:cNvPicPr>
          <p:nvPr/>
        </p:nvPicPr>
        <p:blipFill>
          <a:blip r:embed="rId1"/>
          <a:stretch>
            <a:fillRect/>
          </a:stretch>
        </p:blipFill>
        <p:spPr>
          <a:xfrm>
            <a:off x="3218078" y="2308860"/>
            <a:ext cx="320040" cy="320040"/>
          </a:xfrm>
          <a:prstGeom prst="rect">
            <a:avLst/>
          </a:prstGeom>
        </p:spPr>
      </p:pic>
      <p:sp>
        <p:nvSpPr>
          <p:cNvPr id="8" name="Text 5"/>
          <p:cNvSpPr txBox="1"/>
          <p:nvPr/>
        </p:nvSpPr>
        <p:spPr>
          <a:xfrm>
            <a:off x="914400" y="3154680"/>
            <a:ext cx="2783738" cy="914400"/>
          </a:xfrm>
          <a:prstGeom prst="rect">
            <a:avLst/>
          </a:prstGeom>
          <a:noFill/>
          <a:ln/>
        </p:spPr>
        <p:txBody>
          <a:bodyPr wrap="square" lIns="0" tIns="0" rIns="0" bIns="0" rtlCol="0" anchor="t"/>
          <a:lstStyle/>
          <a:p>
            <a:pPr indent="0" marL="0">
              <a:buNone/>
            </a:pPr>
            <a:r>
              <a:rPr lang="en-US" sz="2100" b="1" dirty="0">
                <a:solidFill>
                  <a:srgbClr val="F3F5F8"/>
                </a:solidFill>
                <a:latin typeface="Arial" pitchFamily="34" charset="0"/>
                <a:ea typeface="Arial" pitchFamily="34" charset="-122"/>
                <a:cs typeface="Arial" pitchFamily="34" charset="-120"/>
              </a:rPr>
              <a:t>Put the model where judgment lives</a:t>
            </a:r>
            <a:endParaRPr lang="en-US" sz="2100" dirty="0"/>
          </a:p>
        </p:txBody>
      </p:sp>
      <p:sp>
        <p:nvSpPr>
          <p:cNvPr id="9" name="Text 6"/>
          <p:cNvSpPr txBox="1"/>
          <p:nvPr/>
        </p:nvSpPr>
        <p:spPr>
          <a:xfrm>
            <a:off x="914400" y="4160520"/>
            <a:ext cx="2783738" cy="1463040"/>
          </a:xfrm>
          <a:prstGeom prst="rect">
            <a:avLst/>
          </a:prstGeom>
          <a:noFill/>
          <a:ln/>
        </p:spPr>
        <p:txBody>
          <a:bodyPr wrap="square" lIns="0" tIns="0" rIns="0" bIns="0" rtlCol="0" anchor="t"/>
          <a:lstStyle/>
          <a:p>
            <a:pPr indent="0" marL="0">
              <a:buNone/>
            </a:pPr>
            <a:r>
              <a:rPr lang="en-US" sz="1450" dirty="0">
                <a:solidFill>
                  <a:srgbClr val="AAB5C3"/>
                </a:solidFill>
                <a:latin typeface="Arial" pitchFamily="34" charset="0"/>
                <a:ea typeface="Arial" pitchFamily="34" charset="-122"/>
                <a:cs typeface="Arial" pitchFamily="34" charset="-120"/>
              </a:rPr>
              <a:t>Rewriting and reviewing code. Keep scope, secrets, routing and money in deterministic code.</a:t>
            </a:r>
            <a:endParaRPr lang="en-US" sz="1450" dirty="0"/>
          </a:p>
        </p:txBody>
      </p:sp>
      <p:sp>
        <p:nvSpPr>
          <p:cNvPr id="10" name="Shape 7"/>
          <p:cNvSpPr/>
          <p:nvPr/>
        </p:nvSpPr>
        <p:spPr>
          <a:xfrm>
            <a:off x="4338218" y="1737360"/>
            <a:ext cx="3515258" cy="3749040"/>
          </a:xfrm>
          <a:prstGeom prst="roundRect">
            <a:avLst>
              <a:gd name="adj" fmla="val 3121"/>
            </a:avLst>
          </a:prstGeom>
          <a:solidFill>
            <a:srgbClr val="121821">
              <a:alpha val="95000"/>
            </a:srgbClr>
          </a:solidFill>
          <a:ln w="9525">
            <a:solidFill>
              <a:srgbClr val="FF6A2B">
                <a:alpha val="35000"/>
              </a:srgbClr>
            </a:solidFill>
            <a:prstDash val="solid"/>
          </a:ln>
          <a:effectLst>
            <a:outerShdw sx="100000" sy="100000" kx="0" ky="0" algn="bl" rotWithShape="0" blurRad="203200" dist="63500" dir="5400000">
              <a:srgbClr val="000000">
                <a:alpha val="50000"/>
              </a:srgbClr>
            </a:outerShdw>
          </a:effectLst>
        </p:spPr>
      </p:sp>
      <p:sp>
        <p:nvSpPr>
          <p:cNvPr id="11" name="Text 8"/>
          <p:cNvSpPr txBox="1"/>
          <p:nvPr/>
        </p:nvSpPr>
        <p:spPr>
          <a:xfrm>
            <a:off x="4703978" y="2011680"/>
            <a:ext cx="914400" cy="914400"/>
          </a:xfrm>
          <a:prstGeom prst="rect">
            <a:avLst/>
          </a:prstGeom>
          <a:noFill/>
          <a:ln/>
        </p:spPr>
        <p:txBody>
          <a:bodyPr wrap="square" lIns="0" tIns="0" rIns="0" bIns="0" rtlCol="0" anchor="t"/>
          <a:lstStyle/>
          <a:p>
            <a:pPr indent="0" marL="0">
              <a:buNone/>
            </a:pPr>
            <a:r>
              <a:rPr lang="en-US" sz="6000" b="1" dirty="0">
                <a:solidFill>
                  <a:srgbClr val="FF6A2B"/>
                </a:solidFill>
                <a:latin typeface="Arial" pitchFamily="34" charset="0"/>
                <a:ea typeface="Arial" pitchFamily="34" charset="-122"/>
                <a:cs typeface="Arial" pitchFamily="34" charset="-120"/>
              </a:rPr>
              <a:t>2</a:t>
            </a:r>
            <a:endParaRPr lang="en-US" sz="6000" dirty="0"/>
          </a:p>
        </p:txBody>
      </p:sp>
      <p:sp>
        <p:nvSpPr>
          <p:cNvPr id="12" name="Shape 9"/>
          <p:cNvSpPr/>
          <p:nvPr/>
        </p:nvSpPr>
        <p:spPr>
          <a:xfrm>
            <a:off x="6847637" y="2148840"/>
            <a:ext cx="640080" cy="640080"/>
          </a:xfrm>
          <a:prstGeom prst="ellipse">
            <a:avLst/>
          </a:prstGeom>
          <a:solidFill>
            <a:srgbClr val="FF6A2B">
              <a:alpha val="16000"/>
            </a:srgbClr>
          </a:solidFill>
          <a:ln w="9525">
            <a:solidFill>
              <a:srgbClr val="FF6A2B">
                <a:alpha val="50000"/>
              </a:srgbClr>
            </a:solidFill>
            <a:prstDash val="solid"/>
          </a:ln>
        </p:spPr>
      </p:sp>
      <p:pic>
        <p:nvPicPr>
          <p:cNvPr id="13" name="Image 1" descr="/private/tmp/claude-501/-Users-raja-forge/826f4f3b-77e1-484d-8167-0e3b60d97c63/scratchpad/deck/assets/icons/LuScale-FF6A2B.png">    </p:cNvPr>
          <p:cNvPicPr>
            <a:picLocks noChangeAspect="1"/>
          </p:cNvPicPr>
          <p:nvPr/>
        </p:nvPicPr>
        <p:blipFill>
          <a:blip r:embed="rId2"/>
          <a:stretch>
            <a:fillRect/>
          </a:stretch>
        </p:blipFill>
        <p:spPr>
          <a:xfrm>
            <a:off x="7007657" y="2308860"/>
            <a:ext cx="320040" cy="320040"/>
          </a:xfrm>
          <a:prstGeom prst="rect">
            <a:avLst/>
          </a:prstGeom>
        </p:spPr>
      </p:pic>
      <p:sp>
        <p:nvSpPr>
          <p:cNvPr id="14" name="Text 10"/>
          <p:cNvSpPr txBox="1"/>
          <p:nvPr/>
        </p:nvSpPr>
        <p:spPr>
          <a:xfrm>
            <a:off x="4703978" y="3154680"/>
            <a:ext cx="2783738" cy="914400"/>
          </a:xfrm>
          <a:prstGeom prst="rect">
            <a:avLst/>
          </a:prstGeom>
          <a:noFill/>
          <a:ln/>
        </p:spPr>
        <p:txBody>
          <a:bodyPr wrap="square" lIns="0" tIns="0" rIns="0" bIns="0" rtlCol="0" anchor="t"/>
          <a:lstStyle/>
          <a:p>
            <a:pPr indent="0" marL="0">
              <a:buNone/>
            </a:pPr>
            <a:r>
              <a:rPr lang="en-US" sz="2100" b="1" dirty="0">
                <a:solidFill>
                  <a:srgbClr val="F3F5F8"/>
                </a:solidFill>
                <a:latin typeface="Arial" pitchFamily="34" charset="0"/>
                <a:ea typeface="Arial" pitchFamily="34" charset="-122"/>
                <a:cs typeface="Arial" pitchFamily="34" charset="-120"/>
              </a:rPr>
              <a:t>Cross-check with a different model family</a:t>
            </a:r>
            <a:endParaRPr lang="en-US" sz="2100" dirty="0"/>
          </a:p>
        </p:txBody>
      </p:sp>
      <p:sp>
        <p:nvSpPr>
          <p:cNvPr id="15" name="Text 11"/>
          <p:cNvSpPr txBox="1"/>
          <p:nvPr/>
        </p:nvSpPr>
        <p:spPr>
          <a:xfrm>
            <a:off x="4703978" y="4160520"/>
            <a:ext cx="2783738" cy="1463040"/>
          </a:xfrm>
          <a:prstGeom prst="rect">
            <a:avLst/>
          </a:prstGeom>
          <a:noFill/>
          <a:ln/>
        </p:spPr>
        <p:txBody>
          <a:bodyPr wrap="square" lIns="0" tIns="0" rIns="0" bIns="0" rtlCol="0" anchor="t"/>
          <a:lstStyle/>
          <a:p>
            <a:pPr indent="0" marL="0">
              <a:buNone/>
            </a:pPr>
            <a:r>
              <a:rPr lang="en-US" sz="1450" dirty="0">
                <a:solidFill>
                  <a:srgbClr val="AAB5C3"/>
                </a:solidFill>
                <a:latin typeface="Arial" pitchFamily="34" charset="0"/>
                <a:ea typeface="Arial" pitchFamily="34" charset="-122"/>
                <a:cs typeface="Arial" pitchFamily="34" charset="-120"/>
              </a:rPr>
              <a:t>And let an integer drive the branch, not the model’s opinion of itself.</a:t>
            </a:r>
            <a:endParaRPr lang="en-US" sz="1450" dirty="0"/>
          </a:p>
        </p:txBody>
      </p:sp>
      <p:sp>
        <p:nvSpPr>
          <p:cNvPr id="16" name="Shape 12"/>
          <p:cNvSpPr/>
          <p:nvPr/>
        </p:nvSpPr>
        <p:spPr>
          <a:xfrm>
            <a:off x="8127797" y="1737360"/>
            <a:ext cx="3515258" cy="3749040"/>
          </a:xfrm>
          <a:prstGeom prst="roundRect">
            <a:avLst>
              <a:gd name="adj" fmla="val 3121"/>
            </a:avLst>
          </a:prstGeom>
          <a:solidFill>
            <a:srgbClr val="121821">
              <a:alpha val="95000"/>
            </a:srgbClr>
          </a:solidFill>
          <a:ln w="9525">
            <a:solidFill>
              <a:srgbClr val="FF6A2B">
                <a:alpha val="35000"/>
              </a:srgbClr>
            </a:solidFill>
            <a:prstDash val="solid"/>
          </a:ln>
          <a:effectLst>
            <a:outerShdw sx="100000" sy="100000" kx="0" ky="0" algn="bl" rotWithShape="0" blurRad="203200" dist="63500" dir="5400000">
              <a:srgbClr val="000000">
                <a:alpha val="50000"/>
              </a:srgbClr>
            </a:outerShdw>
          </a:effectLst>
        </p:spPr>
      </p:sp>
      <p:sp>
        <p:nvSpPr>
          <p:cNvPr id="17" name="Text 13"/>
          <p:cNvSpPr txBox="1"/>
          <p:nvPr/>
        </p:nvSpPr>
        <p:spPr>
          <a:xfrm>
            <a:off x="8493557" y="2011680"/>
            <a:ext cx="914400" cy="914400"/>
          </a:xfrm>
          <a:prstGeom prst="rect">
            <a:avLst/>
          </a:prstGeom>
          <a:noFill/>
          <a:ln/>
        </p:spPr>
        <p:txBody>
          <a:bodyPr wrap="square" lIns="0" tIns="0" rIns="0" bIns="0" rtlCol="0" anchor="t"/>
          <a:lstStyle/>
          <a:p>
            <a:pPr indent="0" marL="0">
              <a:buNone/>
            </a:pPr>
            <a:r>
              <a:rPr lang="en-US" sz="6000" b="1" dirty="0">
                <a:solidFill>
                  <a:srgbClr val="FF6A2B"/>
                </a:solidFill>
                <a:latin typeface="Arial" pitchFamily="34" charset="0"/>
                <a:ea typeface="Arial" pitchFamily="34" charset="-122"/>
                <a:cs typeface="Arial" pitchFamily="34" charset="-120"/>
              </a:rPr>
              <a:t>3</a:t>
            </a:r>
            <a:endParaRPr lang="en-US" sz="6000" dirty="0"/>
          </a:p>
        </p:txBody>
      </p:sp>
      <p:sp>
        <p:nvSpPr>
          <p:cNvPr id="18" name="Shape 14"/>
          <p:cNvSpPr/>
          <p:nvPr/>
        </p:nvSpPr>
        <p:spPr>
          <a:xfrm>
            <a:off x="10637215" y="2148840"/>
            <a:ext cx="640080" cy="640080"/>
          </a:xfrm>
          <a:prstGeom prst="ellipse">
            <a:avLst/>
          </a:prstGeom>
          <a:solidFill>
            <a:srgbClr val="FF6A2B">
              <a:alpha val="16000"/>
            </a:srgbClr>
          </a:solidFill>
          <a:ln w="9525">
            <a:solidFill>
              <a:srgbClr val="FF6A2B">
                <a:alpha val="50000"/>
              </a:srgbClr>
            </a:solidFill>
            <a:prstDash val="solid"/>
          </a:ln>
        </p:spPr>
      </p:sp>
      <p:pic>
        <p:nvPicPr>
          <p:cNvPr id="19" name="Image 2" descr="/private/tmp/claude-501/-Users-raja-forge/826f4f3b-77e1-484d-8167-0e3b60d97c63/scratchpad/deck/assets/icons/LuMousePointerClick-FF6A2B.png">    </p:cNvPr>
          <p:cNvPicPr>
            <a:picLocks noChangeAspect="1"/>
          </p:cNvPicPr>
          <p:nvPr/>
        </p:nvPicPr>
        <p:blipFill>
          <a:blip r:embed="rId3"/>
          <a:stretch>
            <a:fillRect/>
          </a:stretch>
        </p:blipFill>
        <p:spPr>
          <a:xfrm>
            <a:off x="10797235" y="2308860"/>
            <a:ext cx="320040" cy="320040"/>
          </a:xfrm>
          <a:prstGeom prst="rect">
            <a:avLst/>
          </a:prstGeom>
        </p:spPr>
      </p:pic>
      <p:sp>
        <p:nvSpPr>
          <p:cNvPr id="20" name="Text 15"/>
          <p:cNvSpPr txBox="1"/>
          <p:nvPr/>
        </p:nvSpPr>
        <p:spPr>
          <a:xfrm>
            <a:off x="8493557" y="3154680"/>
            <a:ext cx="2783738" cy="914400"/>
          </a:xfrm>
          <a:prstGeom prst="rect">
            <a:avLst/>
          </a:prstGeom>
          <a:noFill/>
          <a:ln/>
        </p:spPr>
        <p:txBody>
          <a:bodyPr wrap="square" lIns="0" tIns="0" rIns="0" bIns="0" rtlCol="0" anchor="t"/>
          <a:lstStyle/>
          <a:p>
            <a:pPr indent="0" marL="0">
              <a:buNone/>
            </a:pPr>
            <a:r>
              <a:rPr lang="en-US" sz="2100" b="1" dirty="0">
                <a:solidFill>
                  <a:srgbClr val="F3F5F8"/>
                </a:solidFill>
                <a:latin typeface="Arial" pitchFamily="34" charset="0"/>
                <a:ea typeface="Arial" pitchFamily="34" charset="-122"/>
                <a:cs typeface="Arial" pitchFamily="34" charset="-120"/>
              </a:rPr>
              <a:t>Make the human’s click the gate</a:t>
            </a:r>
            <a:endParaRPr lang="en-US" sz="2100" dirty="0"/>
          </a:p>
        </p:txBody>
      </p:sp>
      <p:sp>
        <p:nvSpPr>
          <p:cNvPr id="21" name="Text 16"/>
          <p:cNvSpPr txBox="1"/>
          <p:nvPr/>
        </p:nvSpPr>
        <p:spPr>
          <a:xfrm>
            <a:off x="8493557" y="4160520"/>
            <a:ext cx="2783738" cy="1463040"/>
          </a:xfrm>
          <a:prstGeom prst="rect">
            <a:avLst/>
          </a:prstGeom>
          <a:noFill/>
          <a:ln/>
        </p:spPr>
        <p:txBody>
          <a:bodyPr wrap="square" lIns="0" tIns="0" rIns="0" bIns="0" rtlCol="0" anchor="t"/>
          <a:lstStyle/>
          <a:p>
            <a:pPr indent="0" marL="0">
              <a:buNone/>
            </a:pPr>
            <a:r>
              <a:rPr lang="en-US" sz="1450" dirty="0">
                <a:solidFill>
                  <a:srgbClr val="AAB5C3"/>
                </a:solidFill>
                <a:latin typeface="Arial" pitchFamily="34" charset="0"/>
                <a:ea typeface="Arial" pitchFamily="34" charset="-122"/>
                <a:cs typeface="Arial" pitchFamily="34" charset="-120"/>
              </a:rPr>
              <a:t>For spending money, for approvals, and for anything that lands in a repository.</a:t>
            </a:r>
            <a:endParaRPr lang="en-US" sz="1450" dirty="0"/>
          </a:p>
        </p:txBody>
      </p:sp>
      <p:sp>
        <p:nvSpPr>
          <p:cNvPr id="22" name="Text 17"/>
          <p:cNvSpPr txBox="1"/>
          <p:nvPr/>
        </p:nvSpPr>
        <p:spPr>
          <a:xfrm>
            <a:off x="548640" y="6455664"/>
            <a:ext cx="5486400" cy="219456"/>
          </a:xfrm>
          <a:prstGeom prst="rect">
            <a:avLst/>
          </a:prstGeom>
          <a:noFill/>
          <a:ln/>
        </p:spPr>
        <p:txBody>
          <a:bodyPr wrap="square" lIns="0" tIns="0" rIns="0" bIns="0" rtlCol="0" anchor="t"/>
          <a:lstStyle/>
          <a:p>
            <a:pPr indent="0" marL="0">
              <a:buNone/>
            </a:pPr>
            <a:r>
              <a:rPr lang="en-US" sz="900" dirty="0">
                <a:solidFill>
                  <a:srgbClr val="738191"/>
                </a:solidFill>
                <a:latin typeface="Arial" pitchFamily="34" charset="0"/>
                <a:ea typeface="Arial" pitchFamily="34" charset="-122"/>
                <a:cs typeface="Arial" pitchFamily="34" charset="-120"/>
              </a:rPr>
              <a:t>FORGE  ·  Software Development Conference 2026</a:t>
            </a:r>
            <a:endParaRPr lang="en-US" sz="900" dirty="0"/>
          </a:p>
        </p:txBody>
      </p:sp>
      <p:sp>
        <p:nvSpPr>
          <p:cNvPr id="23" name="Text 18"/>
          <p:cNvSpPr txBox="1"/>
          <p:nvPr/>
        </p:nvSpPr>
        <p:spPr>
          <a:xfrm>
            <a:off x="11094415" y="6455664"/>
            <a:ext cx="548640" cy="219456"/>
          </a:xfrm>
          <a:prstGeom prst="rect">
            <a:avLst/>
          </a:prstGeom>
          <a:noFill/>
          <a:ln/>
        </p:spPr>
        <p:txBody>
          <a:bodyPr wrap="square" lIns="0" tIns="0" rIns="0" bIns="0" rtlCol="0" anchor="t"/>
          <a:lstStyle/>
          <a:p>
            <a:pPr algn="r" indent="0" marL="0">
              <a:buNone/>
            </a:pPr>
            <a:r>
              <a:rPr lang="en-US" sz="900" dirty="0">
                <a:solidFill>
                  <a:srgbClr val="738191"/>
                </a:solidFill>
                <a:latin typeface="Arial" pitchFamily="34" charset="0"/>
                <a:ea typeface="Arial" pitchFamily="34" charset="-122"/>
                <a:cs typeface="Arial"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t"/>
          <a:lstStyle/>
          <a:p>
            <a:pPr indent="0" marL="0">
              <a:buNone/>
            </a:pPr>
            <a:r>
              <a:rPr lang="en-US" sz="1100" b="1" spc="300" kern="0" dirty="0">
                <a:solidFill>
                  <a:srgbClr val="FF6A2B"/>
                </a:solidFill>
                <a:latin typeface="Arial" pitchFamily="34" charset="0"/>
                <a:ea typeface="Arial" pitchFamily="34" charset="-122"/>
                <a:cs typeface="Arial" pitchFamily="34" charset="-120"/>
              </a:rPr>
              <a:t>DEMO</a:t>
            </a:r>
            <a:endParaRPr lang="en-US" sz="1100" dirty="0"/>
          </a:p>
        </p:txBody>
      </p:sp>
      <p:sp>
        <p:nvSpPr>
          <p:cNvPr id="3" name="Text 1"/>
          <p:cNvSpPr txBox="1"/>
          <p:nvPr/>
        </p:nvSpPr>
        <p:spPr>
          <a:xfrm>
            <a:off x="548640" y="676656"/>
            <a:ext cx="11094415" cy="658368"/>
          </a:xfrm>
          <a:prstGeom prst="rect">
            <a:avLst/>
          </a:prstGeom>
          <a:noFill/>
          <a:ln/>
        </p:spPr>
        <p:txBody>
          <a:bodyPr wrap="square" lIns="0" tIns="0" rIns="0" bIns="0" rtlCol="0" anchor="t"/>
          <a:lstStyle/>
          <a:p>
            <a:pPr indent="0" marL="0">
              <a:buNone/>
            </a:pPr>
            <a:r>
              <a:rPr lang="en-US" sz="3200" b="1" dirty="0">
                <a:solidFill>
                  <a:srgbClr val="F3F5F8"/>
                </a:solidFill>
                <a:latin typeface="Arial" pitchFamily="34" charset="0"/>
                <a:ea typeface="Arial" pitchFamily="34" charset="-122"/>
                <a:cs typeface="Arial" pitchFamily="34" charset="-120"/>
              </a:rPr>
              <a:t>Modernizing AMS from a chat window</a:t>
            </a:r>
            <a:endParaRPr lang="en-US" sz="3200" dirty="0"/>
          </a:p>
        </p:txBody>
      </p:sp>
      <p:sp>
        <p:nvSpPr>
          <p:cNvPr id="4" name="Text 2"/>
          <p:cNvSpPr txBox="1"/>
          <p:nvPr/>
        </p:nvSpPr>
        <p:spPr>
          <a:xfrm>
            <a:off x="548640" y="1316736"/>
            <a:ext cx="10607040" cy="512064"/>
          </a:xfrm>
          <a:prstGeom prst="rect">
            <a:avLst/>
          </a:prstGeom>
          <a:noFill/>
          <a:ln/>
        </p:spPr>
        <p:txBody>
          <a:bodyPr wrap="square" lIns="0" tIns="0" rIns="0" bIns="0" rtlCol="0" anchor="t"/>
          <a:lstStyle/>
          <a:p>
            <a:pPr indent="0" marL="0">
              <a:lnSpc>
                <a:spcPct val="105000"/>
              </a:lnSpc>
              <a:buNone/>
            </a:pPr>
            <a:r>
              <a:rPr lang="en-US" sz="1500" dirty="0">
                <a:solidFill>
                  <a:srgbClr val="AAB5C3"/>
                </a:solidFill>
                <a:latin typeface="Arial" pitchFamily="34" charset="0"/>
                <a:ea typeface="Arial" pitchFamily="34" charset="-122"/>
                <a:cs typeface="Arial" pitchFamily="34" charset="-120"/>
              </a:rPr>
              <a:t>Five moments to watch for in the recording.</a:t>
            </a:r>
            <a:endParaRPr lang="en-US" sz="1500" dirty="0"/>
          </a:p>
        </p:txBody>
      </p:sp>
      <p:sp>
        <p:nvSpPr>
          <p:cNvPr id="5" name="Shape 3"/>
          <p:cNvSpPr/>
          <p:nvPr/>
        </p:nvSpPr>
        <p:spPr>
          <a:xfrm>
            <a:off x="1600200" y="2926080"/>
            <a:ext cx="8991295" cy="0"/>
          </a:xfrm>
          <a:prstGeom prst="line">
            <a:avLst/>
          </a:prstGeom>
          <a:noFill/>
          <a:ln w="25400">
            <a:solidFill>
              <a:srgbClr val="263244"/>
            </a:solidFill>
            <a:prstDash val="solid"/>
          </a:ln>
        </p:spPr>
      </p:sp>
      <p:sp>
        <p:nvSpPr>
          <p:cNvPr id="6" name="Text 4"/>
          <p:cNvSpPr txBox="1"/>
          <p:nvPr/>
        </p:nvSpPr>
        <p:spPr>
          <a:xfrm>
            <a:off x="1298448" y="2624328"/>
            <a:ext cx="603504" cy="603504"/>
          </a:xfrm>
          <a:prstGeom prst="ellipse">
            <a:avLst/>
          </a:prstGeom>
          <a:solidFill>
            <a:srgbClr val="FF6A2B"/>
          </a:solidFill>
          <a:ln w="38100">
            <a:solidFill>
              <a:srgbClr val="0A0E13"/>
            </a:solidFill>
          </a:ln>
        </p:spPr>
        <p:txBody>
          <a:bodyPr wrap="square" lIns="0" tIns="0" rIns="0" bIns="0" rtlCol="0" anchor="ctr"/>
          <a:lstStyle/>
          <a:p>
            <a:pPr algn="ctr" indent="0" marL="0">
              <a:buNone/>
            </a:pPr>
            <a:r>
              <a:rPr lang="en-US" sz="1800" b="1" dirty="0">
                <a:solidFill>
                  <a:srgbClr val="0A0E13"/>
                </a:solidFill>
                <a:latin typeface="Arial" pitchFamily="34" charset="0"/>
                <a:ea typeface="Arial" pitchFamily="34" charset="-122"/>
                <a:cs typeface="Arial" pitchFamily="34" charset="-120"/>
              </a:rPr>
              <a:t>1</a:t>
            </a:r>
            <a:endParaRPr lang="en-US" sz="1800" dirty="0"/>
          </a:p>
        </p:txBody>
      </p:sp>
      <p:sp>
        <p:nvSpPr>
          <p:cNvPr id="7" name="Text 5"/>
          <p:cNvSpPr txBox="1"/>
          <p:nvPr/>
        </p:nvSpPr>
        <p:spPr>
          <a:xfrm>
            <a:off x="548640" y="3474720"/>
            <a:ext cx="2103120" cy="640080"/>
          </a:xfrm>
          <a:prstGeom prst="rect">
            <a:avLst/>
          </a:prstGeom>
          <a:noFill/>
          <a:ln/>
        </p:spPr>
        <p:txBody>
          <a:bodyPr wrap="square" lIns="0" tIns="0" rIns="0" bIns="0" rtlCol="0" anchor="t"/>
          <a:lstStyle/>
          <a:p>
            <a:pPr algn="ctr" indent="0" marL="0">
              <a:buNone/>
            </a:pPr>
            <a:r>
              <a:rPr lang="en-US" sz="1500" b="1" dirty="0">
                <a:solidFill>
                  <a:srgbClr val="F3F5F8"/>
                </a:solidFill>
                <a:latin typeface="Arial" pitchFamily="34" charset="0"/>
                <a:ea typeface="Arial" pitchFamily="34" charset="-122"/>
                <a:cs typeface="Arial" pitchFamily="34" charset="-120"/>
              </a:rPr>
              <a:t>“migrate the app at ~/forge/ams”</a:t>
            </a:r>
            <a:endParaRPr lang="en-US" sz="1500" dirty="0"/>
          </a:p>
        </p:txBody>
      </p:sp>
      <p:sp>
        <p:nvSpPr>
          <p:cNvPr id="8" name="Text 6"/>
          <p:cNvSpPr txBox="1"/>
          <p:nvPr/>
        </p:nvSpPr>
        <p:spPr>
          <a:xfrm>
            <a:off x="548640" y="4160520"/>
            <a:ext cx="2103120" cy="1188720"/>
          </a:xfrm>
          <a:prstGeom prst="rect">
            <a:avLst/>
          </a:prstGeom>
          <a:noFill/>
          <a:ln/>
        </p:spPr>
        <p:txBody>
          <a:bodyPr wrap="square" lIns="0" tIns="0" rIns="0" bIns="0" rtlCol="0" anchor="t"/>
          <a:lstStyle/>
          <a:p>
            <a:pPr algn="ctr" indent="0" marL="0">
              <a:buNone/>
            </a:pPr>
            <a:r>
              <a:rPr lang="en-US" sz="1250" dirty="0">
                <a:solidFill>
                  <a:srgbClr val="AAB5C3"/>
                </a:solidFill>
                <a:latin typeface="Arial" pitchFamily="34" charset="0"/>
                <a:ea typeface="Arial" pitchFamily="34" charset="-122"/>
                <a:cs typeface="Arial" pitchFamily="34" charset="-120"/>
              </a:rPr>
              <a:t>Discovery finds ten packs, each with its evidence. Free: no model, no AWS.</a:t>
            </a:r>
            <a:endParaRPr lang="en-US" sz="1250" dirty="0"/>
          </a:p>
        </p:txBody>
      </p:sp>
      <p:sp>
        <p:nvSpPr>
          <p:cNvPr id="9" name="Text 7"/>
          <p:cNvSpPr txBox="1"/>
          <p:nvPr/>
        </p:nvSpPr>
        <p:spPr>
          <a:xfrm>
            <a:off x="3546272" y="2624328"/>
            <a:ext cx="603504" cy="603504"/>
          </a:xfrm>
          <a:prstGeom prst="ellipse">
            <a:avLst/>
          </a:prstGeom>
          <a:solidFill>
            <a:srgbClr val="FF6A2B"/>
          </a:solidFill>
          <a:ln w="38100">
            <a:solidFill>
              <a:srgbClr val="0A0E13"/>
            </a:solidFill>
          </a:ln>
        </p:spPr>
        <p:txBody>
          <a:bodyPr wrap="square" lIns="0" tIns="0" rIns="0" bIns="0" rtlCol="0" anchor="ctr"/>
          <a:lstStyle/>
          <a:p>
            <a:pPr algn="ctr" indent="0" marL="0">
              <a:buNone/>
            </a:pPr>
            <a:r>
              <a:rPr lang="en-US" sz="1800" b="1" dirty="0">
                <a:solidFill>
                  <a:srgbClr val="0A0E13"/>
                </a:solidFill>
                <a:latin typeface="Arial" pitchFamily="34" charset="0"/>
                <a:ea typeface="Arial" pitchFamily="34" charset="-122"/>
                <a:cs typeface="Arial" pitchFamily="34" charset="-120"/>
              </a:rPr>
              <a:t>2</a:t>
            </a:r>
            <a:endParaRPr lang="en-US" sz="1800" dirty="0"/>
          </a:p>
        </p:txBody>
      </p:sp>
      <p:sp>
        <p:nvSpPr>
          <p:cNvPr id="10" name="Text 8"/>
          <p:cNvSpPr txBox="1"/>
          <p:nvPr/>
        </p:nvSpPr>
        <p:spPr>
          <a:xfrm>
            <a:off x="2796464" y="3474720"/>
            <a:ext cx="2103120" cy="640080"/>
          </a:xfrm>
          <a:prstGeom prst="rect">
            <a:avLst/>
          </a:prstGeom>
          <a:noFill/>
          <a:ln/>
        </p:spPr>
        <p:txBody>
          <a:bodyPr wrap="square" lIns="0" tIns="0" rIns="0" bIns="0" rtlCol="0" anchor="t"/>
          <a:lstStyle/>
          <a:p>
            <a:pPr algn="ctr" indent="0" marL="0">
              <a:buNone/>
            </a:pPr>
            <a:r>
              <a:rPr lang="en-US" sz="1500" b="1" dirty="0">
                <a:solidFill>
                  <a:srgbClr val="F3F5F8"/>
                </a:solidFill>
                <a:latin typeface="Arial" pitchFamily="34" charset="0"/>
                <a:ea typeface="Arial" pitchFamily="34" charset="-122"/>
                <a:cs typeface="Arial" pitchFamily="34" charset="-120"/>
              </a:rPr>
              <a:t>The plan and the estimate</a:t>
            </a:r>
            <a:endParaRPr lang="en-US" sz="1500" dirty="0"/>
          </a:p>
        </p:txBody>
      </p:sp>
      <p:sp>
        <p:nvSpPr>
          <p:cNvPr id="11" name="Text 9"/>
          <p:cNvSpPr txBox="1"/>
          <p:nvPr/>
        </p:nvSpPr>
        <p:spPr>
          <a:xfrm>
            <a:off x="2796464" y="4160520"/>
            <a:ext cx="2103120" cy="1188720"/>
          </a:xfrm>
          <a:prstGeom prst="rect">
            <a:avLst/>
          </a:prstGeom>
          <a:noFill/>
          <a:ln/>
        </p:spPr>
        <p:txBody>
          <a:bodyPr wrap="square" lIns="0" tIns="0" rIns="0" bIns="0" rtlCol="0" anchor="t"/>
          <a:lstStyle/>
          <a:p>
            <a:pPr algn="ctr" indent="0" marL="0">
              <a:buNone/>
            </a:pPr>
            <a:r>
              <a:rPr lang="en-US" sz="1250" dirty="0">
                <a:solidFill>
                  <a:srgbClr val="AAB5C3"/>
                </a:solidFill>
                <a:latin typeface="Arial" pitchFamily="34" charset="0"/>
                <a:ea typeface="Arial" pitchFamily="34" charset="-122"/>
                <a:cs typeface="Arial" pitchFamily="34" charset="-120"/>
              </a:rPr>
              <a:t>Ten packs in dependency order, 422 files, with the cost quoted up front.</a:t>
            </a:r>
            <a:endParaRPr lang="en-US" sz="1250" dirty="0"/>
          </a:p>
        </p:txBody>
      </p:sp>
      <p:sp>
        <p:nvSpPr>
          <p:cNvPr id="12" name="Text 10"/>
          <p:cNvSpPr txBox="1"/>
          <p:nvPr/>
        </p:nvSpPr>
        <p:spPr>
          <a:xfrm>
            <a:off x="5794096" y="2624328"/>
            <a:ext cx="603504" cy="603504"/>
          </a:xfrm>
          <a:prstGeom prst="ellipse">
            <a:avLst/>
          </a:prstGeom>
          <a:solidFill>
            <a:srgbClr val="FF6A2B"/>
          </a:solidFill>
          <a:ln w="38100">
            <a:solidFill>
              <a:srgbClr val="0A0E13"/>
            </a:solidFill>
          </a:ln>
        </p:spPr>
        <p:txBody>
          <a:bodyPr wrap="square" lIns="0" tIns="0" rIns="0" bIns="0" rtlCol="0" anchor="ctr"/>
          <a:lstStyle/>
          <a:p>
            <a:pPr algn="ctr" indent="0" marL="0">
              <a:buNone/>
            </a:pPr>
            <a:r>
              <a:rPr lang="en-US" sz="1800" b="1" dirty="0">
                <a:solidFill>
                  <a:srgbClr val="0A0E13"/>
                </a:solidFill>
                <a:latin typeface="Arial" pitchFamily="34" charset="0"/>
                <a:ea typeface="Arial" pitchFamily="34" charset="-122"/>
                <a:cs typeface="Arial" pitchFamily="34" charset="-120"/>
              </a:rPr>
              <a:t>3</a:t>
            </a:r>
            <a:endParaRPr lang="en-US" sz="1800" dirty="0"/>
          </a:p>
        </p:txBody>
      </p:sp>
      <p:sp>
        <p:nvSpPr>
          <p:cNvPr id="13" name="Text 11"/>
          <p:cNvSpPr txBox="1"/>
          <p:nvPr/>
        </p:nvSpPr>
        <p:spPr>
          <a:xfrm>
            <a:off x="5044288" y="3474720"/>
            <a:ext cx="2103120" cy="640080"/>
          </a:xfrm>
          <a:prstGeom prst="rect">
            <a:avLst/>
          </a:prstGeom>
          <a:noFill/>
          <a:ln/>
        </p:spPr>
        <p:txBody>
          <a:bodyPr wrap="square" lIns="0" tIns="0" rIns="0" bIns="0" rtlCol="0" anchor="t"/>
          <a:lstStyle/>
          <a:p>
            <a:pPr algn="ctr" indent="0" marL="0">
              <a:buNone/>
            </a:pPr>
            <a:r>
              <a:rPr lang="en-US" sz="1500" b="1" dirty="0">
                <a:solidFill>
                  <a:srgbClr val="F3F5F8"/>
                </a:solidFill>
                <a:latin typeface="Arial" pitchFamily="34" charset="0"/>
                <a:ea typeface="Arial" pitchFamily="34" charset="-122"/>
                <a:cs typeface="Arial" pitchFamily="34" charset="-120"/>
              </a:rPr>
              <a:t>The run streams</a:t>
            </a:r>
            <a:endParaRPr lang="en-US" sz="1500" dirty="0"/>
          </a:p>
        </p:txBody>
      </p:sp>
      <p:sp>
        <p:nvSpPr>
          <p:cNvPr id="14" name="Text 12"/>
          <p:cNvSpPr txBox="1"/>
          <p:nvPr/>
        </p:nvSpPr>
        <p:spPr>
          <a:xfrm>
            <a:off x="5044288" y="4160520"/>
            <a:ext cx="2103120" cy="1188720"/>
          </a:xfrm>
          <a:prstGeom prst="rect">
            <a:avLst/>
          </a:prstGeom>
          <a:noFill/>
          <a:ln/>
        </p:spPr>
        <p:txBody>
          <a:bodyPr wrap="square" lIns="0" tIns="0" rIns="0" bIns="0" rtlCol="0" anchor="t"/>
          <a:lstStyle/>
          <a:p>
            <a:pPr algn="ctr" indent="0" marL="0">
              <a:buNone/>
            </a:pPr>
            <a:r>
              <a:rPr lang="en-US" sz="1250" dirty="0">
                <a:solidFill>
                  <a:srgbClr val="AAB5C3"/>
                </a:solidFill>
                <a:latin typeface="Arial" pitchFamily="34" charset="0"/>
                <a:ea typeface="Arial" pitchFamily="34" charset="-122"/>
                <a:cs typeface="Arial" pitchFamily="34" charset="-120"/>
              </a:rPr>
              <a:t>Eight files at a time: transformed, parsed, reviewed and guarded, live.</a:t>
            </a:r>
            <a:endParaRPr lang="en-US" sz="1250" dirty="0"/>
          </a:p>
        </p:txBody>
      </p:sp>
      <p:sp>
        <p:nvSpPr>
          <p:cNvPr id="15" name="Text 13"/>
          <p:cNvSpPr txBox="1"/>
          <p:nvPr/>
        </p:nvSpPr>
        <p:spPr>
          <a:xfrm>
            <a:off x="8041919" y="2624328"/>
            <a:ext cx="603504" cy="603504"/>
          </a:xfrm>
          <a:prstGeom prst="ellipse">
            <a:avLst/>
          </a:prstGeom>
          <a:solidFill>
            <a:srgbClr val="FF6A2B"/>
          </a:solidFill>
          <a:ln w="38100">
            <a:solidFill>
              <a:srgbClr val="0A0E13"/>
            </a:solidFill>
          </a:ln>
        </p:spPr>
        <p:txBody>
          <a:bodyPr wrap="square" lIns="0" tIns="0" rIns="0" bIns="0" rtlCol="0" anchor="ctr"/>
          <a:lstStyle/>
          <a:p>
            <a:pPr algn="ctr" indent="0" marL="0">
              <a:buNone/>
            </a:pPr>
            <a:r>
              <a:rPr lang="en-US" sz="1800" b="1" dirty="0">
                <a:solidFill>
                  <a:srgbClr val="0A0E13"/>
                </a:solidFill>
                <a:latin typeface="Arial" pitchFamily="34" charset="0"/>
                <a:ea typeface="Arial" pitchFamily="34" charset="-122"/>
                <a:cs typeface="Arial" pitchFamily="34" charset="-120"/>
              </a:rPr>
              <a:t>4</a:t>
            </a:r>
            <a:endParaRPr lang="en-US" sz="1800" dirty="0"/>
          </a:p>
        </p:txBody>
      </p:sp>
      <p:sp>
        <p:nvSpPr>
          <p:cNvPr id="16" name="Text 14"/>
          <p:cNvSpPr txBox="1"/>
          <p:nvPr/>
        </p:nvSpPr>
        <p:spPr>
          <a:xfrm>
            <a:off x="7292111" y="3474720"/>
            <a:ext cx="2103120" cy="640080"/>
          </a:xfrm>
          <a:prstGeom prst="rect">
            <a:avLst/>
          </a:prstGeom>
          <a:noFill/>
          <a:ln/>
        </p:spPr>
        <p:txBody>
          <a:bodyPr wrap="square" lIns="0" tIns="0" rIns="0" bIns="0" rtlCol="0" anchor="t"/>
          <a:lstStyle/>
          <a:p>
            <a:pPr algn="ctr" indent="0" marL="0">
              <a:buNone/>
            </a:pPr>
            <a:r>
              <a:rPr lang="en-US" sz="1500" b="1" dirty="0">
                <a:solidFill>
                  <a:srgbClr val="F3F5F8"/>
                </a:solidFill>
                <a:latin typeface="Arial" pitchFamily="34" charset="0"/>
                <a:ea typeface="Arial" pitchFamily="34" charset="-122"/>
                <a:cs typeface="Arial" pitchFamily="34" charset="-120"/>
              </a:rPr>
              <a:t>Review cards</a:t>
            </a:r>
            <a:endParaRPr lang="en-US" sz="1500" dirty="0"/>
          </a:p>
        </p:txBody>
      </p:sp>
      <p:sp>
        <p:nvSpPr>
          <p:cNvPr id="17" name="Text 15"/>
          <p:cNvSpPr txBox="1"/>
          <p:nvPr/>
        </p:nvSpPr>
        <p:spPr>
          <a:xfrm>
            <a:off x="7292111" y="4160520"/>
            <a:ext cx="2103120" cy="1188720"/>
          </a:xfrm>
          <a:prstGeom prst="rect">
            <a:avLst/>
          </a:prstGeom>
          <a:noFill/>
          <a:ln/>
        </p:spPr>
        <p:txBody>
          <a:bodyPr wrap="square" lIns="0" tIns="0" rIns="0" bIns="0" rtlCol="0" anchor="t"/>
          <a:lstStyle/>
          <a:p>
            <a:pPr algn="ctr" indent="0" marL="0">
              <a:buNone/>
            </a:pPr>
            <a:r>
              <a:rPr lang="en-US" sz="1250" dirty="0">
                <a:solidFill>
                  <a:srgbClr val="AAB5C3"/>
                </a:solidFill>
                <a:latin typeface="Arial" pitchFamily="34" charset="0"/>
                <a:ea typeface="Arial" pitchFamily="34" charset="-122"/>
                <a:cs typeface="Arial" pitchFamily="34" charset="-120"/>
              </a:rPr>
              <a:t>Every file that needs a human: the diff, the score and the reason.</a:t>
            </a:r>
            <a:endParaRPr lang="en-US" sz="1250" dirty="0"/>
          </a:p>
        </p:txBody>
      </p:sp>
      <p:sp>
        <p:nvSpPr>
          <p:cNvPr id="18" name="Text 16"/>
          <p:cNvSpPr txBox="1"/>
          <p:nvPr/>
        </p:nvSpPr>
        <p:spPr>
          <a:xfrm>
            <a:off x="10289743" y="2624328"/>
            <a:ext cx="603504" cy="603504"/>
          </a:xfrm>
          <a:prstGeom prst="ellipse">
            <a:avLst/>
          </a:prstGeom>
          <a:solidFill>
            <a:srgbClr val="FF6A2B"/>
          </a:solidFill>
          <a:ln w="38100">
            <a:solidFill>
              <a:srgbClr val="0A0E13"/>
            </a:solidFill>
          </a:ln>
        </p:spPr>
        <p:txBody>
          <a:bodyPr wrap="square" lIns="0" tIns="0" rIns="0" bIns="0" rtlCol="0" anchor="ctr"/>
          <a:lstStyle/>
          <a:p>
            <a:pPr algn="ctr" indent="0" marL="0">
              <a:buNone/>
            </a:pPr>
            <a:r>
              <a:rPr lang="en-US" sz="1800" b="1" dirty="0">
                <a:solidFill>
                  <a:srgbClr val="0A0E13"/>
                </a:solidFill>
                <a:latin typeface="Arial" pitchFamily="34" charset="0"/>
                <a:ea typeface="Arial" pitchFamily="34" charset="-122"/>
                <a:cs typeface="Arial" pitchFamily="34" charset="-120"/>
              </a:rPr>
              <a:t>5</a:t>
            </a:r>
            <a:endParaRPr lang="en-US" sz="1800" dirty="0"/>
          </a:p>
        </p:txBody>
      </p:sp>
      <p:sp>
        <p:nvSpPr>
          <p:cNvPr id="19" name="Text 17"/>
          <p:cNvSpPr txBox="1"/>
          <p:nvPr/>
        </p:nvSpPr>
        <p:spPr>
          <a:xfrm>
            <a:off x="9539935" y="3474720"/>
            <a:ext cx="2103120" cy="640080"/>
          </a:xfrm>
          <a:prstGeom prst="rect">
            <a:avLst/>
          </a:prstGeom>
          <a:noFill/>
          <a:ln/>
        </p:spPr>
        <p:txBody>
          <a:bodyPr wrap="square" lIns="0" tIns="0" rIns="0" bIns="0" rtlCol="0" anchor="t"/>
          <a:lstStyle/>
          <a:p>
            <a:pPr algn="ctr" indent="0" marL="0">
              <a:buNone/>
            </a:pPr>
            <a:r>
              <a:rPr lang="en-US" sz="1500" b="1" dirty="0">
                <a:solidFill>
                  <a:srgbClr val="F3F5F8"/>
                </a:solidFill>
                <a:latin typeface="Arial" pitchFamily="34" charset="0"/>
                <a:ea typeface="Arial" pitchFamily="34" charset="-122"/>
                <a:cs typeface="Arial" pitchFamily="34" charset="-120"/>
              </a:rPr>
              <a:t>Build, land, PR</a:t>
            </a:r>
            <a:endParaRPr lang="en-US" sz="1500" dirty="0"/>
          </a:p>
        </p:txBody>
      </p:sp>
      <p:sp>
        <p:nvSpPr>
          <p:cNvPr id="20" name="Text 18"/>
          <p:cNvSpPr txBox="1"/>
          <p:nvPr/>
        </p:nvSpPr>
        <p:spPr>
          <a:xfrm>
            <a:off x="9539935" y="4160520"/>
            <a:ext cx="2103120" cy="1188720"/>
          </a:xfrm>
          <a:prstGeom prst="rect">
            <a:avLst/>
          </a:prstGeom>
          <a:noFill/>
          <a:ln/>
        </p:spPr>
        <p:txBody>
          <a:bodyPr wrap="square" lIns="0" tIns="0" rIns="0" bIns="0" rtlCol="0" anchor="t"/>
          <a:lstStyle/>
          <a:p>
            <a:pPr algn="ctr" indent="0" marL="0">
              <a:buNone/>
            </a:pPr>
            <a:r>
              <a:rPr lang="en-US" sz="1250" dirty="0">
                <a:solidFill>
                  <a:srgbClr val="AAB5C3"/>
                </a:solidFill>
                <a:latin typeface="Arial" pitchFamily="34" charset="0"/>
                <a:ea typeface="Arial" pitchFamily="34" charset="-122"/>
                <a:cs typeface="Arial" pitchFamily="34" charset="-120"/>
              </a:rPr>
              <a:t>The build verdict, one commit on a new branch, then a PR when you click.</a:t>
            </a:r>
            <a:endParaRPr lang="en-US" sz="1250" dirty="0"/>
          </a:p>
        </p:txBody>
      </p:sp>
      <p:sp>
        <p:nvSpPr>
          <p:cNvPr id="21" name="Text 19"/>
          <p:cNvSpPr txBox="1"/>
          <p:nvPr/>
        </p:nvSpPr>
        <p:spPr>
          <a:xfrm>
            <a:off x="548640" y="6455664"/>
            <a:ext cx="5486400" cy="219456"/>
          </a:xfrm>
          <a:prstGeom prst="rect">
            <a:avLst/>
          </a:prstGeom>
          <a:noFill/>
          <a:ln/>
        </p:spPr>
        <p:txBody>
          <a:bodyPr wrap="square" lIns="0" tIns="0" rIns="0" bIns="0" rtlCol="0" anchor="t"/>
          <a:lstStyle/>
          <a:p>
            <a:pPr indent="0" marL="0">
              <a:buNone/>
            </a:pPr>
            <a:r>
              <a:rPr lang="en-US" sz="900" dirty="0">
                <a:solidFill>
                  <a:srgbClr val="738191"/>
                </a:solidFill>
                <a:latin typeface="Arial" pitchFamily="34" charset="0"/>
                <a:ea typeface="Arial" pitchFamily="34" charset="-122"/>
                <a:cs typeface="Arial" pitchFamily="34" charset="-120"/>
              </a:rPr>
              <a:t>FORGE  ·  Software Development Conference 2026</a:t>
            </a:r>
            <a:endParaRPr lang="en-US" sz="900" dirty="0"/>
          </a:p>
        </p:txBody>
      </p:sp>
      <p:sp>
        <p:nvSpPr>
          <p:cNvPr id="22" name="Text 20"/>
          <p:cNvSpPr txBox="1"/>
          <p:nvPr/>
        </p:nvSpPr>
        <p:spPr>
          <a:xfrm>
            <a:off x="11094415" y="6455664"/>
            <a:ext cx="548640" cy="219456"/>
          </a:xfrm>
          <a:prstGeom prst="rect">
            <a:avLst/>
          </a:prstGeom>
          <a:noFill/>
          <a:ln/>
        </p:spPr>
        <p:txBody>
          <a:bodyPr wrap="square" lIns="0" tIns="0" rIns="0" bIns="0" rtlCol="0" anchor="t"/>
          <a:lstStyle/>
          <a:p>
            <a:pPr algn="r" indent="0" marL="0">
              <a:buNone/>
            </a:pPr>
            <a:r>
              <a:rPr lang="en-US" sz="900" dirty="0">
                <a:solidFill>
                  <a:srgbClr val="738191"/>
                </a:solidFill>
                <a:latin typeface="Arial" pitchFamily="34" charset="0"/>
                <a:ea typeface="Arial" pitchFamily="34" charset="-122"/>
                <a:cs typeface="Arial"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1188720" y="594360"/>
            <a:ext cx="9820656" cy="5577840"/>
          </a:xfrm>
          <a:prstGeom prst="roundRect">
            <a:avLst>
              <a:gd name="adj" fmla="val 2295"/>
            </a:avLst>
          </a:prstGeom>
          <a:solidFill>
            <a:srgbClr val="0B0F15"/>
          </a:solidFill>
          <a:ln w="15875">
            <a:solidFill>
              <a:srgbClr val="FF6A2B">
                <a:alpha val="45000"/>
              </a:srgbClr>
            </a:solidFill>
            <a:prstDash val="solid"/>
          </a:ln>
          <a:effectLst>
            <a:outerShdw sx="100000" sy="100000" kx="0" ky="0" algn="bl" rotWithShape="0" blurRad="203200" dist="63500" dir="5400000">
              <a:srgbClr val="000000">
                <a:alpha val="50000"/>
              </a:srgbClr>
            </a:outerShdw>
          </a:effectLst>
        </p:spPr>
      </p:sp>
      <p:sp>
        <p:nvSpPr>
          <p:cNvPr id="3" name="Shape 1"/>
          <p:cNvSpPr/>
          <p:nvPr/>
        </p:nvSpPr>
        <p:spPr>
          <a:xfrm>
            <a:off x="5596128" y="2926080"/>
            <a:ext cx="1005840" cy="1005840"/>
          </a:xfrm>
          <a:prstGeom prst="ellipse">
            <a:avLst/>
          </a:prstGeom>
          <a:solidFill>
            <a:srgbClr val="FF6A2B">
              <a:alpha val="30000"/>
            </a:srgbClr>
          </a:solidFill>
          <a:ln w="9525">
            <a:solidFill>
              <a:srgbClr val="FF6A2B">
                <a:alpha val="50000"/>
              </a:srgbClr>
            </a:solidFill>
            <a:prstDash val="solid"/>
          </a:ln>
        </p:spPr>
      </p:sp>
      <p:pic>
        <p:nvPicPr>
          <p:cNvPr id="4" name="Image 0" descr="/private/tmp/claude-501/-Users-raja-forge/826f4f3b-77e1-484d-8167-0e3b60d97c63/scratchpad/deck/assets/icons/LuPlay-FF6A2B.png">    </p:cNvPr>
          <p:cNvPicPr>
            <a:picLocks noChangeAspect="1"/>
          </p:cNvPicPr>
          <p:nvPr/>
        </p:nvPicPr>
        <p:blipFill>
          <a:blip r:embed="rId1"/>
          <a:stretch>
            <a:fillRect/>
          </a:stretch>
        </p:blipFill>
        <p:spPr>
          <a:xfrm>
            <a:off x="5887822" y="3217774"/>
            <a:ext cx="422453" cy="422453"/>
          </a:xfrm>
          <a:prstGeom prst="rect">
            <a:avLst/>
          </a:prstGeom>
        </p:spPr>
      </p:pic>
      <p:sp>
        <p:nvSpPr>
          <p:cNvPr id="5" name="Text 0"/>
          <p:cNvSpPr/>
          <p:nvPr>
            <p:ph idx="100" type="media" hasCustomPrompt="1"/>
          </p:nvPr>
        </p:nvSpPr>
        <p:spPr>
          <a:xfrm>
            <a:off x="1252728" y="658368"/>
            <a:ext cx="9692640" cy="5452110"/>
          </a:xfrm>
          <a:prstGeom prst="rect">
            <a:avLst/>
          </a:prstGeom>
          <a:noFill/>
          <a:ln/>
        </p:spPr>
        <p:txBody>
          <a:bodyPr wrap="square" rtlCol="0" anchor="ctr"/>
          <a:lstStyle/>
          <a:p>
            <a:pPr algn="ctr" indent="0" marL="0">
              <a:buNone/>
            </a:pPr>
            <a:endParaRPr lang="en-US" sz="1600" dirty="0"/>
          </a:p>
        </p:txBody>
      </p:sp>
      <p:sp>
        <p:nvSpPr>
          <p:cNvPr id="6" name="Text 3"/>
          <p:cNvSpPr txBox="1"/>
          <p:nvPr/>
        </p:nvSpPr>
        <p:spPr>
          <a:xfrm>
            <a:off x="1188720" y="6309360"/>
            <a:ext cx="9820656" cy="256032"/>
          </a:xfrm>
          <a:prstGeom prst="rect">
            <a:avLst/>
          </a:prstGeom>
          <a:noFill/>
          <a:ln/>
        </p:spPr>
        <p:txBody>
          <a:bodyPr wrap="square" lIns="0" tIns="0" rIns="0" bIns="0" rtlCol="0" anchor="t"/>
          <a:lstStyle/>
          <a:p>
            <a:pPr algn="ctr" indent="0" marL="0">
              <a:buNone/>
            </a:pPr>
            <a:r>
              <a:rPr lang="en-US" sz="1100" b="1" spc="300" kern="0" dirty="0">
                <a:solidFill>
                  <a:srgbClr val="738191"/>
                </a:solidFill>
                <a:latin typeface="Arial" pitchFamily="34" charset="0"/>
                <a:ea typeface="Arial" pitchFamily="34" charset="-122"/>
                <a:cs typeface="Arial" pitchFamily="34" charset="-120"/>
              </a:rPr>
              <a:t>DEMO  ·  FORGE MODERNIZING AMS, END TO END</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669280" y="1554480"/>
            <a:ext cx="6035040" cy="1143000"/>
          </a:xfrm>
          <a:prstGeom prst="rect">
            <a:avLst/>
          </a:prstGeom>
          <a:noFill/>
          <a:ln/>
        </p:spPr>
        <p:txBody>
          <a:bodyPr wrap="square" lIns="0" tIns="0" rIns="0" bIns="0" rtlCol="0" anchor="t"/>
          <a:lstStyle/>
          <a:p>
            <a:pPr indent="0" marL="0">
              <a:buNone/>
            </a:pPr>
            <a:r>
              <a:rPr lang="en-US" sz="7000" b="1" dirty="0">
                <a:solidFill>
                  <a:srgbClr val="F3F5F8"/>
                </a:solidFill>
                <a:latin typeface="Arial" pitchFamily="34" charset="0"/>
                <a:ea typeface="Arial" pitchFamily="34" charset="-122"/>
                <a:cs typeface="Arial" pitchFamily="34" charset="-120"/>
              </a:rPr>
              <a:t>Thank you</a:t>
            </a:r>
            <a:endParaRPr lang="en-US" sz="7000" dirty="0"/>
          </a:p>
        </p:txBody>
      </p:sp>
      <p:sp>
        <p:nvSpPr>
          <p:cNvPr id="3" name="Text 1"/>
          <p:cNvSpPr txBox="1"/>
          <p:nvPr/>
        </p:nvSpPr>
        <p:spPr>
          <a:xfrm>
            <a:off x="5715000" y="2697480"/>
            <a:ext cx="5943600" cy="685800"/>
          </a:xfrm>
          <a:prstGeom prst="rect">
            <a:avLst/>
          </a:prstGeom>
          <a:noFill/>
          <a:ln/>
        </p:spPr>
        <p:txBody>
          <a:bodyPr wrap="square" lIns="0" tIns="0" rIns="0" bIns="0" rtlCol="0" anchor="t"/>
          <a:lstStyle/>
          <a:p>
            <a:pPr indent="0" marL="0">
              <a:buNone/>
            </a:pPr>
            <a:r>
              <a:rPr lang="en-US" sz="3600" b="1" dirty="0">
                <a:solidFill>
                  <a:srgbClr val="FF6A2B"/>
                </a:solidFill>
                <a:latin typeface="Arial" pitchFamily="34" charset="0"/>
                <a:ea typeface="Arial" pitchFamily="34" charset="-122"/>
                <a:cs typeface="Arial" pitchFamily="34" charset="-120"/>
              </a:rPr>
              <a:t>Questions?</a:t>
            </a:r>
            <a:endParaRPr lang="en-US" sz="3600" dirty="0"/>
          </a:p>
        </p:txBody>
      </p:sp>
      <p:sp>
        <p:nvSpPr>
          <p:cNvPr id="4" name="Text 2"/>
          <p:cNvSpPr txBox="1"/>
          <p:nvPr/>
        </p:nvSpPr>
        <p:spPr>
          <a:xfrm>
            <a:off x="5715000" y="3840480"/>
            <a:ext cx="5486400" cy="365760"/>
          </a:xfrm>
          <a:prstGeom prst="rect">
            <a:avLst/>
          </a:prstGeom>
          <a:noFill/>
          <a:ln/>
        </p:spPr>
        <p:txBody>
          <a:bodyPr wrap="square" lIns="0" tIns="0" rIns="0" bIns="0" rtlCol="0" anchor="t"/>
          <a:lstStyle/>
          <a:p>
            <a:pPr indent="0" marL="0">
              <a:buNone/>
            </a:pPr>
            <a:r>
              <a:rPr lang="en-US" sz="1900" b="1" dirty="0">
                <a:solidFill>
                  <a:srgbClr val="F3F5F8"/>
                </a:solidFill>
                <a:latin typeface="Arial" pitchFamily="34" charset="0"/>
                <a:ea typeface="Arial" pitchFamily="34" charset="-122"/>
                <a:cs typeface="Arial" pitchFamily="34" charset="-120"/>
              </a:rPr>
              <a:t>Raja Anche</a:t>
            </a:r>
            <a:endParaRPr lang="en-US" sz="1900" dirty="0"/>
          </a:p>
        </p:txBody>
      </p:sp>
      <p:sp>
        <p:nvSpPr>
          <p:cNvPr id="5" name="Text 3"/>
          <p:cNvSpPr txBox="1"/>
          <p:nvPr/>
        </p:nvSpPr>
        <p:spPr>
          <a:xfrm>
            <a:off x="5715000" y="4224528"/>
            <a:ext cx="5486400" cy="320040"/>
          </a:xfrm>
          <a:prstGeom prst="rect">
            <a:avLst/>
          </a:prstGeom>
          <a:noFill/>
          <a:ln/>
        </p:spPr>
        <p:txBody>
          <a:bodyPr wrap="square" lIns="0" tIns="0" rIns="0" bIns="0" rtlCol="0" anchor="t"/>
          <a:lstStyle/>
          <a:p>
            <a:pPr indent="0" marL="0">
              <a:buNone/>
            </a:pPr>
            <a:r>
              <a:rPr lang="en-US" sz="1500" i="1" dirty="0">
                <a:solidFill>
                  <a:srgbClr val="AAB5C3"/>
                </a:solidFill>
                <a:latin typeface="Arial" pitchFamily="34" charset="0"/>
                <a:ea typeface="Arial" pitchFamily="34" charset="-122"/>
                <a:cs typeface="Arial" pitchFamily="34" charset="-120"/>
              </a:rPr>
              <a:t>Models propose. Code disposes.</a:t>
            </a:r>
            <a:endParaRPr lang="en-US" sz="1500" dirty="0"/>
          </a:p>
        </p:txBody>
      </p:sp>
      <p:sp>
        <p:nvSpPr>
          <p:cNvPr id="6" name="Text 4"/>
          <p:cNvSpPr txBox="1"/>
          <p:nvPr/>
        </p:nvSpPr>
        <p:spPr>
          <a:xfrm>
            <a:off x="5715000" y="5577840"/>
            <a:ext cx="5925312" cy="502920"/>
          </a:xfrm>
          <a:prstGeom prst="rect">
            <a:avLst/>
          </a:prstGeom>
          <a:noFill/>
          <a:ln/>
        </p:spPr>
        <p:txBody>
          <a:bodyPr wrap="square" lIns="0" tIns="0" rIns="0" bIns="0" rtlCol="0" anchor="t"/>
          <a:lstStyle/>
          <a:p>
            <a:pPr indent="0" marL="0">
              <a:lnSpc>
                <a:spcPct val="120000"/>
              </a:lnSpc>
              <a:buNone/>
            </a:pPr>
            <a:r>
              <a:rPr lang="en-US" sz="1100" dirty="0">
                <a:solidFill>
                  <a:srgbClr val="738191"/>
                </a:solidFill>
                <a:latin typeface="Arial" pitchFamily="34" charset="0"/>
                <a:ea typeface="Arial" pitchFamily="34" charset="-122"/>
                <a:cs typeface="Arial" pitchFamily="34" charset="-120"/>
              </a:rPr>
              <a:t>Amazon Bedrock  ·  LangGraph  ·  DynamoDB  ·  CloudWatch  ·  Terraform</a:t>
            </a:r>
            <a:endParaRPr lang="en-US" sz="1100" dirty="0"/>
          </a:p>
          <a:p>
            <a:pPr indent="0" marL="0">
              <a:lnSpc>
                <a:spcPct val="120000"/>
              </a:lnSpc>
              <a:buNone/>
            </a:pPr>
            <a:r>
              <a:rPr lang="en-US" sz="1100" dirty="0">
                <a:solidFill>
                  <a:srgbClr val="738191"/>
                </a:solidFill>
                <a:latin typeface="Arial" pitchFamily="34" charset="0"/>
                <a:ea typeface="Arial" pitchFamily="34" charset="-122"/>
                <a:cs typeface="Arial" pitchFamily="34" charset="-120"/>
              </a:rPr>
              <a:t>Claude Opus 4.8  ·  Amazon Nova Pro  ·  Claude Haiku 4.5</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FORGE: AI-powered Java modernization</dc:title>
  <dc:subject>Software Development Conference 2026</dc:subject>
  <dc:creator>Raja Anche</dc:creator>
  <cp:lastModifiedBy>Raja Anche</cp:lastModifiedBy>
  <cp:revision>1</cp:revision>
  <dcterms:created xsi:type="dcterms:W3CDTF">2026-09-23T20:33:26Z</dcterms:created>
  <dcterms:modified xsi:type="dcterms:W3CDTF">2026-09-23T20:33:26Z</dcterms:modified>
</cp:coreProperties>
</file>